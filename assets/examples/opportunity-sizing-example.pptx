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2.xml" ContentType="application/vnd.openxmlformats-officedocument.presentationml.tags+xml"/>
  <Override PartName="/ppt/tags/tag123.xml" ContentType="application/vnd.openxmlformats-officedocument.presentationml.tags+xml"/>
  <Override PartName="/ppt/notesSlides/notesSlide1.xml" ContentType="application/vnd.openxmlformats-officedocument.presentationml.notesSlide+xml"/>
  <Override PartName="/ppt/tags/tag124.xml" ContentType="application/vnd.openxmlformats-officedocument.presentationml.tags+xml"/>
  <Override PartName="/ppt/notesSlides/notesSlide2.xml" ContentType="application/vnd.openxmlformats-officedocument.presentationml.notesSlide+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notesSlides/notesSlide3.xml" ContentType="application/vnd.openxmlformats-officedocument.presentationml.notesSlide+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5117" r:id="rId4"/>
  </p:sldMasterIdLst>
  <p:notesMasterIdLst>
    <p:notesMasterId r:id="rId13"/>
  </p:notesMasterIdLst>
  <p:handoutMasterIdLst>
    <p:handoutMasterId r:id="rId14"/>
  </p:handoutMasterIdLst>
  <p:sldIdLst>
    <p:sldId id="263" r:id="rId5"/>
    <p:sldId id="337" r:id="rId6"/>
    <p:sldId id="339" r:id="rId7"/>
    <p:sldId id="352" r:id="rId8"/>
    <p:sldId id="354" r:id="rId9"/>
    <p:sldId id="342" r:id="rId10"/>
    <p:sldId id="356" r:id="rId11"/>
    <p:sldId id="341" r:id="rId12"/>
  </p:sldIdLst>
  <p:sldSz cx="12192000" cy="6858000"/>
  <p:notesSz cx="6950075" cy="9236075"/>
  <p:custShowLst>
    <p:custShow name="Format Guide Workshop" id="0">
      <p:sldLst/>
    </p:custShow>
  </p:custShowLst>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31822D2-4628-475B-B8AB-051E27B94CEB}">
          <p14:sldIdLst>
            <p14:sldId id="263"/>
            <p14:sldId id="337"/>
            <p14:sldId id="339"/>
            <p14:sldId id="352"/>
            <p14:sldId id="354"/>
            <p14:sldId id="342"/>
            <p14:sldId id="356"/>
            <p14:sldId id="341"/>
          </p14:sldIdLst>
        </p14:section>
        <p14:section name="Appendix" id="{04E45B25-709A-4726-8436-5CD3FADE2C25}">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B050"/>
    <a:srgbClr val="CCE9FF"/>
    <a:srgbClr val="002E50"/>
    <a:srgbClr val="0191FF"/>
    <a:srgbClr val="F1F1F1"/>
    <a:srgbClr val="F7F8F9"/>
    <a:srgbClr val="FEFEFE"/>
    <a:srgbClr val="F8F9FA"/>
    <a:srgbClr val="F2F2F2"/>
    <a:srgbClr val="005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DFFEEC-2619-4851-BA98-D099E5DA0E38}" v="40" dt="2025-11-18T20:51:35.6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574" autoAdjust="0"/>
    <p:restoredTop sz="94707"/>
  </p:normalViewPr>
  <p:slideViewPr>
    <p:cSldViewPr snapToGrid="0">
      <p:cViewPr varScale="1">
        <p:scale>
          <a:sx n="125" d="100"/>
          <a:sy n="125" d="100"/>
        </p:scale>
        <p:origin x="792" y="17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7/30/2026</a:t>
            </a:fld>
            <a:endParaRPr lang="en-US" sz="80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a:latin typeface="+mn-lt"/>
              <a:ea typeface="+mn-ea"/>
              <a:cs typeface="+mn-cs"/>
              <a:sym typeface="+mn-lt"/>
            </a:endParaRPr>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atin typeface="+mn-lt"/>
                <a:ea typeface="+mn-ea"/>
                <a:cs typeface="+mn-cs"/>
                <a:sym typeface="+mn-lt"/>
              </a:defRPr>
            </a:lvl1pPr>
          </a:lstStyle>
          <a:p>
            <a:endParaRPr lang="en-US"/>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atin typeface="+mn-lt"/>
                <a:ea typeface="+mn-ea"/>
                <a:cs typeface="+mn-cs"/>
                <a:sym typeface="+mn-lt"/>
              </a:defRPr>
            </a:lvl1pPr>
          </a:lstStyle>
          <a:p>
            <a:endParaRPr lang="en-US"/>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atin typeface="+mn-lt"/>
                <a:ea typeface="+mn-ea"/>
                <a:cs typeface="+mn-cs"/>
                <a:sym typeface="+mn-lt"/>
              </a:defRPr>
            </a:lvl1pPr>
          </a:lstStyle>
          <a:p>
            <a:r>
              <a:rPr lang="en-US"/>
              <a:t>Notes view: </a:t>
            </a:r>
            <a:fld id="{128CEAFE-FA94-43E5-B0FF-D47E1CCDD1B4}" type="slidenum">
              <a:rPr lang="en-US" smtClean="0"/>
              <a:pPr/>
              <a:t>‹#›</a:t>
            </a:fld>
            <a:endParaRPr lang="en-US"/>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atin typeface="+mn-lt"/>
                <a:ea typeface="+mn-ea"/>
                <a:cs typeface="+mn-cs"/>
                <a:sym typeface="+mn-lt"/>
              </a:defRPr>
            </a:lvl1pPr>
          </a:lstStyle>
          <a:p>
            <a:fld id="{F2C7CF5F-7CF3-4DF3-838A-EE34544862CC}" type="datetimeFigureOut">
              <a:rPr lang="en-US" smtClean="0"/>
              <a:pPr/>
              <a:t>7/30/2026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sym typeface="+mn-lt"/>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sym typeface="+mn-lt"/>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sym typeface="+mn-lt"/>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sym typeface="+mn-lt"/>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sym typeface="+mn-lt"/>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F7649-5C8E-8622-ACD8-7780B1F9FC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1D315-7BF1-789B-634B-F8F83BCEA86C}"/>
              </a:ext>
            </a:extLst>
          </p:cNvPr>
          <p:cNvSpPr>
            <a:spLocks noGrp="1" noRot="1" noChangeAspect="1"/>
          </p:cNvSpPr>
          <p:nvPr>
            <p:ph type="sldImg"/>
          </p:nvPr>
        </p:nvSpPr>
        <p:spPr>
          <a:xfrm>
            <a:off x="155575" y="574675"/>
            <a:ext cx="6621463" cy="3724275"/>
          </a:xfrm>
        </p:spPr>
      </p:sp>
      <p:sp>
        <p:nvSpPr>
          <p:cNvPr id="3" name="Notes Placeholder 2">
            <a:extLst>
              <a:ext uri="{FF2B5EF4-FFF2-40B4-BE49-F238E27FC236}">
                <a16:creationId xmlns:a16="http://schemas.microsoft.com/office/drawing/2014/main" id="{0D16477D-BAD7-96D2-B6B6-F07E1057CF4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8A56775-DB1F-F6F9-F24B-74E5BFCF2133}"/>
              </a:ext>
            </a:extLst>
          </p:cNvPr>
          <p:cNvSpPr>
            <a:spLocks noGrp="1"/>
          </p:cNvSpPr>
          <p:nvPr>
            <p:ph type="sldNum" sz="quarter" idx="10"/>
          </p:nvPr>
        </p:nvSpPr>
        <p:spPr/>
        <p:txBody>
          <a:bodyPr/>
          <a:lstStyle/>
          <a:p>
            <a:fld id="{ADFED875-7CA7-4683-B586-34E1A4A09D12}" type="slidenum">
              <a:rPr lang="en-US" smtClean="0"/>
              <a:t>1</a:t>
            </a:fld>
            <a:endParaRPr lang="en-US"/>
          </a:p>
        </p:txBody>
      </p:sp>
    </p:spTree>
    <p:extLst>
      <p:ext uri="{BB962C8B-B14F-4D97-AF65-F5344CB8AC3E}">
        <p14:creationId xmlns:p14="http://schemas.microsoft.com/office/powerpoint/2010/main" val="30021633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68F41-6D6B-F93B-9668-67A0B17673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11941-1B03-1F19-2F0A-6F1E1AACD253}"/>
              </a:ext>
            </a:extLst>
          </p:cNvPr>
          <p:cNvSpPr>
            <a:spLocks noGrp="1" noRot="1" noChangeAspect="1"/>
          </p:cNvSpPr>
          <p:nvPr>
            <p:ph type="sldImg"/>
          </p:nvPr>
        </p:nvSpPr>
        <p:spPr>
          <a:xfrm>
            <a:off x="155575" y="574675"/>
            <a:ext cx="6621463" cy="3724275"/>
          </a:xfrm>
        </p:spPr>
      </p:sp>
      <p:sp>
        <p:nvSpPr>
          <p:cNvPr id="3" name="Notes Placeholder 2">
            <a:extLst>
              <a:ext uri="{FF2B5EF4-FFF2-40B4-BE49-F238E27FC236}">
                <a16:creationId xmlns:a16="http://schemas.microsoft.com/office/drawing/2014/main" id="{06C14F7D-4530-0EFA-2A4C-9C76A541A201}"/>
              </a:ext>
            </a:extLst>
          </p:cNvPr>
          <p:cNvSpPr>
            <a:spLocks noGrp="1"/>
          </p:cNvSpPr>
          <p:nvPr>
            <p:ph type="body" idx="1"/>
          </p:nvPr>
        </p:nvSpPr>
        <p:spPr/>
        <p:txBody>
          <a:bodyPr/>
          <a:lstStyle/>
          <a:p>
            <a:r>
              <a:rPr lang="en-US" baseline="30000"/>
              <a:t>1</a:t>
            </a:r>
            <a:r>
              <a:rPr lang="en-US"/>
              <a:t> </a:t>
            </a:r>
          </a:p>
        </p:txBody>
      </p:sp>
      <p:sp>
        <p:nvSpPr>
          <p:cNvPr id="4" name="Slide Number Placeholder 3">
            <a:extLst>
              <a:ext uri="{FF2B5EF4-FFF2-40B4-BE49-F238E27FC236}">
                <a16:creationId xmlns:a16="http://schemas.microsoft.com/office/drawing/2014/main" id="{ABD9F080-917F-3E8E-CAAF-A6A2B7D061CD}"/>
              </a:ext>
            </a:extLst>
          </p:cNvPr>
          <p:cNvSpPr>
            <a:spLocks noGrp="1"/>
          </p:cNvSpPr>
          <p:nvPr>
            <p:ph type="sldNum" sz="quarter" idx="5"/>
          </p:nvPr>
        </p:nvSpPr>
        <p:spPr/>
        <p:txBody>
          <a:bodyPr/>
          <a:lstStyle/>
          <a:p>
            <a:r>
              <a:rPr lang="en-US"/>
              <a:t>Notes view: </a:t>
            </a:r>
            <a:fld id="{128CEAFE-FA94-43E5-B0FF-D47E1CCDD1B4}" type="slidenum">
              <a:rPr lang="en-US" smtClean="0"/>
              <a:pPr/>
              <a:t>2</a:t>
            </a:fld>
            <a:endParaRPr lang="en-US"/>
          </a:p>
        </p:txBody>
      </p:sp>
    </p:spTree>
    <p:extLst>
      <p:ext uri="{BB962C8B-B14F-4D97-AF65-F5344CB8AC3E}">
        <p14:creationId xmlns:p14="http://schemas.microsoft.com/office/powerpoint/2010/main" val="938204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r>
              <a:rPr lang="en-US"/>
              <a:t>Notes view: </a:t>
            </a:r>
            <a:fld id="{128CEAFE-FA94-43E5-B0FF-D47E1CCDD1B4}" type="slidenum">
              <a:rPr lang="en-US" smtClean="0"/>
              <a:pPr/>
              <a:t>5</a:t>
            </a:fld>
            <a:endParaRPr lang="en-US"/>
          </a:p>
        </p:txBody>
      </p:sp>
    </p:spTree>
    <p:extLst>
      <p:ext uri="{BB962C8B-B14F-4D97-AF65-F5344CB8AC3E}">
        <p14:creationId xmlns:p14="http://schemas.microsoft.com/office/powerpoint/2010/main" val="3580490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4.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3.jpe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5.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5.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5.emf"/><Relationship Id="rId4"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5.emf"/><Relationship Id="rId4" Type="http://schemas.openxmlformats.org/officeDocument/2006/relationships/oleObject" Target="../embeddings/oleObject6.bin"/></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5.emf"/><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8.bin"/></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9.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10.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11.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12.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7.png"/><Relationship Id="rId5" Type="http://schemas.openxmlformats.org/officeDocument/2006/relationships/image" Target="../media/image5.emf"/><Relationship Id="rId4" Type="http://schemas.openxmlformats.org/officeDocument/2006/relationships/oleObject" Target="../embeddings/oleObject13.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8.png"/><Relationship Id="rId5" Type="http://schemas.openxmlformats.org/officeDocument/2006/relationships/image" Target="../media/image5.emf"/><Relationship Id="rId4" Type="http://schemas.openxmlformats.org/officeDocument/2006/relationships/oleObject" Target="../embeddings/oleObject14.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0.png"/><Relationship Id="rId5" Type="http://schemas.openxmlformats.org/officeDocument/2006/relationships/image" Target="../media/image9.emf"/><Relationship Id="rId4" Type="http://schemas.openxmlformats.org/officeDocument/2006/relationships/oleObject" Target="../embeddings/oleObject15.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8.png"/><Relationship Id="rId5" Type="http://schemas.openxmlformats.org/officeDocument/2006/relationships/image" Target="../media/image5.emf"/><Relationship Id="rId4" Type="http://schemas.openxmlformats.org/officeDocument/2006/relationships/oleObject" Target="../embeddings/oleObject16.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7.png"/><Relationship Id="rId5" Type="http://schemas.openxmlformats.org/officeDocument/2006/relationships/image" Target="../media/image5.emf"/><Relationship Id="rId4" Type="http://schemas.openxmlformats.org/officeDocument/2006/relationships/oleObject" Target="../embeddings/oleObject17.bin"/></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8.png"/><Relationship Id="rId5" Type="http://schemas.openxmlformats.org/officeDocument/2006/relationships/image" Target="../media/image5.emf"/><Relationship Id="rId4" Type="http://schemas.openxmlformats.org/officeDocument/2006/relationships/oleObject" Target="../embeddings/oleObject18.bin"/></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7.png"/><Relationship Id="rId5" Type="http://schemas.openxmlformats.org/officeDocument/2006/relationships/image" Target="../media/image5.emf"/><Relationship Id="rId4" Type="http://schemas.openxmlformats.org/officeDocument/2006/relationships/oleObject" Target="../embeddings/oleObject19.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8.png"/><Relationship Id="rId5" Type="http://schemas.openxmlformats.org/officeDocument/2006/relationships/image" Target="../media/image5.emf"/><Relationship Id="rId4" Type="http://schemas.openxmlformats.org/officeDocument/2006/relationships/oleObject" Target="../embeddings/oleObject20.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image" Target="../media/image5.emf"/><Relationship Id="rId4" Type="http://schemas.openxmlformats.org/officeDocument/2006/relationships/oleObject" Target="../embeddings/oleObject21.bin"/></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6.xml"/><Relationship Id="rId1" Type="http://schemas.openxmlformats.org/officeDocument/2006/relationships/tags" Target="../tags/tag45.xml"/><Relationship Id="rId5" Type="http://schemas.openxmlformats.org/officeDocument/2006/relationships/image" Target="../media/image5.emf"/><Relationship Id="rId4" Type="http://schemas.openxmlformats.org/officeDocument/2006/relationships/oleObject" Target="../embeddings/oleObject22.bin"/></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47.xml"/><Relationship Id="rId5" Type="http://schemas.openxmlformats.org/officeDocument/2006/relationships/image" Target="../media/image11.png"/><Relationship Id="rId4" Type="http://schemas.openxmlformats.org/officeDocument/2006/relationships/image" Target="../media/image9.emf"/></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image" Target="../media/image5.emf"/><Relationship Id="rId4" Type="http://schemas.openxmlformats.org/officeDocument/2006/relationships/oleObject" Target="../embeddings/oleObject24.bin"/></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5.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5.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52.xml"/><Relationship Id="rId4" Type="http://schemas.openxmlformats.org/officeDocument/2006/relationships/image" Target="../media/image5.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53.xml"/><Relationship Id="rId4" Type="http://schemas.openxmlformats.org/officeDocument/2006/relationships/image" Target="../media/image5.emf"/></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4.png"/><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image" Target="../media/image3.jpeg"/><Relationship Id="rId5" Type="http://schemas.openxmlformats.org/officeDocument/2006/relationships/image" Target="../media/image2.emf"/><Relationship Id="rId4" Type="http://schemas.openxmlformats.org/officeDocument/2006/relationships/oleObject" Target="../embeddings/oleObject25.bin"/></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image" Target="../media/image5.emf"/><Relationship Id="rId5" Type="http://schemas.openxmlformats.org/officeDocument/2006/relationships/oleObject" Target="../embeddings/oleObject26.bin"/><Relationship Id="rId4"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5.emf"/><Relationship Id="rId5" Type="http://schemas.openxmlformats.org/officeDocument/2006/relationships/oleObject" Target="../embeddings/oleObject27.bin"/><Relationship Id="rId4"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image" Target="../media/image5.emf"/><Relationship Id="rId4" Type="http://schemas.openxmlformats.org/officeDocument/2006/relationships/oleObject" Target="../embeddings/oleObject28.bin"/></Relationships>
</file>

<file path=ppt/slideLayouts/_rels/slideLayout3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image" Target="../media/image5.emf"/><Relationship Id="rId4" Type="http://schemas.openxmlformats.org/officeDocument/2006/relationships/oleObject" Target="../embeddings/oleObject29.bin"/></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7.xml"/><Relationship Id="rId1" Type="http://schemas.openxmlformats.org/officeDocument/2006/relationships/tags" Target="../tags/tag66.xml"/><Relationship Id="rId5" Type="http://schemas.openxmlformats.org/officeDocument/2006/relationships/image" Target="../media/image5.emf"/><Relationship Id="rId4" Type="http://schemas.openxmlformats.org/officeDocument/2006/relationships/oleObject" Target="../embeddings/oleObject30.bin"/></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31.bin"/></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32.bin"/></Relationships>
</file>

<file path=ppt/slideLayouts/_rels/slideLayout3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33.bin"/></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34.bin"/></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35.bin"/></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36.bin"/></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7.png"/><Relationship Id="rId5" Type="http://schemas.openxmlformats.org/officeDocument/2006/relationships/image" Target="../media/image9.emf"/><Relationship Id="rId4" Type="http://schemas.openxmlformats.org/officeDocument/2006/relationships/oleObject" Target="../embeddings/oleObject37.bin"/></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8.png"/><Relationship Id="rId5" Type="http://schemas.openxmlformats.org/officeDocument/2006/relationships/image" Target="../media/image5.emf"/><Relationship Id="rId4" Type="http://schemas.openxmlformats.org/officeDocument/2006/relationships/oleObject" Target="../embeddings/oleObject38.bin"/></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10.png"/><Relationship Id="rId5" Type="http://schemas.openxmlformats.org/officeDocument/2006/relationships/image" Target="../media/image5.emf"/><Relationship Id="rId4" Type="http://schemas.openxmlformats.org/officeDocument/2006/relationships/oleObject" Target="../embeddings/oleObject39.bin"/></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8.png"/><Relationship Id="rId5" Type="http://schemas.openxmlformats.org/officeDocument/2006/relationships/image" Target="../media/image5.emf"/><Relationship Id="rId4" Type="http://schemas.openxmlformats.org/officeDocument/2006/relationships/oleObject" Target="../embeddings/oleObject40.bin"/></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7.png"/><Relationship Id="rId5" Type="http://schemas.openxmlformats.org/officeDocument/2006/relationships/image" Target="../media/image5.emf"/><Relationship Id="rId4" Type="http://schemas.openxmlformats.org/officeDocument/2006/relationships/oleObject" Target="../embeddings/oleObject41.bin"/></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8.png"/><Relationship Id="rId5" Type="http://schemas.openxmlformats.org/officeDocument/2006/relationships/image" Target="../media/image5.emf"/><Relationship Id="rId4" Type="http://schemas.openxmlformats.org/officeDocument/2006/relationships/oleObject" Target="../embeddings/oleObject42.bin"/></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7.png"/><Relationship Id="rId5" Type="http://schemas.openxmlformats.org/officeDocument/2006/relationships/image" Target="../media/image5.emf"/><Relationship Id="rId4" Type="http://schemas.openxmlformats.org/officeDocument/2006/relationships/oleObject" Target="../embeddings/oleObject43.bin"/></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8.png"/><Relationship Id="rId5" Type="http://schemas.openxmlformats.org/officeDocument/2006/relationships/image" Target="../media/image5.emf"/><Relationship Id="rId4" Type="http://schemas.openxmlformats.org/officeDocument/2006/relationships/oleObject" Target="../embeddings/oleObject44.bin"/></Relationships>
</file>

<file path=ppt/slideLayouts/_rels/slideLayout48.xml.rels><?xml version="1.0" encoding="UTF-8" standalone="yes"?>
<Relationships xmlns="http://schemas.openxmlformats.org/package/2006/relationships"><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image" Target="../media/image5.emf"/><Relationship Id="rId5" Type="http://schemas.openxmlformats.org/officeDocument/2006/relationships/oleObject" Target="../embeddings/oleObject45.bin"/><Relationship Id="rId4"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0.xml"/><Relationship Id="rId1" Type="http://schemas.openxmlformats.org/officeDocument/2006/relationships/tags" Target="../tags/tag99.xml"/><Relationship Id="rId5" Type="http://schemas.openxmlformats.org/officeDocument/2006/relationships/image" Target="../media/image5.emf"/><Relationship Id="rId4" Type="http://schemas.openxmlformats.org/officeDocument/2006/relationships/oleObject" Target="../embeddings/oleObject46.bin"/></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101.xml"/><Relationship Id="rId5" Type="http://schemas.openxmlformats.org/officeDocument/2006/relationships/image" Target="../media/image11.png"/><Relationship Id="rId4" Type="http://schemas.openxmlformats.org/officeDocument/2006/relationships/image" Target="../media/image2.emf"/></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3.xml"/><Relationship Id="rId1" Type="http://schemas.openxmlformats.org/officeDocument/2006/relationships/tags" Target="../tags/tag102.xml"/><Relationship Id="rId5" Type="http://schemas.openxmlformats.org/officeDocument/2006/relationships/image" Target="../media/image5.emf"/><Relationship Id="rId4" Type="http://schemas.openxmlformats.org/officeDocument/2006/relationships/oleObject" Target="../embeddings/oleObject47.bin"/></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104.xml"/><Relationship Id="rId5" Type="http://schemas.openxmlformats.org/officeDocument/2006/relationships/image" Target="../media/image7.png"/><Relationship Id="rId4" Type="http://schemas.openxmlformats.org/officeDocument/2006/relationships/image" Target="../media/image5.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105.xml"/><Relationship Id="rId4" Type="http://schemas.openxmlformats.org/officeDocument/2006/relationships/image" Target="../media/image5.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106.xml"/><Relationship Id="rId4" Type="http://schemas.openxmlformats.org/officeDocument/2006/relationships/image" Target="../media/image5.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107.xml"/><Relationship Id="rId4" Type="http://schemas.openxmlformats.org/officeDocument/2006/relationships/image" Target="../media/image5.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108.xml"/><Relationship Id="rId4" Type="http://schemas.openxmlformats.org/officeDocument/2006/relationships/image" Target="../media/image5.emf"/></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0.xml"/><Relationship Id="rId1" Type="http://schemas.openxmlformats.org/officeDocument/2006/relationships/tags" Target="../tags/tag109.xml"/><Relationship Id="rId5" Type="http://schemas.openxmlformats.org/officeDocument/2006/relationships/image" Target="../media/image1.emf"/><Relationship Id="rId4" Type="http://schemas.openxmlformats.org/officeDocument/2006/relationships/oleObject" Target="../embeddings/oleObject48.bin"/></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1.xml"/><Relationship Id="rId1" Type="http://schemas.openxmlformats.org/officeDocument/2006/relationships/tags" Target="../tags/tag111.xml"/><Relationship Id="rId4" Type="http://schemas.openxmlformats.org/officeDocument/2006/relationships/image" Target="../media/image1.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Master" Target="../slideMasters/slideMaster1.xml"/><Relationship Id="rId1" Type="http://schemas.openxmlformats.org/officeDocument/2006/relationships/tags" Target="../tags/tag112.xml"/><Relationship Id="rId4" Type="http://schemas.openxmlformats.org/officeDocument/2006/relationships/image" Target="../media/image1.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1.xml"/><Relationship Id="rId1" Type="http://schemas.openxmlformats.org/officeDocument/2006/relationships/tags" Target="../tags/tag113.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5.xml"/><Relationship Id="rId1" Type="http://schemas.openxmlformats.org/officeDocument/2006/relationships/tags" Target="../tags/tag114.xml"/><Relationship Id="rId5" Type="http://schemas.openxmlformats.org/officeDocument/2006/relationships/image" Target="../media/image1.emf"/><Relationship Id="rId4" Type="http://schemas.openxmlformats.org/officeDocument/2006/relationships/oleObject" Target="../embeddings/oleObject52.bin"/></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Master" Target="../slideMasters/slideMaster1.xml"/><Relationship Id="rId1" Type="http://schemas.openxmlformats.org/officeDocument/2006/relationships/tags" Target="../tags/tag116.xml"/><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Master" Target="../slideMasters/slideMaster1.xml"/><Relationship Id="rId1" Type="http://schemas.openxmlformats.org/officeDocument/2006/relationships/tags" Target="../tags/tag117.xml"/><Relationship Id="rId4"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1.xml"/><Relationship Id="rId1" Type="http://schemas.openxmlformats.org/officeDocument/2006/relationships/tags" Target="../tags/tag118.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1.xml"/><Relationship Id="rId1" Type="http://schemas.openxmlformats.org/officeDocument/2006/relationships/tags" Target="../tags/tag119.xml"/><Relationship Id="rId5" Type="http://schemas.openxmlformats.org/officeDocument/2006/relationships/image" Target="../media/image7.png"/><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1.xml"/><Relationship Id="rId1" Type="http://schemas.openxmlformats.org/officeDocument/2006/relationships/tags" Target="../tags/tag120.xml"/><Relationship Id="rId5" Type="http://schemas.openxmlformats.org/officeDocument/2006/relationships/image" Target="../media/image13.png"/><Relationship Id="rId4" Type="http://schemas.openxmlformats.org/officeDocument/2006/relationships/image" Target="../media/image12.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1.xml"/><Relationship Id="rId1" Type="http://schemas.openxmlformats.org/officeDocument/2006/relationships/tags" Target="../tags/tag121.xml"/><Relationship Id="rId5" Type="http://schemas.openxmlformats.org/officeDocument/2006/relationships/image" Target="../media/image13.png"/><Relationship Id="rId4" Type="http://schemas.openxmlformats.org/officeDocument/2006/relationships/image" Target="../media/image1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366227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5" name="Picture 4"/>
          <p:cNvPicPr>
            <a:picLocks noChangeAspect="1"/>
          </p:cNvPicPr>
          <p:nvPr userDrawn="1"/>
        </p:nvPicPr>
        <p:blipFill rotWithShape="1">
          <a:blip r:embed="rId6">
            <a:extLst>
              <a:ext uri="{28A0092B-C50C-407E-A947-70E740481C1C}">
                <a14:useLocalDpi xmlns:a14="http://schemas.microsoft.com/office/drawing/2010/main" val="0"/>
              </a:ext>
            </a:extLst>
          </a:blip>
          <a:srcRect l="2326" t="13636" r="707" b="13637"/>
          <a:stretch/>
        </p:blipFill>
        <p:spPr>
          <a:xfrm>
            <a:off x="0" y="-1"/>
            <a:ext cx="12192000" cy="6858001"/>
          </a:xfrm>
          <a:prstGeom prst="rect">
            <a:avLst/>
          </a:prstGeom>
        </p:spPr>
      </p:pic>
      <p:sp>
        <p:nvSpPr>
          <p:cNvPr id="6" name="Rectangle 5"/>
          <p:cNvSpPr/>
          <p:nvPr userDrawn="1"/>
        </p:nvSpPr>
        <p:spPr>
          <a:xfrm>
            <a:off x="0" y="-1"/>
            <a:ext cx="12192000" cy="6858001"/>
          </a:xfrm>
          <a:prstGeom prst="rect">
            <a:avLst/>
          </a:prstGeom>
          <a:solidFill>
            <a:srgbClr val="136AEF">
              <a:alpha val="90000"/>
            </a:srgbClr>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pic>
        <p:nvPicPr>
          <p:cNvPr id="7" name="Picture 6"/>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1180884" y="6273800"/>
            <a:ext cx="719015" cy="292100"/>
          </a:xfrm>
          <a:prstGeom prst="rect">
            <a:avLst/>
          </a:prstGeom>
        </p:spPr>
      </p:pic>
      <p:sp>
        <p:nvSpPr>
          <p:cNvPr id="8" name="Text Placeholder 5"/>
          <p:cNvSpPr>
            <a:spLocks noGrp="1"/>
          </p:cNvSpPr>
          <p:nvPr>
            <p:ph type="body" sz="quarter" idx="10" hasCustomPrompt="1"/>
          </p:nvPr>
        </p:nvSpPr>
        <p:spPr>
          <a:xfrm>
            <a:off x="359997" y="242925"/>
            <a:ext cx="6194982" cy="609398"/>
          </a:xfrm>
        </p:spPr>
        <p:txBody>
          <a:bodyPr lIns="0" tIns="0" rIns="0" bIns="0" anchor="ctr">
            <a:noAutofit/>
          </a:bodyPr>
          <a:lstStyle>
            <a:lvl1pPr>
              <a:defRPr sz="3600" b="1">
                <a:solidFill>
                  <a:schemeClr val="bg1"/>
                </a:solidFill>
              </a:defRPr>
            </a:lvl1pPr>
          </a:lstStyle>
          <a:p>
            <a:pPr lvl="0"/>
            <a:r>
              <a:rPr lang="en-US"/>
              <a:t>Title in Title Case</a:t>
            </a:r>
          </a:p>
        </p:txBody>
      </p:sp>
      <p:sp>
        <p:nvSpPr>
          <p:cNvPr id="9" name="Text Placeholder 5"/>
          <p:cNvSpPr>
            <a:spLocks noGrp="1"/>
          </p:cNvSpPr>
          <p:nvPr>
            <p:ph type="body" sz="quarter" idx="11" hasCustomPrompt="1"/>
          </p:nvPr>
        </p:nvSpPr>
        <p:spPr>
          <a:xfrm>
            <a:off x="359997" y="852323"/>
            <a:ext cx="6194982" cy="609398"/>
          </a:xfrm>
        </p:spPr>
        <p:txBody>
          <a:bodyPr anchor="ctr">
            <a:noAutofit/>
          </a:bodyPr>
          <a:lstStyle>
            <a:lvl1pPr>
              <a:defRPr sz="3600" b="0" baseline="0">
                <a:solidFill>
                  <a:schemeClr val="bg1"/>
                </a:solidFill>
              </a:defRPr>
            </a:lvl1pPr>
          </a:lstStyle>
          <a:p>
            <a:pPr lvl="0"/>
            <a:r>
              <a:rPr lang="en-US"/>
              <a:t>Subtitle</a:t>
            </a:r>
          </a:p>
        </p:txBody>
      </p:sp>
      <p:cxnSp>
        <p:nvCxnSpPr>
          <p:cNvPr id="10" name="Straight Connector 9"/>
          <p:cNvCxnSpPr/>
          <p:nvPr userDrawn="1"/>
        </p:nvCxnSpPr>
        <p:spPr>
          <a:xfrm>
            <a:off x="359997" y="3467100"/>
            <a:ext cx="192453" cy="0"/>
          </a:xfrm>
          <a:prstGeom prst="line">
            <a:avLst/>
          </a:prstGeom>
          <a:ln w="19050"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
        <p:nvSpPr>
          <p:cNvPr id="11" name="Text Placeholder 5"/>
          <p:cNvSpPr>
            <a:spLocks noGrp="1"/>
          </p:cNvSpPr>
          <p:nvPr>
            <p:ph type="body" sz="quarter" idx="12" hasCustomPrompt="1"/>
          </p:nvPr>
        </p:nvSpPr>
        <p:spPr>
          <a:xfrm>
            <a:off x="359997" y="3609684"/>
            <a:ext cx="6194982" cy="338554"/>
          </a:xfrm>
        </p:spPr>
        <p:txBody>
          <a:bodyPr anchor="ctr">
            <a:spAutoFit/>
          </a:bodyPr>
          <a:lstStyle>
            <a:lvl1pPr>
              <a:defRPr sz="2000" b="0" baseline="0">
                <a:solidFill>
                  <a:schemeClr val="bg1"/>
                </a:solidFill>
              </a:defRPr>
            </a:lvl1pPr>
          </a:lstStyle>
          <a:p>
            <a:pPr lvl="0"/>
            <a:r>
              <a:rPr lang="en-US"/>
              <a:t>Subtitle in sentence case</a:t>
            </a:r>
          </a:p>
        </p:txBody>
      </p:sp>
      <p:sp>
        <p:nvSpPr>
          <p:cNvPr id="12" name="Text Placeholder 5"/>
          <p:cNvSpPr>
            <a:spLocks noGrp="1"/>
          </p:cNvSpPr>
          <p:nvPr>
            <p:ph type="body" sz="quarter" idx="13" hasCustomPrompt="1"/>
          </p:nvPr>
        </p:nvSpPr>
        <p:spPr>
          <a:xfrm>
            <a:off x="359997" y="3948238"/>
            <a:ext cx="6194982" cy="338554"/>
          </a:xfrm>
        </p:spPr>
        <p:txBody>
          <a:bodyPr anchor="ctr">
            <a:spAutoFit/>
          </a:bodyPr>
          <a:lstStyle>
            <a:lvl1pPr>
              <a:defRPr sz="2000" b="0" baseline="0">
                <a:solidFill>
                  <a:schemeClr val="bg1"/>
                </a:solidFill>
              </a:defRPr>
            </a:lvl1pPr>
          </a:lstStyle>
          <a:p>
            <a:pPr lvl="0"/>
            <a:r>
              <a:rPr lang="en-US"/>
              <a:t>Date/place</a:t>
            </a:r>
          </a:p>
        </p:txBody>
      </p:sp>
      <p:sp>
        <p:nvSpPr>
          <p:cNvPr id="13" name="TextBox 12"/>
          <p:cNvSpPr txBox="1"/>
          <p:nvPr userDrawn="1"/>
        </p:nvSpPr>
        <p:spPr>
          <a:xfrm>
            <a:off x="352425" y="6438901"/>
            <a:ext cx="6067425" cy="1231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l"/>
            <a:r>
              <a:rPr lang="en-GB" sz="800" b="1">
                <a:solidFill>
                  <a:schemeClr val="bg1"/>
                </a:solidFill>
              </a:rPr>
              <a:t>IBM at Project Open Marketplace/June 13 2019/© 2019 IBM Corporation</a:t>
            </a:r>
            <a:endParaRPr lang="en-US" sz="800" b="1" err="1">
              <a:solidFill>
                <a:schemeClr val="bg1"/>
              </a:solidFill>
            </a:endParaRPr>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2F2F2"/>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1249252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3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ea typeface="+mn-ea"/>
                <a:cs typeface="+mn-cs"/>
                <a:sym typeface="+mn-lt"/>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0191FF"/>
                </a:solidFill>
                <a:latin typeface="+mj-lt"/>
                <a:ea typeface="+mj-ea"/>
                <a:cs typeface="+mj-cs"/>
                <a:sym typeface="+mj-lt"/>
              </a:defRPr>
            </a:lvl1pPr>
          </a:lstStyle>
          <a:p>
            <a:pPr lvl="0"/>
            <a:r>
              <a:rPr lang="en-US"/>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rgbClr val="F2F2F2"/>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5262175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3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solidFill>
                  <a:schemeClr val="tx2"/>
                </a:solidFill>
                <a:latin typeface="+mj-lt"/>
                <a:ea typeface="+mj-ea"/>
                <a:cs typeface="+mj-cs"/>
                <a:sym typeface="+mj-lt"/>
              </a:defRPr>
            </a:lvl1pPr>
          </a:lstStyle>
          <a:p>
            <a:r>
              <a:rPr lang="en-US"/>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atin typeface="+mn-lt"/>
                <a:ea typeface="+mn-ea"/>
                <a:cs typeface="+mn-cs"/>
                <a:sym typeface="+mn-lt"/>
              </a:defRPr>
            </a:lvl1pPr>
            <a:lvl2pPr>
              <a:lnSpc>
                <a:spcPct val="100000"/>
              </a:lnSpc>
              <a:spcBef>
                <a:spcPts val="0"/>
              </a:spcBef>
              <a:spcAft>
                <a:spcPts val="0"/>
              </a:spcAft>
              <a:defRPr sz="2000">
                <a:latin typeface="+mn-lt"/>
                <a:ea typeface="+mn-ea"/>
                <a:cs typeface="+mn-cs"/>
                <a:sym typeface="+mn-lt"/>
              </a:defRPr>
            </a:lvl2pPr>
            <a:lvl3pPr>
              <a:lnSpc>
                <a:spcPct val="100000"/>
              </a:lnSpc>
              <a:spcBef>
                <a:spcPts val="0"/>
              </a:spcBef>
              <a:spcAft>
                <a:spcPts val="0"/>
              </a:spcAft>
              <a:defRPr sz="2000">
                <a:latin typeface="+mn-lt"/>
                <a:ea typeface="+mn-ea"/>
                <a:cs typeface="+mn-cs"/>
                <a:sym typeface="+mn-lt"/>
              </a:defRPr>
            </a:lvl3pPr>
            <a:lvl4pPr>
              <a:lnSpc>
                <a:spcPct val="100000"/>
              </a:lnSpc>
              <a:spcBef>
                <a:spcPts val="0"/>
              </a:spcBef>
              <a:spcAft>
                <a:spcPts val="0"/>
              </a:spcAft>
              <a:defRPr sz="2800">
                <a:latin typeface="+mn-lt"/>
                <a:ea typeface="+mn-ea"/>
                <a:cs typeface="+mn-cs"/>
                <a:sym typeface="+mn-lt"/>
              </a:defRPr>
            </a:lvl4pPr>
            <a:lvl5pPr>
              <a:lnSpc>
                <a:spcPct val="100000"/>
              </a:lnSpc>
              <a:spcBef>
                <a:spcPts val="0"/>
              </a:spcBef>
              <a:spcAft>
                <a:spcPts val="0"/>
              </a:spcAft>
              <a:defRPr sz="2800">
                <a:latin typeface="+mn-lt"/>
                <a:ea typeface="+mn-ea"/>
                <a:cs typeface="+mn-cs"/>
                <a:sym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rgbClr val="FFFFFF"/>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1913242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32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ea typeface="+mn-ea"/>
              <a:cs typeface="+mn-cs"/>
              <a:sym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ea typeface="+mn-ea"/>
                <a:cs typeface="+mn-cs"/>
                <a:sym typeface="+mn-lt"/>
              </a:defRPr>
            </a:lvl1pPr>
          </a:lstStyle>
          <a:p>
            <a:endParaRPr lang="en-US"/>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rgbClr val="0191FF"/>
                </a:solidFill>
                <a:latin typeface="+mj-lt"/>
                <a:ea typeface="+mj-ea"/>
                <a:cs typeface="+mj-cs"/>
                <a:sym typeface="+mj-lt"/>
              </a:defRPr>
            </a:lvl1pPr>
          </a:lstStyle>
          <a:p>
            <a:r>
              <a:rPr lang="en-US"/>
              <a:t>Click to add title</a:t>
            </a:r>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676593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6" name="Object 5"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ts val="6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j-ea"/>
                <a:cs typeface="+mj-cs"/>
                <a:sym typeface="+mj-lt"/>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ea typeface="+mn-ea"/>
              <a:cs typeface="+mn-cs"/>
              <a:sym typeface="+mn-lt"/>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05ECC09F-9A3E-A373-9A2B-6DD376339935}"/>
              </a:ext>
            </a:extLst>
          </p:cNvPr>
          <p:cNvSpPr/>
          <p:nvPr userDrawn="1">
            <p:custDataLst>
              <p:tags r:id="rId1"/>
            </p:custDataLst>
          </p:nvPr>
        </p:nvSpPr>
        <p:spPr>
          <a:xfrm>
            <a:off x="0" y="0"/>
            <a:ext cx="12700" cy="12700"/>
          </a:xfrm>
          <a:prstGeom prst="octagon">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191FF"/>
                </a:solidFill>
              </a14:hiddenFill>
            </a:ext>
            <a:ext uri="{91240B29-F687-4F45-9708-019B960494DF}">
              <a14:hiddenLine xmlns:a14="http://schemas.microsoft.com/office/drawing/2010/main" w="9525" cap="rnd" cmpd="sng" algn="ctr">
                <a:solidFill>
                  <a:srgbClr val="0191FF"/>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9352372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3" imgH="384" progId="TCLayout.ActiveDocument.1">
                  <p:embed/>
                </p:oleObj>
              </mc:Choice>
              <mc:Fallback>
                <p:oleObj name="think-cell Slide" r:id="rId5" imgW="383" imgH="384"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ea typeface="+mj-ea"/>
                <a:cs typeface="+mj-cs"/>
                <a:sym typeface="+mj-lt"/>
              </a:defRPr>
            </a:lvl1pPr>
          </a:lstStyle>
          <a:p>
            <a:r>
              <a:rPr lang="en-US"/>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486201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32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6" name="Picture 15"/>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a:p>
        </p:txBody>
      </p:sp>
      <p:sp>
        <p:nvSpPr>
          <p:cNvPr id="2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26" name="Rectangle 25"/>
          <p:cNvSpPr/>
          <p:nvPr userDrawn="1"/>
        </p:nvSpPr>
        <p:spPr bwMode="white">
          <a:xfrm>
            <a:off x="0" y="0"/>
            <a:ext cx="4079508"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ea typeface="+mn-ea"/>
              <a:cs typeface="+mn-cs"/>
              <a:sym typeface="+mn-lt"/>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rgbClr val="0191FF"/>
                </a:solidFill>
                <a:latin typeface="+mj-lt"/>
                <a:ea typeface="+mj-ea"/>
                <a:cs typeface="+mj-cs"/>
                <a:sym typeface="+mj-lt"/>
              </a:defRPr>
            </a:lvl1pPr>
          </a:lstStyle>
          <a:p>
            <a:r>
              <a:rPr lang="en-US"/>
              <a:t>Click to add title</a:t>
            </a: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7393983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3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ea typeface="+mn-ea"/>
              <a:cs typeface="+mn-cs"/>
              <a:sym typeface="+mn-lt"/>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a:p>
        </p:txBody>
      </p:sp>
      <p:sp>
        <p:nvSpPr>
          <p:cNvPr id="2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0191FF"/>
                </a:solidFill>
                <a:latin typeface="+mj-lt"/>
                <a:ea typeface="+mj-ea"/>
                <a:cs typeface="+mj-cs"/>
                <a:sym typeface="+mj-lt"/>
              </a:defRPr>
            </a:lvl1pPr>
          </a:lstStyle>
          <a:p>
            <a:pPr lvl="0"/>
            <a:r>
              <a:rPr lang="en-US"/>
              <a:t>Click to add title</a:t>
            </a: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8942313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32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ea typeface="+mj-ea"/>
                <a:cs typeface="+mj-cs"/>
                <a:sym typeface="+mj-lt"/>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ea typeface="+mn-ea"/>
              <a:cs typeface="+mn-cs"/>
              <a:sym typeface="+mn-lt"/>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mn-lt"/>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1602590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4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1" name="Picture 10"/>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ea typeface="+mn-ea"/>
              <a:cs typeface="+mn-cs"/>
              <a:sym typeface="+mn-lt"/>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mn-lt"/>
                <a:ea typeface="+mn-ea"/>
                <a:cs typeface="+mn-cs"/>
                <a:sym typeface="+mn-lt"/>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ea typeface="+mj-ea"/>
                <a:cs typeface="+mj-cs"/>
                <a:sym typeface="+mj-lt"/>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mn-lt"/>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mn-lt"/>
              </a:defRPr>
            </a:lvl1pPr>
          </a:lstStyle>
          <a:p>
            <a:endParaRPr lang="en-US"/>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4955790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4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ea typeface="+mn-ea"/>
              <a:cs typeface="+mn-cs"/>
              <a:sym typeface="+mn-lt"/>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mn-lt"/>
                <a:ea typeface="+mn-ea"/>
                <a:cs typeface="+mn-cs"/>
                <a:sym typeface="+mn-lt"/>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mn-lt"/>
              </a:defRPr>
            </a:lvl1pPr>
          </a:lstStyle>
          <a:p>
            <a:endParaRPr lang="en-US"/>
          </a:p>
        </p:txBody>
      </p:sp>
      <p:sp>
        <p:nvSpPr>
          <p:cNvPr id="15" name="Copyright" hidden="1"/>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ea typeface="+mj-ea"/>
                <a:cs typeface="+mj-cs"/>
                <a:sym typeface="+mj-lt"/>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2832367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32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ea typeface="+mn-ea"/>
              <a:cs typeface="+mn-cs"/>
              <a:sym typeface="+mn-lt"/>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rgbClr val="0191FF"/>
                </a:solidFill>
                <a:latin typeface="+mj-lt"/>
                <a:ea typeface="+mj-ea"/>
                <a:cs typeface="+mj-cs"/>
                <a:sym typeface="+mj-lt"/>
              </a:defRPr>
            </a:lvl1pPr>
          </a:lstStyle>
          <a:p>
            <a:r>
              <a:rPr lang="en-US">
                <a:solidFill>
                  <a:schemeClr val="tx2"/>
                </a:solidFill>
              </a:rPr>
              <a:t>Click to add title</a:t>
            </a:r>
          </a:p>
        </p:txBody>
      </p:sp>
      <p:pic>
        <p:nvPicPr>
          <p:cNvPr id="9" name="Picture 8"/>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777977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32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flip="none" rotWithShape="1">
            <a:gsLst>
              <a:gs pos="0">
                <a:srgbClr val="0191FF"/>
              </a:gs>
              <a:gs pos="100000">
                <a:srgbClr val="005696"/>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ea typeface="+mn-ea"/>
              <a:cs typeface="+mn-cs"/>
              <a:sym typeface="+mn-lt"/>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ea typeface="+mj-ea"/>
                <a:cs typeface="+mj-cs"/>
                <a:sym typeface="+mj-lt"/>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mn-lt"/>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mn-lt"/>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44302118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4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mn-lt"/>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ea typeface="+mn-ea"/>
              <a:cs typeface="+mn-cs"/>
              <a:sym typeface="+mn-lt"/>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0191FF"/>
                </a:solidFill>
                <a:latin typeface="+mj-lt"/>
                <a:ea typeface="+mj-ea"/>
                <a:cs typeface="+mj-cs"/>
                <a:sym typeface="+mj-lt"/>
              </a:defRPr>
            </a:lvl1pPr>
          </a:lstStyle>
          <a:p>
            <a:r>
              <a:rPr lang="en-US"/>
              <a:t>Click to add title</a:t>
            </a: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5077308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4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gradFill flip="none" rotWithShape="1">
            <a:gsLst>
              <a:gs pos="0">
                <a:srgbClr val="0191FF"/>
              </a:gs>
              <a:gs pos="100000">
                <a:srgbClr val="005696"/>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ea typeface="+mn-ea"/>
              <a:cs typeface="+mn-cs"/>
              <a:sym typeface="+mn-lt"/>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ea typeface="+mj-ea"/>
                <a:cs typeface="+mj-cs"/>
                <a:sym typeface="+mj-lt"/>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mn-lt"/>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mn-lt"/>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701933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3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14" name="Pentagon 8"/>
          <p:cNvSpPr/>
          <p:nvPr userDrawn="1"/>
        </p:nvSpPr>
        <p:spPr bwMode="white">
          <a:xfrm>
            <a:off x="0" y="0"/>
            <a:ext cx="6363546"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ea typeface="+mn-ea"/>
              <a:cs typeface="+mn-cs"/>
              <a:sym typeface="+mn-lt"/>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0191FF"/>
                </a:solidFill>
                <a:latin typeface="+mj-lt"/>
                <a:ea typeface="+mj-ea"/>
                <a:cs typeface="+mj-cs"/>
                <a:sym typeface="+mj-lt"/>
              </a:defRPr>
            </a:lvl1pPr>
          </a:lstStyle>
          <a:p>
            <a:pPr lvl="0"/>
            <a:r>
              <a:rPr lang="en-US"/>
              <a:t>Click to add title</a:t>
            </a:r>
          </a:p>
        </p:txBody>
      </p:sp>
      <p:pic>
        <p:nvPicPr>
          <p:cNvPr id="9" name="Picture 8"/>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4997260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3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gradFill flip="none" rotWithShape="1">
            <a:gsLst>
              <a:gs pos="0">
                <a:srgbClr val="0191FF"/>
              </a:gs>
              <a:gs pos="100000">
                <a:srgbClr val="005696"/>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ea typeface="+mn-ea"/>
              <a:cs typeface="+mn-cs"/>
              <a:sym typeface="+mn-lt"/>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ea typeface="+mj-ea"/>
                <a:cs typeface="+mj-cs"/>
                <a:sym typeface="+mj-lt"/>
              </a:defRPr>
            </a:lvl1pPr>
          </a:lstStyle>
          <a:p>
            <a:pPr lvl="0"/>
            <a:r>
              <a:rPr lang="en-US"/>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mn-lt"/>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mn-lt"/>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7203807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3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ea typeface="+mn-ea"/>
              <a:cs typeface="+mn-cs"/>
              <a:sym typeface="+mn-lt"/>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0191FF"/>
                </a:solidFill>
                <a:latin typeface="+mj-lt"/>
                <a:ea typeface="+mj-ea"/>
                <a:cs typeface="+mj-cs"/>
                <a:sym typeface="+mj-lt"/>
              </a:defRPr>
            </a:lvl1pPr>
          </a:lstStyle>
          <a:p>
            <a:pPr lvl="0"/>
            <a:r>
              <a:rPr lang="en-US"/>
              <a:t>Click to add title</a:t>
            </a:r>
          </a:p>
        </p:txBody>
      </p:sp>
      <p:pic>
        <p:nvPicPr>
          <p:cNvPr id="16" name="Picture 15"/>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4295406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3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flip="none" rotWithShape="1">
            <a:gsLst>
              <a:gs pos="0">
                <a:srgbClr val="0191FF"/>
              </a:gs>
              <a:gs pos="100000">
                <a:srgbClr val="005696"/>
              </a:gs>
            </a:gsLst>
            <a:lin ang="81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ea typeface="+mn-ea"/>
              <a:cs typeface="+mn-cs"/>
              <a:sym typeface="+mn-lt"/>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ea typeface="+mj-ea"/>
                <a:cs typeface="+mj-cs"/>
                <a:sym typeface="+mj-lt"/>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mn-lt"/>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mn-lt"/>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9287804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ts val="6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j-ea"/>
                <a:cs typeface="+mj-cs"/>
                <a:sym typeface="+mj-lt"/>
              </a:defRPr>
            </a:lvl1pPr>
          </a:lstStyle>
          <a:p>
            <a:r>
              <a:rPr lang="en-US"/>
              <a:t>Click to add big statement text</a:t>
            </a: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rgbClr val="F2F2F2"/>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8523022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ts val="6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mn-lt"/>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
        <p:nvSpPr>
          <p:cNvPr id="6" name="Rectangle 5"/>
          <p:cNvSpPr/>
          <p:nvPr userDrawn="1"/>
        </p:nvSpPr>
        <p:spPr bwMode="white">
          <a:xfrm>
            <a:off x="630000" y="625475"/>
            <a:ext cx="932688" cy="932688"/>
          </a:xfrm>
          <a:prstGeom prst="rect">
            <a:avLst/>
          </a:prstGeom>
          <a:noFill/>
          <a:ln>
            <a:solidFill>
              <a:srgbClr val="32C4FC"/>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ea typeface="+mn-ea"/>
              <a:cs typeface="+mn-cs"/>
              <a:sym typeface="+mn-lt"/>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32C4FC"/>
                </a:solidFill>
                <a:latin typeface="+mj-lt"/>
                <a:ea typeface="+mj-ea"/>
                <a:cs typeface="+mj-cs"/>
                <a:sym typeface="+mj-lt"/>
              </a:defRPr>
            </a:lvl1pPr>
          </a:lstStyle>
          <a:p>
            <a:r>
              <a:rPr lang="en-US"/>
              <a:t>Click to add big statement text</a:t>
            </a: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rgbClr val="002E50"/>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1494568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rgbClr val="0191FF"/>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ea typeface="+mn-ea"/>
              <a:cs typeface="+mn-cs"/>
              <a:sym typeface="+mn-lt"/>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rgbClr val="2C2C2C"/>
        </a:solidFill>
        <a:effectLst/>
      </p:bgPr>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9557343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6" name="Object 5"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3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ea typeface="+mj-ea"/>
                <a:cs typeface="+mj-cs"/>
                <a:sym typeface="+mj-lt"/>
              </a:defRPr>
            </a:lvl1pPr>
          </a:lstStyle>
          <a:p>
            <a:r>
              <a:rPr lang="en-US"/>
              <a:t>Click to add title</a:t>
            </a: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251291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mn-lt"/>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4587111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rgbClr val="F2F2F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4429262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mn-lt"/>
              </a:defRPr>
            </a:lvl1pPr>
          </a:lstStyle>
          <a:p>
            <a:endParaRPr lang="en-US"/>
          </a:p>
        </p:txBody>
      </p:sp>
      <p:sp>
        <p:nvSpPr>
          <p:cNvPr id="1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0220929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a typeface="+mn-ea"/>
                <a:cs typeface="+mn-cs"/>
                <a:sym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sym typeface="+mn-lt"/>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a typeface="+mn-ea"/>
                <a:cs typeface="+mn-cs"/>
                <a:sym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mn-lt"/>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mn-lt"/>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mn-lt"/>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ea typeface="+mn-ea"/>
                <a:cs typeface="+mn-cs"/>
                <a:sym typeface="+mn-lt"/>
              </a:defRPr>
            </a:lvl1pPr>
          </a:lstStyle>
          <a:p>
            <a:endParaRPr lang="en-US"/>
          </a:p>
        </p:txBody>
      </p:sp>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709220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5" name="Picture 4"/>
          <p:cNvPicPr>
            <a:picLocks noChangeAspect="1"/>
          </p:cNvPicPr>
          <p:nvPr userDrawn="1"/>
        </p:nvPicPr>
        <p:blipFill rotWithShape="1">
          <a:blip r:embed="rId6">
            <a:extLst>
              <a:ext uri="{28A0092B-C50C-407E-A947-70E740481C1C}">
                <a14:useLocalDpi xmlns:a14="http://schemas.microsoft.com/office/drawing/2010/main" val="0"/>
              </a:ext>
            </a:extLst>
          </a:blip>
          <a:srcRect l="2326" t="13636" r="707" b="13637"/>
          <a:stretch/>
        </p:blipFill>
        <p:spPr>
          <a:xfrm>
            <a:off x="0" y="-1"/>
            <a:ext cx="12192000" cy="6858001"/>
          </a:xfrm>
          <a:prstGeom prst="rect">
            <a:avLst/>
          </a:prstGeom>
        </p:spPr>
      </p:pic>
      <p:sp>
        <p:nvSpPr>
          <p:cNvPr id="6" name="Rectangle 5"/>
          <p:cNvSpPr/>
          <p:nvPr userDrawn="1"/>
        </p:nvSpPr>
        <p:spPr>
          <a:xfrm>
            <a:off x="0" y="-1"/>
            <a:ext cx="12192000" cy="6858001"/>
          </a:xfrm>
          <a:prstGeom prst="rect">
            <a:avLst/>
          </a:prstGeom>
          <a:solidFill>
            <a:srgbClr val="136AEF">
              <a:alpha val="90000"/>
            </a:srgbClr>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pic>
        <p:nvPicPr>
          <p:cNvPr id="7" name="Picture 6"/>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1180884" y="6273800"/>
            <a:ext cx="719015" cy="292100"/>
          </a:xfrm>
          <a:prstGeom prst="rect">
            <a:avLst/>
          </a:prstGeom>
        </p:spPr>
      </p:pic>
      <p:sp>
        <p:nvSpPr>
          <p:cNvPr id="8" name="Text Placeholder 5"/>
          <p:cNvSpPr>
            <a:spLocks noGrp="1"/>
          </p:cNvSpPr>
          <p:nvPr>
            <p:ph type="body" sz="quarter" idx="10" hasCustomPrompt="1"/>
          </p:nvPr>
        </p:nvSpPr>
        <p:spPr>
          <a:xfrm>
            <a:off x="359997" y="242925"/>
            <a:ext cx="6194982" cy="609398"/>
          </a:xfrm>
        </p:spPr>
        <p:txBody>
          <a:bodyPr lIns="0" tIns="0" rIns="0" bIns="0" anchor="ctr">
            <a:noAutofit/>
          </a:bodyPr>
          <a:lstStyle>
            <a:lvl1pPr>
              <a:defRPr sz="3600" b="1">
                <a:solidFill>
                  <a:schemeClr val="bg1"/>
                </a:solidFill>
              </a:defRPr>
            </a:lvl1pPr>
          </a:lstStyle>
          <a:p>
            <a:pPr lvl="0"/>
            <a:r>
              <a:rPr lang="en-US"/>
              <a:t>Title in Title Case</a:t>
            </a:r>
          </a:p>
        </p:txBody>
      </p:sp>
      <p:sp>
        <p:nvSpPr>
          <p:cNvPr id="9" name="Text Placeholder 5"/>
          <p:cNvSpPr>
            <a:spLocks noGrp="1"/>
          </p:cNvSpPr>
          <p:nvPr>
            <p:ph type="body" sz="quarter" idx="11" hasCustomPrompt="1"/>
          </p:nvPr>
        </p:nvSpPr>
        <p:spPr>
          <a:xfrm>
            <a:off x="359997" y="852323"/>
            <a:ext cx="6194982" cy="609398"/>
          </a:xfrm>
        </p:spPr>
        <p:txBody>
          <a:bodyPr anchor="ctr">
            <a:noAutofit/>
          </a:bodyPr>
          <a:lstStyle>
            <a:lvl1pPr>
              <a:defRPr sz="3600" b="0" baseline="0">
                <a:solidFill>
                  <a:schemeClr val="bg1"/>
                </a:solidFill>
              </a:defRPr>
            </a:lvl1pPr>
          </a:lstStyle>
          <a:p>
            <a:pPr lvl="0"/>
            <a:r>
              <a:rPr lang="en-US"/>
              <a:t>Subtitle</a:t>
            </a:r>
          </a:p>
        </p:txBody>
      </p:sp>
      <p:cxnSp>
        <p:nvCxnSpPr>
          <p:cNvPr id="10" name="Straight Connector 9"/>
          <p:cNvCxnSpPr/>
          <p:nvPr userDrawn="1"/>
        </p:nvCxnSpPr>
        <p:spPr>
          <a:xfrm>
            <a:off x="359997" y="3467100"/>
            <a:ext cx="192453" cy="0"/>
          </a:xfrm>
          <a:prstGeom prst="line">
            <a:avLst/>
          </a:prstGeom>
          <a:ln w="19050"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
        <p:nvSpPr>
          <p:cNvPr id="11" name="Text Placeholder 5"/>
          <p:cNvSpPr>
            <a:spLocks noGrp="1"/>
          </p:cNvSpPr>
          <p:nvPr>
            <p:ph type="body" sz="quarter" idx="12" hasCustomPrompt="1"/>
          </p:nvPr>
        </p:nvSpPr>
        <p:spPr>
          <a:xfrm>
            <a:off x="359997" y="3609684"/>
            <a:ext cx="6194982" cy="338554"/>
          </a:xfrm>
        </p:spPr>
        <p:txBody>
          <a:bodyPr anchor="ctr">
            <a:spAutoFit/>
          </a:bodyPr>
          <a:lstStyle>
            <a:lvl1pPr>
              <a:defRPr sz="2000" b="0" baseline="0">
                <a:solidFill>
                  <a:schemeClr val="bg1"/>
                </a:solidFill>
              </a:defRPr>
            </a:lvl1pPr>
          </a:lstStyle>
          <a:p>
            <a:pPr lvl="0"/>
            <a:r>
              <a:rPr lang="en-US"/>
              <a:t>Subtitle in sentence case</a:t>
            </a:r>
          </a:p>
        </p:txBody>
      </p:sp>
      <p:sp>
        <p:nvSpPr>
          <p:cNvPr id="12" name="Text Placeholder 5"/>
          <p:cNvSpPr>
            <a:spLocks noGrp="1"/>
          </p:cNvSpPr>
          <p:nvPr>
            <p:ph type="body" sz="quarter" idx="13" hasCustomPrompt="1"/>
          </p:nvPr>
        </p:nvSpPr>
        <p:spPr>
          <a:xfrm>
            <a:off x="359997" y="3948238"/>
            <a:ext cx="6194982" cy="338554"/>
          </a:xfrm>
        </p:spPr>
        <p:txBody>
          <a:bodyPr anchor="ctr">
            <a:spAutoFit/>
          </a:bodyPr>
          <a:lstStyle>
            <a:lvl1pPr>
              <a:defRPr sz="2000" b="0" baseline="0">
                <a:solidFill>
                  <a:schemeClr val="bg1"/>
                </a:solidFill>
              </a:defRPr>
            </a:lvl1pPr>
          </a:lstStyle>
          <a:p>
            <a:pPr lvl="0"/>
            <a:r>
              <a:rPr lang="en-US"/>
              <a:t>Date/place</a:t>
            </a:r>
          </a:p>
        </p:txBody>
      </p:sp>
      <p:sp>
        <p:nvSpPr>
          <p:cNvPr id="13" name="TextBox 12"/>
          <p:cNvSpPr txBox="1"/>
          <p:nvPr userDrawn="1"/>
        </p:nvSpPr>
        <p:spPr>
          <a:xfrm>
            <a:off x="352425" y="6438901"/>
            <a:ext cx="6067425" cy="1231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l"/>
            <a:r>
              <a:rPr lang="en-GB" sz="800" b="1">
                <a:solidFill>
                  <a:schemeClr val="bg1"/>
                </a:solidFill>
              </a:rPr>
              <a:t>IBM at Project Open Marketplace/June 13 2019/© 2019 IBM Corporation</a:t>
            </a:r>
            <a:endParaRPr lang="en-US" sz="800" b="1" err="1">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D836493-F095-D93F-42B8-1F6AA2C1924D}"/>
              </a:ext>
            </a:extLst>
          </p:cNvPr>
          <p:cNvSpPr/>
          <p:nvPr userDrawn="1">
            <p:custDataLst>
              <p:tags r:id="rId1"/>
            </p:custDataLst>
          </p:nvPr>
        </p:nvSpPr>
        <p:spPr>
          <a:xfrm>
            <a:off x="0" y="0"/>
            <a:ext cx="12700" cy="12700"/>
          </a:xfrm>
          <a:prstGeom prst="octagon">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191FF"/>
                </a:solidFill>
              </a14:hiddenFill>
            </a:ext>
            <a:ext uri="{91240B29-F687-4F45-9708-019B960494DF}">
              <a14:hiddenLine xmlns:a14="http://schemas.microsoft.com/office/drawing/2010/main" w="9525" cap="rnd" cmpd="sng" algn="ctr">
                <a:solidFill>
                  <a:srgbClr val="0191FF"/>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7828492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3" imgH="384" progId="TCLayout.ActiveDocument.1">
                  <p:embed/>
                </p:oleObj>
              </mc:Choice>
              <mc:Fallback>
                <p:oleObj name="think-cell Slide" r:id="rId5" imgW="383" imgH="384"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57" name="Date Placeholder 56"/>
          <p:cNvSpPr>
            <a:spLocks noGrp="1"/>
          </p:cNvSpPr>
          <p:nvPr>
            <p:ph type="dt" sz="half" idx="14"/>
          </p:nvPr>
        </p:nvSpPr>
        <p:spPr/>
        <p:txBody>
          <a:bodyPr/>
          <a:lstStyle>
            <a:lvl1pPr>
              <a:defRPr>
                <a:solidFill>
                  <a:schemeClr val="bg1">
                    <a:lumMod val="50000"/>
                  </a:schemeClr>
                </a:solidFill>
                <a:latin typeface="+mn-lt"/>
                <a:ea typeface="+mn-ea"/>
                <a:cs typeface="+mn-cs"/>
                <a:sym typeface="+mn-lt"/>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
        <p:nvSpPr>
          <p:cNvPr id="8" name="Title 7"/>
          <p:cNvSpPr>
            <a:spLocks noGrp="1"/>
          </p:cNvSpPr>
          <p:nvPr>
            <p:ph type="title" hasCustomPrompt="1"/>
          </p:nvPr>
        </p:nvSpPr>
        <p:spPr>
          <a:xfrm>
            <a:off x="630000" y="622800"/>
            <a:ext cx="10933350" cy="332399"/>
          </a:xfrm>
        </p:spPr>
        <p:txBody>
          <a:bodyPr/>
          <a:lstStyle>
            <a:lvl1pPr>
              <a:defRPr>
                <a:solidFill>
                  <a:schemeClr val="tx2"/>
                </a:solidFill>
                <a:latin typeface="+mj-lt"/>
                <a:ea typeface="+mj-ea"/>
                <a:cs typeface="+mj-cs"/>
                <a:sym typeface="+mj-lt"/>
              </a:defRPr>
            </a:lvl1pPr>
          </a:lstStyle>
          <a:p>
            <a:r>
              <a:rPr lang="en-US"/>
              <a:t>Click to add title</a:t>
            </a: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0C238369-D7DD-781D-B9F0-85712176E098}"/>
              </a:ext>
            </a:extLst>
          </p:cNvPr>
          <p:cNvSpPr/>
          <p:nvPr userDrawn="1">
            <p:custDataLst>
              <p:tags r:id="rId1"/>
            </p:custDataLst>
          </p:nvPr>
        </p:nvSpPr>
        <p:spPr>
          <a:xfrm>
            <a:off x="0" y="0"/>
            <a:ext cx="12700" cy="12700"/>
          </a:xfrm>
          <a:prstGeom prst="octagon">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191FF"/>
                </a:solidFill>
              </a14:hiddenFill>
            </a:ext>
            <a:ext uri="{91240B29-F687-4F45-9708-019B960494DF}">
              <a14:hiddenLine xmlns:a14="http://schemas.microsoft.com/office/drawing/2010/main" w="9525" cap="rnd" cmpd="sng" algn="ctr">
                <a:solidFill>
                  <a:srgbClr val="0191FF"/>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aphicFrame>
        <p:nvGraphicFramePr>
          <p:cNvPr id="5" name="Object 4" hidden="1"/>
          <p:cNvGraphicFramePr>
            <a:graphicFrameLocks noChangeAspect="1"/>
          </p:cNvGraphicFramePr>
          <p:nvPr userDrawn="1">
            <p:custDataLst>
              <p:tags r:id="rId2"/>
            </p:custDataLst>
            <p:extLst>
              <p:ext uri="{D42A27DB-BD31-4B8C-83A1-F6EECF244321}">
                <p14:modId xmlns:p14="http://schemas.microsoft.com/office/powerpoint/2010/main" val="27842177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3" imgH="384" progId="TCLayout.ActiveDocument.1">
                  <p:embed/>
                </p:oleObj>
              </mc:Choice>
              <mc:Fallback>
                <p:oleObj name="think-cell Slide" r:id="rId5" imgW="383" imgH="384"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lvl1pPr>
              <a:defRPr>
                <a:solidFill>
                  <a:schemeClr val="tx2"/>
                </a:solidFill>
                <a:latin typeface="+mj-lt"/>
                <a:ea typeface="+mj-ea"/>
                <a:cs typeface="+mj-cs"/>
                <a:sym typeface="+mj-lt"/>
              </a:defRPr>
            </a:lvl1pPr>
          </a:lstStyle>
          <a:p>
            <a:r>
              <a:rPr lang="en-US"/>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atin typeface="+mn-lt"/>
                <a:ea typeface="+mn-ea"/>
                <a:cs typeface="+mn-cs"/>
                <a:sym typeface="+mn-lt"/>
              </a:defRPr>
            </a:lvl1pPr>
            <a:lvl2pPr>
              <a:lnSpc>
                <a:spcPct val="100000"/>
              </a:lnSpc>
              <a:spcBef>
                <a:spcPts val="0"/>
              </a:spcBef>
              <a:spcAft>
                <a:spcPts val="0"/>
              </a:spcAft>
              <a:defRPr>
                <a:latin typeface="+mn-lt"/>
                <a:ea typeface="+mn-ea"/>
                <a:cs typeface="+mn-cs"/>
                <a:sym typeface="+mn-lt"/>
              </a:defRPr>
            </a:lvl2pPr>
            <a:lvl3pPr>
              <a:lnSpc>
                <a:spcPct val="100000"/>
              </a:lnSpc>
              <a:spcBef>
                <a:spcPts val="0"/>
              </a:spcBef>
              <a:spcAft>
                <a:spcPts val="0"/>
              </a:spcAft>
              <a:defRPr>
                <a:latin typeface="+mn-lt"/>
                <a:ea typeface="+mn-ea"/>
                <a:cs typeface="+mn-cs"/>
                <a:sym typeface="+mn-lt"/>
              </a:defRPr>
            </a:lvl3pPr>
            <a:lvl4pPr>
              <a:lnSpc>
                <a:spcPct val="100000"/>
              </a:lnSpc>
              <a:spcBef>
                <a:spcPts val="0"/>
              </a:spcBef>
              <a:spcAft>
                <a:spcPts val="0"/>
              </a:spcAft>
              <a:defRPr>
                <a:latin typeface="+mn-lt"/>
                <a:ea typeface="+mn-ea"/>
                <a:cs typeface="+mn-cs"/>
                <a:sym typeface="+mn-lt"/>
              </a:defRPr>
            </a:lvl4pPr>
            <a:lvl5pPr>
              <a:lnSpc>
                <a:spcPct val="100000"/>
              </a:lnSpc>
              <a:spcBef>
                <a:spcPts val="0"/>
              </a:spcBef>
              <a:spcAft>
                <a:spcPts val="0"/>
              </a:spcAft>
              <a:defRPr>
                <a:latin typeface="+mn-lt"/>
                <a:ea typeface="+mn-ea"/>
                <a:cs typeface="+mn-cs"/>
                <a:sym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rgbClr val="FFFFFF"/>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1472023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4" name="Date Placeholder 3"/>
          <p:cNvSpPr>
            <a:spLocks noGrp="1"/>
          </p:cNvSpPr>
          <p:nvPr>
            <p:ph type="dt" sz="half" idx="14"/>
          </p:nvPr>
        </p:nvSpPr>
        <p:spPr/>
        <p:txBody>
          <a:bodyPr/>
          <a:lstStyle>
            <a:lvl1pPr>
              <a:defRPr>
                <a:solidFill>
                  <a:schemeClr val="bg1">
                    <a:lumMod val="50000"/>
                  </a:schemeClr>
                </a:solidFill>
                <a:latin typeface="+mn-lt"/>
                <a:ea typeface="+mn-ea"/>
                <a:cs typeface="+mn-cs"/>
                <a:sym typeface="+mn-lt"/>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ea typeface="+mn-ea"/>
              <a:cs typeface="+mn-cs"/>
              <a:sym typeface="+mn-lt"/>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rgbClr val="0191FF"/>
                </a:solidFill>
                <a:latin typeface="+mn-lt"/>
                <a:ea typeface="+mn-ea"/>
                <a:cs typeface="+mn-cs"/>
                <a:sym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rgbClr val="0191FF"/>
                </a:solidFill>
                <a:latin typeface="+mj-lt"/>
                <a:ea typeface="+mj-ea"/>
                <a:cs typeface="+mj-cs"/>
                <a:sym typeface="+mj-lt"/>
              </a:defRPr>
            </a:lvl1pPr>
          </a:lstStyle>
          <a:p>
            <a:r>
              <a:rPr lang="en-US"/>
              <a:t>Click to add title</a:t>
            </a: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1824194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ts val="6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9" name="Date Placeholder 8"/>
          <p:cNvSpPr>
            <a:spLocks noGrp="1"/>
          </p:cNvSpPr>
          <p:nvPr>
            <p:ph type="dt" sz="half" idx="10"/>
          </p:nvPr>
        </p:nvSpPr>
        <p:spPr/>
        <p:txBody>
          <a:bodyPr/>
          <a:lstStyle>
            <a:lvl1pPr>
              <a:defRPr>
                <a:solidFill>
                  <a:schemeClr val="bg1">
                    <a:lumMod val="50000"/>
                  </a:schemeClr>
                </a:solidFill>
                <a:latin typeface="+mn-lt"/>
                <a:ea typeface="+mn-ea"/>
                <a:cs typeface="+mn-cs"/>
                <a:sym typeface="+mn-lt"/>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0191FF"/>
                </a:solidFill>
                <a:latin typeface="+mj-lt"/>
                <a:ea typeface="+mj-ea"/>
                <a:cs typeface="+mj-cs"/>
                <a:sym typeface="+mj-lt"/>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rgbClr val="32C4FC"/>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ea typeface="+mn-ea"/>
              <a:cs typeface="+mn-cs"/>
              <a:sym typeface="+mn-lt"/>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rgbClr val="FFFFFF"/>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584404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9" name="Date Placeholder 8"/>
          <p:cNvSpPr>
            <a:spLocks noGrp="1"/>
          </p:cNvSpPr>
          <p:nvPr>
            <p:ph type="dt" sz="half" idx="10"/>
          </p:nvPr>
        </p:nvSpPr>
        <p:spPr/>
        <p:txBody>
          <a:bodyPr/>
          <a:lstStyle>
            <a:lvl1pPr>
              <a:defRPr>
                <a:solidFill>
                  <a:schemeClr val="bg1">
                    <a:lumMod val="50000"/>
                  </a:schemeClr>
                </a:solidFill>
                <a:latin typeface="+mn-lt"/>
                <a:ea typeface="+mn-ea"/>
                <a:cs typeface="+mn-cs"/>
                <a:sym typeface="+mn-lt"/>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rgbClr val="0191FF"/>
                </a:solidFill>
                <a:latin typeface="+mj-lt"/>
                <a:ea typeface="+mj-ea"/>
                <a:cs typeface="+mj-cs"/>
                <a:sym typeface="+mj-lt"/>
              </a:defRPr>
            </a:lvl1pPr>
          </a:lstStyle>
          <a:p>
            <a:r>
              <a:rPr lang="en-US"/>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rgbClr val="32C4FC"/>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4376426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24" name="Rectangle 23"/>
          <p:cNvSpPr/>
          <p:nvPr userDrawn="1"/>
        </p:nvSpPr>
        <p:spPr bwMode="white">
          <a:xfrm>
            <a:off x="0" y="0"/>
            <a:ext cx="407950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ea typeface="+mn-ea"/>
              <a:cs typeface="+mn-cs"/>
              <a:sym typeface="+mn-lt"/>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rgbClr val="0191FF"/>
                </a:solidFill>
                <a:latin typeface="+mj-lt"/>
                <a:ea typeface="+mj-ea"/>
                <a:cs typeface="+mj-cs"/>
                <a:sym typeface="+mj-lt"/>
              </a:defRPr>
            </a:lvl1pPr>
          </a:lstStyle>
          <a:p>
            <a:r>
              <a:rPr lang="en-US"/>
              <a:t>Click to add title</a:t>
            </a: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4495233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ea typeface="+mn-ea"/>
              <a:cs typeface="+mn-cs"/>
              <a:sym typeface="+mn-lt"/>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solidFill>
                  <a:schemeClr val="tx2"/>
                </a:solidFill>
                <a:latin typeface="+mj-lt"/>
                <a:ea typeface="+mj-ea"/>
                <a:cs typeface="+mj-cs"/>
                <a:sym typeface="+mj-lt"/>
              </a:defRPr>
            </a:lvl1pPr>
          </a:lstStyle>
          <a:p>
            <a:r>
              <a:rPr lang="en-US"/>
              <a:t>Click to add title</a:t>
            </a: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42754790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6" name="Picture 15"/>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ea typeface="+mn-ea"/>
              <a:cs typeface="+mn-cs"/>
              <a:sym typeface="+mn-lt"/>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ea typeface="+mn-ea"/>
                <a:cs typeface="+mn-cs"/>
                <a:sym typeface="+mn-lt"/>
              </a:defRPr>
            </a:lvl1pPr>
          </a:lstStyle>
          <a:p>
            <a:endParaRPr lang="en-US"/>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solidFill>
                  <a:schemeClr val="tx2"/>
                </a:solidFill>
                <a:latin typeface="+mj-lt"/>
                <a:ea typeface="+mj-ea"/>
                <a:cs typeface="+mj-cs"/>
                <a:sym typeface="+mj-lt"/>
              </a:defRPr>
            </a:lvl1pPr>
          </a:lstStyle>
          <a:p>
            <a:r>
              <a:rPr lang="en-US"/>
              <a:t>Click to add title</a:t>
            </a: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8419955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ea typeface="+mj-ea"/>
                <a:cs typeface="+mj-cs"/>
                <a:sym typeface="+mj-lt"/>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ea typeface="+mn-ea"/>
              <a:cs typeface="+mn-cs"/>
              <a:sym typeface="+mn-lt"/>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mn-lt"/>
              </a:defRPr>
            </a:lvl1pPr>
          </a:lstStyle>
          <a:p>
            <a:endParaRPr lang="en-US"/>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3746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4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ea typeface="+mn-ea"/>
              <a:cs typeface="+mn-cs"/>
              <a:sym typeface="+mn-lt"/>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mn-lt"/>
                <a:ea typeface="+mn-ea"/>
                <a:cs typeface="+mn-cs"/>
                <a:sym typeface="+mn-lt"/>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ea typeface="+mj-ea"/>
                <a:cs typeface="+mj-cs"/>
                <a:sym typeface="+mj-lt"/>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mn-lt"/>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mn-lt"/>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5695518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4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ea typeface="+mn-ea"/>
              <a:cs typeface="+mn-cs"/>
              <a:sym typeface="+mn-lt"/>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mn-lt"/>
                <a:ea typeface="+mn-ea"/>
                <a:cs typeface="+mn-cs"/>
                <a:sym typeface="+mn-lt"/>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ea typeface="+mn-ea"/>
                <a:cs typeface="+mn-cs"/>
                <a:sym typeface="+mn-lt"/>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ea typeface="+mj-ea"/>
                <a:cs typeface="+mj-cs"/>
                <a:sym typeface="+mj-lt"/>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mn-lt"/>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4863694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ea typeface="+mn-ea"/>
              <a:cs typeface="+mn-cs"/>
              <a:sym typeface="+mn-lt"/>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rgbClr val="0191FF"/>
                </a:solidFill>
                <a:latin typeface="+mj-lt"/>
                <a:ea typeface="+mj-ea"/>
                <a:cs typeface="+mj-cs"/>
                <a:sym typeface="+mj-lt"/>
              </a:defRPr>
            </a:lvl1pPr>
          </a:lstStyle>
          <a:p>
            <a:r>
              <a:rPr lang="en-US">
                <a:solidFill>
                  <a:schemeClr val="tx2"/>
                </a:solidFill>
              </a:rPr>
              <a:t>Click to add title</a:t>
            </a: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rgbClr val="FFFFFF"/>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6410781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flip="none" rotWithShape="1">
            <a:gsLst>
              <a:gs pos="0">
                <a:srgbClr val="0191FF"/>
              </a:gs>
              <a:gs pos="100000">
                <a:srgbClr val="005696"/>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ea typeface="+mn-ea"/>
              <a:cs typeface="+mn-cs"/>
              <a:sym typeface="+mn-lt"/>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ea typeface="+mj-ea"/>
                <a:cs typeface="+mj-cs"/>
                <a:sym typeface="+mj-lt"/>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mn-lt"/>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mn-lt"/>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1033488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4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mn-lt"/>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ea typeface="+mn-ea"/>
                <a:cs typeface="+mn-cs"/>
                <a:sym typeface="+mn-lt"/>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ea typeface="+mn-ea"/>
              <a:cs typeface="+mn-cs"/>
              <a:sym typeface="+mn-lt"/>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0191FF"/>
                </a:solidFill>
                <a:latin typeface="+mj-lt"/>
                <a:ea typeface="+mj-ea"/>
                <a:cs typeface="+mj-cs"/>
                <a:sym typeface="+mj-lt"/>
              </a:defRPr>
            </a:lvl1pPr>
          </a:lstStyle>
          <a:p>
            <a:r>
              <a:rPr lang="en-US"/>
              <a:t>Click to add title</a:t>
            </a:r>
          </a:p>
        </p:txBody>
      </p:sp>
      <p:pic>
        <p:nvPicPr>
          <p:cNvPr id="11" name="Picture 10"/>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rgbClr val="FFFFFF"/>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899424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4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gradFill flip="none" rotWithShape="1">
            <a:gsLst>
              <a:gs pos="0">
                <a:srgbClr val="0191FF"/>
              </a:gs>
              <a:gs pos="100000">
                <a:srgbClr val="005696"/>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ea typeface="+mn-ea"/>
              <a:cs typeface="+mn-cs"/>
              <a:sym typeface="+mn-lt"/>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ea typeface="+mj-ea"/>
                <a:cs typeface="+mj-cs"/>
                <a:sym typeface="+mj-lt"/>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mn-lt"/>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mn-lt"/>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675172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9" name="Pentagon 8"/>
          <p:cNvSpPr/>
          <p:nvPr/>
        </p:nvSpPr>
        <p:spPr bwMode="white">
          <a:xfrm>
            <a:off x="0" y="0"/>
            <a:ext cx="6363546" cy="6858000"/>
          </a:xfrm>
          <a:prstGeom prst="homePlate">
            <a:avLst>
              <a:gd name="adj" fmla="val 1293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ea typeface="+mn-ea"/>
              <a:cs typeface="+mn-cs"/>
              <a:sym typeface="+mn-lt"/>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chemeClr val="tx2"/>
                </a:solidFill>
                <a:latin typeface="+mj-lt"/>
                <a:ea typeface="+mj-ea"/>
                <a:cs typeface="+mj-cs"/>
                <a:sym typeface="+mj-lt"/>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ea typeface="+mn-ea"/>
                <a:cs typeface="+mn-cs"/>
                <a:sym typeface="+mn-lt"/>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pic>
        <p:nvPicPr>
          <p:cNvPr id="10" name="Picture 9"/>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rgbClr val="FFFFFF"/>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990233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9" name="Pentagon 8"/>
          <p:cNvSpPr/>
          <p:nvPr/>
        </p:nvSpPr>
        <p:spPr bwMode="white">
          <a:xfrm>
            <a:off x="0" y="0"/>
            <a:ext cx="6363546" cy="6858000"/>
          </a:xfrm>
          <a:prstGeom prst="homePlate">
            <a:avLst>
              <a:gd name="adj" fmla="val 12939"/>
            </a:avLst>
          </a:prstGeom>
          <a:gradFill flip="none" rotWithShape="1">
            <a:gsLst>
              <a:gs pos="0">
                <a:srgbClr val="0191FF"/>
              </a:gs>
              <a:gs pos="100000">
                <a:srgbClr val="005696"/>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ea typeface="+mn-ea"/>
              <a:cs typeface="+mn-cs"/>
              <a:sym typeface="+mn-lt"/>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ea typeface="+mj-ea"/>
                <a:cs typeface="+mj-cs"/>
                <a:sym typeface="+mj-lt"/>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mn-lt"/>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mn-lt"/>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001812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ea typeface="+mn-ea"/>
              <a:cs typeface="+mn-cs"/>
              <a:sym typeface="+mn-lt"/>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ea typeface="+mn-ea"/>
                <a:cs typeface="+mn-cs"/>
                <a:sym typeface="+mn-lt"/>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chemeClr val="tx2"/>
                </a:solidFill>
                <a:latin typeface="+mj-lt"/>
                <a:ea typeface="+mj-ea"/>
                <a:cs typeface="+mj-cs"/>
                <a:sym typeface="+mj-lt"/>
              </a:defRPr>
            </a:lvl1pPr>
          </a:lstStyle>
          <a:p>
            <a:r>
              <a:rPr lang="en-US"/>
              <a:t>Click to add title</a:t>
            </a:r>
          </a:p>
        </p:txBody>
      </p:sp>
      <p:pic>
        <p:nvPicPr>
          <p:cNvPr id="11" name="Picture 10"/>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rgbClr val="FFFFFF"/>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356526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flip="none" rotWithShape="1">
            <a:gsLst>
              <a:gs pos="0">
                <a:srgbClr val="0191FF"/>
              </a:gs>
              <a:gs pos="100000">
                <a:srgbClr val="005696"/>
              </a:gs>
            </a:gsLst>
            <a:lin ang="81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ea typeface="+mn-ea"/>
              <a:cs typeface="+mn-cs"/>
              <a:sym typeface="+mn-lt"/>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ea typeface="+mj-ea"/>
                <a:cs typeface="+mj-cs"/>
                <a:sym typeface="+mj-lt"/>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mn-lt"/>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mn-lt"/>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52B8E99B-956B-6853-72F8-7DA24CB5A9EE}"/>
              </a:ext>
            </a:extLst>
          </p:cNvPr>
          <p:cNvSpPr/>
          <p:nvPr userDrawn="1">
            <p:custDataLst>
              <p:tags r:id="rId1"/>
            </p:custDataLst>
          </p:nvPr>
        </p:nvSpPr>
        <p:spPr>
          <a:xfrm>
            <a:off x="0" y="0"/>
            <a:ext cx="12700" cy="12700"/>
          </a:xfrm>
          <a:prstGeom prst="octagon">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0191FF"/>
                </a:solidFill>
              </a14:hiddenFill>
            </a:ext>
            <a:ext uri="{91240B29-F687-4F45-9708-019B960494DF}">
              <a14:hiddenLine xmlns:a14="http://schemas.microsoft.com/office/drawing/2010/main" w="9525" cap="rnd" cmpd="sng" algn="ctr">
                <a:solidFill>
                  <a:srgbClr val="0191FF"/>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2543721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3" imgH="384" progId="TCLayout.ActiveDocument.1">
                  <p:embed/>
                </p:oleObj>
              </mc:Choice>
              <mc:Fallback>
                <p:oleObj name="think-cell Slide" r:id="rId5" imgW="383" imgH="384" progId="TCLayout.ActiveDocument.1">
                  <p:embed/>
                  <p:pic>
                    <p:nvPicPr>
                      <p:cNvPr id="3" name="Object 2"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ts val="6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ea typeface="+mn-ea"/>
                <a:cs typeface="+mn-cs"/>
                <a:sym typeface="+mn-lt"/>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j-ea"/>
                <a:cs typeface="+mj-cs"/>
                <a:sym typeface="+mj-lt"/>
              </a:defRPr>
            </a:lvl1pPr>
          </a:lstStyle>
          <a:p>
            <a:r>
              <a:rPr lang="en-US"/>
              <a:t>Click to add big statement text</a:t>
            </a: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rgbClr val="FFFFFF"/>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290997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ts val="6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8" name="Date Placeholder 7"/>
          <p:cNvSpPr>
            <a:spLocks noGrp="1"/>
          </p:cNvSpPr>
          <p:nvPr>
            <p:ph type="dt" sz="half" idx="10"/>
          </p:nvPr>
        </p:nvSpPr>
        <p:spPr/>
        <p:txBody>
          <a:bodyPr/>
          <a:lstStyle>
            <a:lvl1pPr>
              <a:defRPr>
                <a:latin typeface="+mn-lt"/>
                <a:ea typeface="+mn-ea"/>
                <a:cs typeface="+mn-cs"/>
                <a:sym typeface="+mn-lt"/>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
        <p:nvSpPr>
          <p:cNvPr id="6" name="Rectangle 5"/>
          <p:cNvSpPr/>
          <p:nvPr userDrawn="1"/>
        </p:nvSpPr>
        <p:spPr bwMode="white">
          <a:xfrm>
            <a:off x="630000" y="625475"/>
            <a:ext cx="932688" cy="932688"/>
          </a:xfrm>
          <a:prstGeom prst="rect">
            <a:avLst/>
          </a:prstGeom>
          <a:noFill/>
          <a:ln>
            <a:solidFill>
              <a:srgbClr val="32C4FC"/>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ea typeface="+mn-ea"/>
              <a:cs typeface="+mn-cs"/>
              <a:sym typeface="+mn-lt"/>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32C4FC"/>
                </a:solidFill>
                <a:latin typeface="+mj-lt"/>
                <a:ea typeface="+mj-ea"/>
                <a:cs typeface="+mj-cs"/>
                <a:sym typeface="+mj-lt"/>
              </a:defRPr>
            </a:lvl1pPr>
          </a:lstStyle>
          <a:p>
            <a:r>
              <a:rPr lang="en-US"/>
              <a:t>Click to add big statement text</a:t>
            </a: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rgbClr val="002E50"/>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0682748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2" name="Date Placeholder 1"/>
          <p:cNvSpPr>
            <a:spLocks noGrp="1"/>
          </p:cNvSpPr>
          <p:nvPr>
            <p:ph type="dt" sz="half" idx="10"/>
          </p:nvPr>
        </p:nvSpPr>
        <p:spPr/>
        <p:txBody>
          <a:bodyPr/>
          <a:lstStyle>
            <a:lvl1pPr>
              <a:defRPr>
                <a:solidFill>
                  <a:schemeClr val="bg1"/>
                </a:solidFill>
                <a:latin typeface="+mn-lt"/>
                <a:ea typeface="+mn-ea"/>
                <a:cs typeface="+mn-cs"/>
                <a:sym typeface="+mn-lt"/>
              </a:defRPr>
            </a:lvl1pPr>
          </a:lstStyle>
          <a:p>
            <a:endParaRPr lang="en-US"/>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rgbClr val="0191FF"/>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ea typeface="+mn-ea"/>
              <a:cs typeface="+mn-cs"/>
              <a:sym typeface="+mn-lt"/>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rgbClr val="2C2C2C"/>
        </a:solidFill>
        <a:effectLst/>
      </p:bgPr>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1582844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6" name="Object 5"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3" name="Date Placeholder 2"/>
          <p:cNvSpPr>
            <a:spLocks noGrp="1"/>
          </p:cNvSpPr>
          <p:nvPr>
            <p:ph type="dt" sz="half" idx="10"/>
          </p:nvPr>
        </p:nvSpPr>
        <p:spPr/>
        <p:txBody>
          <a:bodyPr/>
          <a:lstStyle>
            <a:lvl1pPr>
              <a:defRPr>
                <a:solidFill>
                  <a:schemeClr val="bg1"/>
                </a:solidFill>
                <a:latin typeface="+mn-lt"/>
                <a:ea typeface="+mn-ea"/>
                <a:cs typeface="+mn-cs"/>
                <a:sym typeface="+mn-lt"/>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ea typeface="+mj-ea"/>
                <a:cs typeface="+mj-cs"/>
                <a:sym typeface="+mj-lt"/>
              </a:defRPr>
            </a:lvl1pPr>
          </a:lstStyle>
          <a:p>
            <a:r>
              <a:rPr lang="en-US"/>
              <a:t>Click to add title</a:t>
            </a: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296897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ea typeface="+mn-ea"/>
              <a:cs typeface="+mn-cs"/>
              <a:sym typeface="+mn-lt"/>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ea typeface="+mn-ea"/>
              <a:cs typeface="+mn-cs"/>
              <a:sym typeface="+mn-lt"/>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rgbClr val="0191FF"/>
                </a:solidFill>
                <a:latin typeface="+mn-lt"/>
                <a:ea typeface="+mn-ea"/>
                <a:cs typeface="+mn-cs"/>
                <a:sym typeface="+mn-lt"/>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ea typeface="+mn-ea"/>
                <a:cs typeface="+mn-cs"/>
                <a:sym typeface="+mn-lt"/>
              </a:defRPr>
            </a:lvl1pPr>
          </a:lstStyle>
          <a:p>
            <a:endParaRPr lang="en-US"/>
          </a:p>
        </p:txBody>
      </p:sp>
      <p:sp>
        <p:nvSpPr>
          <p:cNvPr id="2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pic>
        <p:nvPicPr>
          <p:cNvPr id="10" name="Picture 9"/>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190765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ea typeface="+mn-ea"/>
                <a:cs typeface="+mn-cs"/>
                <a:sym typeface="+mn-lt"/>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D. Blank">
    <p:bg>
      <p:bgPr>
        <a:solidFill>
          <a:srgbClr val="FFFFFF"/>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3793349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Date Placeholder 6"/>
          <p:cNvSpPr>
            <a:spLocks noGrp="1"/>
          </p:cNvSpPr>
          <p:nvPr>
            <p:ph type="dt" sz="half" idx="10"/>
          </p:nvPr>
        </p:nvSpPr>
        <p:spPr/>
        <p:txBody>
          <a:bodyPr/>
          <a:lstStyle>
            <a:lvl1pPr>
              <a:defRPr>
                <a:latin typeface="+mn-lt"/>
                <a:ea typeface="+mn-ea"/>
                <a:cs typeface="+mn-cs"/>
                <a:sym typeface="+mn-lt"/>
              </a:defRPr>
            </a:lvl1pPr>
          </a:lstStyle>
          <a:p>
            <a:endParaRPr lang="en-US"/>
          </a:p>
        </p:txBody>
      </p:sp>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6936122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Date Placeholder 3"/>
          <p:cNvSpPr>
            <a:spLocks noGrp="1"/>
          </p:cNvSpPr>
          <p:nvPr>
            <p:ph type="dt" sz="half" idx="10"/>
          </p:nvPr>
        </p:nvSpPr>
        <p:spPr/>
        <p:txBody>
          <a:bodyPr/>
          <a:lstStyle>
            <a:lvl1pPr>
              <a:defRPr>
                <a:latin typeface="+mn-lt"/>
                <a:ea typeface="+mn-ea"/>
                <a:cs typeface="+mn-cs"/>
                <a:sym typeface="+mn-lt"/>
              </a:defRPr>
            </a:lvl1pPr>
          </a:lstStyle>
          <a:p>
            <a:endParaRPr lang="en-US"/>
          </a:p>
        </p:txBody>
      </p:sp>
      <p:sp>
        <p:nvSpPr>
          <p:cNvPr id="1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371703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a typeface="+mn-ea"/>
                <a:cs typeface="+mn-cs"/>
                <a:sym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sym typeface="+mn-lt"/>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sym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a typeface="+mn-ea"/>
                <a:cs typeface="+mn-cs"/>
                <a:sym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mn-lt"/>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mn-lt"/>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mn-lt"/>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ea typeface="+mn-ea"/>
                <a:cs typeface="+mn-cs"/>
                <a:sym typeface="+mn-lt"/>
              </a:defRPr>
            </a:lvl1pPr>
          </a:lstStyle>
          <a:p>
            <a:endParaRPr lang="en-US"/>
          </a:p>
        </p:txBody>
      </p:sp>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34480152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mn-lt"/>
              <a:ea typeface="+mn-ea"/>
              <a:cs typeface="+mn-cs"/>
              <a:sym typeface="+mn-lt"/>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mn-lt"/>
              <a:ea typeface="+mn-ea"/>
              <a:cs typeface="+mn-cs"/>
              <a:sym typeface="+mn-lt"/>
            </a:endParaRPr>
          </a:p>
        </p:txBody>
      </p:sp>
      <p:sp>
        <p:nvSpPr>
          <p:cNvPr id="2" name="TextBox 1"/>
          <p:cNvSpPr txBox="1"/>
          <p:nvPr userDrawn="1"/>
        </p:nvSpPr>
        <p:spPr>
          <a:xfrm>
            <a:off x="630000" y="907198"/>
            <a:ext cx="3448800" cy="3493008"/>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a:solidFill>
                <a:schemeClr val="bg1"/>
              </a:solidFill>
              <a:latin typeface="+mn-lt"/>
              <a:ea typeface="+mn-ea"/>
              <a:cs typeface="+mn-cs"/>
              <a:sym typeface="+mn-lt"/>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a:solidFill>
                  <a:schemeClr val="bg1"/>
                </a:solidFill>
                <a:latin typeface="+mn-lt"/>
                <a:ea typeface="+mn-ea"/>
                <a:cs typeface="+mn-cs"/>
                <a:sym typeface="+mn-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53949674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ea typeface="+mn-ea"/>
              <a:cs typeface="+mn-cs"/>
              <a:sym typeface="+mn-lt"/>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mn-lt"/>
              <a:ea typeface="+mn-ea"/>
              <a:cs typeface="+mn-cs"/>
              <a:sym typeface="+mn-lt"/>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18564981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bg1"/>
                </a:solidFill>
                <a:latin typeface="+mn-lt"/>
                <a:ea typeface="+mn-ea"/>
                <a:cs typeface="+mn-cs"/>
                <a:sym typeface="+mn-lt"/>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3518958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ea typeface="+mn-ea"/>
              <a:cs typeface="+mn-cs"/>
              <a:sym typeface="+mn-lt"/>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mn-lt"/>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a:solidFill>
                  <a:schemeClr val="bg1"/>
                </a:solidFill>
                <a:latin typeface="+mn-lt"/>
                <a:ea typeface="+mn-ea"/>
                <a:cs typeface="+mn-cs"/>
                <a:sym typeface="+mn-lt"/>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rgbClr val="FFFFFF"/>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72621275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rgbClr val="32C4FC"/>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mn-lt"/>
              <a:ea typeface="+mn-ea"/>
              <a:cs typeface="+mn-cs"/>
              <a:sym typeface="+mn-lt"/>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rgbClr val="32C4FC"/>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mn-lt"/>
              <a:ea typeface="+mn-ea"/>
              <a:cs typeface="+mn-cs"/>
              <a:sym typeface="+mn-lt"/>
            </a:endParaRPr>
          </a:p>
        </p:txBody>
      </p:sp>
      <p:sp>
        <p:nvSpPr>
          <p:cNvPr id="11" name="TextBox 10"/>
          <p:cNvSpPr txBox="1"/>
          <p:nvPr userDrawn="1"/>
        </p:nvSpPr>
        <p:spPr>
          <a:xfrm>
            <a:off x="630000" y="907197"/>
            <a:ext cx="3448800" cy="3493008"/>
          </a:xfrm>
          <a:prstGeom prst="rect">
            <a:avLst/>
          </a:prstGeom>
          <a:noFill/>
          <a:ln>
            <a:solidFill>
              <a:srgbClr val="32C4FC"/>
            </a:solidFill>
          </a:ln>
        </p:spPr>
        <p:txBody>
          <a:bodyPr wrap="square" lIns="612000" tIns="468000" rIns="0" bIns="0" rtlCol="0" anchor="t">
            <a:spAutoFit/>
          </a:bodyPr>
          <a:lstStyle/>
          <a:p>
            <a:pPr>
              <a:lnSpc>
                <a:spcPct val="90000"/>
              </a:lnSpc>
              <a:spcAft>
                <a:spcPts val="600"/>
              </a:spcAft>
            </a:pPr>
            <a:endParaRPr lang="en-US" sz="5400">
              <a:solidFill>
                <a:schemeClr val="accent4"/>
              </a:solidFill>
              <a:latin typeface="+mn-lt"/>
              <a:ea typeface="+mn-ea"/>
              <a:cs typeface="+mn-cs"/>
              <a:sym typeface="+mn-lt"/>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solidFill>
                  <a:srgbClr val="32C4FC"/>
                </a:solidFill>
                <a:latin typeface="+mn-lt"/>
                <a:ea typeface="+mn-ea"/>
                <a:cs typeface="+mn-cs"/>
                <a:sym typeface="+mn-lt"/>
              </a:rPr>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rgbClr val="FFFFFF"/>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7981224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rgbClr val="32C4FC"/>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ea typeface="+mn-ea"/>
              <a:cs typeface="+mn-cs"/>
              <a:sym typeface="+mn-lt"/>
            </a:endParaRPr>
          </a:p>
        </p:txBody>
      </p:sp>
      <p:sp>
        <p:nvSpPr>
          <p:cNvPr id="10" name="Rectangle 9"/>
          <p:cNvSpPr/>
          <p:nvPr userDrawn="1"/>
        </p:nvSpPr>
        <p:spPr>
          <a:xfrm>
            <a:off x="1285200" y="2667600"/>
            <a:ext cx="9619200" cy="3200400"/>
          </a:xfrm>
          <a:prstGeom prst="rect">
            <a:avLst/>
          </a:prstGeom>
          <a:noFill/>
          <a:ln w="9525">
            <a:solidFill>
              <a:srgbClr val="32C4FC"/>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mn-lt"/>
              <a:ea typeface="+mn-ea"/>
              <a:cs typeface="+mn-cs"/>
              <a:sym typeface="+mn-lt"/>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rgbClr val="FFFFFF"/>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0717108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rgbClr val="32C4FC"/>
                </a:solidFill>
                <a:latin typeface="+mn-lt"/>
                <a:ea typeface="+mn-ea"/>
                <a:cs typeface="+mn-cs"/>
                <a:sym typeface="+mn-lt"/>
              </a:rPr>
              <a:t>Agenda</a:t>
            </a:r>
          </a:p>
        </p:txBody>
      </p:sp>
      <p:cxnSp>
        <p:nvCxnSpPr>
          <p:cNvPr id="9" name="Straight Connector 8"/>
          <p:cNvCxnSpPr/>
          <p:nvPr userDrawn="1"/>
        </p:nvCxnSpPr>
        <p:spPr bwMode="white">
          <a:xfrm>
            <a:off x="618898" y="1206000"/>
            <a:ext cx="11576304" cy="0"/>
          </a:xfrm>
          <a:prstGeom prst="line">
            <a:avLst/>
          </a:prstGeom>
          <a:ln w="9525" cmpd="sng">
            <a:solidFill>
              <a:srgbClr val="32C4FC"/>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20162251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ea typeface="+mn-ea"/>
              <a:cs typeface="+mn-cs"/>
              <a:sym typeface="+mn-lt"/>
            </a:endParaRPr>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2025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mn-lt"/>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a:solidFill>
                  <a:schemeClr val="bg1"/>
                </a:solidFill>
                <a:latin typeface="+mn-lt"/>
                <a:ea typeface="+mn-ea"/>
                <a:cs typeface="+mn-cs"/>
                <a:sym typeface="+mn-lt"/>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flip="none" rotWithShape="1">
          <a:gsLst>
            <a:gs pos="0">
              <a:srgbClr val="0191FF"/>
            </a:gs>
            <a:gs pos="100000">
              <a:srgbClr val="005696"/>
            </a:gs>
          </a:gsLst>
          <a:lin ang="8100000" scaled="1"/>
          <a:tileRect/>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16406794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ea typeface="+mn-ea"/>
              <a:cs typeface="+mn-cs"/>
              <a:sym typeface="+mn-lt"/>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ea typeface="+mn-ea"/>
              <a:cs typeface="+mn-cs"/>
              <a:sym typeface="+mn-lt"/>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rgbClr val="32C4FC"/>
                </a:solidFill>
                <a:latin typeface="+mn-lt"/>
                <a:ea typeface="+mn-ea"/>
                <a:cs typeface="+mn-cs"/>
                <a:sym typeface="+mn-lt"/>
              </a:rPr>
              <a:t>Table of contents</a:t>
            </a:r>
          </a:p>
        </p:txBody>
      </p:sp>
      <p:sp>
        <p:nvSpPr>
          <p:cNvPr id="2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ea typeface="+mn-ea"/>
                <a:cs typeface="+mn-cs"/>
                <a:sym typeface="+mn-lt"/>
              </a:rPr>
              <a:t>Copyright © 2025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mn-lt"/>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86958-D78A-4899-49D2-0A0F00C621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26D3A4-88E6-1405-A825-5BD3411227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9469F6-ECB5-55B3-DE85-131F06127BF8}"/>
              </a:ext>
            </a:extLst>
          </p:cNvPr>
          <p:cNvSpPr>
            <a:spLocks noGrp="1"/>
          </p:cNvSpPr>
          <p:nvPr>
            <p:ph type="dt" sz="half" idx="10"/>
          </p:nvPr>
        </p:nvSpPr>
        <p:spPr/>
        <p:txBody>
          <a:bodyPr/>
          <a:lstStyle/>
          <a:p>
            <a:fld id="{F433DAFA-91E5-5041-8A6F-F1954D78DFD6}" type="datetimeFigureOut">
              <a:rPr lang="en-US" smtClean="0"/>
              <a:t>7/30/2026</a:t>
            </a:fld>
            <a:endParaRPr lang="en-US"/>
          </a:p>
        </p:txBody>
      </p:sp>
      <p:sp>
        <p:nvSpPr>
          <p:cNvPr id="5" name="Footer Placeholder 4">
            <a:extLst>
              <a:ext uri="{FF2B5EF4-FFF2-40B4-BE49-F238E27FC236}">
                <a16:creationId xmlns:a16="http://schemas.microsoft.com/office/drawing/2014/main" id="{61778E1E-89E1-FD6B-61D9-E5363A4749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73657-82BE-4D2A-0305-36B5D0E48C77}"/>
              </a:ext>
            </a:extLst>
          </p:cNvPr>
          <p:cNvSpPr>
            <a:spLocks noGrp="1"/>
          </p:cNvSpPr>
          <p:nvPr>
            <p:ph type="sldNum" sz="quarter" idx="12"/>
          </p:nvPr>
        </p:nvSpPr>
        <p:spPr/>
        <p:txBody>
          <a:bodyPr/>
          <a:lstStyle/>
          <a:p>
            <a:fld id="{18056B8F-DFAE-E646-BC01-203891103107}" type="slidenum">
              <a:rPr lang="en-US" smtClean="0"/>
              <a:t>‹#›</a:t>
            </a:fld>
            <a:endParaRPr lang="en-US"/>
          </a:p>
        </p:txBody>
      </p:sp>
    </p:spTree>
    <p:extLst>
      <p:ext uri="{BB962C8B-B14F-4D97-AF65-F5344CB8AC3E}">
        <p14:creationId xmlns:p14="http://schemas.microsoft.com/office/powerpoint/2010/main" val="163202538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Green Line">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45CC4C61-3FAD-DB8D-A8E7-423879E1690A}"/>
              </a:ext>
            </a:extLst>
          </p:cNvPr>
          <p:cNvGraphicFramePr>
            <a:graphicFrameLocks noChangeAspect="1"/>
          </p:cNvGraphicFramePr>
          <p:nvPr userDrawn="1">
            <p:custDataLst>
              <p:tags r:id="rId1"/>
            </p:custDataLst>
            <p:extLst>
              <p:ext uri="{D42A27DB-BD31-4B8C-83A1-F6EECF244321}">
                <p14:modId xmlns:p14="http://schemas.microsoft.com/office/powerpoint/2010/main" val="16651168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10" name="think-cell data - do not delete" hidden="1">
                        <a:extLst>
                          <a:ext uri="{FF2B5EF4-FFF2-40B4-BE49-F238E27FC236}">
                            <a16:creationId xmlns:a16="http://schemas.microsoft.com/office/drawing/2014/main" id="{45CC4C61-3FAD-DB8D-A8E7-423879E1690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E5BF0BA4-BAFB-6F81-C174-50EDA83C4BCB}"/>
              </a:ext>
            </a:extLst>
          </p:cNvPr>
          <p:cNvSpPr/>
          <p:nvPr userDrawn="1"/>
        </p:nvSpPr>
        <p:spPr>
          <a:xfrm>
            <a:off x="0" y="-2"/>
            <a:ext cx="12192000" cy="1172420"/>
          </a:xfrm>
          <a:prstGeom prst="rect">
            <a:avLst/>
          </a:prstGeom>
          <a:solidFill>
            <a:srgbClr val="323232"/>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Pts val="1200"/>
              <a:buFontTx/>
              <a:buNone/>
              <a:tabLst/>
              <a:defRPr/>
            </a:pPr>
            <a:endParaRPr kumimoji="0" lang="en-US" sz="1200" b="0" i="0" u="none" strike="noStrike" kern="0" cap="none" spc="0" normalizeH="0" baseline="0" noProof="0">
              <a:ln>
                <a:noFill/>
              </a:ln>
              <a:solidFill>
                <a:srgbClr val="FFFFFF"/>
              </a:solidFill>
              <a:effectLst/>
              <a:uLnTx/>
              <a:uFillTx/>
              <a:latin typeface="Henderson BCG Sans Light"/>
              <a:ea typeface="+mn-ea"/>
              <a:cs typeface="+mn-cs"/>
              <a:sym typeface="Trebuchet MS" panose="020B0603020202020204" pitchFamily="34" charset="0"/>
            </a:endParaRPr>
          </a:p>
        </p:txBody>
      </p:sp>
      <p:pic>
        <p:nvPicPr>
          <p:cNvPr id="4" name="Picture 3">
            <a:extLst>
              <a:ext uri="{FF2B5EF4-FFF2-40B4-BE49-F238E27FC236}">
                <a16:creationId xmlns:a16="http://schemas.microsoft.com/office/drawing/2014/main" id="{912A1C1B-610D-BD01-F593-BC674B451E4E}"/>
              </a:ext>
            </a:extLst>
          </p:cNvPr>
          <p:cNvPicPr>
            <a:picLocks noChangeAspect="1"/>
          </p:cNvPicPr>
          <p:nvPr userDrawn="1"/>
        </p:nvPicPr>
        <p:blipFill rotWithShape="1">
          <a:blip r:embed="rId5">
            <a:extLst>
              <a:ext uri="{28A0092B-C50C-407E-A947-70E740481C1C}">
                <a14:useLocalDpi xmlns:a14="http://schemas.microsoft.com/office/drawing/2010/main"/>
              </a:ext>
            </a:extLst>
          </a:blip>
          <a:srcRect/>
          <a:stretch/>
        </p:blipFill>
        <p:spPr>
          <a:xfrm rot="5400000" flipV="1">
            <a:off x="8748584" y="-2271001"/>
            <a:ext cx="1172418" cy="5714421"/>
          </a:xfrm>
          <a:prstGeom prst="rect">
            <a:avLst/>
          </a:prstGeom>
        </p:spPr>
      </p:pic>
      <p:cxnSp>
        <p:nvCxnSpPr>
          <p:cNvPr id="8" name="Straight Connector 7">
            <a:extLst>
              <a:ext uri="{FF2B5EF4-FFF2-40B4-BE49-F238E27FC236}">
                <a16:creationId xmlns:a16="http://schemas.microsoft.com/office/drawing/2014/main" id="{513C2369-50A6-6556-937F-ABD5365F5335}"/>
              </a:ext>
            </a:extLst>
          </p:cNvPr>
          <p:cNvCxnSpPr>
            <a:cxnSpLocks/>
          </p:cNvCxnSpPr>
          <p:nvPr userDrawn="1"/>
        </p:nvCxnSpPr>
        <p:spPr>
          <a:xfrm rot="16200000">
            <a:off x="6096000" y="-4923586"/>
            <a:ext cx="0" cy="12192000"/>
          </a:xfrm>
          <a:prstGeom prst="line">
            <a:avLst/>
          </a:prstGeom>
          <a:noFill/>
          <a:ln w="50800" cap="flat" cmpd="sng" algn="ctr">
            <a:solidFill>
              <a:schemeClr val="tx2"/>
            </a:solidFill>
            <a:prstDash val="solid"/>
            <a:round/>
            <a:headEnd type="none" w="med" len="med"/>
            <a:tailEnd type="none" w="med" len="med"/>
          </a:ln>
          <a:effectLst/>
        </p:spPr>
      </p:cxn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5" name="Title 4"/>
          <p:cNvSpPr>
            <a:spLocks noGrp="1"/>
          </p:cNvSpPr>
          <p:nvPr userDrawn="1">
            <p:ph type="title" hasCustomPrompt="1"/>
          </p:nvPr>
        </p:nvSpPr>
        <p:spPr>
          <a:xfrm>
            <a:off x="630000" y="420009"/>
            <a:ext cx="10933200" cy="332399"/>
          </a:xfrm>
          <a:prstGeom prst="rect">
            <a:avLst/>
          </a:prstGeom>
        </p:spPr>
        <p:txBody>
          <a:bodyPr vert="horz" wrap="square" lIns="0" tIns="0" rIns="0" bIns="0" anchor="ctr" anchorCtr="0">
            <a:spAutoFit/>
          </a:bodyPr>
          <a:lstStyle>
            <a:lvl1pPr marL="0" indent="0" algn="l">
              <a:lnSpc>
                <a:spcPct val="90000"/>
              </a:lnSpc>
              <a:spcBef>
                <a:spcPct val="0"/>
              </a:spcBef>
              <a:spcAft>
                <a:spcPts val="0"/>
              </a:spcAft>
              <a:defRPr sz="2400" b="0" i="0" u="none" kern="1200" spc="0">
                <a:solidFill>
                  <a:schemeClr val="bg1"/>
                </a:solidFill>
                <a:latin typeface="+mj-lt"/>
                <a:sym typeface="Trebuchet MS" panose="020B0603020202020204" pitchFamily="34" charset="0"/>
              </a:defRPr>
            </a:lvl1pPr>
          </a:lstStyle>
          <a:p>
            <a:pPr lvl="0"/>
            <a:r>
              <a:rPr lang="en-US"/>
              <a:t>Click to add title</a:t>
            </a:r>
          </a:p>
        </p:txBody>
      </p:sp>
    </p:spTree>
    <p:extLst>
      <p:ext uri="{BB962C8B-B14F-4D97-AF65-F5344CB8AC3E}">
        <p14:creationId xmlns:p14="http://schemas.microsoft.com/office/powerpoint/2010/main" val="31658437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Gray 1/3">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45CC4C61-3FAD-DB8D-A8E7-423879E1690A}"/>
              </a:ext>
            </a:extLst>
          </p:cNvPr>
          <p:cNvGraphicFramePr>
            <a:graphicFrameLocks noChangeAspect="1"/>
          </p:cNvGraphicFramePr>
          <p:nvPr userDrawn="1">
            <p:custDataLst>
              <p:tags r:id="rId1"/>
            </p:custDataLst>
            <p:extLst>
              <p:ext uri="{D42A27DB-BD31-4B8C-83A1-F6EECF244321}">
                <p14:modId xmlns:p14="http://schemas.microsoft.com/office/powerpoint/2010/main" val="22718486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10" name="think-cell data - do not delete" hidden="1">
                        <a:extLst>
                          <a:ext uri="{FF2B5EF4-FFF2-40B4-BE49-F238E27FC236}">
                            <a16:creationId xmlns:a16="http://schemas.microsoft.com/office/drawing/2014/main" id="{45CC4C61-3FAD-DB8D-A8E7-423879E1690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71A698D4-2F01-4AC3-A70D-E4A6A38C3B97}"/>
              </a:ext>
            </a:extLst>
          </p:cNvPr>
          <p:cNvSpPr/>
          <p:nvPr userDrawn="1"/>
        </p:nvSpPr>
        <p:spPr>
          <a:xfrm>
            <a:off x="0" y="0"/>
            <a:ext cx="4064000" cy="6858000"/>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2" name="Rectangle 1">
            <a:extLst>
              <a:ext uri="{FF2B5EF4-FFF2-40B4-BE49-F238E27FC236}">
                <a16:creationId xmlns:a16="http://schemas.microsoft.com/office/drawing/2014/main" id="{E5BF0BA4-BAFB-6F81-C174-50EDA83C4BCB}"/>
              </a:ext>
            </a:extLst>
          </p:cNvPr>
          <p:cNvSpPr/>
          <p:nvPr userDrawn="1"/>
        </p:nvSpPr>
        <p:spPr>
          <a:xfrm>
            <a:off x="0" y="-2"/>
            <a:ext cx="12192000" cy="1172420"/>
          </a:xfrm>
          <a:prstGeom prst="rect">
            <a:avLst/>
          </a:prstGeom>
          <a:solidFill>
            <a:srgbClr val="323232"/>
          </a:solidFill>
          <a:ln w="9525" cap="rnd"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Pts val="1200"/>
              <a:buFontTx/>
              <a:buNone/>
              <a:tabLst/>
              <a:defRPr/>
            </a:pPr>
            <a:endParaRPr kumimoji="0" lang="en-US" sz="1200" b="0" i="0" u="none" strike="noStrike" kern="0" cap="none" spc="0" normalizeH="0" baseline="0" noProof="0">
              <a:ln>
                <a:noFill/>
              </a:ln>
              <a:solidFill>
                <a:srgbClr val="FFFFFF"/>
              </a:solidFill>
              <a:effectLst/>
              <a:uLnTx/>
              <a:uFillTx/>
              <a:latin typeface="Henderson BCG Sans Light"/>
              <a:ea typeface="+mn-ea"/>
              <a:cs typeface="+mn-cs"/>
              <a:sym typeface="Trebuchet MS" panose="020B0603020202020204" pitchFamily="34" charset="0"/>
            </a:endParaRPr>
          </a:p>
        </p:txBody>
      </p:sp>
      <p:pic>
        <p:nvPicPr>
          <p:cNvPr id="4" name="Picture 3">
            <a:extLst>
              <a:ext uri="{FF2B5EF4-FFF2-40B4-BE49-F238E27FC236}">
                <a16:creationId xmlns:a16="http://schemas.microsoft.com/office/drawing/2014/main" id="{912A1C1B-610D-BD01-F593-BC674B451E4E}"/>
              </a:ext>
            </a:extLst>
          </p:cNvPr>
          <p:cNvPicPr>
            <a:picLocks noChangeAspect="1"/>
          </p:cNvPicPr>
          <p:nvPr userDrawn="1"/>
        </p:nvPicPr>
        <p:blipFill rotWithShape="1">
          <a:blip r:embed="rId5">
            <a:extLst>
              <a:ext uri="{28A0092B-C50C-407E-A947-70E740481C1C}">
                <a14:useLocalDpi xmlns:a14="http://schemas.microsoft.com/office/drawing/2010/main"/>
              </a:ext>
            </a:extLst>
          </a:blip>
          <a:srcRect/>
          <a:stretch/>
        </p:blipFill>
        <p:spPr>
          <a:xfrm rot="5400000" flipV="1">
            <a:off x="8748584" y="-2271001"/>
            <a:ext cx="1172418" cy="5714421"/>
          </a:xfrm>
          <a:prstGeom prst="rect">
            <a:avLst/>
          </a:prstGeom>
        </p:spPr>
      </p:pic>
      <p:cxnSp>
        <p:nvCxnSpPr>
          <p:cNvPr id="8" name="Straight Connector 7">
            <a:extLst>
              <a:ext uri="{FF2B5EF4-FFF2-40B4-BE49-F238E27FC236}">
                <a16:creationId xmlns:a16="http://schemas.microsoft.com/office/drawing/2014/main" id="{513C2369-50A6-6556-937F-ABD5365F5335}"/>
              </a:ext>
            </a:extLst>
          </p:cNvPr>
          <p:cNvCxnSpPr>
            <a:cxnSpLocks/>
          </p:cNvCxnSpPr>
          <p:nvPr userDrawn="1"/>
        </p:nvCxnSpPr>
        <p:spPr>
          <a:xfrm rot="16200000">
            <a:off x="6096000" y="-4923586"/>
            <a:ext cx="0" cy="12192000"/>
          </a:xfrm>
          <a:prstGeom prst="line">
            <a:avLst/>
          </a:prstGeom>
          <a:noFill/>
          <a:ln w="50800" cap="flat" cmpd="sng" algn="ctr">
            <a:solidFill>
              <a:schemeClr val="tx2"/>
            </a:solidFill>
            <a:prstDash val="solid"/>
            <a:round/>
            <a:headEnd type="none" w="med" len="med"/>
            <a:tailEnd type="none" w="med" len="med"/>
          </a:ln>
          <a:effectLst/>
        </p:spPr>
      </p:cxn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5" name="Title 4"/>
          <p:cNvSpPr>
            <a:spLocks noGrp="1"/>
          </p:cNvSpPr>
          <p:nvPr userDrawn="1">
            <p:ph type="title" hasCustomPrompt="1"/>
          </p:nvPr>
        </p:nvSpPr>
        <p:spPr>
          <a:xfrm>
            <a:off x="630000" y="420009"/>
            <a:ext cx="10933200" cy="332399"/>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400" b="0" i="0" u="none" kern="1200" spc="0">
                <a:solidFill>
                  <a:schemeClr val="bg1"/>
                </a:solidFill>
                <a:latin typeface="+mj-lt"/>
                <a:sym typeface="Trebuchet MS" panose="020B0603020202020204" pitchFamily="34" charset="0"/>
              </a:defRPr>
            </a:lvl1pPr>
          </a:lstStyle>
          <a:p>
            <a:pPr lvl="0"/>
            <a:r>
              <a:rPr lang="en-US"/>
              <a:t>Click to add title</a:t>
            </a:r>
          </a:p>
        </p:txBody>
      </p:sp>
    </p:spTree>
    <p:extLst>
      <p:ext uri="{BB962C8B-B14F-4D97-AF65-F5344CB8AC3E}">
        <p14:creationId xmlns:p14="http://schemas.microsoft.com/office/powerpoint/2010/main" val="21543426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oleObject" Target="../embeddings/oleObject1.bin"/><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70"/>
            </p:custDataLst>
            <p:extLst>
              <p:ext uri="{D42A27DB-BD31-4B8C-83A1-F6EECF244321}">
                <p14:modId xmlns:p14="http://schemas.microsoft.com/office/powerpoint/2010/main" val="123916160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2" imgW="270" imgH="270" progId="TCLayout.ActiveDocument.1">
                  <p:embed/>
                </p:oleObj>
              </mc:Choice>
              <mc:Fallback>
                <p:oleObj name="think-cell Slide" r:id="rId72" imgW="270" imgH="270" progId="TCLayout.ActiveDocument.1">
                  <p:embed/>
                  <p:pic>
                    <p:nvPicPr>
                      <p:cNvPr id="2" name="Object 1" hidden="1"/>
                      <p:cNvPicPr/>
                      <p:nvPr/>
                    </p:nvPicPr>
                    <p:blipFill>
                      <a:blip r:embed="rId73"/>
                      <a:stretch>
                        <a:fillRect/>
                      </a:stretch>
                    </p:blipFill>
                    <p:spPr>
                      <a:xfrm>
                        <a:off x="1588" y="1588"/>
                        <a:ext cx="1587" cy="1587"/>
                      </a:xfrm>
                      <a:prstGeom prst="rect">
                        <a:avLst/>
                      </a:prstGeom>
                    </p:spPr>
                  </p:pic>
                </p:oleObj>
              </mc:Fallback>
            </mc:AlternateContent>
          </a:graphicData>
        </a:graphic>
      </p:graphicFrame>
      <p:sp>
        <p:nvSpPr>
          <p:cNvPr id="3" name="Rectangle 2" hidden="1"/>
          <p:cNvSpPr/>
          <p:nvPr userDrawn="1">
            <p:custDataLst>
              <p:tags r:id="rId71"/>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ea typeface="+mn-ea"/>
                <a:cs typeface="+mn-cs"/>
                <a:sym typeface="+mn-lt"/>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mn-lt"/>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mn-lt"/>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61" r:id="rId27"/>
    <p:sldLayoutId id="2147485159" r:id="rId28"/>
    <p:sldLayoutId id="2147485119" r:id="rId29"/>
    <p:sldLayoutId id="2147485184" r:id="rId30"/>
    <p:sldLayoutId id="2147485137" r:id="rId31"/>
    <p:sldLayoutId id="2147485120" r:id="rId32"/>
    <p:sldLayoutId id="2147485121" r:id="rId33"/>
    <p:sldLayoutId id="2147485141" r:id="rId34"/>
    <p:sldLayoutId id="2147485163" r:id="rId35"/>
    <p:sldLayoutId id="2147485139" r:id="rId36"/>
    <p:sldLayoutId id="2147485140" r:id="rId37"/>
    <p:sldLayoutId id="2147485122" r:id="rId38"/>
    <p:sldLayoutId id="2147485123" r:id="rId39"/>
    <p:sldLayoutId id="2147485151" r:id="rId40"/>
    <p:sldLayoutId id="2147485168" r:id="rId41"/>
    <p:sldLayoutId id="2147485127" r:id="rId42"/>
    <p:sldLayoutId id="2147485169" r:id="rId43"/>
    <p:sldLayoutId id="2147485126" r:id="rId44"/>
    <p:sldLayoutId id="2147485170" r:id="rId45"/>
    <p:sldLayoutId id="2147485153" r:id="rId46"/>
    <p:sldLayoutId id="2147485171" r:id="rId47"/>
    <p:sldLayoutId id="2147485128" r:id="rId48"/>
    <p:sldLayoutId id="2147485129" r:id="rId49"/>
    <p:sldLayoutId id="2147485130" r:id="rId50"/>
    <p:sldLayoutId id="2147485131" r:id="rId51"/>
    <p:sldLayoutId id="2147485145" r:id="rId52"/>
    <p:sldLayoutId id="2147485133" r:id="rId53"/>
    <p:sldLayoutId id="2147485144" r:id="rId54"/>
    <p:sldLayoutId id="2147485134" r:id="rId55"/>
    <p:sldLayoutId id="2147485160" r:id="rId56"/>
    <p:sldLayoutId id="2147485172" r:id="rId57"/>
    <p:sldLayoutId id="2147485173" r:id="rId58"/>
    <p:sldLayoutId id="2147485174" r:id="rId59"/>
    <p:sldLayoutId id="2147485175" r:id="rId60"/>
    <p:sldLayoutId id="2147485176" r:id="rId61"/>
    <p:sldLayoutId id="2147485177" r:id="rId62"/>
    <p:sldLayoutId id="2147485178" r:id="rId63"/>
    <p:sldLayoutId id="2147485179" r:id="rId64"/>
    <p:sldLayoutId id="2147485180" r:id="rId65"/>
    <p:sldLayoutId id="2147485185" r:id="rId66"/>
    <p:sldLayoutId id="2147485187" r:id="rId67"/>
    <p:sldLayoutId id="2147485188" r:id="rId68"/>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rgbClr val="0191FF"/>
          </a:solidFill>
          <a:latin typeface="+mj-lt"/>
          <a:ea typeface="+mj-ea"/>
          <a:cs typeface="+mj-cs"/>
          <a:sym typeface="+mj-lt"/>
        </a:defRPr>
      </a:lvl1pPr>
    </p:titleStyle>
    <p:bodyStyle>
      <a:lvl1pPr marL="0" indent="0" algn="l" defTabSz="914400" rtl="0" eaLnBrk="1" latinLnBrk="0" hangingPunct="1">
        <a:lnSpc>
          <a:spcPct val="110000"/>
        </a:lnSpc>
        <a:spcBef>
          <a:spcPts val="600"/>
        </a:spcBef>
        <a:spcAft>
          <a:spcPts val="300"/>
        </a:spcAft>
        <a:buClr>
          <a:srgbClr val="0191FF"/>
        </a:buClr>
        <a:buFont typeface="Arial" panose="020B0604020202020204" pitchFamily="34" charset="0"/>
        <a:buChar char="​"/>
        <a:defRPr lang="en-US" sz="1200" kern="1200">
          <a:solidFill>
            <a:srgbClr val="000000"/>
          </a:solidFill>
          <a:latin typeface="+mn-lt"/>
          <a:ea typeface="+mn-ea"/>
          <a:cs typeface="+mn-cs"/>
          <a:sym typeface="+mn-lt"/>
        </a:defRPr>
      </a:lvl1pPr>
      <a:lvl2pPr marL="284400" indent="-172800" algn="l" defTabSz="914400" rtl="0" eaLnBrk="1" latinLnBrk="0" hangingPunct="1">
        <a:lnSpc>
          <a:spcPct val="90000"/>
        </a:lnSpc>
        <a:spcBef>
          <a:spcPts val="0"/>
        </a:spcBef>
        <a:spcAft>
          <a:spcPts val="300"/>
        </a:spcAft>
        <a:buClr>
          <a:srgbClr val="0191FF"/>
        </a:buClr>
        <a:buFont typeface="Arial" panose="020B0604020202020204" pitchFamily="34" charset="0"/>
        <a:buChar char="•"/>
        <a:defRPr lang="en-US" sz="1200" kern="1200">
          <a:solidFill>
            <a:srgbClr val="000000"/>
          </a:solidFill>
          <a:latin typeface="+mn-lt"/>
          <a:ea typeface="+mn-ea"/>
          <a:cs typeface="+mn-cs"/>
          <a:sym typeface="+mn-lt"/>
        </a:defRPr>
      </a:lvl2pPr>
      <a:lvl3pPr marL="511200" indent="-165600" algn="l" defTabSz="914400" rtl="0" eaLnBrk="1" latinLnBrk="0" hangingPunct="1">
        <a:lnSpc>
          <a:spcPct val="90000"/>
        </a:lnSpc>
        <a:spcBef>
          <a:spcPts val="0"/>
        </a:spcBef>
        <a:spcAft>
          <a:spcPts val="300"/>
        </a:spcAft>
        <a:buClr>
          <a:srgbClr val="0191FF"/>
        </a:buClr>
        <a:buFont typeface="Trebuchet MS" panose="020B0603020202020204" pitchFamily="34" charset="0"/>
        <a:buChar char="–"/>
        <a:defRPr lang="en-US" sz="1200" kern="1200">
          <a:solidFill>
            <a:srgbClr val="000000"/>
          </a:solidFill>
          <a:latin typeface="+mn-lt"/>
          <a:ea typeface="+mn-ea"/>
          <a:cs typeface="+mn-cs"/>
          <a:sym typeface="+mn-lt"/>
        </a:defRPr>
      </a:lvl3pPr>
      <a:lvl4pPr marL="0" indent="0" algn="l" defTabSz="914400" rtl="0" eaLnBrk="1" latinLnBrk="0" hangingPunct="1">
        <a:lnSpc>
          <a:spcPct val="110000"/>
        </a:lnSpc>
        <a:spcBef>
          <a:spcPts val="300"/>
        </a:spcBef>
        <a:spcAft>
          <a:spcPts val="300"/>
        </a:spcAft>
        <a:buClr>
          <a:srgbClr val="0191FF"/>
        </a:buClr>
        <a:buFont typeface="Arial" panose="020B0604020202020204" pitchFamily="34" charset="0"/>
        <a:buChar char="​"/>
        <a:defRPr lang="en-US" sz="1600" kern="1200">
          <a:solidFill>
            <a:srgbClr val="0191FF"/>
          </a:solidFill>
          <a:latin typeface="+mn-lt"/>
          <a:ea typeface="+mn-ea"/>
          <a:cs typeface="+mn-cs"/>
          <a:sym typeface="+mn-lt"/>
        </a:defRPr>
      </a:lvl4pPr>
      <a:lvl5pPr marL="0" indent="0" algn="l" defTabSz="914400" rtl="0" eaLnBrk="1" latinLnBrk="0" hangingPunct="1">
        <a:lnSpc>
          <a:spcPct val="100000"/>
        </a:lnSpc>
        <a:spcBef>
          <a:spcPts val="0"/>
        </a:spcBef>
        <a:spcAft>
          <a:spcPts val="300"/>
        </a:spcAft>
        <a:buClr>
          <a:srgbClr val="0191FF"/>
        </a:buClr>
        <a:buFont typeface="Arial" panose="020B0604020202020204" pitchFamily="34" charset="0"/>
        <a:buChar char="​"/>
        <a:defRPr lang="en-US" sz="1600" b="1" kern="1200" smtClean="0">
          <a:solidFill>
            <a:srgbClr val="000000"/>
          </a:solidFill>
          <a:latin typeface="+mn-lt"/>
          <a:ea typeface="+mn-ea"/>
          <a:cs typeface="+mn-cs"/>
          <a:sym typeface="+mn-lt"/>
        </a:defRPr>
      </a:lvl5pPr>
      <a:lvl6pPr marL="269875" indent="-152400" algn="l" defTabSz="914400" rtl="0" eaLnBrk="1" latinLnBrk="0" hangingPunct="1">
        <a:lnSpc>
          <a:spcPct val="90000"/>
        </a:lnSpc>
        <a:spcBef>
          <a:spcPts val="0"/>
        </a:spcBef>
        <a:spcAft>
          <a:spcPts val="600"/>
        </a:spcAft>
        <a:buClr>
          <a:srgbClr val="0191FF"/>
        </a:buClr>
        <a:buFont typeface="Arial" panose="020B0604020202020204" pitchFamily="34" charset="0"/>
        <a:buChar char="•"/>
        <a:defRPr lang="en-US" sz="1600" kern="1200" smtClean="0">
          <a:solidFill>
            <a:srgbClr val="000000"/>
          </a:solidFill>
          <a:latin typeface="+mn-lt"/>
          <a:ea typeface="+mn-ea"/>
          <a:cs typeface="+mn-cs"/>
          <a:sym typeface="+mn-lt"/>
        </a:defRPr>
      </a:lvl6pPr>
      <a:lvl7pPr marL="0" indent="0" algn="l" defTabSz="914400" rtl="0" eaLnBrk="1" latinLnBrk="0" hangingPunct="1">
        <a:lnSpc>
          <a:spcPct val="90000"/>
        </a:lnSpc>
        <a:spcBef>
          <a:spcPts val="900"/>
        </a:spcBef>
        <a:spcAft>
          <a:spcPts val="900"/>
        </a:spcAft>
        <a:buClr>
          <a:srgbClr val="0191FF"/>
        </a:buClr>
        <a:buFont typeface="Arial" panose="020B0604020202020204" pitchFamily="34" charset="0"/>
        <a:buChar char="​"/>
        <a:defRPr lang="en-US" sz="4400" kern="1200" baseline="0" smtClean="0">
          <a:solidFill>
            <a:srgbClr val="000000"/>
          </a:solidFill>
          <a:latin typeface="+mn-lt"/>
          <a:ea typeface="+mn-ea"/>
          <a:cs typeface="+mn-cs"/>
          <a:sym typeface="+mn-lt"/>
        </a:defRPr>
      </a:lvl7pPr>
      <a:lvl8pPr marL="0" indent="0" algn="l" defTabSz="914400" rtl="0" eaLnBrk="1" latinLnBrk="0" hangingPunct="1">
        <a:lnSpc>
          <a:spcPct val="90000"/>
        </a:lnSpc>
        <a:spcBef>
          <a:spcPts val="900"/>
        </a:spcBef>
        <a:spcAft>
          <a:spcPts val="0"/>
        </a:spcAft>
        <a:buClr>
          <a:srgbClr val="0191FF"/>
        </a:buClr>
        <a:buFont typeface="Arial" panose="020B0604020202020204" pitchFamily="34" charset="0"/>
        <a:buChar char="​"/>
        <a:defRPr lang="en-US" sz="5400" kern="1200" baseline="0" smtClean="0">
          <a:solidFill>
            <a:srgbClr val="0191FF"/>
          </a:solidFill>
          <a:latin typeface="+mn-lt"/>
          <a:ea typeface="+mn-ea"/>
          <a:cs typeface="+mn-cs"/>
          <a:sym typeface="+mn-lt"/>
        </a:defRPr>
      </a:lvl8pPr>
      <a:lvl9pPr marL="0" indent="0" algn="l" defTabSz="914400" rtl="0" eaLnBrk="1" latinLnBrk="0" hangingPunct="1">
        <a:lnSpc>
          <a:spcPct val="100000"/>
        </a:lnSpc>
        <a:spcBef>
          <a:spcPts val="0"/>
        </a:spcBef>
        <a:spcAft>
          <a:spcPts val="900"/>
        </a:spcAft>
        <a:buClr>
          <a:srgbClr val="0191FF"/>
        </a:buClr>
        <a:buFont typeface="Arial" panose="020B0604020202020204" pitchFamily="34" charset="0"/>
        <a:buChar char="​"/>
        <a:defRPr lang="en-US" sz="2400" kern="1200" baseline="0" dirty="0">
          <a:solidFill>
            <a:srgbClr val="0191FF"/>
          </a:solidFill>
          <a:latin typeface="+mn-lt"/>
          <a:ea typeface="+mn-ea"/>
          <a:cs typeface="+mn-cs"/>
          <a:sym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image" Target="../media/image5.emf"/><Relationship Id="rId5" Type="http://schemas.openxmlformats.org/officeDocument/2006/relationships/oleObject" Target="../embeddings/oleObject59.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9.xml"/><Relationship Id="rId1" Type="http://schemas.openxmlformats.org/officeDocument/2006/relationships/tags" Target="../tags/tag124.xml"/><Relationship Id="rId5" Type="http://schemas.openxmlformats.org/officeDocument/2006/relationships/image" Target="../media/image14.emf"/><Relationship Id="rId4" Type="http://schemas.openxmlformats.org/officeDocument/2006/relationships/oleObject" Target="../embeddings/oleObject60.bin"/></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29.xml"/><Relationship Id="rId1" Type="http://schemas.openxmlformats.org/officeDocument/2006/relationships/tags" Target="../tags/tag125.xml"/><Relationship Id="rId4" Type="http://schemas.openxmlformats.org/officeDocument/2006/relationships/image" Target="../media/image14.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29.xml"/><Relationship Id="rId1" Type="http://schemas.openxmlformats.org/officeDocument/2006/relationships/tags" Target="../tags/tag126.xml"/><Relationship Id="rId4" Type="http://schemas.openxmlformats.org/officeDocument/2006/relationships/image" Target="../media/image14.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9.xml"/><Relationship Id="rId1" Type="http://schemas.openxmlformats.org/officeDocument/2006/relationships/tags" Target="../tags/tag127.xml"/><Relationship Id="rId5" Type="http://schemas.openxmlformats.org/officeDocument/2006/relationships/image" Target="../media/image14.emf"/><Relationship Id="rId4" Type="http://schemas.openxmlformats.org/officeDocument/2006/relationships/oleObject" Target="../embeddings/oleObject62.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Layout" Target="../slideLayouts/slideLayout29.xml"/><Relationship Id="rId1" Type="http://schemas.openxmlformats.org/officeDocument/2006/relationships/tags" Target="../tags/tag12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29.xml"/><Relationship Id="rId1" Type="http://schemas.openxmlformats.org/officeDocument/2006/relationships/tags" Target="../tags/tag129.xml"/><Relationship Id="rId4" Type="http://schemas.openxmlformats.org/officeDocument/2006/relationships/image" Target="../media/image14.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29.xml"/><Relationship Id="rId1" Type="http://schemas.openxmlformats.org/officeDocument/2006/relationships/tags" Target="../tags/tag130.xml"/><Relationship Id="rId4" Type="http://schemas.openxmlformats.org/officeDocument/2006/relationships/image" Target="../media/image1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6E558-D79F-2793-B002-986C9E224280}"/>
            </a:ext>
          </a:extLst>
        </p:cNvPr>
        <p:cNvGrpSpPr/>
        <p:nvPr/>
      </p:nvGrpSpPr>
      <p:grpSpPr>
        <a:xfrm>
          <a:off x="0" y="0"/>
          <a:ext cx="0" cy="0"/>
          <a:chOff x="0" y="0"/>
          <a:chExt cx="0" cy="0"/>
        </a:xfrm>
      </p:grpSpPr>
      <p:graphicFrame>
        <p:nvGraphicFramePr>
          <p:cNvPr id="16" name="Object 15" hidden="1">
            <a:extLst>
              <a:ext uri="{FF2B5EF4-FFF2-40B4-BE49-F238E27FC236}">
                <a16:creationId xmlns:a16="http://schemas.microsoft.com/office/drawing/2014/main" id="{B7BA17EC-A605-DB84-F611-A4A06B6426B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3" imgH="384" progId="TCLayout.ActiveDocument.1">
                  <p:embed/>
                </p:oleObj>
              </mc:Choice>
              <mc:Fallback>
                <p:oleObj name="think-cell Slide" r:id="rId5" imgW="383" imgH="384" progId="TCLayout.ActiveDocument.1">
                  <p:embed/>
                  <p:pic>
                    <p:nvPicPr>
                      <p:cNvPr id="16" name="Object 15" hidden="1">
                        <a:extLst>
                          <a:ext uri="{FF2B5EF4-FFF2-40B4-BE49-F238E27FC236}">
                            <a16:creationId xmlns:a16="http://schemas.microsoft.com/office/drawing/2014/main" id="{B7BA17EC-A605-DB84-F611-A4A06B6426B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CCAF4981-9040-53CB-83E3-AE7D9D277338}"/>
              </a:ext>
            </a:extLst>
          </p:cNvPr>
          <p:cNvSpPr/>
          <p:nvPr>
            <p:custDataLst>
              <p:tags r:id="rId2"/>
            </p:custDataLst>
          </p:nvPr>
        </p:nvSpPr>
        <p:spPr>
          <a:xfrm>
            <a:off x="0" y="0"/>
            <a:ext cx="158750" cy="158750"/>
          </a:xfrm>
          <a:prstGeom prst="rect">
            <a:avLst/>
          </a:prstGeom>
          <a:solidFill>
            <a:srgbClr val="0191FF"/>
          </a:solidFill>
          <a:ln w="9525" cap="rnd" cmpd="sng" algn="ctr">
            <a:solidFill>
              <a:srgbClr val="0191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lnSpc>
                <a:spcPct val="110000"/>
              </a:lnSpc>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2" name="Text Placeholder 1">
            <a:extLst>
              <a:ext uri="{FF2B5EF4-FFF2-40B4-BE49-F238E27FC236}">
                <a16:creationId xmlns:a16="http://schemas.microsoft.com/office/drawing/2014/main" id="{82212A6F-27A7-E438-6D10-DA123A59389B}"/>
              </a:ext>
            </a:extLst>
          </p:cNvPr>
          <p:cNvSpPr>
            <a:spLocks noGrp="1"/>
          </p:cNvSpPr>
          <p:nvPr>
            <p:ph type="body" sz="quarter" idx="10"/>
          </p:nvPr>
        </p:nvSpPr>
        <p:spPr/>
        <p:txBody>
          <a:bodyPr/>
          <a:lstStyle/>
          <a:p>
            <a:r>
              <a:rPr lang="en-US"/>
              <a:t>Lesseps</a:t>
            </a:r>
          </a:p>
        </p:txBody>
      </p:sp>
      <p:sp>
        <p:nvSpPr>
          <p:cNvPr id="3" name="Text Placeholder 2">
            <a:extLst>
              <a:ext uri="{FF2B5EF4-FFF2-40B4-BE49-F238E27FC236}">
                <a16:creationId xmlns:a16="http://schemas.microsoft.com/office/drawing/2014/main" id="{E1E62E35-7C65-3295-602C-3592B1192650}"/>
              </a:ext>
            </a:extLst>
          </p:cNvPr>
          <p:cNvSpPr>
            <a:spLocks noGrp="1"/>
          </p:cNvSpPr>
          <p:nvPr>
            <p:ph type="body" sz="quarter" idx="11"/>
          </p:nvPr>
        </p:nvSpPr>
        <p:spPr/>
        <p:txBody>
          <a:bodyPr anchor="t"/>
          <a:lstStyle/>
          <a:p>
            <a:r>
              <a:rPr lang="en-US" i="1"/>
              <a:t>Evaluation framework</a:t>
            </a:r>
          </a:p>
        </p:txBody>
      </p:sp>
      <p:sp>
        <p:nvSpPr>
          <p:cNvPr id="6" name="Text Placeholder 5">
            <a:extLst>
              <a:ext uri="{FF2B5EF4-FFF2-40B4-BE49-F238E27FC236}">
                <a16:creationId xmlns:a16="http://schemas.microsoft.com/office/drawing/2014/main" id="{9E4F1B0E-5446-9122-29B0-2ABAD81079BF}"/>
              </a:ext>
            </a:extLst>
          </p:cNvPr>
          <p:cNvSpPr>
            <a:spLocks noGrp="1"/>
          </p:cNvSpPr>
          <p:nvPr>
            <p:ph type="body" sz="quarter" idx="13"/>
          </p:nvPr>
        </p:nvSpPr>
        <p:spPr>
          <a:xfrm>
            <a:off x="359997" y="3961093"/>
            <a:ext cx="6194982" cy="312843"/>
          </a:xfrm>
        </p:spPr>
        <p:txBody>
          <a:bodyPr/>
          <a:lstStyle/>
          <a:p>
            <a:r>
              <a:rPr lang="en-US"/>
              <a:t>NOVEMBER 2025</a:t>
            </a:r>
          </a:p>
        </p:txBody>
      </p:sp>
    </p:spTree>
    <p:extLst>
      <p:ext uri="{BB962C8B-B14F-4D97-AF65-F5344CB8AC3E}">
        <p14:creationId xmlns:p14="http://schemas.microsoft.com/office/powerpoint/2010/main" val="231800757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2FD1A-CDA0-4C24-7372-C26F7F8A341A}"/>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85ECA04-2DC9-490C-B25C-AA3774951751}"/>
              </a:ext>
            </a:extLst>
          </p:cNvPr>
          <p:cNvGraphicFramePr>
            <a:graphicFrameLocks noChangeAspect="1"/>
          </p:cNvGraphicFramePr>
          <p:nvPr>
            <p:custDataLst>
              <p:tags r:id="rId1"/>
            </p:custDataLst>
            <p:extLst>
              <p:ext uri="{D42A27DB-BD31-4B8C-83A1-F6EECF244321}">
                <p14:modId xmlns:p14="http://schemas.microsoft.com/office/powerpoint/2010/main" val="26117663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5" name="think-cell data - do not delete" hidden="1">
                        <a:extLst>
                          <a:ext uri="{FF2B5EF4-FFF2-40B4-BE49-F238E27FC236}">
                            <a16:creationId xmlns:a16="http://schemas.microsoft.com/office/drawing/2014/main" id="{E85ECA04-2DC9-490C-B25C-AA377495175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D9F962F-0BD7-5479-E294-8727377F71E1}"/>
              </a:ext>
            </a:extLst>
          </p:cNvPr>
          <p:cNvSpPr>
            <a:spLocks noGrp="1"/>
          </p:cNvSpPr>
          <p:nvPr>
            <p:ph type="title"/>
          </p:nvPr>
        </p:nvSpPr>
        <p:spPr>
          <a:xfrm>
            <a:off x="630000" y="598997"/>
            <a:ext cx="10933350" cy="332399"/>
          </a:xfrm>
        </p:spPr>
        <p:txBody>
          <a:bodyPr vert="horz"/>
          <a:lstStyle/>
          <a:p>
            <a:r>
              <a:rPr lang="en-US">
                <a:solidFill>
                  <a:srgbClr val="002E50"/>
                </a:solidFill>
              </a:rPr>
              <a:t>Overview | </a:t>
            </a:r>
            <a:r>
              <a:rPr lang="en-US"/>
              <a:t>Framework for evaluating </a:t>
            </a:r>
            <a:r>
              <a:rPr lang="en-US" err="1"/>
              <a:t>EIW</a:t>
            </a:r>
            <a:r>
              <a:rPr lang="en-US"/>
              <a:t> automation priorities</a:t>
            </a:r>
            <a:endParaRPr lang="en-US">
              <a:solidFill>
                <a:srgbClr val="0191FF"/>
              </a:solidFill>
            </a:endParaRPr>
          </a:p>
        </p:txBody>
      </p:sp>
      <p:sp>
        <p:nvSpPr>
          <p:cNvPr id="6" name="IllustrativeStamp">
            <a:extLst>
              <a:ext uri="{FF2B5EF4-FFF2-40B4-BE49-F238E27FC236}">
                <a16:creationId xmlns:a16="http://schemas.microsoft.com/office/drawing/2014/main" id="{0CAB3050-4561-9F85-CD00-959B406D2A08}"/>
              </a:ext>
            </a:extLst>
          </p:cNvPr>
          <p:cNvSpPr/>
          <p:nvPr/>
        </p:nvSpPr>
        <p:spPr>
          <a:xfrm>
            <a:off x="4652082" y="0"/>
            <a:ext cx="2889186" cy="215900"/>
          </a:xfrm>
          <a:prstGeom prst="rect">
            <a:avLst/>
          </a:prstGeom>
          <a:solidFill>
            <a:srgbClr val="C00000"/>
          </a:solidFill>
          <a:ln w="9525">
            <a:solidFill>
              <a:srgbClr val="C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l"/>
            <a:r>
              <a:rPr lang="en-US" sz="1200" b="1">
                <a:solidFill>
                  <a:schemeClr val="bg1"/>
                </a:solidFill>
                <a:latin typeface="Trebuchet MS" panose="020B0603020202020204" pitchFamily="34" charset="0"/>
              </a:rPr>
              <a:t>Preliminary</a:t>
            </a:r>
          </a:p>
        </p:txBody>
      </p:sp>
      <p:sp>
        <p:nvSpPr>
          <p:cNvPr id="69" name="Rectangle 68">
            <a:extLst>
              <a:ext uri="{FF2B5EF4-FFF2-40B4-BE49-F238E27FC236}">
                <a16:creationId xmlns:a16="http://schemas.microsoft.com/office/drawing/2014/main" id="{503D1B61-838B-150A-8F46-4DD8DC7DA3E1}"/>
              </a:ext>
            </a:extLst>
          </p:cNvPr>
          <p:cNvSpPr/>
          <p:nvPr/>
        </p:nvSpPr>
        <p:spPr>
          <a:xfrm>
            <a:off x="4292907" y="1314493"/>
            <a:ext cx="7306241" cy="4500656"/>
          </a:xfrm>
          <a:prstGeom prst="rect">
            <a:avLst/>
          </a:prstGeom>
          <a:solidFill>
            <a:srgbClr val="F2F2F2"/>
          </a:solidFill>
          <a:ln w="9525" cap="rnd" cmpd="sng" algn="ctr">
            <a:solidFill>
              <a:srgbClr val="0191FF"/>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9" name="ee4pHeader2">
            <a:extLst>
              <a:ext uri="{FF2B5EF4-FFF2-40B4-BE49-F238E27FC236}">
                <a16:creationId xmlns:a16="http://schemas.microsoft.com/office/drawing/2014/main" id="{3C9059A9-ED1E-CE48-1AD4-D18765D7436D}"/>
              </a:ext>
            </a:extLst>
          </p:cNvPr>
          <p:cNvSpPr txBox="1"/>
          <p:nvPr/>
        </p:nvSpPr>
        <p:spPr>
          <a:xfrm>
            <a:off x="4424707" y="1485118"/>
            <a:ext cx="6764970" cy="492443"/>
          </a:xfrm>
          <a:prstGeom prst="rect">
            <a:avLst/>
          </a:prstGeom>
          <a:noFill/>
          <a:ln cap="rnd">
            <a:noFill/>
          </a:ln>
        </p:spPr>
        <p:txBody>
          <a:bodyPr vert="horz" wrap="square" lIns="0" tIns="0" rIns="0" bIns="0" rtlCol="0" anchor="ctr" anchorCtr="0">
            <a:spAutoFit/>
          </a:bodyPr>
          <a:lstStyle/>
          <a:p>
            <a:pPr marL="0" lvl="3"/>
            <a:r>
              <a:rPr lang="en-US" sz="1600" b="1">
                <a:solidFill>
                  <a:srgbClr val="0191FF">
                    <a:lumMod val="100000"/>
                  </a:srgbClr>
                </a:solidFill>
                <a:latin typeface="Trebuchet MS" panose="020B0603020202020204" pitchFamily="34" charset="0"/>
              </a:rPr>
              <a:t>Two inputs to support prioritization of automation across processes</a:t>
            </a:r>
          </a:p>
        </p:txBody>
      </p:sp>
      <p:grpSp>
        <p:nvGrpSpPr>
          <p:cNvPr id="51" name="Group 50">
            <a:extLst>
              <a:ext uri="{FF2B5EF4-FFF2-40B4-BE49-F238E27FC236}">
                <a16:creationId xmlns:a16="http://schemas.microsoft.com/office/drawing/2014/main" id="{13112316-2BA3-1444-2159-278D1A89104B}"/>
              </a:ext>
            </a:extLst>
          </p:cNvPr>
          <p:cNvGrpSpPr/>
          <p:nvPr/>
        </p:nvGrpSpPr>
        <p:grpSpPr>
          <a:xfrm>
            <a:off x="4424707" y="1972944"/>
            <a:ext cx="6764970" cy="0"/>
            <a:chOff x="3116179" y="2466473"/>
            <a:chExt cx="2141621" cy="0"/>
          </a:xfrm>
        </p:grpSpPr>
        <p:cxnSp>
          <p:nvCxnSpPr>
            <p:cNvPr id="52" name="Straight Connector 51">
              <a:extLst>
                <a:ext uri="{FF2B5EF4-FFF2-40B4-BE49-F238E27FC236}">
                  <a16:creationId xmlns:a16="http://schemas.microsoft.com/office/drawing/2014/main" id="{7B41B09C-7322-15F4-6070-881AC50C7B6C}"/>
                </a:ext>
              </a:extLst>
            </p:cNvPr>
            <p:cNvCxnSpPr>
              <a:cxnSpLocks/>
            </p:cNvCxnSpPr>
            <p:nvPr/>
          </p:nvCxnSpPr>
          <p:spPr>
            <a:xfrm>
              <a:off x="3116179" y="2466473"/>
              <a:ext cx="1215189" cy="0"/>
            </a:xfrm>
            <a:prstGeom prst="line">
              <a:avLst/>
            </a:prstGeom>
            <a:ln w="25400" cap="rnd" cmpd="sng" algn="ctr">
              <a:solidFill>
                <a:srgbClr val="0191FF"/>
              </a:solidFill>
              <a:prstDash val="solid"/>
              <a:round/>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B4FE52D-2C71-D210-A6AE-7C37855B68AB}"/>
                </a:ext>
              </a:extLst>
            </p:cNvPr>
            <p:cNvCxnSpPr/>
            <p:nvPr/>
          </p:nvCxnSpPr>
          <p:spPr>
            <a:xfrm>
              <a:off x="3826042" y="2466473"/>
              <a:ext cx="1431758" cy="0"/>
            </a:xfrm>
            <a:prstGeom prst="line">
              <a:avLst/>
            </a:prstGeom>
            <a:ln w="25400" cap="rnd" cmpd="sng" algn="ctr">
              <a:solidFill>
                <a:srgbClr val="0191FF"/>
              </a:solidFill>
              <a:prstDash val="sysDot"/>
              <a:round/>
              <a:headEnd type="none" w="med" len="med"/>
              <a:tailEnd type="oval" w="sm" len="sm"/>
            </a:ln>
          </p:spPr>
          <p:style>
            <a:lnRef idx="1">
              <a:schemeClr val="accent1"/>
            </a:lnRef>
            <a:fillRef idx="0">
              <a:schemeClr val="accent1"/>
            </a:fillRef>
            <a:effectRef idx="0">
              <a:schemeClr val="accent1"/>
            </a:effectRef>
            <a:fontRef idx="minor">
              <a:schemeClr val="tx1"/>
            </a:fontRef>
          </p:style>
        </p:cxnSp>
      </p:grpSp>
      <p:sp>
        <p:nvSpPr>
          <p:cNvPr id="66" name="Rectangle 65">
            <a:extLst>
              <a:ext uri="{FF2B5EF4-FFF2-40B4-BE49-F238E27FC236}">
                <a16:creationId xmlns:a16="http://schemas.microsoft.com/office/drawing/2014/main" id="{D7EFFC9D-D141-D74F-2346-D7E223D2C747}"/>
              </a:ext>
            </a:extLst>
          </p:cNvPr>
          <p:cNvSpPr/>
          <p:nvPr/>
        </p:nvSpPr>
        <p:spPr>
          <a:xfrm>
            <a:off x="525657" y="1314493"/>
            <a:ext cx="3166375" cy="4500656"/>
          </a:xfrm>
          <a:prstGeom prst="rect">
            <a:avLst/>
          </a:prstGeom>
          <a:solidFill>
            <a:srgbClr val="F2F2F2"/>
          </a:solidFill>
          <a:ln w="9525" cap="rnd" cmpd="sng" algn="ctr">
            <a:solidFill>
              <a:srgbClr val="0191FF"/>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5" name="ee4pContent1">
            <a:extLst>
              <a:ext uri="{FF2B5EF4-FFF2-40B4-BE49-F238E27FC236}">
                <a16:creationId xmlns:a16="http://schemas.microsoft.com/office/drawing/2014/main" id="{0016794E-4269-1426-9D8F-9411775ACC89}"/>
              </a:ext>
            </a:extLst>
          </p:cNvPr>
          <p:cNvSpPr txBox="1"/>
          <p:nvPr/>
        </p:nvSpPr>
        <p:spPr>
          <a:xfrm>
            <a:off x="592849" y="2253721"/>
            <a:ext cx="3031990" cy="166199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002E50"/>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marL="468900" lvl="1" indent="-342900">
              <a:spcAft>
                <a:spcPts val="1200"/>
              </a:spcAft>
              <a:buFont typeface="+mj-lt"/>
              <a:buAutoNum type="arabicPeriod"/>
            </a:pPr>
            <a:r>
              <a:rPr lang="en-US" sz="1400" b="1"/>
              <a:t>Surface priority processes </a:t>
            </a:r>
            <a:r>
              <a:rPr lang="en-US" sz="1400"/>
              <a:t>with the greatest remaining potential for automation</a:t>
            </a:r>
          </a:p>
          <a:p>
            <a:pPr marL="468900" lvl="1" indent="-342900">
              <a:spcAft>
                <a:spcPts val="1200"/>
              </a:spcAft>
              <a:buFont typeface="+mj-lt"/>
              <a:buAutoNum type="arabicPeriod"/>
            </a:pPr>
            <a:r>
              <a:rPr lang="en-US" sz="1400" b="1"/>
              <a:t>Aid in reporting progress </a:t>
            </a:r>
            <a:r>
              <a:rPr lang="en-US" sz="1400"/>
              <a:t>toward L3, L2 and L1-level automation achieved (versus max potential)</a:t>
            </a:r>
          </a:p>
        </p:txBody>
      </p:sp>
      <p:sp>
        <p:nvSpPr>
          <p:cNvPr id="48" name="ee4pHeader1">
            <a:extLst>
              <a:ext uri="{FF2B5EF4-FFF2-40B4-BE49-F238E27FC236}">
                <a16:creationId xmlns:a16="http://schemas.microsoft.com/office/drawing/2014/main" id="{648A9F9D-C6B1-4668-EF36-EFE684B98860}"/>
              </a:ext>
            </a:extLst>
          </p:cNvPr>
          <p:cNvSpPr txBox="1"/>
          <p:nvPr/>
        </p:nvSpPr>
        <p:spPr>
          <a:xfrm>
            <a:off x="651030" y="1485118"/>
            <a:ext cx="3176046" cy="492443"/>
          </a:xfrm>
          <a:prstGeom prst="rect">
            <a:avLst/>
          </a:prstGeom>
          <a:noFill/>
          <a:ln cap="rnd">
            <a:noFill/>
          </a:ln>
        </p:spPr>
        <p:txBody>
          <a:bodyPr vert="horz" wrap="square" lIns="0" tIns="0" rIns="0" bIns="0" rtlCol="0" anchor="ctr" anchorCtr="0">
            <a:spAutoFit/>
          </a:bodyPr>
          <a:lstStyle/>
          <a:p>
            <a:pPr marL="0" lvl="3"/>
            <a:r>
              <a:rPr lang="en-US" sz="1600" b="1">
                <a:solidFill>
                  <a:srgbClr val="0191FF">
                    <a:lumMod val="100000"/>
                  </a:srgbClr>
                </a:solidFill>
                <a:latin typeface="Trebuchet MS" panose="020B0603020202020204" pitchFamily="34" charset="0"/>
              </a:rPr>
              <a:t>Key objectives of framework</a:t>
            </a:r>
          </a:p>
        </p:txBody>
      </p:sp>
      <p:grpSp>
        <p:nvGrpSpPr>
          <p:cNvPr id="54" name="Group 53">
            <a:extLst>
              <a:ext uri="{FF2B5EF4-FFF2-40B4-BE49-F238E27FC236}">
                <a16:creationId xmlns:a16="http://schemas.microsoft.com/office/drawing/2014/main" id="{A79686A3-5BBC-0897-57A9-AE38E21D4A24}"/>
              </a:ext>
            </a:extLst>
          </p:cNvPr>
          <p:cNvGrpSpPr/>
          <p:nvPr/>
        </p:nvGrpSpPr>
        <p:grpSpPr>
          <a:xfrm>
            <a:off x="669713" y="1972944"/>
            <a:ext cx="2891600" cy="0"/>
            <a:chOff x="3116179" y="2466473"/>
            <a:chExt cx="2141621" cy="0"/>
          </a:xfrm>
        </p:grpSpPr>
        <p:cxnSp>
          <p:nvCxnSpPr>
            <p:cNvPr id="55" name="Straight Connector 54">
              <a:extLst>
                <a:ext uri="{FF2B5EF4-FFF2-40B4-BE49-F238E27FC236}">
                  <a16:creationId xmlns:a16="http://schemas.microsoft.com/office/drawing/2014/main" id="{BDB63488-6828-98D8-5784-36528F53FC40}"/>
                </a:ext>
              </a:extLst>
            </p:cNvPr>
            <p:cNvCxnSpPr>
              <a:cxnSpLocks/>
            </p:cNvCxnSpPr>
            <p:nvPr/>
          </p:nvCxnSpPr>
          <p:spPr>
            <a:xfrm>
              <a:off x="3116179" y="2466473"/>
              <a:ext cx="1215189" cy="0"/>
            </a:xfrm>
            <a:prstGeom prst="line">
              <a:avLst/>
            </a:prstGeom>
            <a:ln w="25400" cap="rnd" cmpd="sng" algn="ctr">
              <a:solidFill>
                <a:srgbClr val="0191FF"/>
              </a:solidFill>
              <a:prstDash val="solid"/>
              <a:round/>
              <a:headEnd type="oval" w="sm" len="sm"/>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4732E28-7BA8-4DAF-0D5E-822E7D50F69D}"/>
                </a:ext>
              </a:extLst>
            </p:cNvPr>
            <p:cNvCxnSpPr/>
            <p:nvPr/>
          </p:nvCxnSpPr>
          <p:spPr>
            <a:xfrm>
              <a:off x="3826042" y="2466473"/>
              <a:ext cx="1431758" cy="0"/>
            </a:xfrm>
            <a:prstGeom prst="line">
              <a:avLst/>
            </a:prstGeom>
            <a:ln w="25400" cap="rnd" cmpd="sng" algn="ctr">
              <a:solidFill>
                <a:srgbClr val="0191FF"/>
              </a:solidFill>
              <a:prstDash val="sysDot"/>
              <a:round/>
              <a:headEnd type="none" w="med" len="med"/>
              <a:tailEnd type="oval" w="sm" len="sm"/>
            </a:ln>
          </p:spPr>
          <p:style>
            <a:lnRef idx="1">
              <a:schemeClr val="accent1"/>
            </a:lnRef>
            <a:fillRef idx="0">
              <a:schemeClr val="accent1"/>
            </a:fillRef>
            <a:effectRef idx="0">
              <a:schemeClr val="accent1"/>
            </a:effectRef>
            <a:fontRef idx="minor">
              <a:schemeClr val="tx1"/>
            </a:fontRef>
          </p:style>
        </p:cxnSp>
      </p:grpSp>
      <p:sp>
        <p:nvSpPr>
          <p:cNvPr id="61" name="ee4pContent1">
            <a:extLst>
              <a:ext uri="{FF2B5EF4-FFF2-40B4-BE49-F238E27FC236}">
                <a16:creationId xmlns:a16="http://schemas.microsoft.com/office/drawing/2014/main" id="{7F9F1DA2-A74F-FF1D-A166-9C0C5C2C1305}"/>
              </a:ext>
            </a:extLst>
          </p:cNvPr>
          <p:cNvSpPr txBox="1"/>
          <p:nvPr/>
        </p:nvSpPr>
        <p:spPr>
          <a:xfrm>
            <a:off x="746409" y="4260449"/>
            <a:ext cx="2724871" cy="1073216"/>
          </a:xfrm>
          <a:prstGeom prst="roundRect">
            <a:avLst>
              <a:gd name="adj" fmla="val 12123"/>
            </a:avLst>
          </a:prstGeom>
          <a:solidFill>
            <a:schemeClr val="tx2">
              <a:lumMod val="20000"/>
              <a:lumOff val="80000"/>
            </a:schemeClr>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i="1"/>
              <a:t>Indented for high-level progress tracking, based on initiative overviews shared by owning teams</a:t>
            </a:r>
            <a:r>
              <a:rPr lang="en-US" i="1" baseline="30000"/>
              <a:t>1</a:t>
            </a:r>
            <a:endParaRPr lang="en-US" i="1"/>
          </a:p>
        </p:txBody>
      </p:sp>
      <p:grpSp>
        <p:nvGrpSpPr>
          <p:cNvPr id="47" name="Group 46">
            <a:extLst>
              <a:ext uri="{FF2B5EF4-FFF2-40B4-BE49-F238E27FC236}">
                <a16:creationId xmlns:a16="http://schemas.microsoft.com/office/drawing/2014/main" id="{D10B712C-C17A-C412-028F-F51A1580B19A}"/>
              </a:ext>
            </a:extLst>
          </p:cNvPr>
          <p:cNvGrpSpPr/>
          <p:nvPr/>
        </p:nvGrpSpPr>
        <p:grpSpPr>
          <a:xfrm>
            <a:off x="3805788" y="1600161"/>
            <a:ext cx="306171" cy="4079081"/>
            <a:chOff x="5942914" y="2081213"/>
            <a:chExt cx="306171" cy="4079081"/>
          </a:xfrm>
        </p:grpSpPr>
        <p:cxnSp>
          <p:nvCxnSpPr>
            <p:cNvPr id="59" name="Straight Connector 58">
              <a:extLst>
                <a:ext uri="{FF2B5EF4-FFF2-40B4-BE49-F238E27FC236}">
                  <a16:creationId xmlns:a16="http://schemas.microsoft.com/office/drawing/2014/main" id="{9F1B17F2-E15B-E8ED-E8C4-993B687E458B}"/>
                </a:ext>
              </a:extLst>
            </p:cNvPr>
            <p:cNvCxnSpPr/>
            <p:nvPr/>
          </p:nvCxnSpPr>
          <p:spPr>
            <a:xfrm>
              <a:off x="6096000" y="2081213"/>
              <a:ext cx="0" cy="4079081"/>
            </a:xfrm>
            <a:prstGeom prst="line">
              <a:avLst/>
            </a:prstGeom>
            <a:ln w="9525" cap="rnd">
              <a:solidFill>
                <a:srgbClr val="9A9A9A"/>
              </a:solidFill>
              <a:prstDash val="solid"/>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9416258D-5E3F-4422-BF15-3A72E5673B50}"/>
                </a:ext>
              </a:extLst>
            </p:cNvPr>
            <p:cNvGrpSpPr/>
            <p:nvPr/>
          </p:nvGrpSpPr>
          <p:grpSpPr>
            <a:xfrm>
              <a:off x="5942914" y="3967299"/>
              <a:ext cx="306171" cy="306910"/>
              <a:chOff x="5937564" y="3833745"/>
              <a:chExt cx="306171" cy="306910"/>
            </a:xfrm>
          </p:grpSpPr>
          <p:sp>
            <p:nvSpPr>
              <p:cNvPr id="63" name="Freeform 94">
                <a:extLst>
                  <a:ext uri="{FF2B5EF4-FFF2-40B4-BE49-F238E27FC236}">
                    <a16:creationId xmlns:a16="http://schemas.microsoft.com/office/drawing/2014/main" id="{3A5923E9-45AA-1811-A72E-4C9333D0396F}"/>
                  </a:ext>
                </a:extLst>
              </p:cNvPr>
              <p:cNvSpPr>
                <a:spLocks/>
              </p:cNvSpPr>
              <p:nvPr/>
            </p:nvSpPr>
            <p:spPr bwMode="gray">
              <a:xfrm>
                <a:off x="5937564" y="3833745"/>
                <a:ext cx="306171" cy="306910"/>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0191FF"/>
              </a:solidFill>
              <a:ln>
                <a:solidFill>
                  <a:srgbClr val="0191FF"/>
                </a:solidFill>
              </a:ln>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sp>
            <p:nvSpPr>
              <p:cNvPr id="64" name="Freeform 95">
                <a:extLst>
                  <a:ext uri="{FF2B5EF4-FFF2-40B4-BE49-F238E27FC236}">
                    <a16:creationId xmlns:a16="http://schemas.microsoft.com/office/drawing/2014/main" id="{A436D629-9F1F-29AB-6890-6400A4E352E0}"/>
                  </a:ext>
                </a:extLst>
              </p:cNvPr>
              <p:cNvSpPr>
                <a:spLocks/>
              </p:cNvSpPr>
              <p:nvPr/>
            </p:nvSpPr>
            <p:spPr bwMode="gray">
              <a:xfrm>
                <a:off x="6053995" y="3876005"/>
                <a:ext cx="120251" cy="224731"/>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grpSp>
      </p:grpSp>
      <p:sp>
        <p:nvSpPr>
          <p:cNvPr id="71" name="ee4pContent1">
            <a:extLst>
              <a:ext uri="{FF2B5EF4-FFF2-40B4-BE49-F238E27FC236}">
                <a16:creationId xmlns:a16="http://schemas.microsoft.com/office/drawing/2014/main" id="{588510FD-D58B-3E96-ED9B-ECDD84514B95}"/>
              </a:ext>
            </a:extLst>
          </p:cNvPr>
          <p:cNvSpPr txBox="1"/>
          <p:nvPr/>
        </p:nvSpPr>
        <p:spPr>
          <a:xfrm>
            <a:off x="6424126" y="2403329"/>
            <a:ext cx="4946305" cy="10464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002E50"/>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spcAft>
                <a:spcPts val="600"/>
              </a:spcAft>
              <a:buNone/>
            </a:pPr>
            <a:r>
              <a:rPr lang="en-US" sz="1600" b="1" u="sng"/>
              <a:t>1. Level of automation potential</a:t>
            </a:r>
          </a:p>
          <a:p>
            <a:pPr>
              <a:spcAft>
                <a:spcPts val="600"/>
              </a:spcAft>
              <a:buNone/>
            </a:pPr>
            <a:r>
              <a:rPr lang="en-US" sz="1400"/>
              <a:t>The highest degree of automation possible for each process </a:t>
            </a:r>
          </a:p>
          <a:p>
            <a:pPr>
              <a:spcAft>
                <a:spcPts val="600"/>
              </a:spcAft>
              <a:buNone/>
            </a:pPr>
            <a:r>
              <a:rPr lang="en-US" sz="1400" i="1"/>
              <a:t>Based on manual review, with directional flagging of degree of automation achievable</a:t>
            </a:r>
          </a:p>
        </p:txBody>
      </p:sp>
      <p:sp>
        <p:nvSpPr>
          <p:cNvPr id="7" name="ee4pContent1">
            <a:extLst>
              <a:ext uri="{FF2B5EF4-FFF2-40B4-BE49-F238E27FC236}">
                <a16:creationId xmlns:a16="http://schemas.microsoft.com/office/drawing/2014/main" id="{058762BA-C52F-D24F-4709-30584C59B929}"/>
              </a:ext>
            </a:extLst>
          </p:cNvPr>
          <p:cNvSpPr txBox="1"/>
          <p:nvPr/>
        </p:nvSpPr>
        <p:spPr>
          <a:xfrm>
            <a:off x="6424126" y="3940514"/>
            <a:ext cx="4946305" cy="149510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002E50"/>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spcAft>
                <a:spcPts val="600"/>
              </a:spcAft>
              <a:buNone/>
            </a:pPr>
            <a:r>
              <a:rPr lang="en-US" sz="1600" b="1" u="sng"/>
              <a:t>2. Current level of automation</a:t>
            </a:r>
          </a:p>
          <a:p>
            <a:pPr>
              <a:spcAft>
                <a:spcPts val="600"/>
              </a:spcAft>
              <a:buNone/>
            </a:pPr>
            <a:r>
              <a:rPr lang="en-US" sz="1400" i="1"/>
              <a:t>Based on 2 inputs for each automation initiative:</a:t>
            </a:r>
          </a:p>
          <a:p>
            <a:pPr marL="171450" indent="-171450">
              <a:spcAft>
                <a:spcPts val="600"/>
              </a:spcAft>
              <a:buFont typeface="Arial" panose="020B0604020202020204" pitchFamily="34" charset="0"/>
              <a:buChar char="•"/>
            </a:pPr>
            <a:r>
              <a:rPr lang="en-US" sz="1400" b="1"/>
              <a:t>Coverage</a:t>
            </a:r>
            <a:r>
              <a:rPr lang="en-US" sz="1400"/>
              <a:t> - share of workflow touched by automation initiatives to-date</a:t>
            </a:r>
          </a:p>
          <a:p>
            <a:pPr marL="171450" indent="-171450">
              <a:spcAft>
                <a:spcPts val="600"/>
              </a:spcAft>
              <a:buFont typeface="Arial" panose="020B0604020202020204" pitchFamily="34" charset="0"/>
              <a:buChar char="•"/>
            </a:pPr>
            <a:r>
              <a:rPr lang="en-US" sz="1400" b="1"/>
              <a:t>Impact</a:t>
            </a:r>
            <a:r>
              <a:rPr lang="en-US" sz="1400"/>
              <a:t> - level of efficiency achieved to-date by automation initiatives</a:t>
            </a:r>
          </a:p>
        </p:txBody>
      </p:sp>
      <p:sp>
        <p:nvSpPr>
          <p:cNvPr id="41" name="ee4pContent1">
            <a:extLst>
              <a:ext uri="{FF2B5EF4-FFF2-40B4-BE49-F238E27FC236}">
                <a16:creationId xmlns:a16="http://schemas.microsoft.com/office/drawing/2014/main" id="{AD726F66-0933-6AAB-6B77-FE5D3954E050}"/>
              </a:ext>
            </a:extLst>
          </p:cNvPr>
          <p:cNvSpPr txBox="1"/>
          <p:nvPr/>
        </p:nvSpPr>
        <p:spPr>
          <a:xfrm>
            <a:off x="4712836" y="2209364"/>
            <a:ext cx="1482574" cy="1434370"/>
          </a:xfrm>
          <a:prstGeom prst="round2DiagRect">
            <a:avLst/>
          </a:prstGeom>
          <a:solidFill>
            <a:srgbClr val="005696"/>
          </a:solidFill>
          <a:ln w="17145"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b="1" u="sng">
                <a:solidFill>
                  <a:schemeClr val="bg1"/>
                </a:solidFill>
              </a:rPr>
              <a:t>Automation potential</a:t>
            </a:r>
          </a:p>
        </p:txBody>
      </p:sp>
      <p:sp>
        <p:nvSpPr>
          <p:cNvPr id="34" name="ee4pContent1">
            <a:extLst>
              <a:ext uri="{FF2B5EF4-FFF2-40B4-BE49-F238E27FC236}">
                <a16:creationId xmlns:a16="http://schemas.microsoft.com/office/drawing/2014/main" id="{58981F6E-6A14-00F5-DB82-AD495F29A48C}"/>
              </a:ext>
            </a:extLst>
          </p:cNvPr>
          <p:cNvSpPr txBox="1"/>
          <p:nvPr/>
        </p:nvSpPr>
        <p:spPr>
          <a:xfrm>
            <a:off x="4712836" y="3940514"/>
            <a:ext cx="1482574" cy="1495103"/>
          </a:xfrm>
          <a:prstGeom prst="round2DiagRect">
            <a:avLst/>
          </a:prstGeom>
          <a:solidFill>
            <a:srgbClr val="005696"/>
          </a:solidFill>
          <a:ln w="17145"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b="1" u="sng">
                <a:solidFill>
                  <a:schemeClr val="bg1"/>
                </a:solidFill>
              </a:rPr>
              <a:t>Current level automation</a:t>
            </a:r>
            <a:endParaRPr lang="en-US" b="1" i="1" u="sng">
              <a:solidFill>
                <a:schemeClr val="bg1"/>
              </a:solidFill>
            </a:endParaRPr>
          </a:p>
        </p:txBody>
      </p:sp>
      <p:sp>
        <p:nvSpPr>
          <p:cNvPr id="26" name="ee4pContent1">
            <a:extLst>
              <a:ext uri="{FF2B5EF4-FFF2-40B4-BE49-F238E27FC236}">
                <a16:creationId xmlns:a16="http://schemas.microsoft.com/office/drawing/2014/main" id="{BE040DAE-14C3-1E5F-63CB-35D1C5E64BED}"/>
              </a:ext>
            </a:extLst>
          </p:cNvPr>
          <p:cNvSpPr txBox="1"/>
          <p:nvPr/>
        </p:nvSpPr>
        <p:spPr>
          <a:xfrm>
            <a:off x="4863117" y="5030398"/>
            <a:ext cx="1182013" cy="281830"/>
          </a:xfrm>
          <a:prstGeom prst="round2DiagRect">
            <a:avLst/>
          </a:prstGeom>
          <a:solidFill>
            <a:srgbClr val="002E50"/>
          </a:solidFill>
          <a:ln w="1714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100" b="1">
                <a:solidFill>
                  <a:schemeClr val="bg1"/>
                </a:solidFill>
              </a:rPr>
              <a:t>Impact</a:t>
            </a:r>
          </a:p>
        </p:txBody>
      </p:sp>
      <p:sp>
        <p:nvSpPr>
          <p:cNvPr id="17" name="ee4pContent1">
            <a:extLst>
              <a:ext uri="{FF2B5EF4-FFF2-40B4-BE49-F238E27FC236}">
                <a16:creationId xmlns:a16="http://schemas.microsoft.com/office/drawing/2014/main" id="{468C33AE-80BB-6FD8-454F-444ABB5354BC}"/>
              </a:ext>
            </a:extLst>
          </p:cNvPr>
          <p:cNvSpPr txBox="1"/>
          <p:nvPr/>
        </p:nvSpPr>
        <p:spPr>
          <a:xfrm>
            <a:off x="4863118" y="4444494"/>
            <a:ext cx="1182012" cy="281830"/>
          </a:xfrm>
          <a:prstGeom prst="round2DiagRect">
            <a:avLst/>
          </a:prstGeom>
          <a:solidFill>
            <a:srgbClr val="002E50"/>
          </a:solidFill>
          <a:ln w="1714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100" b="1">
                <a:solidFill>
                  <a:schemeClr val="bg1"/>
                </a:solidFill>
              </a:rPr>
              <a:t>Coverage</a:t>
            </a:r>
          </a:p>
        </p:txBody>
      </p:sp>
      <p:grpSp>
        <p:nvGrpSpPr>
          <p:cNvPr id="3" name="Group 2">
            <a:extLst>
              <a:ext uri="{FF2B5EF4-FFF2-40B4-BE49-F238E27FC236}">
                <a16:creationId xmlns:a16="http://schemas.microsoft.com/office/drawing/2014/main" id="{1636E717-9A24-4394-0EF0-4F5C7A82B63B}"/>
              </a:ext>
            </a:extLst>
          </p:cNvPr>
          <p:cNvGrpSpPr/>
          <p:nvPr/>
        </p:nvGrpSpPr>
        <p:grpSpPr>
          <a:xfrm>
            <a:off x="5344435" y="4775125"/>
            <a:ext cx="219374" cy="228280"/>
            <a:chOff x="5344435" y="4750741"/>
            <a:chExt cx="219374" cy="228280"/>
          </a:xfrm>
        </p:grpSpPr>
        <p:sp>
          <p:nvSpPr>
            <p:cNvPr id="25" name="Oval 18">
              <a:extLst>
                <a:ext uri="{FF2B5EF4-FFF2-40B4-BE49-F238E27FC236}">
                  <a16:creationId xmlns:a16="http://schemas.microsoft.com/office/drawing/2014/main" id="{7B41EF1C-F551-1F26-A385-84A3154AD121}"/>
                </a:ext>
              </a:extLst>
            </p:cNvPr>
            <p:cNvSpPr>
              <a:spLocks noChangeArrowheads="1"/>
            </p:cNvSpPr>
            <p:nvPr/>
          </p:nvSpPr>
          <p:spPr bwMode="auto">
            <a:xfrm>
              <a:off x="5344435" y="4750741"/>
              <a:ext cx="219374" cy="228280"/>
            </a:xfrm>
            <a:prstGeom prst="ellipse">
              <a:avLst/>
            </a:prstGeom>
            <a:solidFill>
              <a:srgbClr val="FFFFFF">
                <a:lumMod val="100000"/>
              </a:srgbClr>
            </a:solidFill>
            <a:ln>
              <a:noFill/>
            </a:ln>
          </p:spPr>
          <p:txBody>
            <a:bodyPr vert="horz" wrap="square" lIns="82296" tIns="41148" rIns="82296" bIns="41148" numCol="1" anchor="t" anchorCtr="0" compatLnSpc="1">
              <a:prstTxWarp prst="textNoShape">
                <a:avLst/>
              </a:prstTxWarp>
            </a:bodyPr>
            <a:lstStyle/>
            <a:p>
              <a:endParaRPr lang="en-US"/>
            </a:p>
          </p:txBody>
        </p:sp>
        <p:sp>
          <p:nvSpPr>
            <p:cNvPr id="27" name="Freeform 19">
              <a:extLst>
                <a:ext uri="{FF2B5EF4-FFF2-40B4-BE49-F238E27FC236}">
                  <a16:creationId xmlns:a16="http://schemas.microsoft.com/office/drawing/2014/main" id="{333826CA-846B-7448-2A46-1225030BC9F5}"/>
                </a:ext>
              </a:extLst>
            </p:cNvPr>
            <p:cNvSpPr>
              <a:spLocks/>
            </p:cNvSpPr>
            <p:nvPr/>
          </p:nvSpPr>
          <p:spPr bwMode="auto">
            <a:xfrm>
              <a:off x="5396765" y="4817882"/>
              <a:ext cx="90330" cy="93998"/>
            </a:xfrm>
            <a:custGeom>
              <a:avLst/>
              <a:gdLst>
                <a:gd name="T0" fmla="*/ 63 w 70"/>
                <a:gd name="T1" fmla="*/ 0 h 70"/>
                <a:gd name="T2" fmla="*/ 35 w 70"/>
                <a:gd name="T3" fmla="*/ 29 h 70"/>
                <a:gd name="T4" fmla="*/ 6 w 70"/>
                <a:gd name="T5" fmla="*/ 0 h 70"/>
                <a:gd name="T6" fmla="*/ 0 w 70"/>
                <a:gd name="T7" fmla="*/ 6 h 70"/>
                <a:gd name="T8" fmla="*/ 28 w 70"/>
                <a:gd name="T9" fmla="*/ 35 h 70"/>
                <a:gd name="T10" fmla="*/ 0 w 70"/>
                <a:gd name="T11" fmla="*/ 63 h 70"/>
                <a:gd name="T12" fmla="*/ 6 w 70"/>
                <a:gd name="T13" fmla="*/ 70 h 70"/>
                <a:gd name="T14" fmla="*/ 35 w 70"/>
                <a:gd name="T15" fmla="*/ 41 h 70"/>
                <a:gd name="T16" fmla="*/ 63 w 70"/>
                <a:gd name="T17" fmla="*/ 70 h 70"/>
                <a:gd name="T18" fmla="*/ 70 w 70"/>
                <a:gd name="T19" fmla="*/ 63 h 70"/>
                <a:gd name="T20" fmla="*/ 41 w 70"/>
                <a:gd name="T21" fmla="*/ 35 h 70"/>
                <a:gd name="T22" fmla="*/ 70 w 70"/>
                <a:gd name="T23" fmla="*/ 6 h 70"/>
                <a:gd name="T24" fmla="*/ 63 w 70"/>
                <a:gd name="T25"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0">
                  <a:moveTo>
                    <a:pt x="63" y="0"/>
                  </a:moveTo>
                  <a:lnTo>
                    <a:pt x="35" y="29"/>
                  </a:lnTo>
                  <a:lnTo>
                    <a:pt x="6" y="0"/>
                  </a:lnTo>
                  <a:lnTo>
                    <a:pt x="0" y="6"/>
                  </a:lnTo>
                  <a:lnTo>
                    <a:pt x="28" y="35"/>
                  </a:lnTo>
                  <a:lnTo>
                    <a:pt x="0" y="63"/>
                  </a:lnTo>
                  <a:lnTo>
                    <a:pt x="6" y="70"/>
                  </a:lnTo>
                  <a:lnTo>
                    <a:pt x="35" y="41"/>
                  </a:lnTo>
                  <a:lnTo>
                    <a:pt x="63" y="70"/>
                  </a:lnTo>
                  <a:lnTo>
                    <a:pt x="70" y="63"/>
                  </a:lnTo>
                  <a:lnTo>
                    <a:pt x="41" y="35"/>
                  </a:lnTo>
                  <a:lnTo>
                    <a:pt x="70" y="6"/>
                  </a:lnTo>
                  <a:lnTo>
                    <a:pt x="63" y="0"/>
                  </a:lnTo>
                  <a:close/>
                </a:path>
              </a:pathLst>
            </a:custGeom>
            <a:solidFill>
              <a:schemeClr val="accent2"/>
            </a:solidFill>
            <a:ln w="8572">
              <a:solidFill>
                <a:schemeClr val="accent2"/>
              </a:solidFill>
            </a:ln>
          </p:spPr>
          <p:txBody>
            <a:bodyPr vert="horz" wrap="square" lIns="82296" tIns="41148" rIns="82296" bIns="41148" numCol="1" anchor="t" anchorCtr="0" compatLnSpc="1">
              <a:prstTxWarp prst="textNoShape">
                <a:avLst/>
              </a:prstTxWarp>
            </a:bodyPr>
            <a:lstStyle/>
            <a:p>
              <a:endParaRPr lang="en-US"/>
            </a:p>
          </p:txBody>
        </p:sp>
      </p:grpSp>
      <p:sp>
        <p:nvSpPr>
          <p:cNvPr id="122" name="ee4pFootnotes">
            <a:extLst>
              <a:ext uri="{FF2B5EF4-FFF2-40B4-BE49-F238E27FC236}">
                <a16:creationId xmlns:a16="http://schemas.microsoft.com/office/drawing/2014/main" id="{DCE882B8-6000-DF83-02D6-332D1CE8CDA1}"/>
              </a:ext>
            </a:extLst>
          </p:cNvPr>
          <p:cNvSpPr>
            <a:spLocks noChangeArrowheads="1"/>
          </p:cNvSpPr>
          <p:nvPr/>
        </p:nvSpPr>
        <p:spPr bwMode="auto">
          <a:xfrm>
            <a:off x="630000" y="6421441"/>
            <a:ext cx="9030914" cy="138499"/>
          </a:xfrm>
          <a:prstGeom prst="rect">
            <a:avLst/>
          </a:prstGeom>
          <a:noFill/>
          <a:ln w="9525" algn="ctr">
            <a:noFill/>
            <a:miter lim="800000"/>
            <a:headEnd type="none" w="lg" len="lg"/>
            <a:tailEnd type="none" w="lg" len="lg"/>
          </a:ln>
        </p:spPr>
        <p:txBody>
          <a:bodyPr vert="horz" wrap="square" lIns="0" tIns="0" rIns="0" bIns="0" anchor="b" anchorCtr="0">
            <a:spAutoFit/>
          </a:bodyPr>
          <a:lstStyle/>
          <a:p>
            <a:pPr>
              <a:lnSpc>
                <a:spcPct val="90000"/>
              </a:lnSpc>
            </a:pPr>
            <a:r>
              <a:rPr lang="en-US" sz="1000">
                <a:solidFill>
                  <a:srgbClr val="555555"/>
                </a:solidFill>
                <a:latin typeface="Trebuchet MS" panose="020B0603020202020204" pitchFamily="34" charset="0"/>
                <a:cs typeface="Arial" pitchFamily="34" charset="0"/>
              </a:rPr>
              <a:t>1. Applicable to a range of automation initiatives (e.g., RPA, GenAI, Agentic AI)</a:t>
            </a:r>
          </a:p>
        </p:txBody>
      </p:sp>
    </p:spTree>
    <p:extLst>
      <p:ext uri="{BB962C8B-B14F-4D97-AF65-F5344CB8AC3E}">
        <p14:creationId xmlns:p14="http://schemas.microsoft.com/office/powerpoint/2010/main" val="8193255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 name="think-cell data - do not delete" hidden="1">
            <a:extLst>
              <a:ext uri="{FF2B5EF4-FFF2-40B4-BE49-F238E27FC236}">
                <a16:creationId xmlns:a16="http://schemas.microsoft.com/office/drawing/2014/main" id="{644F873A-E9E2-E20B-1F00-B6D5258616C9}"/>
              </a:ext>
            </a:extLst>
          </p:cNvPr>
          <p:cNvGraphicFramePr>
            <a:graphicFrameLocks noChangeAspect="1"/>
          </p:cNvGraphicFramePr>
          <p:nvPr>
            <p:custDataLst>
              <p:tags r:id="rId1"/>
            </p:custDataLst>
            <p:extLst>
              <p:ext uri="{D42A27DB-BD31-4B8C-83A1-F6EECF244321}">
                <p14:modId xmlns:p14="http://schemas.microsoft.com/office/powerpoint/2010/main" val="2546429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5" name="think-cell data - do not delete" hidden="1">
                        <a:extLst>
                          <a:ext uri="{FF2B5EF4-FFF2-40B4-BE49-F238E27FC236}">
                            <a16:creationId xmlns:a16="http://schemas.microsoft.com/office/drawing/2014/main" id="{644F873A-E9E2-E20B-1F00-B6D5258616C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3" name="ee4pContent1">
            <a:extLst>
              <a:ext uri="{FF2B5EF4-FFF2-40B4-BE49-F238E27FC236}">
                <a16:creationId xmlns:a16="http://schemas.microsoft.com/office/drawing/2014/main" id="{7512B43F-8F4C-2A6F-1966-1DA6C384B940}"/>
              </a:ext>
            </a:extLst>
          </p:cNvPr>
          <p:cNvSpPr txBox="1"/>
          <p:nvPr/>
        </p:nvSpPr>
        <p:spPr>
          <a:xfrm>
            <a:off x="9825989" y="1513455"/>
            <a:ext cx="1737360" cy="460109"/>
          </a:xfrm>
          <a:prstGeom prst="round2DiagRect">
            <a:avLst/>
          </a:prstGeom>
          <a:solidFill>
            <a:srgbClr val="0191FF"/>
          </a:solidFill>
          <a:ln w="19050"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400" b="1">
                <a:solidFill>
                  <a:schemeClr val="bg1"/>
                </a:solidFill>
              </a:rPr>
              <a:t>Automation index</a:t>
            </a:r>
            <a:endParaRPr lang="en-US" sz="1400" b="1" u="sng">
              <a:solidFill>
                <a:schemeClr val="bg1"/>
              </a:solidFill>
            </a:endParaRPr>
          </a:p>
        </p:txBody>
      </p:sp>
      <p:sp>
        <p:nvSpPr>
          <p:cNvPr id="82" name="ee4pContent1">
            <a:extLst>
              <a:ext uri="{FF2B5EF4-FFF2-40B4-BE49-F238E27FC236}">
                <a16:creationId xmlns:a16="http://schemas.microsoft.com/office/drawing/2014/main" id="{F0E9B0FF-4895-7C88-0EE7-EFE7C011653E}"/>
              </a:ext>
            </a:extLst>
          </p:cNvPr>
          <p:cNvSpPr txBox="1"/>
          <p:nvPr/>
        </p:nvSpPr>
        <p:spPr>
          <a:xfrm>
            <a:off x="9825989" y="1986090"/>
            <a:ext cx="1737360" cy="1191716"/>
          </a:xfrm>
          <a:prstGeom prst="rect">
            <a:avLst/>
          </a:prstGeom>
          <a:solidFill>
            <a:schemeClr val="bg1">
              <a:lumMod val="95000"/>
            </a:schemeClr>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lnSpc>
                <a:spcPct val="90000"/>
              </a:lnSpc>
              <a:spcAft>
                <a:spcPts val="600"/>
              </a:spcAft>
            </a:pPr>
            <a:r>
              <a:rPr lang="en-US" sz="1100" b="1">
                <a:sym typeface="Trebuchet MS" panose="020B0603020202020204" pitchFamily="34" charset="0"/>
              </a:rPr>
              <a:t>Calculates current gap remaining to full automation potential </a:t>
            </a:r>
          </a:p>
        </p:txBody>
      </p:sp>
      <p:sp>
        <p:nvSpPr>
          <p:cNvPr id="90" name="ee4pContent1">
            <a:extLst>
              <a:ext uri="{FF2B5EF4-FFF2-40B4-BE49-F238E27FC236}">
                <a16:creationId xmlns:a16="http://schemas.microsoft.com/office/drawing/2014/main" id="{6968346A-8DD0-D0F4-411B-ADF735E82F65}"/>
              </a:ext>
            </a:extLst>
          </p:cNvPr>
          <p:cNvSpPr txBox="1"/>
          <p:nvPr/>
        </p:nvSpPr>
        <p:spPr>
          <a:xfrm>
            <a:off x="630000" y="1973564"/>
            <a:ext cx="2440057" cy="1204242"/>
          </a:xfrm>
          <a:prstGeom prst="rect">
            <a:avLst/>
          </a:prstGeom>
          <a:solidFill>
            <a:schemeClr val="bg1">
              <a:lumMod val="95000"/>
            </a:schemeClr>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spcAft>
                <a:spcPts val="600"/>
              </a:spcAft>
            </a:pPr>
            <a:r>
              <a:rPr lang="en-US" sz="1100"/>
              <a:t>Defines highest potential degree of automation based on the nature of each EIW L3</a:t>
            </a:r>
          </a:p>
          <a:p>
            <a:pPr algn="ctr"/>
            <a:r>
              <a:rPr lang="en-US" sz="900" i="1"/>
              <a:t>(max expected coverage with 100% impact)</a:t>
            </a:r>
          </a:p>
        </p:txBody>
      </p:sp>
      <p:sp>
        <p:nvSpPr>
          <p:cNvPr id="2" name="Title 1">
            <a:extLst>
              <a:ext uri="{FF2B5EF4-FFF2-40B4-BE49-F238E27FC236}">
                <a16:creationId xmlns:a16="http://schemas.microsoft.com/office/drawing/2014/main" id="{64880764-9E9E-E3F4-70B6-A0BFF413ED1D}"/>
              </a:ext>
            </a:extLst>
          </p:cNvPr>
          <p:cNvSpPr>
            <a:spLocks noGrp="1"/>
          </p:cNvSpPr>
          <p:nvPr>
            <p:ph type="title"/>
          </p:nvPr>
        </p:nvSpPr>
        <p:spPr>
          <a:xfrm>
            <a:off x="630000" y="622800"/>
            <a:ext cx="10933350" cy="664797"/>
          </a:xfrm>
        </p:spPr>
        <p:txBody>
          <a:bodyPr vert="horz"/>
          <a:lstStyle/>
          <a:p>
            <a:r>
              <a:rPr lang="en-US">
                <a:solidFill>
                  <a:srgbClr val="002E50"/>
                </a:solidFill>
              </a:rPr>
              <a:t>Automation Index | </a:t>
            </a:r>
            <a:r>
              <a:rPr lang="en-US"/>
              <a:t>Sample walkthrough of framework to identify whitespace opportunity for a given process</a:t>
            </a:r>
          </a:p>
        </p:txBody>
      </p:sp>
      <p:sp>
        <p:nvSpPr>
          <p:cNvPr id="53" name="TextBox 52">
            <a:extLst>
              <a:ext uri="{FF2B5EF4-FFF2-40B4-BE49-F238E27FC236}">
                <a16:creationId xmlns:a16="http://schemas.microsoft.com/office/drawing/2014/main" id="{BEA26178-4557-4DCD-8018-E35CC78304C6}"/>
              </a:ext>
            </a:extLst>
          </p:cNvPr>
          <p:cNvSpPr txBox="1"/>
          <p:nvPr/>
        </p:nvSpPr>
        <p:spPr>
          <a:xfrm rot="16200000">
            <a:off x="-377738" y="3983466"/>
            <a:ext cx="1647289" cy="218555"/>
          </a:xfrm>
          <a:prstGeom prst="round2SameRect">
            <a:avLst/>
          </a:prstGeom>
          <a:solidFill>
            <a:srgbClr val="0191FF"/>
          </a:solidFill>
          <a:ln w="9525" cap="rnd" cmpd="sng" algn="ctr">
            <a:solidFill>
              <a:srgbClr val="0191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rgbClr val="FFFFFF"/>
                </a:solidFill>
              </a:rPr>
              <a:t>Scoring method</a:t>
            </a:r>
          </a:p>
        </p:txBody>
      </p:sp>
      <p:grpSp>
        <p:nvGrpSpPr>
          <p:cNvPr id="68" name="Group 67">
            <a:extLst>
              <a:ext uri="{FF2B5EF4-FFF2-40B4-BE49-F238E27FC236}">
                <a16:creationId xmlns:a16="http://schemas.microsoft.com/office/drawing/2014/main" id="{9472B9B7-D560-C372-2053-A052F2E1FB36}"/>
              </a:ext>
            </a:extLst>
          </p:cNvPr>
          <p:cNvGrpSpPr/>
          <p:nvPr/>
        </p:nvGrpSpPr>
        <p:grpSpPr>
          <a:xfrm>
            <a:off x="630000" y="3269098"/>
            <a:ext cx="2440057" cy="1647289"/>
            <a:chOff x="630000" y="3506602"/>
            <a:chExt cx="2440057" cy="1647289"/>
          </a:xfrm>
        </p:grpSpPr>
        <p:sp>
          <p:nvSpPr>
            <p:cNvPr id="54" name="ee4pContent1">
              <a:extLst>
                <a:ext uri="{FF2B5EF4-FFF2-40B4-BE49-F238E27FC236}">
                  <a16:creationId xmlns:a16="http://schemas.microsoft.com/office/drawing/2014/main" id="{2452F1F1-2D01-2B1F-BA9E-B6292EEDB086}"/>
                </a:ext>
              </a:extLst>
            </p:cNvPr>
            <p:cNvSpPr txBox="1"/>
            <p:nvPr/>
          </p:nvSpPr>
          <p:spPr>
            <a:xfrm>
              <a:off x="630000" y="3506602"/>
              <a:ext cx="2440057" cy="1647289"/>
            </a:xfrm>
            <a:prstGeom prst="rect">
              <a:avLst/>
            </a:prstGeom>
            <a:solidFill>
              <a:schemeClr val="bg1">
                <a:lumMod val="95000"/>
              </a:schemeClr>
            </a:solidFill>
            <a:ln w="9525" cap="flat" cmpd="sng" algn="ctr">
              <a:solidFill>
                <a:schemeClr val="tx1">
                  <a:lumMod val="50000"/>
                  <a:lumOff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lnSpc>
                  <a:spcPct val="90000"/>
                </a:lnSpc>
                <a:spcAft>
                  <a:spcPts val="600"/>
                </a:spcAft>
              </a:pPr>
              <a:endParaRPr lang="en-US" b="1">
                <a:sym typeface="Trebuchet MS" panose="020B0603020202020204" pitchFamily="34" charset="0"/>
              </a:endParaRPr>
            </a:p>
          </p:txBody>
        </p:sp>
        <p:grpSp>
          <p:nvGrpSpPr>
            <p:cNvPr id="56" name="Group 55">
              <a:extLst>
                <a:ext uri="{FF2B5EF4-FFF2-40B4-BE49-F238E27FC236}">
                  <a16:creationId xmlns:a16="http://schemas.microsoft.com/office/drawing/2014/main" id="{A5B4D273-182D-21FF-2A74-AF40C41A5256}"/>
                </a:ext>
              </a:extLst>
            </p:cNvPr>
            <p:cNvGrpSpPr/>
            <p:nvPr/>
          </p:nvGrpSpPr>
          <p:grpSpPr>
            <a:xfrm>
              <a:off x="704515" y="4087717"/>
              <a:ext cx="2314777" cy="910966"/>
              <a:chOff x="704679" y="3838340"/>
              <a:chExt cx="2314777" cy="910966"/>
            </a:xfrm>
          </p:grpSpPr>
          <p:sp>
            <p:nvSpPr>
              <p:cNvPr id="26" name="ee4pContent1">
                <a:extLst>
                  <a:ext uri="{FF2B5EF4-FFF2-40B4-BE49-F238E27FC236}">
                    <a16:creationId xmlns:a16="http://schemas.microsoft.com/office/drawing/2014/main" id="{2944C68F-960A-2686-55EF-D61B4DC83AAB}"/>
                  </a:ext>
                </a:extLst>
              </p:cNvPr>
              <p:cNvSpPr txBox="1"/>
              <p:nvPr/>
            </p:nvSpPr>
            <p:spPr>
              <a:xfrm>
                <a:off x="704679" y="3838340"/>
                <a:ext cx="864654" cy="169277"/>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indent="-225000">
                  <a:spcAft>
                    <a:spcPts val="600"/>
                  </a:spcAft>
                  <a:buNone/>
                </a:pPr>
                <a:r>
                  <a:rPr lang="en-US" sz="1100" b="1" u="sng">
                    <a:solidFill>
                      <a:srgbClr val="49D6B7"/>
                    </a:solidFill>
                  </a:rPr>
                  <a:t>HIGH (100%)</a:t>
                </a:r>
                <a:endParaRPr lang="en-US" sz="1100" u="sng"/>
              </a:p>
            </p:txBody>
          </p:sp>
          <p:sp>
            <p:nvSpPr>
              <p:cNvPr id="27" name="ee4pContent1">
                <a:extLst>
                  <a:ext uri="{FF2B5EF4-FFF2-40B4-BE49-F238E27FC236}">
                    <a16:creationId xmlns:a16="http://schemas.microsoft.com/office/drawing/2014/main" id="{2C0A37E7-ADA7-1200-C6F2-981B148985D0}"/>
                  </a:ext>
                </a:extLst>
              </p:cNvPr>
              <p:cNvSpPr txBox="1"/>
              <p:nvPr/>
            </p:nvSpPr>
            <p:spPr>
              <a:xfrm>
                <a:off x="704679" y="4083005"/>
                <a:ext cx="864654" cy="169277"/>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indent="-225000">
                  <a:spcAft>
                    <a:spcPts val="600"/>
                  </a:spcAft>
                  <a:buNone/>
                </a:pPr>
                <a:r>
                  <a:rPr lang="en-US" sz="1100" b="1" u="sng">
                    <a:solidFill>
                      <a:srgbClr val="E8B34A"/>
                    </a:solidFill>
                  </a:rPr>
                  <a:t>MED (66%)</a:t>
                </a:r>
                <a:endParaRPr lang="en-US" sz="1100" u="sng"/>
              </a:p>
            </p:txBody>
          </p:sp>
          <p:sp>
            <p:nvSpPr>
              <p:cNvPr id="28" name="ee4pContent1">
                <a:extLst>
                  <a:ext uri="{FF2B5EF4-FFF2-40B4-BE49-F238E27FC236}">
                    <a16:creationId xmlns:a16="http://schemas.microsoft.com/office/drawing/2014/main" id="{C9EA75D2-8382-8712-4C2B-CD85B189B415}"/>
                  </a:ext>
                </a:extLst>
              </p:cNvPr>
              <p:cNvSpPr txBox="1"/>
              <p:nvPr/>
            </p:nvSpPr>
            <p:spPr>
              <a:xfrm>
                <a:off x="704679" y="4331519"/>
                <a:ext cx="864653" cy="169277"/>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indent="-225000">
                  <a:spcAft>
                    <a:spcPts val="600"/>
                  </a:spcAft>
                  <a:buNone/>
                </a:pPr>
                <a:r>
                  <a:rPr lang="en-US" sz="1100" b="1" u="sng">
                    <a:solidFill>
                      <a:srgbClr val="C00000"/>
                    </a:solidFill>
                  </a:rPr>
                  <a:t>LOW (33%)</a:t>
                </a:r>
                <a:endParaRPr lang="en-US" sz="1100" u="sng">
                  <a:solidFill>
                    <a:srgbClr val="FF767C"/>
                  </a:solidFill>
                </a:endParaRPr>
              </a:p>
            </p:txBody>
          </p:sp>
          <p:cxnSp>
            <p:nvCxnSpPr>
              <p:cNvPr id="29" name="Straight Connector 28">
                <a:extLst>
                  <a:ext uri="{FF2B5EF4-FFF2-40B4-BE49-F238E27FC236}">
                    <a16:creationId xmlns:a16="http://schemas.microsoft.com/office/drawing/2014/main" id="{AB5ECE3F-EBF1-1FEA-713C-CB71E3C22237}"/>
                  </a:ext>
                </a:extLst>
              </p:cNvPr>
              <p:cNvCxnSpPr>
                <a:cxnSpLocks/>
              </p:cNvCxnSpPr>
              <p:nvPr/>
            </p:nvCxnSpPr>
            <p:spPr>
              <a:xfrm>
                <a:off x="704679" y="4043387"/>
                <a:ext cx="2314775" cy="0"/>
              </a:xfrm>
              <a:prstGeom prst="line">
                <a:avLst/>
              </a:prstGeom>
              <a:ln w="9525" cap="rnd" cmpd="sng" algn="ctr">
                <a:solidFill>
                  <a:srgbClr val="555555"/>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3F363-FF14-6EC2-6F3D-47C77B3C0F1A}"/>
                  </a:ext>
                </a:extLst>
              </p:cNvPr>
              <p:cNvCxnSpPr>
                <a:cxnSpLocks/>
              </p:cNvCxnSpPr>
              <p:nvPr/>
            </p:nvCxnSpPr>
            <p:spPr>
              <a:xfrm>
                <a:off x="704679" y="4291900"/>
                <a:ext cx="2314775" cy="0"/>
              </a:xfrm>
              <a:prstGeom prst="line">
                <a:avLst/>
              </a:prstGeom>
              <a:ln w="9525" cap="rnd" cmpd="sng" algn="ctr">
                <a:solidFill>
                  <a:srgbClr val="555555"/>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ee4pContent1">
                <a:extLst>
                  <a:ext uri="{FF2B5EF4-FFF2-40B4-BE49-F238E27FC236}">
                    <a16:creationId xmlns:a16="http://schemas.microsoft.com/office/drawing/2014/main" id="{188BD70C-F475-F83C-4801-9B211E7C1079}"/>
                  </a:ext>
                </a:extLst>
              </p:cNvPr>
              <p:cNvSpPr txBox="1"/>
              <p:nvPr/>
            </p:nvSpPr>
            <p:spPr>
              <a:xfrm>
                <a:off x="704679" y="4580029"/>
                <a:ext cx="864653" cy="169277"/>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indent="-225000">
                  <a:spcAft>
                    <a:spcPts val="600"/>
                  </a:spcAft>
                  <a:buNone/>
                </a:pPr>
                <a:r>
                  <a:rPr lang="en-US" sz="1100" b="1" u="sng">
                    <a:solidFill>
                      <a:srgbClr val="8C9BA5"/>
                    </a:solidFill>
                  </a:rPr>
                  <a:t>NONE (0%)</a:t>
                </a:r>
                <a:endParaRPr lang="en-US" sz="1100" u="sng">
                  <a:solidFill>
                    <a:srgbClr val="8C9BA5"/>
                  </a:solidFill>
                </a:endParaRPr>
              </a:p>
            </p:txBody>
          </p:sp>
          <p:cxnSp>
            <p:nvCxnSpPr>
              <p:cNvPr id="32" name="Straight Connector 31">
                <a:extLst>
                  <a:ext uri="{FF2B5EF4-FFF2-40B4-BE49-F238E27FC236}">
                    <a16:creationId xmlns:a16="http://schemas.microsoft.com/office/drawing/2014/main" id="{000590FF-FDCB-7BCE-E6B6-BE4A4646B515}"/>
                  </a:ext>
                </a:extLst>
              </p:cNvPr>
              <p:cNvCxnSpPr>
                <a:cxnSpLocks/>
              </p:cNvCxnSpPr>
              <p:nvPr/>
            </p:nvCxnSpPr>
            <p:spPr>
              <a:xfrm>
                <a:off x="704679" y="4540414"/>
                <a:ext cx="2314775" cy="0"/>
              </a:xfrm>
              <a:prstGeom prst="line">
                <a:avLst/>
              </a:prstGeom>
              <a:ln w="9525" cap="rnd" cmpd="sng" algn="ctr">
                <a:solidFill>
                  <a:srgbClr val="555555"/>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5" name="ee4pContent1">
                <a:extLst>
                  <a:ext uri="{FF2B5EF4-FFF2-40B4-BE49-F238E27FC236}">
                    <a16:creationId xmlns:a16="http://schemas.microsoft.com/office/drawing/2014/main" id="{BAC7FFEB-F877-61A5-917F-7FF284093E8F}"/>
                  </a:ext>
                </a:extLst>
              </p:cNvPr>
              <p:cNvSpPr txBox="1"/>
              <p:nvPr/>
            </p:nvSpPr>
            <p:spPr>
              <a:xfrm>
                <a:off x="1527233" y="3838340"/>
                <a:ext cx="1492221" cy="161583"/>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marL="297000" lvl="1" indent="-198000"/>
                <a:r>
                  <a:rPr lang="en-US" sz="1050"/>
                  <a:t>Fully automatable</a:t>
                </a:r>
              </a:p>
            </p:txBody>
          </p:sp>
          <p:sp>
            <p:nvSpPr>
              <p:cNvPr id="46" name="ee4pContent1">
                <a:extLst>
                  <a:ext uri="{FF2B5EF4-FFF2-40B4-BE49-F238E27FC236}">
                    <a16:creationId xmlns:a16="http://schemas.microsoft.com/office/drawing/2014/main" id="{BF00E391-0BB7-BEF6-6708-7BEDF6D40ADE}"/>
                  </a:ext>
                </a:extLst>
              </p:cNvPr>
              <p:cNvSpPr txBox="1"/>
              <p:nvPr/>
            </p:nvSpPr>
            <p:spPr>
              <a:xfrm>
                <a:off x="1527235" y="4086852"/>
                <a:ext cx="1492221" cy="161583"/>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marL="297000" lvl="1" indent="-198000"/>
                <a:r>
                  <a:rPr lang="en-US" sz="1050"/>
                  <a:t>Some human input</a:t>
                </a:r>
              </a:p>
            </p:txBody>
          </p:sp>
          <p:sp>
            <p:nvSpPr>
              <p:cNvPr id="47" name="ee4pContent1">
                <a:extLst>
                  <a:ext uri="{FF2B5EF4-FFF2-40B4-BE49-F238E27FC236}">
                    <a16:creationId xmlns:a16="http://schemas.microsoft.com/office/drawing/2014/main" id="{8A108660-9083-F7EE-16B5-67987ED9E3A8}"/>
                  </a:ext>
                </a:extLst>
              </p:cNvPr>
              <p:cNvSpPr txBox="1"/>
              <p:nvPr/>
            </p:nvSpPr>
            <p:spPr>
              <a:xfrm>
                <a:off x="1527234" y="4335365"/>
                <a:ext cx="1492221" cy="161583"/>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marL="297000" lvl="1" indent="-198000"/>
                <a:r>
                  <a:rPr lang="en-US" sz="1050"/>
                  <a:t>Heavy human input</a:t>
                </a:r>
              </a:p>
            </p:txBody>
          </p:sp>
          <p:sp>
            <p:nvSpPr>
              <p:cNvPr id="48" name="ee4pContent1">
                <a:extLst>
                  <a:ext uri="{FF2B5EF4-FFF2-40B4-BE49-F238E27FC236}">
                    <a16:creationId xmlns:a16="http://schemas.microsoft.com/office/drawing/2014/main" id="{1298DB70-FCE8-477F-0B39-C4DEF5C493DC}"/>
                  </a:ext>
                </a:extLst>
              </p:cNvPr>
              <p:cNvSpPr txBox="1"/>
              <p:nvPr/>
            </p:nvSpPr>
            <p:spPr>
              <a:xfrm>
                <a:off x="1527234" y="4583876"/>
                <a:ext cx="1492221" cy="161583"/>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marL="297000" lvl="1" indent="-198000"/>
                <a:r>
                  <a:rPr lang="en-US" sz="1050"/>
                  <a:t>Not automatable</a:t>
                </a:r>
              </a:p>
            </p:txBody>
          </p:sp>
        </p:grpSp>
        <p:sp>
          <p:nvSpPr>
            <p:cNvPr id="57" name="ee4pContent1">
              <a:extLst>
                <a:ext uri="{FF2B5EF4-FFF2-40B4-BE49-F238E27FC236}">
                  <a16:creationId xmlns:a16="http://schemas.microsoft.com/office/drawing/2014/main" id="{E1C75EAF-0FDA-240E-6EEC-8746C19BEB33}"/>
                </a:ext>
              </a:extLst>
            </p:cNvPr>
            <p:cNvSpPr txBox="1"/>
            <p:nvPr/>
          </p:nvSpPr>
          <p:spPr>
            <a:xfrm>
              <a:off x="981349" y="3554686"/>
              <a:ext cx="1737360" cy="265788"/>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100" b="1">
                  <a:solidFill>
                    <a:srgbClr val="0191FF"/>
                  </a:solidFill>
                </a:rPr>
                <a:t>H/M/L scale </a:t>
              </a:r>
            </a:p>
          </p:txBody>
        </p:sp>
      </p:grpSp>
      <p:grpSp>
        <p:nvGrpSpPr>
          <p:cNvPr id="67" name="Group 66">
            <a:extLst>
              <a:ext uri="{FF2B5EF4-FFF2-40B4-BE49-F238E27FC236}">
                <a16:creationId xmlns:a16="http://schemas.microsoft.com/office/drawing/2014/main" id="{0FBBEE13-8D1D-60C7-D65A-B34665FCA5A4}"/>
              </a:ext>
            </a:extLst>
          </p:cNvPr>
          <p:cNvGrpSpPr/>
          <p:nvPr/>
        </p:nvGrpSpPr>
        <p:grpSpPr>
          <a:xfrm>
            <a:off x="3348034" y="3269098"/>
            <a:ext cx="2837366" cy="1647289"/>
            <a:chOff x="3383178" y="3506602"/>
            <a:chExt cx="2837366" cy="1647289"/>
          </a:xfrm>
        </p:grpSpPr>
        <p:sp>
          <p:nvSpPr>
            <p:cNvPr id="58" name="ee4pContent1">
              <a:extLst>
                <a:ext uri="{FF2B5EF4-FFF2-40B4-BE49-F238E27FC236}">
                  <a16:creationId xmlns:a16="http://schemas.microsoft.com/office/drawing/2014/main" id="{E658ED84-4093-8D82-174B-9DF080E28ED3}"/>
                </a:ext>
              </a:extLst>
            </p:cNvPr>
            <p:cNvSpPr txBox="1"/>
            <p:nvPr/>
          </p:nvSpPr>
          <p:spPr>
            <a:xfrm>
              <a:off x="3383178" y="3506602"/>
              <a:ext cx="2837366" cy="1647289"/>
            </a:xfrm>
            <a:prstGeom prst="rect">
              <a:avLst/>
            </a:prstGeom>
            <a:solidFill>
              <a:schemeClr val="bg1">
                <a:lumMod val="95000"/>
              </a:schemeClr>
            </a:solidFill>
            <a:ln w="9525" cap="flat" cmpd="sng" algn="ctr">
              <a:solidFill>
                <a:schemeClr val="tx1">
                  <a:lumMod val="50000"/>
                  <a:lumOff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lnSpc>
                  <a:spcPct val="90000"/>
                </a:lnSpc>
                <a:spcAft>
                  <a:spcPts val="600"/>
                </a:spcAft>
              </a:pPr>
              <a:endParaRPr lang="en-US" b="1">
                <a:sym typeface="Trebuchet MS" panose="020B0603020202020204" pitchFamily="34" charset="0"/>
              </a:endParaRPr>
            </a:p>
          </p:txBody>
        </p:sp>
        <p:grpSp>
          <p:nvGrpSpPr>
            <p:cNvPr id="50" name="Group 49">
              <a:extLst>
                <a:ext uri="{FF2B5EF4-FFF2-40B4-BE49-F238E27FC236}">
                  <a16:creationId xmlns:a16="http://schemas.microsoft.com/office/drawing/2014/main" id="{E92D5A2E-CE4D-637B-5AD0-8DB8F8B0CD6E}"/>
                </a:ext>
              </a:extLst>
            </p:cNvPr>
            <p:cNvGrpSpPr/>
            <p:nvPr/>
          </p:nvGrpSpPr>
          <p:grpSpPr>
            <a:xfrm>
              <a:off x="3478222" y="4087717"/>
              <a:ext cx="2653284" cy="910966"/>
              <a:chOff x="3031057" y="3838340"/>
              <a:chExt cx="2653284" cy="910966"/>
            </a:xfrm>
          </p:grpSpPr>
          <p:sp>
            <p:nvSpPr>
              <p:cNvPr id="17" name="ee4pContent1">
                <a:extLst>
                  <a:ext uri="{FF2B5EF4-FFF2-40B4-BE49-F238E27FC236}">
                    <a16:creationId xmlns:a16="http://schemas.microsoft.com/office/drawing/2014/main" id="{11B041E2-D5D4-CB5E-A06A-3565305A9959}"/>
                  </a:ext>
                </a:extLst>
              </p:cNvPr>
              <p:cNvSpPr txBox="1"/>
              <p:nvPr/>
            </p:nvSpPr>
            <p:spPr>
              <a:xfrm>
                <a:off x="3031057" y="3838341"/>
                <a:ext cx="864654" cy="169277"/>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indent="-225000">
                  <a:spcAft>
                    <a:spcPts val="600"/>
                  </a:spcAft>
                  <a:buNone/>
                </a:pPr>
                <a:r>
                  <a:rPr lang="en-US" sz="1100" b="1" u="sng">
                    <a:solidFill>
                      <a:srgbClr val="49D6B7"/>
                    </a:solidFill>
                  </a:rPr>
                  <a:t>HIGH (100%)</a:t>
                </a:r>
                <a:endParaRPr lang="en-US" sz="1100" u="sng"/>
              </a:p>
            </p:txBody>
          </p:sp>
          <p:sp>
            <p:nvSpPr>
              <p:cNvPr id="18" name="ee4pContent1">
                <a:extLst>
                  <a:ext uri="{FF2B5EF4-FFF2-40B4-BE49-F238E27FC236}">
                    <a16:creationId xmlns:a16="http://schemas.microsoft.com/office/drawing/2014/main" id="{AA4D17EB-5138-7202-3E72-FF544193DB5B}"/>
                  </a:ext>
                </a:extLst>
              </p:cNvPr>
              <p:cNvSpPr txBox="1"/>
              <p:nvPr/>
            </p:nvSpPr>
            <p:spPr>
              <a:xfrm>
                <a:off x="3878754" y="3838340"/>
                <a:ext cx="1805587" cy="161583"/>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marL="297000" lvl="1" indent="-198000"/>
                <a:r>
                  <a:rPr lang="en-US" sz="1050"/>
                  <a:t>Full workflow coverage</a:t>
                </a:r>
              </a:p>
            </p:txBody>
          </p:sp>
          <p:sp>
            <p:nvSpPr>
              <p:cNvPr id="19" name="ee4pContent1">
                <a:extLst>
                  <a:ext uri="{FF2B5EF4-FFF2-40B4-BE49-F238E27FC236}">
                    <a16:creationId xmlns:a16="http://schemas.microsoft.com/office/drawing/2014/main" id="{328D915F-E644-0080-C7D3-B2BAA674CA79}"/>
                  </a:ext>
                </a:extLst>
              </p:cNvPr>
              <p:cNvSpPr txBox="1"/>
              <p:nvPr/>
            </p:nvSpPr>
            <p:spPr>
              <a:xfrm>
                <a:off x="3878755" y="4086852"/>
                <a:ext cx="1805586" cy="161583"/>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marL="297000" lvl="1" indent="-198000"/>
                <a:r>
                  <a:rPr lang="en-US" sz="1050"/>
                  <a:t>Moderate coverage</a:t>
                </a:r>
              </a:p>
            </p:txBody>
          </p:sp>
          <p:sp>
            <p:nvSpPr>
              <p:cNvPr id="20" name="ee4pContent1">
                <a:extLst>
                  <a:ext uri="{FF2B5EF4-FFF2-40B4-BE49-F238E27FC236}">
                    <a16:creationId xmlns:a16="http://schemas.microsoft.com/office/drawing/2014/main" id="{72808D01-80A5-611B-FEC7-CD8C80C9A92B}"/>
                  </a:ext>
                </a:extLst>
              </p:cNvPr>
              <p:cNvSpPr txBox="1"/>
              <p:nvPr/>
            </p:nvSpPr>
            <p:spPr>
              <a:xfrm>
                <a:off x="3031057" y="4083005"/>
                <a:ext cx="864654" cy="169277"/>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indent="-225000">
                  <a:spcAft>
                    <a:spcPts val="600"/>
                  </a:spcAft>
                  <a:buNone/>
                </a:pPr>
                <a:r>
                  <a:rPr lang="en-US" sz="1100" b="1" u="sng">
                    <a:solidFill>
                      <a:srgbClr val="E8B34A"/>
                    </a:solidFill>
                  </a:rPr>
                  <a:t>MED (66%)</a:t>
                </a:r>
                <a:endParaRPr lang="en-US" sz="1100" u="sng"/>
              </a:p>
            </p:txBody>
          </p:sp>
          <p:sp>
            <p:nvSpPr>
              <p:cNvPr id="21" name="ee4pContent1">
                <a:extLst>
                  <a:ext uri="{FF2B5EF4-FFF2-40B4-BE49-F238E27FC236}">
                    <a16:creationId xmlns:a16="http://schemas.microsoft.com/office/drawing/2014/main" id="{95AC77EC-A984-A990-11DB-23CB0E8C7F96}"/>
                  </a:ext>
                </a:extLst>
              </p:cNvPr>
              <p:cNvSpPr txBox="1"/>
              <p:nvPr/>
            </p:nvSpPr>
            <p:spPr>
              <a:xfrm>
                <a:off x="3031057" y="4331518"/>
                <a:ext cx="864653" cy="169277"/>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indent="-225000">
                  <a:spcAft>
                    <a:spcPts val="600"/>
                  </a:spcAft>
                  <a:buNone/>
                </a:pPr>
                <a:r>
                  <a:rPr lang="en-US" sz="1100" b="1" u="sng">
                    <a:solidFill>
                      <a:srgbClr val="C00000"/>
                    </a:solidFill>
                  </a:rPr>
                  <a:t>LOW (33%)</a:t>
                </a:r>
                <a:endParaRPr lang="en-US" sz="1100" u="sng">
                  <a:solidFill>
                    <a:srgbClr val="FF767C"/>
                  </a:solidFill>
                </a:endParaRPr>
              </a:p>
            </p:txBody>
          </p:sp>
          <p:cxnSp>
            <p:nvCxnSpPr>
              <p:cNvPr id="22" name="Straight Connector 21">
                <a:extLst>
                  <a:ext uri="{FF2B5EF4-FFF2-40B4-BE49-F238E27FC236}">
                    <a16:creationId xmlns:a16="http://schemas.microsoft.com/office/drawing/2014/main" id="{7D77FA8C-B416-26AD-7450-D58FF815ADDB}"/>
                  </a:ext>
                </a:extLst>
              </p:cNvPr>
              <p:cNvCxnSpPr/>
              <p:nvPr/>
            </p:nvCxnSpPr>
            <p:spPr>
              <a:xfrm>
                <a:off x="3042284" y="4291900"/>
                <a:ext cx="2642057" cy="0"/>
              </a:xfrm>
              <a:prstGeom prst="line">
                <a:avLst/>
              </a:prstGeom>
              <a:ln w="9525" cap="rnd" cmpd="sng" algn="ctr">
                <a:solidFill>
                  <a:srgbClr val="555555"/>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EC662F5-80D9-5001-4A5B-70F568EEA4F6}"/>
                  </a:ext>
                </a:extLst>
              </p:cNvPr>
              <p:cNvCxnSpPr/>
              <p:nvPr/>
            </p:nvCxnSpPr>
            <p:spPr>
              <a:xfrm>
                <a:off x="3042284" y="4043387"/>
                <a:ext cx="2642057" cy="0"/>
              </a:xfrm>
              <a:prstGeom prst="line">
                <a:avLst/>
              </a:prstGeom>
              <a:ln w="9525" cap="rnd" cmpd="sng" algn="ctr">
                <a:solidFill>
                  <a:srgbClr val="555555"/>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ee4pContent1">
                <a:extLst>
                  <a:ext uri="{FF2B5EF4-FFF2-40B4-BE49-F238E27FC236}">
                    <a16:creationId xmlns:a16="http://schemas.microsoft.com/office/drawing/2014/main" id="{E6C52C61-DEA2-C9A3-9A0B-F5BE25DBF8FD}"/>
                  </a:ext>
                </a:extLst>
              </p:cNvPr>
              <p:cNvSpPr txBox="1"/>
              <p:nvPr/>
            </p:nvSpPr>
            <p:spPr>
              <a:xfrm>
                <a:off x="3878755" y="4335365"/>
                <a:ext cx="1805586" cy="161583"/>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marL="297000" lvl="1" indent="-198000"/>
                <a:r>
                  <a:rPr lang="en-US" sz="1050"/>
                  <a:t>Minimal coverage</a:t>
                </a:r>
              </a:p>
            </p:txBody>
          </p:sp>
          <p:sp>
            <p:nvSpPr>
              <p:cNvPr id="33" name="ee4pContent1">
                <a:extLst>
                  <a:ext uri="{FF2B5EF4-FFF2-40B4-BE49-F238E27FC236}">
                    <a16:creationId xmlns:a16="http://schemas.microsoft.com/office/drawing/2014/main" id="{FA87E6EF-2F7E-A9F4-F16C-CBD63A00CE97}"/>
                  </a:ext>
                </a:extLst>
              </p:cNvPr>
              <p:cNvSpPr txBox="1"/>
              <p:nvPr/>
            </p:nvSpPr>
            <p:spPr>
              <a:xfrm>
                <a:off x="3031057" y="4580029"/>
                <a:ext cx="864653" cy="169277"/>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indent="-225000">
                  <a:spcAft>
                    <a:spcPts val="600"/>
                  </a:spcAft>
                  <a:buNone/>
                </a:pPr>
                <a:r>
                  <a:rPr lang="en-US" sz="1100" b="1" u="sng">
                    <a:solidFill>
                      <a:srgbClr val="8C9BA5"/>
                    </a:solidFill>
                  </a:rPr>
                  <a:t>NONE (0%)</a:t>
                </a:r>
                <a:endParaRPr lang="en-US" sz="1100" u="sng">
                  <a:solidFill>
                    <a:srgbClr val="8C9BA5"/>
                  </a:solidFill>
                </a:endParaRPr>
              </a:p>
            </p:txBody>
          </p:sp>
          <p:cxnSp>
            <p:nvCxnSpPr>
              <p:cNvPr id="34" name="Straight Connector 33">
                <a:extLst>
                  <a:ext uri="{FF2B5EF4-FFF2-40B4-BE49-F238E27FC236}">
                    <a16:creationId xmlns:a16="http://schemas.microsoft.com/office/drawing/2014/main" id="{5185B93D-A9B6-3F48-4C2D-40857984BC24}"/>
                  </a:ext>
                </a:extLst>
              </p:cNvPr>
              <p:cNvCxnSpPr/>
              <p:nvPr/>
            </p:nvCxnSpPr>
            <p:spPr>
              <a:xfrm>
                <a:off x="3042284" y="4540413"/>
                <a:ext cx="2642057" cy="0"/>
              </a:xfrm>
              <a:prstGeom prst="line">
                <a:avLst/>
              </a:prstGeom>
              <a:ln w="9525" cap="rnd" cmpd="sng" algn="ctr">
                <a:solidFill>
                  <a:srgbClr val="555555"/>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ee4pContent1">
                <a:extLst>
                  <a:ext uri="{FF2B5EF4-FFF2-40B4-BE49-F238E27FC236}">
                    <a16:creationId xmlns:a16="http://schemas.microsoft.com/office/drawing/2014/main" id="{F8EC9A21-6444-93BD-225A-84A0FEA550AA}"/>
                  </a:ext>
                </a:extLst>
              </p:cNvPr>
              <p:cNvSpPr txBox="1"/>
              <p:nvPr/>
            </p:nvSpPr>
            <p:spPr>
              <a:xfrm>
                <a:off x="3878755" y="4583876"/>
                <a:ext cx="1805586" cy="161583"/>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marL="297000" lvl="1" indent="-198000"/>
                <a:r>
                  <a:rPr lang="en-US" sz="1050"/>
                  <a:t>No coverage</a:t>
                </a:r>
              </a:p>
            </p:txBody>
          </p:sp>
        </p:grpSp>
        <p:sp>
          <p:nvSpPr>
            <p:cNvPr id="59" name="ee4pContent1">
              <a:extLst>
                <a:ext uri="{FF2B5EF4-FFF2-40B4-BE49-F238E27FC236}">
                  <a16:creationId xmlns:a16="http://schemas.microsoft.com/office/drawing/2014/main" id="{01549A30-08CB-40AA-472B-787650FCBEB2}"/>
                </a:ext>
              </a:extLst>
            </p:cNvPr>
            <p:cNvSpPr txBox="1"/>
            <p:nvPr/>
          </p:nvSpPr>
          <p:spPr>
            <a:xfrm>
              <a:off x="3607308" y="3554687"/>
              <a:ext cx="2389105" cy="265788"/>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100" b="1">
                  <a:solidFill>
                    <a:srgbClr val="0191FF"/>
                  </a:solidFill>
                </a:rPr>
                <a:t>H/M/L scale </a:t>
              </a:r>
            </a:p>
            <a:p>
              <a:pPr algn="ctr"/>
              <a:r>
                <a:rPr lang="en-US" sz="1000">
                  <a:solidFill>
                    <a:srgbClr val="0191FF"/>
                  </a:solidFill>
                </a:rPr>
                <a:t>(</a:t>
              </a:r>
              <a:r>
                <a:rPr lang="en-US" sz="1000" i="1">
                  <a:solidFill>
                    <a:srgbClr val="0191FF"/>
                  </a:solidFill>
                </a:rPr>
                <a:t>% weighting for automation index)</a:t>
              </a:r>
            </a:p>
          </p:txBody>
        </p:sp>
      </p:grpSp>
      <p:grpSp>
        <p:nvGrpSpPr>
          <p:cNvPr id="72" name="Group 71">
            <a:extLst>
              <a:ext uri="{FF2B5EF4-FFF2-40B4-BE49-F238E27FC236}">
                <a16:creationId xmlns:a16="http://schemas.microsoft.com/office/drawing/2014/main" id="{90B71128-07EB-94AA-F639-CEC5F06CAE15}"/>
              </a:ext>
            </a:extLst>
          </p:cNvPr>
          <p:cNvGrpSpPr/>
          <p:nvPr/>
        </p:nvGrpSpPr>
        <p:grpSpPr>
          <a:xfrm>
            <a:off x="6463377" y="3269098"/>
            <a:ext cx="3084634" cy="1647289"/>
            <a:chOff x="6545090" y="3506602"/>
            <a:chExt cx="3084634" cy="1647289"/>
          </a:xfrm>
        </p:grpSpPr>
        <p:sp>
          <p:nvSpPr>
            <p:cNvPr id="60" name="ee4pContent1">
              <a:extLst>
                <a:ext uri="{FF2B5EF4-FFF2-40B4-BE49-F238E27FC236}">
                  <a16:creationId xmlns:a16="http://schemas.microsoft.com/office/drawing/2014/main" id="{C5C20278-3B27-ECD3-0F05-E86FEBC1717C}"/>
                </a:ext>
              </a:extLst>
            </p:cNvPr>
            <p:cNvSpPr txBox="1"/>
            <p:nvPr/>
          </p:nvSpPr>
          <p:spPr>
            <a:xfrm>
              <a:off x="6545090" y="3506602"/>
              <a:ext cx="3084634" cy="1647289"/>
            </a:xfrm>
            <a:prstGeom prst="rect">
              <a:avLst/>
            </a:prstGeom>
            <a:solidFill>
              <a:schemeClr val="bg1">
                <a:lumMod val="95000"/>
              </a:schemeClr>
            </a:solidFill>
            <a:ln w="9525" cap="flat" cmpd="sng" algn="ctr">
              <a:solidFill>
                <a:schemeClr val="tx1">
                  <a:lumMod val="50000"/>
                  <a:lumOff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lnSpc>
                  <a:spcPct val="90000"/>
                </a:lnSpc>
                <a:spcAft>
                  <a:spcPts val="600"/>
                </a:spcAft>
              </a:pPr>
              <a:endParaRPr lang="en-US" b="1">
                <a:sym typeface="Trebuchet MS" panose="020B0603020202020204" pitchFamily="34" charset="0"/>
              </a:endParaRPr>
            </a:p>
          </p:txBody>
        </p:sp>
        <p:grpSp>
          <p:nvGrpSpPr>
            <p:cNvPr id="65" name="Group 64">
              <a:extLst>
                <a:ext uri="{FF2B5EF4-FFF2-40B4-BE49-F238E27FC236}">
                  <a16:creationId xmlns:a16="http://schemas.microsoft.com/office/drawing/2014/main" id="{4A05CBAD-7618-2B89-45A7-C12E93D4FF5E}"/>
                </a:ext>
              </a:extLst>
            </p:cNvPr>
            <p:cNvGrpSpPr/>
            <p:nvPr/>
          </p:nvGrpSpPr>
          <p:grpSpPr>
            <a:xfrm>
              <a:off x="6581825" y="3955994"/>
              <a:ext cx="3011165" cy="1099078"/>
              <a:chOff x="6581825" y="3920369"/>
              <a:chExt cx="3011165" cy="1099078"/>
            </a:xfrm>
          </p:grpSpPr>
          <p:sp>
            <p:nvSpPr>
              <p:cNvPr id="6" name="ee4pContent1">
                <a:extLst>
                  <a:ext uri="{FF2B5EF4-FFF2-40B4-BE49-F238E27FC236}">
                    <a16:creationId xmlns:a16="http://schemas.microsoft.com/office/drawing/2014/main" id="{8E039F74-6A5B-E17E-4FA0-8E754F2B971F}"/>
                  </a:ext>
                </a:extLst>
              </p:cNvPr>
              <p:cNvSpPr txBox="1"/>
              <p:nvPr/>
            </p:nvSpPr>
            <p:spPr>
              <a:xfrm>
                <a:off x="8809627" y="4411779"/>
                <a:ext cx="397770" cy="181536"/>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000" i="1"/>
                  <a:t>100%</a:t>
                </a:r>
              </a:p>
            </p:txBody>
          </p:sp>
          <p:sp>
            <p:nvSpPr>
              <p:cNvPr id="7" name="ee4pContent1">
                <a:extLst>
                  <a:ext uri="{FF2B5EF4-FFF2-40B4-BE49-F238E27FC236}">
                    <a16:creationId xmlns:a16="http://schemas.microsoft.com/office/drawing/2014/main" id="{47CA8481-FF52-EEC6-29DD-419DD2792AC2}"/>
                  </a:ext>
                </a:extLst>
              </p:cNvPr>
              <p:cNvSpPr txBox="1"/>
              <p:nvPr/>
            </p:nvSpPr>
            <p:spPr>
              <a:xfrm>
                <a:off x="6581825" y="4085969"/>
                <a:ext cx="378872" cy="350020"/>
              </a:xfrm>
              <a:prstGeom prst="rect">
                <a:avLst/>
              </a:prstGeom>
              <a:no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r"/>
                <a:r>
                  <a:rPr lang="en-US" sz="700" i="1"/>
                  <a:t>No </a:t>
                </a:r>
              </a:p>
              <a:p>
                <a:pPr algn="r"/>
                <a:r>
                  <a:rPr lang="en-US" sz="700" i="1"/>
                  <a:t>realized Impact</a:t>
                </a:r>
              </a:p>
            </p:txBody>
          </p:sp>
          <p:sp>
            <p:nvSpPr>
              <p:cNvPr id="8" name="ee4pContent1">
                <a:extLst>
                  <a:ext uri="{FF2B5EF4-FFF2-40B4-BE49-F238E27FC236}">
                    <a16:creationId xmlns:a16="http://schemas.microsoft.com/office/drawing/2014/main" id="{B18C9A6D-1BB0-B039-F752-CE6068CA2B34}"/>
                  </a:ext>
                </a:extLst>
              </p:cNvPr>
              <p:cNvSpPr txBox="1"/>
              <p:nvPr/>
            </p:nvSpPr>
            <p:spPr>
              <a:xfrm>
                <a:off x="9214119" y="4085969"/>
                <a:ext cx="378871" cy="350020"/>
              </a:xfrm>
              <a:prstGeom prst="rect">
                <a:avLst/>
              </a:prstGeom>
              <a:no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r>
                  <a:rPr lang="en-US" sz="700" i="1"/>
                  <a:t>Fully realized impact</a:t>
                </a:r>
              </a:p>
            </p:txBody>
          </p:sp>
          <p:sp>
            <p:nvSpPr>
              <p:cNvPr id="9" name="ee4pContent1">
                <a:extLst>
                  <a:ext uri="{FF2B5EF4-FFF2-40B4-BE49-F238E27FC236}">
                    <a16:creationId xmlns:a16="http://schemas.microsoft.com/office/drawing/2014/main" id="{2FAA698B-5AB0-61E0-69B9-10CD80B76DBE}"/>
                  </a:ext>
                </a:extLst>
              </p:cNvPr>
              <p:cNvSpPr txBox="1"/>
              <p:nvPr/>
            </p:nvSpPr>
            <p:spPr>
              <a:xfrm>
                <a:off x="7377530" y="4411779"/>
                <a:ext cx="397770" cy="181536"/>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000" i="1"/>
                  <a:t>25%</a:t>
                </a:r>
              </a:p>
            </p:txBody>
          </p:sp>
          <p:sp>
            <p:nvSpPr>
              <p:cNvPr id="10" name="ee4pContent1">
                <a:extLst>
                  <a:ext uri="{FF2B5EF4-FFF2-40B4-BE49-F238E27FC236}">
                    <a16:creationId xmlns:a16="http://schemas.microsoft.com/office/drawing/2014/main" id="{CC05C843-1DB1-5705-C0C1-5B3DCB14E1D2}"/>
                  </a:ext>
                </a:extLst>
              </p:cNvPr>
              <p:cNvSpPr txBox="1"/>
              <p:nvPr/>
            </p:nvSpPr>
            <p:spPr>
              <a:xfrm>
                <a:off x="7851984" y="4411779"/>
                <a:ext cx="397770" cy="181536"/>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000" i="1"/>
                  <a:t>50%</a:t>
                </a:r>
              </a:p>
            </p:txBody>
          </p:sp>
          <p:sp>
            <p:nvSpPr>
              <p:cNvPr id="11" name="ee4pContent1">
                <a:extLst>
                  <a:ext uri="{FF2B5EF4-FFF2-40B4-BE49-F238E27FC236}">
                    <a16:creationId xmlns:a16="http://schemas.microsoft.com/office/drawing/2014/main" id="{F94570D0-8D93-A440-9DE2-7D5A1E36183E}"/>
                  </a:ext>
                </a:extLst>
              </p:cNvPr>
              <p:cNvSpPr txBox="1"/>
              <p:nvPr/>
            </p:nvSpPr>
            <p:spPr>
              <a:xfrm>
                <a:off x="8876281" y="4108557"/>
                <a:ext cx="246984" cy="199690"/>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100" b="1"/>
                  <a:t>4</a:t>
                </a:r>
              </a:p>
            </p:txBody>
          </p:sp>
          <p:sp>
            <p:nvSpPr>
              <p:cNvPr id="12" name="ee4pContent1">
                <a:extLst>
                  <a:ext uri="{FF2B5EF4-FFF2-40B4-BE49-F238E27FC236}">
                    <a16:creationId xmlns:a16="http://schemas.microsoft.com/office/drawing/2014/main" id="{00432BF7-2AFD-F832-A984-A9C7070E15F5}"/>
                  </a:ext>
                </a:extLst>
              </p:cNvPr>
              <p:cNvSpPr txBox="1"/>
              <p:nvPr/>
            </p:nvSpPr>
            <p:spPr>
              <a:xfrm>
                <a:off x="7452925" y="4108557"/>
                <a:ext cx="246984" cy="199690"/>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100" b="1"/>
                  <a:t>1</a:t>
                </a:r>
              </a:p>
            </p:txBody>
          </p:sp>
          <p:sp>
            <p:nvSpPr>
              <p:cNvPr id="13" name="ee4pContent1">
                <a:extLst>
                  <a:ext uri="{FF2B5EF4-FFF2-40B4-BE49-F238E27FC236}">
                    <a16:creationId xmlns:a16="http://schemas.microsoft.com/office/drawing/2014/main" id="{537D85C3-2364-C948-21BE-C469B4D7D388}"/>
                  </a:ext>
                </a:extLst>
              </p:cNvPr>
              <p:cNvSpPr txBox="1"/>
              <p:nvPr/>
            </p:nvSpPr>
            <p:spPr>
              <a:xfrm>
                <a:off x="8401829" y="4108557"/>
                <a:ext cx="246984" cy="199690"/>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100" b="1"/>
                  <a:t>3</a:t>
                </a:r>
              </a:p>
            </p:txBody>
          </p:sp>
          <p:sp>
            <p:nvSpPr>
              <p:cNvPr id="14" name="ee4pContent1">
                <a:extLst>
                  <a:ext uri="{FF2B5EF4-FFF2-40B4-BE49-F238E27FC236}">
                    <a16:creationId xmlns:a16="http://schemas.microsoft.com/office/drawing/2014/main" id="{AA3721B6-3D71-0B5F-B727-4FA7C0A0C062}"/>
                  </a:ext>
                </a:extLst>
              </p:cNvPr>
              <p:cNvSpPr txBox="1"/>
              <p:nvPr/>
            </p:nvSpPr>
            <p:spPr>
              <a:xfrm>
                <a:off x="7552836" y="3920369"/>
                <a:ext cx="996068" cy="165033"/>
              </a:xfrm>
              <a:prstGeom prst="rect">
                <a:avLst/>
              </a:prstGeom>
              <a:no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000">
                    <a:solidFill>
                      <a:srgbClr val="0191FF"/>
                    </a:solidFill>
                  </a:rPr>
                  <a:t>Score</a:t>
                </a:r>
              </a:p>
            </p:txBody>
          </p:sp>
          <p:sp>
            <p:nvSpPr>
              <p:cNvPr id="15" name="ee4pContent1">
                <a:extLst>
                  <a:ext uri="{FF2B5EF4-FFF2-40B4-BE49-F238E27FC236}">
                    <a16:creationId xmlns:a16="http://schemas.microsoft.com/office/drawing/2014/main" id="{EC1D17CE-5427-1F3F-50DE-4B653D406AA4}"/>
                  </a:ext>
                </a:extLst>
              </p:cNvPr>
              <p:cNvSpPr txBox="1"/>
              <p:nvPr/>
            </p:nvSpPr>
            <p:spPr>
              <a:xfrm>
                <a:off x="6978470" y="4108557"/>
                <a:ext cx="246984" cy="199690"/>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100" b="1"/>
                  <a:t>0</a:t>
                </a:r>
              </a:p>
            </p:txBody>
          </p:sp>
          <p:sp>
            <p:nvSpPr>
              <p:cNvPr id="16" name="ee4pContent1">
                <a:extLst>
                  <a:ext uri="{FF2B5EF4-FFF2-40B4-BE49-F238E27FC236}">
                    <a16:creationId xmlns:a16="http://schemas.microsoft.com/office/drawing/2014/main" id="{5A0B59CB-D48A-18F5-E2EF-DF3D44BA0338}"/>
                  </a:ext>
                </a:extLst>
              </p:cNvPr>
              <p:cNvSpPr txBox="1"/>
              <p:nvPr/>
            </p:nvSpPr>
            <p:spPr>
              <a:xfrm>
                <a:off x="6903079" y="4411779"/>
                <a:ext cx="397770" cy="181536"/>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000" i="1"/>
                  <a:t>0%</a:t>
                </a:r>
              </a:p>
            </p:txBody>
          </p:sp>
          <p:sp>
            <p:nvSpPr>
              <p:cNvPr id="36" name="ee4pContent1">
                <a:extLst>
                  <a:ext uri="{FF2B5EF4-FFF2-40B4-BE49-F238E27FC236}">
                    <a16:creationId xmlns:a16="http://schemas.microsoft.com/office/drawing/2014/main" id="{2A716598-AED9-706A-2C53-AAC90C5C4606}"/>
                  </a:ext>
                </a:extLst>
              </p:cNvPr>
              <p:cNvSpPr txBox="1"/>
              <p:nvPr/>
            </p:nvSpPr>
            <p:spPr>
              <a:xfrm>
                <a:off x="7927377" y="4108557"/>
                <a:ext cx="246984" cy="199690"/>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100" b="1"/>
                  <a:t>2</a:t>
                </a:r>
              </a:p>
            </p:txBody>
          </p:sp>
          <p:cxnSp>
            <p:nvCxnSpPr>
              <p:cNvPr id="38" name="Straight Connector 37">
                <a:extLst>
                  <a:ext uri="{FF2B5EF4-FFF2-40B4-BE49-F238E27FC236}">
                    <a16:creationId xmlns:a16="http://schemas.microsoft.com/office/drawing/2014/main" id="{6B6FAF19-45B2-4648-E747-7678CC42D01E}"/>
                  </a:ext>
                </a:extLst>
              </p:cNvPr>
              <p:cNvCxnSpPr>
                <a:cxnSpLocks/>
              </p:cNvCxnSpPr>
              <p:nvPr/>
            </p:nvCxnSpPr>
            <p:spPr>
              <a:xfrm>
                <a:off x="7101964" y="4332890"/>
                <a:ext cx="1897811" cy="0"/>
              </a:xfrm>
              <a:prstGeom prst="line">
                <a:avLst/>
              </a:prstGeom>
              <a:ln w="28575" cap="rnd">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B2B30CB-8063-ACBF-09B9-FD925526799A}"/>
                  </a:ext>
                </a:extLst>
              </p:cNvPr>
              <p:cNvCxnSpPr/>
              <p:nvPr/>
            </p:nvCxnSpPr>
            <p:spPr>
              <a:xfrm>
                <a:off x="7101963" y="4295873"/>
                <a:ext cx="0" cy="74034"/>
              </a:xfrm>
              <a:prstGeom prst="line">
                <a:avLst/>
              </a:prstGeom>
              <a:ln w="28575" cap="rnd">
                <a:solidFill>
                  <a:srgbClr val="9A9A9A"/>
                </a:solidFill>
                <a:prstDash val="solid"/>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70DAF3E-D160-A294-3018-D1CEBC1175A7}"/>
                  </a:ext>
                </a:extLst>
              </p:cNvPr>
              <p:cNvCxnSpPr/>
              <p:nvPr/>
            </p:nvCxnSpPr>
            <p:spPr>
              <a:xfrm>
                <a:off x="7576417" y="4295873"/>
                <a:ext cx="0" cy="74034"/>
              </a:xfrm>
              <a:prstGeom prst="line">
                <a:avLst/>
              </a:prstGeom>
              <a:ln w="28575" cap="rnd">
                <a:solidFill>
                  <a:srgbClr val="9A9A9A"/>
                </a:solidFill>
                <a:prstDash val="solid"/>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9DBAF3D-EFDC-3A23-A915-98681FB4E86E}"/>
                  </a:ext>
                </a:extLst>
              </p:cNvPr>
              <p:cNvCxnSpPr/>
              <p:nvPr/>
            </p:nvCxnSpPr>
            <p:spPr>
              <a:xfrm>
                <a:off x="8999774" y="4295873"/>
                <a:ext cx="0" cy="74034"/>
              </a:xfrm>
              <a:prstGeom prst="line">
                <a:avLst/>
              </a:prstGeom>
              <a:ln w="28575" cap="rnd">
                <a:solidFill>
                  <a:srgbClr val="9A9A9A"/>
                </a:solidFill>
                <a:prstDash val="solid"/>
                <a:roun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2E36C64-0DD1-9689-8470-9DE62D13A736}"/>
                  </a:ext>
                </a:extLst>
              </p:cNvPr>
              <p:cNvCxnSpPr/>
              <p:nvPr/>
            </p:nvCxnSpPr>
            <p:spPr>
              <a:xfrm>
                <a:off x="8525322" y="4295873"/>
                <a:ext cx="0" cy="74034"/>
              </a:xfrm>
              <a:prstGeom prst="line">
                <a:avLst/>
              </a:prstGeom>
              <a:ln w="28575" cap="rnd">
                <a:solidFill>
                  <a:srgbClr val="9A9A9A"/>
                </a:solidFill>
                <a:prstDash val="solid"/>
                <a:roun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22E6CC3-CB75-CD60-5316-61128DCC05FE}"/>
                  </a:ext>
                </a:extLst>
              </p:cNvPr>
              <p:cNvCxnSpPr/>
              <p:nvPr/>
            </p:nvCxnSpPr>
            <p:spPr>
              <a:xfrm>
                <a:off x="8050869" y="4295873"/>
                <a:ext cx="0" cy="74034"/>
              </a:xfrm>
              <a:prstGeom prst="line">
                <a:avLst/>
              </a:prstGeom>
              <a:ln w="28575" cap="rnd">
                <a:solidFill>
                  <a:srgbClr val="9A9A9A"/>
                </a:solidFill>
                <a:prstDash val="solid"/>
                <a:round/>
              </a:ln>
            </p:spPr>
            <p:style>
              <a:lnRef idx="1">
                <a:schemeClr val="accent1"/>
              </a:lnRef>
              <a:fillRef idx="0">
                <a:schemeClr val="accent1"/>
              </a:fillRef>
              <a:effectRef idx="0">
                <a:schemeClr val="accent1"/>
              </a:effectRef>
              <a:fontRef idx="minor">
                <a:schemeClr val="tx1"/>
              </a:fontRef>
            </p:style>
          </p:cxnSp>
          <p:sp>
            <p:nvSpPr>
              <p:cNvPr id="44" name="ee4pContent1">
                <a:extLst>
                  <a:ext uri="{FF2B5EF4-FFF2-40B4-BE49-F238E27FC236}">
                    <a16:creationId xmlns:a16="http://schemas.microsoft.com/office/drawing/2014/main" id="{2429E6FF-EF48-36AC-9E94-B09AD7A26E14}"/>
                  </a:ext>
                </a:extLst>
              </p:cNvPr>
              <p:cNvSpPr txBox="1"/>
              <p:nvPr/>
            </p:nvSpPr>
            <p:spPr>
              <a:xfrm>
                <a:off x="8326437" y="4411779"/>
                <a:ext cx="397770" cy="181536"/>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000" i="1"/>
                  <a:t>75%</a:t>
                </a:r>
              </a:p>
            </p:txBody>
          </p:sp>
          <p:sp>
            <p:nvSpPr>
              <p:cNvPr id="62" name="ee4pContent1">
                <a:extLst>
                  <a:ext uri="{FF2B5EF4-FFF2-40B4-BE49-F238E27FC236}">
                    <a16:creationId xmlns:a16="http://schemas.microsoft.com/office/drawing/2014/main" id="{7B9F9840-95D2-7C08-456A-A6DB25342B44}"/>
                  </a:ext>
                </a:extLst>
              </p:cNvPr>
              <p:cNvSpPr txBox="1"/>
              <p:nvPr/>
            </p:nvSpPr>
            <p:spPr>
              <a:xfrm>
                <a:off x="7350426" y="4595923"/>
                <a:ext cx="451980" cy="423524"/>
              </a:xfrm>
              <a:prstGeom prst="rect">
                <a:avLst/>
              </a:prstGeom>
              <a:no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700" i="1"/>
                  <a:t>Low adoption/ efficiency gains</a:t>
                </a:r>
              </a:p>
            </p:txBody>
          </p:sp>
          <p:sp>
            <p:nvSpPr>
              <p:cNvPr id="63" name="ee4pContent1">
                <a:extLst>
                  <a:ext uri="{FF2B5EF4-FFF2-40B4-BE49-F238E27FC236}">
                    <a16:creationId xmlns:a16="http://schemas.microsoft.com/office/drawing/2014/main" id="{6FC6EC98-A0AD-173F-4478-BB15829CA973}"/>
                  </a:ext>
                </a:extLst>
              </p:cNvPr>
              <p:cNvSpPr txBox="1"/>
              <p:nvPr/>
            </p:nvSpPr>
            <p:spPr>
              <a:xfrm>
                <a:off x="7845423" y="4595923"/>
                <a:ext cx="410891" cy="423524"/>
              </a:xfrm>
              <a:prstGeom prst="rect">
                <a:avLst/>
              </a:prstGeom>
              <a:no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700" i="1"/>
                  <a:t>Moderate adoption/ efficiency gains</a:t>
                </a:r>
              </a:p>
            </p:txBody>
          </p:sp>
          <p:sp>
            <p:nvSpPr>
              <p:cNvPr id="64" name="ee4pContent1">
                <a:extLst>
                  <a:ext uri="{FF2B5EF4-FFF2-40B4-BE49-F238E27FC236}">
                    <a16:creationId xmlns:a16="http://schemas.microsoft.com/office/drawing/2014/main" id="{1A9D9718-4D7C-A3D0-419F-9052CC3B59DA}"/>
                  </a:ext>
                </a:extLst>
              </p:cNvPr>
              <p:cNvSpPr txBox="1"/>
              <p:nvPr/>
            </p:nvSpPr>
            <p:spPr>
              <a:xfrm>
                <a:off x="8319877" y="4595923"/>
                <a:ext cx="410891" cy="423524"/>
              </a:xfrm>
              <a:prstGeom prst="rect">
                <a:avLst/>
              </a:prstGeom>
              <a:no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700" i="1"/>
                  <a:t>High adoption/ efficiency gains</a:t>
                </a:r>
              </a:p>
            </p:txBody>
          </p:sp>
        </p:grpSp>
        <p:sp>
          <p:nvSpPr>
            <p:cNvPr id="61" name="ee4pContent1">
              <a:extLst>
                <a:ext uri="{FF2B5EF4-FFF2-40B4-BE49-F238E27FC236}">
                  <a16:creationId xmlns:a16="http://schemas.microsoft.com/office/drawing/2014/main" id="{2C7D3C1B-5D3D-EBD9-73C1-F4314A06FFE1}"/>
                </a:ext>
              </a:extLst>
            </p:cNvPr>
            <p:cNvSpPr txBox="1"/>
            <p:nvPr/>
          </p:nvSpPr>
          <p:spPr>
            <a:xfrm>
              <a:off x="6926374" y="3554687"/>
              <a:ext cx="2322068" cy="265788"/>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100" b="1">
                  <a:solidFill>
                    <a:srgbClr val="0191FF"/>
                  </a:solidFill>
                </a:rPr>
                <a:t> 0-4 Impact scale</a:t>
              </a:r>
            </a:p>
            <a:p>
              <a:pPr algn="ctr"/>
              <a:r>
                <a:rPr lang="en-US" sz="1000" i="1">
                  <a:solidFill>
                    <a:srgbClr val="0191FF"/>
                  </a:solidFill>
                </a:rPr>
                <a:t>(% weighting for automation index)</a:t>
              </a:r>
            </a:p>
          </p:txBody>
        </p:sp>
      </p:grpSp>
      <p:grpSp>
        <p:nvGrpSpPr>
          <p:cNvPr id="71" name="Group 70">
            <a:extLst>
              <a:ext uri="{FF2B5EF4-FFF2-40B4-BE49-F238E27FC236}">
                <a16:creationId xmlns:a16="http://schemas.microsoft.com/office/drawing/2014/main" id="{05CEFD7B-6594-FE97-529C-C0105EF3E095}"/>
              </a:ext>
            </a:extLst>
          </p:cNvPr>
          <p:cNvGrpSpPr/>
          <p:nvPr/>
        </p:nvGrpSpPr>
        <p:grpSpPr>
          <a:xfrm>
            <a:off x="9825989" y="3269098"/>
            <a:ext cx="1737360" cy="1647289"/>
            <a:chOff x="9825989" y="3506602"/>
            <a:chExt cx="1737360" cy="1647289"/>
          </a:xfrm>
        </p:grpSpPr>
        <p:sp>
          <p:nvSpPr>
            <p:cNvPr id="70" name="ee4pContent1">
              <a:extLst>
                <a:ext uri="{FF2B5EF4-FFF2-40B4-BE49-F238E27FC236}">
                  <a16:creationId xmlns:a16="http://schemas.microsoft.com/office/drawing/2014/main" id="{E5CB2366-4B11-B46D-4F6D-291ABC761A73}"/>
                </a:ext>
              </a:extLst>
            </p:cNvPr>
            <p:cNvSpPr txBox="1"/>
            <p:nvPr/>
          </p:nvSpPr>
          <p:spPr>
            <a:xfrm>
              <a:off x="9825989" y="3506602"/>
              <a:ext cx="1737360" cy="1647289"/>
            </a:xfrm>
            <a:prstGeom prst="rect">
              <a:avLst/>
            </a:prstGeom>
            <a:solidFill>
              <a:schemeClr val="bg1">
                <a:lumMod val="95000"/>
              </a:schemeClr>
            </a:solidFill>
            <a:ln w="9525" cap="flat" cmpd="sng" algn="ctr">
              <a:solidFill>
                <a:schemeClr val="tx1">
                  <a:lumMod val="50000"/>
                  <a:lumOff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lnSpc>
                  <a:spcPct val="90000"/>
                </a:lnSpc>
                <a:spcAft>
                  <a:spcPts val="600"/>
                </a:spcAft>
              </a:pPr>
              <a:endParaRPr lang="en-US" b="1">
                <a:sym typeface="Trebuchet MS" panose="020B0603020202020204" pitchFamily="34" charset="0"/>
              </a:endParaRPr>
            </a:p>
          </p:txBody>
        </p:sp>
        <p:grpSp>
          <p:nvGrpSpPr>
            <p:cNvPr id="52" name="Group 51">
              <a:extLst>
                <a:ext uri="{FF2B5EF4-FFF2-40B4-BE49-F238E27FC236}">
                  <a16:creationId xmlns:a16="http://schemas.microsoft.com/office/drawing/2014/main" id="{B17A11D8-2598-95A0-5F17-88F4D95B3ED4}"/>
                </a:ext>
              </a:extLst>
            </p:cNvPr>
            <p:cNvGrpSpPr/>
            <p:nvPr/>
          </p:nvGrpSpPr>
          <p:grpSpPr>
            <a:xfrm>
              <a:off x="9956147" y="3918489"/>
              <a:ext cx="1477046" cy="1033068"/>
              <a:chOff x="9882293" y="3645359"/>
              <a:chExt cx="1624751" cy="1033068"/>
            </a:xfrm>
          </p:grpSpPr>
          <p:sp>
            <p:nvSpPr>
              <p:cNvPr id="3" name="ee4pContent1">
                <a:extLst>
                  <a:ext uri="{FF2B5EF4-FFF2-40B4-BE49-F238E27FC236}">
                    <a16:creationId xmlns:a16="http://schemas.microsoft.com/office/drawing/2014/main" id="{342B0883-1CB8-4714-26C5-308F18899FA4}"/>
                  </a:ext>
                </a:extLst>
              </p:cNvPr>
              <p:cNvSpPr txBox="1"/>
              <p:nvPr/>
            </p:nvSpPr>
            <p:spPr>
              <a:xfrm>
                <a:off x="9882293" y="3645359"/>
                <a:ext cx="1624751" cy="371556"/>
              </a:xfrm>
              <a:prstGeom prst="rect">
                <a:avLst/>
              </a:prstGeom>
              <a:no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lnSpc>
                    <a:spcPct val="90000"/>
                  </a:lnSpc>
                  <a:spcAft>
                    <a:spcPts val="600"/>
                  </a:spcAft>
                </a:pPr>
                <a:r>
                  <a:rPr lang="en-US" sz="1100" b="1" u="sng" dirty="0">
                    <a:sym typeface="Trebuchet MS" panose="020B0603020202020204" pitchFamily="34" charset="0"/>
                  </a:rPr>
                  <a:t>0 </a:t>
                </a:r>
                <a:r>
                  <a:rPr lang="en-US" sz="1100" dirty="0">
                    <a:sym typeface="Trebuchet MS" panose="020B0603020202020204" pitchFamily="34" charset="0"/>
                  </a:rPr>
                  <a:t>= full automation potential realized</a:t>
                </a:r>
              </a:p>
            </p:txBody>
          </p:sp>
          <p:sp>
            <p:nvSpPr>
              <p:cNvPr id="4" name="ee4pContent1">
                <a:extLst>
                  <a:ext uri="{FF2B5EF4-FFF2-40B4-BE49-F238E27FC236}">
                    <a16:creationId xmlns:a16="http://schemas.microsoft.com/office/drawing/2014/main" id="{43E3B219-E73E-88C3-D2F6-9D630828EABB}"/>
                  </a:ext>
                </a:extLst>
              </p:cNvPr>
              <p:cNvSpPr txBox="1"/>
              <p:nvPr/>
            </p:nvSpPr>
            <p:spPr>
              <a:xfrm>
                <a:off x="9882294" y="4306871"/>
                <a:ext cx="1624750" cy="371556"/>
              </a:xfrm>
              <a:prstGeom prst="rect">
                <a:avLst/>
              </a:prstGeom>
              <a:no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lnSpc>
                    <a:spcPct val="90000"/>
                  </a:lnSpc>
                  <a:spcAft>
                    <a:spcPts val="600"/>
                  </a:spcAft>
                </a:pPr>
                <a:r>
                  <a:rPr lang="en-US" sz="1100" b="1" u="sng" dirty="0">
                    <a:sym typeface="Trebuchet MS" panose="020B0603020202020204" pitchFamily="34" charset="0"/>
                  </a:rPr>
                  <a:t>1 </a:t>
                </a:r>
                <a:r>
                  <a:rPr lang="en-US" sz="1100" dirty="0">
                    <a:sym typeface="Trebuchet MS" panose="020B0603020202020204" pitchFamily="34" charset="0"/>
                  </a:rPr>
                  <a:t>= no automation potential realized</a:t>
                </a:r>
              </a:p>
            </p:txBody>
          </p:sp>
          <p:cxnSp>
            <p:nvCxnSpPr>
              <p:cNvPr id="25" name="Straight Connector 24">
                <a:extLst>
                  <a:ext uri="{FF2B5EF4-FFF2-40B4-BE49-F238E27FC236}">
                    <a16:creationId xmlns:a16="http://schemas.microsoft.com/office/drawing/2014/main" id="{DF7AF066-C57D-3A98-015A-14F2558B934B}"/>
                  </a:ext>
                </a:extLst>
              </p:cNvPr>
              <p:cNvCxnSpPr/>
              <p:nvPr/>
            </p:nvCxnSpPr>
            <p:spPr>
              <a:xfrm>
                <a:off x="9882293" y="4161893"/>
                <a:ext cx="1624751" cy="0"/>
              </a:xfrm>
              <a:prstGeom prst="line">
                <a:avLst/>
              </a:prstGeom>
              <a:ln w="9525" cap="rnd" cmpd="sng" algn="ctr">
                <a:solidFill>
                  <a:srgbClr val="555555"/>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9" name="ee4pContent1">
              <a:extLst>
                <a:ext uri="{FF2B5EF4-FFF2-40B4-BE49-F238E27FC236}">
                  <a16:creationId xmlns:a16="http://schemas.microsoft.com/office/drawing/2014/main" id="{E4726E7A-8E9E-70EB-346D-7F1E6608B095}"/>
                </a:ext>
              </a:extLst>
            </p:cNvPr>
            <p:cNvSpPr txBox="1"/>
            <p:nvPr/>
          </p:nvSpPr>
          <p:spPr>
            <a:xfrm>
              <a:off x="9825989" y="3554687"/>
              <a:ext cx="1737360" cy="265788"/>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100" b="1" dirty="0">
                  <a:solidFill>
                    <a:srgbClr val="0191FF"/>
                  </a:solidFill>
                </a:rPr>
                <a:t>0-1 L3 </a:t>
              </a:r>
              <a:r>
                <a:rPr lang="en-US" sz="1100" b="1" dirty="0" err="1">
                  <a:solidFill>
                    <a:srgbClr val="0191FF"/>
                  </a:solidFill>
                </a:rPr>
                <a:t>EQs</a:t>
              </a:r>
              <a:r>
                <a:rPr lang="en-US" sz="1100" b="1" dirty="0">
                  <a:solidFill>
                    <a:srgbClr val="0191FF"/>
                  </a:solidFill>
                </a:rPr>
                <a:t> scale</a:t>
              </a:r>
            </a:p>
          </p:txBody>
        </p:sp>
      </p:grpSp>
      <p:sp>
        <p:nvSpPr>
          <p:cNvPr id="77" name="ee4pContent1">
            <a:extLst>
              <a:ext uri="{FF2B5EF4-FFF2-40B4-BE49-F238E27FC236}">
                <a16:creationId xmlns:a16="http://schemas.microsoft.com/office/drawing/2014/main" id="{F9650251-BB08-B132-28A4-A8E0B7A40E3E}"/>
              </a:ext>
            </a:extLst>
          </p:cNvPr>
          <p:cNvSpPr txBox="1"/>
          <p:nvPr/>
        </p:nvSpPr>
        <p:spPr>
          <a:xfrm>
            <a:off x="3348034" y="1507192"/>
            <a:ext cx="6199977" cy="472635"/>
          </a:xfrm>
          <a:prstGeom prst="round2DiagRect">
            <a:avLst/>
          </a:prstGeom>
          <a:solidFill>
            <a:srgbClr val="005696"/>
          </a:solidFill>
          <a:ln w="12700"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400" b="1">
                <a:solidFill>
                  <a:schemeClr val="bg1"/>
                </a:solidFill>
              </a:rPr>
              <a:t>Current level of </a:t>
            </a:r>
            <a:r>
              <a:rPr lang="en-US" sz="1400" b="1" err="1">
                <a:solidFill>
                  <a:schemeClr val="bg1"/>
                </a:solidFill>
              </a:rPr>
              <a:t>EIW</a:t>
            </a:r>
            <a:r>
              <a:rPr lang="en-US" sz="1400" b="1">
                <a:solidFill>
                  <a:schemeClr val="bg1"/>
                </a:solidFill>
              </a:rPr>
              <a:t> automation based on ongoing initiatives</a:t>
            </a:r>
          </a:p>
          <a:p>
            <a:pPr algn="ctr"/>
            <a:r>
              <a:rPr lang="en-US" sz="1100" b="1" i="1">
                <a:solidFill>
                  <a:schemeClr val="bg1"/>
                </a:solidFill>
              </a:rPr>
              <a:t>(Coverage * Impact)</a:t>
            </a:r>
          </a:p>
        </p:txBody>
      </p:sp>
      <p:sp>
        <p:nvSpPr>
          <p:cNvPr id="78" name="ee4pContent1">
            <a:extLst>
              <a:ext uri="{FF2B5EF4-FFF2-40B4-BE49-F238E27FC236}">
                <a16:creationId xmlns:a16="http://schemas.microsoft.com/office/drawing/2014/main" id="{C89BF9DE-2F02-CD7B-3981-D90C6D650262}"/>
              </a:ext>
            </a:extLst>
          </p:cNvPr>
          <p:cNvSpPr txBox="1"/>
          <p:nvPr/>
        </p:nvSpPr>
        <p:spPr>
          <a:xfrm>
            <a:off x="630000" y="1513455"/>
            <a:ext cx="2440057" cy="460109"/>
          </a:xfrm>
          <a:prstGeom prst="round2DiagRect">
            <a:avLst/>
          </a:prstGeom>
          <a:solidFill>
            <a:srgbClr val="005696"/>
          </a:solidFill>
          <a:ln w="12700"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400" b="1">
                <a:solidFill>
                  <a:schemeClr val="bg1"/>
                </a:solidFill>
              </a:rPr>
              <a:t>Automation potential</a:t>
            </a:r>
          </a:p>
        </p:txBody>
      </p:sp>
      <p:grpSp>
        <p:nvGrpSpPr>
          <p:cNvPr id="74" name="Group 73">
            <a:extLst>
              <a:ext uri="{FF2B5EF4-FFF2-40B4-BE49-F238E27FC236}">
                <a16:creationId xmlns:a16="http://schemas.microsoft.com/office/drawing/2014/main" id="{8E87EDC1-89DF-293A-107A-BD48ABBD376F}"/>
              </a:ext>
            </a:extLst>
          </p:cNvPr>
          <p:cNvGrpSpPr/>
          <p:nvPr/>
        </p:nvGrpSpPr>
        <p:grpSpPr>
          <a:xfrm>
            <a:off x="9547496" y="1604005"/>
            <a:ext cx="279009" cy="279009"/>
            <a:chOff x="9523943" y="1776614"/>
            <a:chExt cx="279009" cy="279009"/>
          </a:xfrm>
          <a:effectLst>
            <a:outerShdw blurRad="50800" dist="38100" dir="2700000" algn="tl" rotWithShape="0">
              <a:prstClr val="black">
                <a:alpha val="40000"/>
              </a:prstClr>
            </a:outerShdw>
          </a:effectLst>
        </p:grpSpPr>
        <p:sp>
          <p:nvSpPr>
            <p:cNvPr id="75" name="Oval 8">
              <a:extLst>
                <a:ext uri="{FF2B5EF4-FFF2-40B4-BE49-F238E27FC236}">
                  <a16:creationId xmlns:a16="http://schemas.microsoft.com/office/drawing/2014/main" id="{D50AA4BA-1513-F954-3D07-CB87547B1576}"/>
                </a:ext>
              </a:extLst>
            </p:cNvPr>
            <p:cNvSpPr>
              <a:spLocks noChangeArrowheads="1"/>
            </p:cNvSpPr>
            <p:nvPr/>
          </p:nvSpPr>
          <p:spPr bwMode="auto">
            <a:xfrm>
              <a:off x="9523943" y="1776614"/>
              <a:ext cx="279009" cy="279009"/>
            </a:xfrm>
            <a:prstGeom prst="ellipse">
              <a:avLst/>
            </a:prstGeom>
            <a:solidFill>
              <a:schemeClr val="accent1"/>
            </a:solidFill>
            <a:ln w="19050">
              <a:solidFill>
                <a:schemeClr val="bg1"/>
              </a:solid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6" name="Freeform 9">
              <a:extLst>
                <a:ext uri="{FF2B5EF4-FFF2-40B4-BE49-F238E27FC236}">
                  <a16:creationId xmlns:a16="http://schemas.microsoft.com/office/drawing/2014/main" id="{175B5D9C-63B0-1DD7-0B67-55C923444512}"/>
                </a:ext>
              </a:extLst>
            </p:cNvPr>
            <p:cNvSpPr>
              <a:spLocks noEditPoints="1"/>
            </p:cNvSpPr>
            <p:nvPr/>
          </p:nvSpPr>
          <p:spPr bwMode="auto">
            <a:xfrm>
              <a:off x="9587950" y="1881653"/>
              <a:ext cx="150993" cy="68932"/>
            </a:xfrm>
            <a:custGeom>
              <a:avLst/>
              <a:gdLst>
                <a:gd name="T0" fmla="*/ 0 w 92"/>
                <a:gd name="T1" fmla="*/ 33 h 42"/>
                <a:gd name="T2" fmla="*/ 92 w 92"/>
                <a:gd name="T3" fmla="*/ 33 h 42"/>
                <a:gd name="T4" fmla="*/ 92 w 92"/>
                <a:gd name="T5" fmla="*/ 42 h 42"/>
                <a:gd name="T6" fmla="*/ 0 w 92"/>
                <a:gd name="T7" fmla="*/ 42 h 42"/>
                <a:gd name="T8" fmla="*/ 0 w 92"/>
                <a:gd name="T9" fmla="*/ 33 h 42"/>
                <a:gd name="T10" fmla="*/ 0 w 92"/>
                <a:gd name="T11" fmla="*/ 9 h 42"/>
                <a:gd name="T12" fmla="*/ 92 w 92"/>
                <a:gd name="T13" fmla="*/ 9 h 42"/>
                <a:gd name="T14" fmla="*/ 92 w 92"/>
                <a:gd name="T15" fmla="*/ 0 h 42"/>
                <a:gd name="T16" fmla="*/ 0 w 92"/>
                <a:gd name="T17" fmla="*/ 0 h 42"/>
                <a:gd name="T18" fmla="*/ 0 w 92"/>
                <a:gd name="T19"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42">
                  <a:moveTo>
                    <a:pt x="0" y="33"/>
                  </a:moveTo>
                  <a:lnTo>
                    <a:pt x="92" y="33"/>
                  </a:lnTo>
                  <a:lnTo>
                    <a:pt x="92" y="42"/>
                  </a:lnTo>
                  <a:lnTo>
                    <a:pt x="0" y="42"/>
                  </a:lnTo>
                  <a:lnTo>
                    <a:pt x="0" y="33"/>
                  </a:lnTo>
                  <a:close/>
                  <a:moveTo>
                    <a:pt x="0" y="9"/>
                  </a:moveTo>
                  <a:lnTo>
                    <a:pt x="92" y="9"/>
                  </a:lnTo>
                  <a:lnTo>
                    <a:pt x="92" y="0"/>
                  </a:lnTo>
                  <a:lnTo>
                    <a:pt x="0" y="0"/>
                  </a:lnTo>
                  <a:lnTo>
                    <a:pt x="0" y="9"/>
                  </a:lnTo>
                  <a:close/>
                </a:path>
              </a:pathLst>
            </a:custGeom>
            <a:solidFill>
              <a:srgbClr val="FFFFFF">
                <a:lumMod val="100000"/>
              </a:srgbClr>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79" name="Group 78">
            <a:extLst>
              <a:ext uri="{FF2B5EF4-FFF2-40B4-BE49-F238E27FC236}">
                <a16:creationId xmlns:a16="http://schemas.microsoft.com/office/drawing/2014/main" id="{64D56143-CFBD-13BA-824A-5B6EBEF7F03D}"/>
              </a:ext>
            </a:extLst>
          </p:cNvPr>
          <p:cNvGrpSpPr/>
          <p:nvPr/>
        </p:nvGrpSpPr>
        <p:grpSpPr>
          <a:xfrm>
            <a:off x="3069541" y="1604005"/>
            <a:ext cx="279009" cy="279009"/>
            <a:chOff x="5942545" y="3294062"/>
            <a:chExt cx="306910" cy="306910"/>
          </a:xfrm>
          <a:effectLst>
            <a:outerShdw blurRad="50800" dist="38100" dir="2700000" algn="tl" rotWithShape="0">
              <a:prstClr val="black">
                <a:alpha val="40000"/>
              </a:prstClr>
            </a:outerShdw>
          </a:effectLst>
        </p:grpSpPr>
        <p:sp>
          <p:nvSpPr>
            <p:cNvPr id="80" name="Oval 10">
              <a:extLst>
                <a:ext uri="{FF2B5EF4-FFF2-40B4-BE49-F238E27FC236}">
                  <a16:creationId xmlns:a16="http://schemas.microsoft.com/office/drawing/2014/main" id="{B48822AC-96EA-4F47-A94A-1F2E1F7A2D79}"/>
                </a:ext>
              </a:extLst>
            </p:cNvPr>
            <p:cNvSpPr>
              <a:spLocks noChangeArrowheads="1"/>
            </p:cNvSpPr>
            <p:nvPr/>
          </p:nvSpPr>
          <p:spPr bwMode="auto">
            <a:xfrm>
              <a:off x="5942545" y="3294062"/>
              <a:ext cx="306910" cy="306910"/>
            </a:xfrm>
            <a:prstGeom prst="ellipse">
              <a:avLst/>
            </a:prstGeom>
            <a:solidFill>
              <a:srgbClr val="002E50"/>
            </a:solidFill>
            <a:ln w="19050">
              <a:solidFill>
                <a:schemeClr val="bg1"/>
              </a:solid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1" name="Rectangle 11">
              <a:extLst>
                <a:ext uri="{FF2B5EF4-FFF2-40B4-BE49-F238E27FC236}">
                  <a16:creationId xmlns:a16="http://schemas.microsoft.com/office/drawing/2014/main" id="{658C6B81-034C-495E-5E7B-4A5E8E306C3D}"/>
                </a:ext>
              </a:extLst>
            </p:cNvPr>
            <p:cNvSpPr>
              <a:spLocks noChangeArrowheads="1"/>
            </p:cNvSpPr>
            <p:nvPr/>
          </p:nvSpPr>
          <p:spPr bwMode="auto">
            <a:xfrm>
              <a:off x="6012953" y="3438490"/>
              <a:ext cx="166092" cy="19858"/>
            </a:xfrm>
            <a:prstGeom prst="rect">
              <a:avLst/>
            </a:prstGeom>
            <a:solidFill>
              <a:srgbClr val="FFFFFF">
                <a:lumMod val="100000"/>
              </a:srgbClr>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83" name="ee4pContent1">
            <a:extLst>
              <a:ext uri="{FF2B5EF4-FFF2-40B4-BE49-F238E27FC236}">
                <a16:creationId xmlns:a16="http://schemas.microsoft.com/office/drawing/2014/main" id="{B458F176-3721-A2E3-845B-3DF9FBB98C78}"/>
              </a:ext>
            </a:extLst>
          </p:cNvPr>
          <p:cNvSpPr txBox="1"/>
          <p:nvPr/>
        </p:nvSpPr>
        <p:spPr>
          <a:xfrm>
            <a:off x="3348034" y="2462950"/>
            <a:ext cx="2837366" cy="714857"/>
          </a:xfrm>
          <a:prstGeom prst="rect">
            <a:avLst/>
          </a:prstGeom>
          <a:solidFill>
            <a:schemeClr val="bg1">
              <a:lumMod val="95000"/>
            </a:schemeClr>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100"/>
              <a:t>Assesses current % of EIW L3 workflow covered by ongoing automation initiatives</a:t>
            </a:r>
          </a:p>
        </p:txBody>
      </p:sp>
      <p:sp>
        <p:nvSpPr>
          <p:cNvPr id="84" name="ee4pContent1">
            <a:extLst>
              <a:ext uri="{FF2B5EF4-FFF2-40B4-BE49-F238E27FC236}">
                <a16:creationId xmlns:a16="http://schemas.microsoft.com/office/drawing/2014/main" id="{E24AC1D5-1263-C13B-A1B7-3C9923065DAC}"/>
              </a:ext>
            </a:extLst>
          </p:cNvPr>
          <p:cNvSpPr txBox="1"/>
          <p:nvPr/>
        </p:nvSpPr>
        <p:spPr>
          <a:xfrm>
            <a:off x="6463378" y="2462950"/>
            <a:ext cx="3084634" cy="714857"/>
          </a:xfrm>
          <a:prstGeom prst="rect">
            <a:avLst/>
          </a:prstGeom>
          <a:solidFill>
            <a:schemeClr val="bg1">
              <a:lumMod val="95000"/>
            </a:schemeClr>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100"/>
              <a:t>Evaluates degree of transformation within each EIW L3 that is enabled by ongoing automation initiatives</a:t>
            </a:r>
          </a:p>
        </p:txBody>
      </p:sp>
      <p:sp>
        <p:nvSpPr>
          <p:cNvPr id="85" name="ee4pContent1">
            <a:extLst>
              <a:ext uri="{FF2B5EF4-FFF2-40B4-BE49-F238E27FC236}">
                <a16:creationId xmlns:a16="http://schemas.microsoft.com/office/drawing/2014/main" id="{589202C7-1AD6-834C-926B-D0E9C97EABCF}"/>
              </a:ext>
            </a:extLst>
          </p:cNvPr>
          <p:cNvSpPr txBox="1"/>
          <p:nvPr/>
        </p:nvSpPr>
        <p:spPr>
          <a:xfrm>
            <a:off x="3348034" y="2098317"/>
            <a:ext cx="2837366" cy="347279"/>
          </a:xfrm>
          <a:prstGeom prst="round2DiagRect">
            <a:avLst/>
          </a:prstGeom>
          <a:solidFill>
            <a:srgbClr val="002E50"/>
          </a:solidFill>
          <a:ln w="19050"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400" b="1">
                <a:solidFill>
                  <a:schemeClr val="bg1"/>
                </a:solidFill>
              </a:rPr>
              <a:t>Coverage</a:t>
            </a:r>
          </a:p>
        </p:txBody>
      </p:sp>
      <p:sp>
        <p:nvSpPr>
          <p:cNvPr id="86" name="ee4pContent1">
            <a:extLst>
              <a:ext uri="{FF2B5EF4-FFF2-40B4-BE49-F238E27FC236}">
                <a16:creationId xmlns:a16="http://schemas.microsoft.com/office/drawing/2014/main" id="{B2B7CCED-8F02-F7BF-B88F-B1C7D7064EFA}"/>
              </a:ext>
            </a:extLst>
          </p:cNvPr>
          <p:cNvSpPr txBox="1"/>
          <p:nvPr/>
        </p:nvSpPr>
        <p:spPr>
          <a:xfrm>
            <a:off x="6463378" y="2098317"/>
            <a:ext cx="3084634" cy="347279"/>
          </a:xfrm>
          <a:prstGeom prst="round2DiagRect">
            <a:avLst/>
          </a:prstGeom>
          <a:solidFill>
            <a:srgbClr val="002E50"/>
          </a:solidFill>
          <a:ln w="19050"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400" b="1">
                <a:solidFill>
                  <a:schemeClr val="bg1"/>
                </a:solidFill>
              </a:rPr>
              <a:t>Impact</a:t>
            </a:r>
          </a:p>
        </p:txBody>
      </p:sp>
      <p:grpSp>
        <p:nvGrpSpPr>
          <p:cNvPr id="87" name="Group 86">
            <a:extLst>
              <a:ext uri="{FF2B5EF4-FFF2-40B4-BE49-F238E27FC236}">
                <a16:creationId xmlns:a16="http://schemas.microsoft.com/office/drawing/2014/main" id="{8F91F6E5-8551-EC59-3DEB-15FB15F463B7}"/>
              </a:ext>
            </a:extLst>
          </p:cNvPr>
          <p:cNvGrpSpPr/>
          <p:nvPr/>
        </p:nvGrpSpPr>
        <p:grpSpPr>
          <a:xfrm>
            <a:off x="6184884" y="2132451"/>
            <a:ext cx="279010" cy="279010"/>
            <a:chOff x="3989981" y="2360342"/>
            <a:chExt cx="279010" cy="279010"/>
          </a:xfrm>
          <a:effectLst>
            <a:outerShdw blurRad="50800" dist="38100" dir="2700000" algn="tl" rotWithShape="0">
              <a:prstClr val="black">
                <a:alpha val="40000"/>
              </a:prstClr>
            </a:outerShdw>
          </a:effectLst>
        </p:grpSpPr>
        <p:sp>
          <p:nvSpPr>
            <p:cNvPr id="88" name="Oval 18">
              <a:extLst>
                <a:ext uri="{FF2B5EF4-FFF2-40B4-BE49-F238E27FC236}">
                  <a16:creationId xmlns:a16="http://schemas.microsoft.com/office/drawing/2014/main" id="{D56D4AC1-CA27-2765-CAA9-ACDC409DF6B6}"/>
                </a:ext>
              </a:extLst>
            </p:cNvPr>
            <p:cNvSpPr>
              <a:spLocks noChangeArrowheads="1"/>
            </p:cNvSpPr>
            <p:nvPr/>
          </p:nvSpPr>
          <p:spPr bwMode="auto">
            <a:xfrm>
              <a:off x="3989981" y="2360342"/>
              <a:ext cx="279010" cy="279010"/>
            </a:xfrm>
            <a:prstGeom prst="ellipse">
              <a:avLst/>
            </a:prstGeom>
            <a:solidFill>
              <a:srgbClr val="002E50"/>
            </a:solidFill>
            <a:ln w="19050">
              <a:solidFill>
                <a:schemeClr val="bg1"/>
              </a:solid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9" name="Freeform 19">
              <a:extLst>
                <a:ext uri="{FF2B5EF4-FFF2-40B4-BE49-F238E27FC236}">
                  <a16:creationId xmlns:a16="http://schemas.microsoft.com/office/drawing/2014/main" id="{12D63FA4-A724-3209-5D3A-80A701B11677}"/>
                </a:ext>
              </a:extLst>
            </p:cNvPr>
            <p:cNvSpPr>
              <a:spLocks/>
            </p:cNvSpPr>
            <p:nvPr/>
          </p:nvSpPr>
          <p:spPr bwMode="auto">
            <a:xfrm>
              <a:off x="4072043" y="2442404"/>
              <a:ext cx="114886" cy="114886"/>
            </a:xfrm>
            <a:custGeom>
              <a:avLst/>
              <a:gdLst>
                <a:gd name="T0" fmla="*/ 63 w 70"/>
                <a:gd name="T1" fmla="*/ 0 h 70"/>
                <a:gd name="T2" fmla="*/ 35 w 70"/>
                <a:gd name="T3" fmla="*/ 29 h 70"/>
                <a:gd name="T4" fmla="*/ 6 w 70"/>
                <a:gd name="T5" fmla="*/ 0 h 70"/>
                <a:gd name="T6" fmla="*/ 0 w 70"/>
                <a:gd name="T7" fmla="*/ 6 h 70"/>
                <a:gd name="T8" fmla="*/ 28 w 70"/>
                <a:gd name="T9" fmla="*/ 35 h 70"/>
                <a:gd name="T10" fmla="*/ 0 w 70"/>
                <a:gd name="T11" fmla="*/ 63 h 70"/>
                <a:gd name="T12" fmla="*/ 6 w 70"/>
                <a:gd name="T13" fmla="*/ 70 h 70"/>
                <a:gd name="T14" fmla="*/ 35 w 70"/>
                <a:gd name="T15" fmla="*/ 41 h 70"/>
                <a:gd name="T16" fmla="*/ 63 w 70"/>
                <a:gd name="T17" fmla="*/ 70 h 70"/>
                <a:gd name="T18" fmla="*/ 70 w 70"/>
                <a:gd name="T19" fmla="*/ 63 h 70"/>
                <a:gd name="T20" fmla="*/ 41 w 70"/>
                <a:gd name="T21" fmla="*/ 35 h 70"/>
                <a:gd name="T22" fmla="*/ 70 w 70"/>
                <a:gd name="T23" fmla="*/ 6 h 70"/>
                <a:gd name="T24" fmla="*/ 63 w 70"/>
                <a:gd name="T25"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0">
                  <a:moveTo>
                    <a:pt x="63" y="0"/>
                  </a:moveTo>
                  <a:lnTo>
                    <a:pt x="35" y="29"/>
                  </a:lnTo>
                  <a:lnTo>
                    <a:pt x="6" y="0"/>
                  </a:lnTo>
                  <a:lnTo>
                    <a:pt x="0" y="6"/>
                  </a:lnTo>
                  <a:lnTo>
                    <a:pt x="28" y="35"/>
                  </a:lnTo>
                  <a:lnTo>
                    <a:pt x="0" y="63"/>
                  </a:lnTo>
                  <a:lnTo>
                    <a:pt x="6" y="70"/>
                  </a:lnTo>
                  <a:lnTo>
                    <a:pt x="35" y="41"/>
                  </a:lnTo>
                  <a:lnTo>
                    <a:pt x="63" y="70"/>
                  </a:lnTo>
                  <a:lnTo>
                    <a:pt x="70" y="63"/>
                  </a:lnTo>
                  <a:lnTo>
                    <a:pt x="41" y="35"/>
                  </a:lnTo>
                  <a:lnTo>
                    <a:pt x="70" y="6"/>
                  </a:lnTo>
                  <a:lnTo>
                    <a:pt x="63" y="0"/>
                  </a:lnTo>
                  <a:close/>
                </a:path>
              </a:pathLst>
            </a:custGeom>
            <a:solidFill>
              <a:srgbClr val="FFFFFF">
                <a:lumMod val="100000"/>
              </a:srgbClr>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97" name="ee4pContent1">
            <a:extLst>
              <a:ext uri="{FF2B5EF4-FFF2-40B4-BE49-F238E27FC236}">
                <a16:creationId xmlns:a16="http://schemas.microsoft.com/office/drawing/2014/main" id="{F1111537-BE73-1D6C-8636-652801EDD18B}"/>
              </a:ext>
            </a:extLst>
          </p:cNvPr>
          <p:cNvSpPr txBox="1"/>
          <p:nvPr/>
        </p:nvSpPr>
        <p:spPr>
          <a:xfrm>
            <a:off x="630000" y="5082261"/>
            <a:ext cx="10933350" cy="1297172"/>
          </a:xfrm>
          <a:prstGeom prst="rect">
            <a:avLst/>
          </a:prstGeom>
          <a:solidFill>
            <a:schemeClr val="tx2">
              <a:lumMod val="20000"/>
              <a:lumOff val="80000"/>
            </a:schemeClr>
          </a:solidFill>
          <a:ln w="9525" cap="flat" cmpd="sng" algn="ctr">
            <a:solidFill>
              <a:schemeClr val="tx1">
                <a:lumMod val="50000"/>
                <a:lumOff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endParaRPr lang="en-US"/>
          </a:p>
        </p:txBody>
      </p:sp>
      <p:sp>
        <p:nvSpPr>
          <p:cNvPr id="98" name="TextBox 97">
            <a:extLst>
              <a:ext uri="{FF2B5EF4-FFF2-40B4-BE49-F238E27FC236}">
                <a16:creationId xmlns:a16="http://schemas.microsoft.com/office/drawing/2014/main" id="{09561AFA-1783-BA38-34EE-BC30D195FA71}"/>
              </a:ext>
            </a:extLst>
          </p:cNvPr>
          <p:cNvSpPr txBox="1"/>
          <p:nvPr/>
        </p:nvSpPr>
        <p:spPr>
          <a:xfrm rot="16200000">
            <a:off x="-202679" y="5621570"/>
            <a:ext cx="1297172" cy="218555"/>
          </a:xfrm>
          <a:prstGeom prst="round2SameRect">
            <a:avLst/>
          </a:prstGeom>
          <a:solidFill>
            <a:srgbClr val="0191FF"/>
          </a:solidFill>
          <a:ln w="9525" cap="rnd" cmpd="sng" algn="ctr">
            <a:solidFill>
              <a:srgbClr val="0191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rgbClr val="FFFFFF"/>
                </a:solidFill>
              </a:rPr>
              <a:t>Example</a:t>
            </a:r>
          </a:p>
        </p:txBody>
      </p:sp>
      <p:sp>
        <p:nvSpPr>
          <p:cNvPr id="99" name="TextBox 98">
            <a:extLst>
              <a:ext uri="{FF2B5EF4-FFF2-40B4-BE49-F238E27FC236}">
                <a16:creationId xmlns:a16="http://schemas.microsoft.com/office/drawing/2014/main" id="{10B4B5DE-2326-AE59-82FF-ED8F773F9FBF}"/>
              </a:ext>
            </a:extLst>
          </p:cNvPr>
          <p:cNvSpPr txBox="1"/>
          <p:nvPr/>
        </p:nvSpPr>
        <p:spPr>
          <a:xfrm>
            <a:off x="3607947" y="5291505"/>
            <a:ext cx="2187376" cy="251884"/>
          </a:xfrm>
          <a:prstGeom prst="rect">
            <a:avLst/>
          </a:prstGeom>
          <a:solidFill>
            <a:schemeClr val="bg1"/>
          </a:solidFill>
          <a:ln w="19050" cap="rnd">
            <a:solidFill>
              <a:schemeClr val="accent2"/>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accent2"/>
                </a:solidFill>
              </a:rPr>
              <a:t>0.66</a:t>
            </a:r>
            <a:endParaRPr lang="en-US" sz="1200" u="sng">
              <a:solidFill>
                <a:schemeClr val="accent2"/>
              </a:solidFill>
            </a:endParaRPr>
          </a:p>
        </p:txBody>
      </p:sp>
      <p:sp>
        <p:nvSpPr>
          <p:cNvPr id="100" name="TextBox 99">
            <a:extLst>
              <a:ext uri="{FF2B5EF4-FFF2-40B4-BE49-F238E27FC236}">
                <a16:creationId xmlns:a16="http://schemas.microsoft.com/office/drawing/2014/main" id="{65879C3A-7AF0-A052-9BCC-D228D3249287}"/>
              </a:ext>
            </a:extLst>
          </p:cNvPr>
          <p:cNvSpPr txBox="1"/>
          <p:nvPr/>
        </p:nvSpPr>
        <p:spPr>
          <a:xfrm>
            <a:off x="7059033" y="5291505"/>
            <a:ext cx="1970171" cy="251884"/>
          </a:xfrm>
          <a:prstGeom prst="rect">
            <a:avLst/>
          </a:prstGeom>
          <a:solidFill>
            <a:schemeClr val="bg1"/>
          </a:solidFill>
          <a:ln w="19050" cap="rnd">
            <a:solidFill>
              <a:schemeClr val="accent2"/>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accent2"/>
                </a:solidFill>
              </a:rPr>
              <a:t>0.5</a:t>
            </a:r>
          </a:p>
        </p:txBody>
      </p:sp>
      <p:sp>
        <p:nvSpPr>
          <p:cNvPr id="101" name="TextBox 100">
            <a:extLst>
              <a:ext uri="{FF2B5EF4-FFF2-40B4-BE49-F238E27FC236}">
                <a16:creationId xmlns:a16="http://schemas.microsoft.com/office/drawing/2014/main" id="{4CAC5124-70AB-8438-2D77-6F6A520041CE}"/>
              </a:ext>
            </a:extLst>
          </p:cNvPr>
          <p:cNvSpPr txBox="1"/>
          <p:nvPr/>
        </p:nvSpPr>
        <p:spPr>
          <a:xfrm>
            <a:off x="10133437" y="5265058"/>
            <a:ext cx="1122469" cy="304779"/>
          </a:xfrm>
          <a:prstGeom prst="rect">
            <a:avLst/>
          </a:prstGeom>
          <a:solidFill>
            <a:schemeClr val="bg1"/>
          </a:solidFill>
          <a:ln w="19050" cap="rnd" cmpd="sng" algn="ctr">
            <a:solidFill>
              <a:srgbClr val="0191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dirty="0">
                <a:solidFill>
                  <a:srgbClr val="0191FF"/>
                </a:solidFill>
              </a:rPr>
              <a:t>.33 L3 </a:t>
            </a:r>
            <a:r>
              <a:rPr lang="en-US" sz="1200" b="1" dirty="0" err="1">
                <a:solidFill>
                  <a:srgbClr val="0191FF"/>
                </a:solidFill>
              </a:rPr>
              <a:t>EQs</a:t>
            </a:r>
            <a:endParaRPr lang="en-US" sz="1200" b="1" dirty="0">
              <a:solidFill>
                <a:srgbClr val="0191FF"/>
              </a:solidFill>
            </a:endParaRPr>
          </a:p>
        </p:txBody>
      </p:sp>
      <p:grpSp>
        <p:nvGrpSpPr>
          <p:cNvPr id="102" name="Group 101">
            <a:extLst>
              <a:ext uri="{FF2B5EF4-FFF2-40B4-BE49-F238E27FC236}">
                <a16:creationId xmlns:a16="http://schemas.microsoft.com/office/drawing/2014/main" id="{3242AAFC-6569-A168-4501-ED6CF58AEE88}"/>
              </a:ext>
            </a:extLst>
          </p:cNvPr>
          <p:cNvGrpSpPr>
            <a:grpSpLocks noChangeAspect="1"/>
          </p:cNvGrpSpPr>
          <p:nvPr/>
        </p:nvGrpSpPr>
        <p:grpSpPr>
          <a:xfrm>
            <a:off x="9679376" y="5292756"/>
            <a:ext cx="249382" cy="249382"/>
            <a:chOff x="9523943" y="1776614"/>
            <a:chExt cx="279009" cy="279009"/>
          </a:xfrm>
          <a:effectLst>
            <a:outerShdw blurRad="50800" dist="38100" dir="2700000" algn="tl" rotWithShape="0">
              <a:prstClr val="black">
                <a:alpha val="40000"/>
              </a:prstClr>
            </a:outerShdw>
          </a:effectLst>
        </p:grpSpPr>
        <p:sp>
          <p:nvSpPr>
            <p:cNvPr id="103" name="Oval 8">
              <a:extLst>
                <a:ext uri="{FF2B5EF4-FFF2-40B4-BE49-F238E27FC236}">
                  <a16:creationId xmlns:a16="http://schemas.microsoft.com/office/drawing/2014/main" id="{35F8217C-0D7B-4E2A-4135-C824C9626CC7}"/>
                </a:ext>
              </a:extLst>
            </p:cNvPr>
            <p:cNvSpPr>
              <a:spLocks noChangeArrowheads="1"/>
            </p:cNvSpPr>
            <p:nvPr/>
          </p:nvSpPr>
          <p:spPr bwMode="auto">
            <a:xfrm>
              <a:off x="9523943" y="1776614"/>
              <a:ext cx="279009" cy="279009"/>
            </a:xfrm>
            <a:prstGeom prst="ellipse">
              <a:avLst/>
            </a:prstGeom>
            <a:solidFill>
              <a:schemeClr val="accent1"/>
            </a:solidFill>
            <a:ln w="19050">
              <a:solidFill>
                <a:schemeClr val="bg1"/>
              </a:solid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4" name="Freeform 9">
              <a:extLst>
                <a:ext uri="{FF2B5EF4-FFF2-40B4-BE49-F238E27FC236}">
                  <a16:creationId xmlns:a16="http://schemas.microsoft.com/office/drawing/2014/main" id="{7F3F2B51-16CC-9522-B3CF-8997E682754B}"/>
                </a:ext>
              </a:extLst>
            </p:cNvPr>
            <p:cNvSpPr>
              <a:spLocks noEditPoints="1"/>
            </p:cNvSpPr>
            <p:nvPr/>
          </p:nvSpPr>
          <p:spPr bwMode="auto">
            <a:xfrm>
              <a:off x="9587950" y="1881653"/>
              <a:ext cx="150993" cy="68932"/>
            </a:xfrm>
            <a:custGeom>
              <a:avLst/>
              <a:gdLst>
                <a:gd name="T0" fmla="*/ 0 w 92"/>
                <a:gd name="T1" fmla="*/ 33 h 42"/>
                <a:gd name="T2" fmla="*/ 92 w 92"/>
                <a:gd name="T3" fmla="*/ 33 h 42"/>
                <a:gd name="T4" fmla="*/ 92 w 92"/>
                <a:gd name="T5" fmla="*/ 42 h 42"/>
                <a:gd name="T6" fmla="*/ 0 w 92"/>
                <a:gd name="T7" fmla="*/ 42 h 42"/>
                <a:gd name="T8" fmla="*/ 0 w 92"/>
                <a:gd name="T9" fmla="*/ 33 h 42"/>
                <a:gd name="T10" fmla="*/ 0 w 92"/>
                <a:gd name="T11" fmla="*/ 9 h 42"/>
                <a:gd name="T12" fmla="*/ 92 w 92"/>
                <a:gd name="T13" fmla="*/ 9 h 42"/>
                <a:gd name="T14" fmla="*/ 92 w 92"/>
                <a:gd name="T15" fmla="*/ 0 h 42"/>
                <a:gd name="T16" fmla="*/ 0 w 92"/>
                <a:gd name="T17" fmla="*/ 0 h 42"/>
                <a:gd name="T18" fmla="*/ 0 w 92"/>
                <a:gd name="T19"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42">
                  <a:moveTo>
                    <a:pt x="0" y="33"/>
                  </a:moveTo>
                  <a:lnTo>
                    <a:pt x="92" y="33"/>
                  </a:lnTo>
                  <a:lnTo>
                    <a:pt x="92" y="42"/>
                  </a:lnTo>
                  <a:lnTo>
                    <a:pt x="0" y="42"/>
                  </a:lnTo>
                  <a:lnTo>
                    <a:pt x="0" y="33"/>
                  </a:lnTo>
                  <a:close/>
                  <a:moveTo>
                    <a:pt x="0" y="9"/>
                  </a:moveTo>
                  <a:lnTo>
                    <a:pt x="92" y="9"/>
                  </a:lnTo>
                  <a:lnTo>
                    <a:pt x="92" y="0"/>
                  </a:lnTo>
                  <a:lnTo>
                    <a:pt x="0" y="0"/>
                  </a:lnTo>
                  <a:lnTo>
                    <a:pt x="0" y="9"/>
                  </a:lnTo>
                  <a:close/>
                </a:path>
              </a:pathLst>
            </a:custGeom>
            <a:solidFill>
              <a:srgbClr val="FFFFFF">
                <a:lumMod val="100000"/>
              </a:srgbClr>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111" name="TextBox 110">
            <a:extLst>
              <a:ext uri="{FF2B5EF4-FFF2-40B4-BE49-F238E27FC236}">
                <a16:creationId xmlns:a16="http://schemas.microsoft.com/office/drawing/2014/main" id="{1645F3DB-EC42-5D53-4C21-0BE905817C55}"/>
              </a:ext>
            </a:extLst>
          </p:cNvPr>
          <p:cNvSpPr txBox="1"/>
          <p:nvPr/>
        </p:nvSpPr>
        <p:spPr>
          <a:xfrm>
            <a:off x="3607947" y="5835781"/>
            <a:ext cx="2187376" cy="40599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US" sz="900">
                <a:solidFill>
                  <a:srgbClr val="000000"/>
                </a:solidFill>
              </a:rPr>
              <a:t>Ongoing initiative, Interstellar ELA Assistant for SW Complex Pricing,  covers major portion of workflow</a:t>
            </a:r>
          </a:p>
        </p:txBody>
      </p:sp>
      <p:sp>
        <p:nvSpPr>
          <p:cNvPr id="112" name="TextBox 111">
            <a:extLst>
              <a:ext uri="{FF2B5EF4-FFF2-40B4-BE49-F238E27FC236}">
                <a16:creationId xmlns:a16="http://schemas.microsoft.com/office/drawing/2014/main" id="{B4ABF6FD-3313-F611-330A-C56E3A2BEAF7}"/>
              </a:ext>
            </a:extLst>
          </p:cNvPr>
          <p:cNvSpPr txBox="1"/>
          <p:nvPr/>
        </p:nvSpPr>
        <p:spPr>
          <a:xfrm>
            <a:off x="7059033" y="5835781"/>
            <a:ext cx="1970171" cy="40599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US" sz="900" dirty="0">
                <a:solidFill>
                  <a:srgbClr val="000000"/>
                </a:solidFill>
              </a:rPr>
              <a:t>AI assistant proof of concept deployed in March; further testing and refinement ongoing</a:t>
            </a:r>
          </a:p>
        </p:txBody>
      </p:sp>
      <p:sp>
        <p:nvSpPr>
          <p:cNvPr id="114" name="TextBox 113">
            <a:extLst>
              <a:ext uri="{FF2B5EF4-FFF2-40B4-BE49-F238E27FC236}">
                <a16:creationId xmlns:a16="http://schemas.microsoft.com/office/drawing/2014/main" id="{28EF7EE5-EDE3-EE31-B684-2F5C701DB865}"/>
              </a:ext>
            </a:extLst>
          </p:cNvPr>
          <p:cNvSpPr txBox="1"/>
          <p:nvPr/>
        </p:nvSpPr>
        <p:spPr>
          <a:xfrm>
            <a:off x="964843" y="5561937"/>
            <a:ext cx="1480635" cy="304779"/>
          </a:xfrm>
          <a:prstGeom prst="rect">
            <a:avLst/>
          </a:prstGeom>
          <a:noFill/>
          <a:ln w="19050" cap="rnd" cmpd="sng" algn="ctr">
            <a:noFill/>
            <a:prstDash val="solid"/>
            <a:roun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cap="rnd" cmpd="sng" algn="ctr">
                <a:solidFill>
                  <a:schemeClr val="accent2"/>
                </a:solidFill>
                <a:prstDash val="solid"/>
                <a:rou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indent="-225000" algn="ctr">
              <a:spcAft>
                <a:spcPts val="600"/>
              </a:spcAft>
              <a:buNone/>
            </a:pPr>
            <a:r>
              <a:rPr lang="en-US" sz="1100" b="1" u="sng">
                <a:solidFill>
                  <a:srgbClr val="000000"/>
                </a:solidFill>
              </a:rPr>
              <a:t>MED (66%)</a:t>
            </a:r>
            <a:endParaRPr lang="en-US" sz="1100" u="sng">
              <a:solidFill>
                <a:srgbClr val="000000"/>
              </a:solidFill>
            </a:endParaRPr>
          </a:p>
        </p:txBody>
      </p:sp>
      <p:sp>
        <p:nvSpPr>
          <p:cNvPr id="115" name="TextBox 114">
            <a:extLst>
              <a:ext uri="{FF2B5EF4-FFF2-40B4-BE49-F238E27FC236}">
                <a16:creationId xmlns:a16="http://schemas.microsoft.com/office/drawing/2014/main" id="{3FCBAA17-2067-0BF3-77BC-A3FD788DE9C5}"/>
              </a:ext>
            </a:extLst>
          </p:cNvPr>
          <p:cNvSpPr txBox="1"/>
          <p:nvPr/>
        </p:nvSpPr>
        <p:spPr>
          <a:xfrm>
            <a:off x="813709" y="5835781"/>
            <a:ext cx="1782904" cy="40599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US" sz="900">
                <a:solidFill>
                  <a:srgbClr val="000000"/>
                </a:solidFill>
              </a:rPr>
              <a:t>Workflow has strong automation potential but requires human review and input</a:t>
            </a:r>
          </a:p>
        </p:txBody>
      </p:sp>
      <p:sp>
        <p:nvSpPr>
          <p:cNvPr id="116" name="TextBox 115">
            <a:extLst>
              <a:ext uri="{FF2B5EF4-FFF2-40B4-BE49-F238E27FC236}">
                <a16:creationId xmlns:a16="http://schemas.microsoft.com/office/drawing/2014/main" id="{957831EA-448D-65D4-2D60-3A182E519894}"/>
              </a:ext>
            </a:extLst>
          </p:cNvPr>
          <p:cNvSpPr txBox="1"/>
          <p:nvPr/>
        </p:nvSpPr>
        <p:spPr>
          <a:xfrm>
            <a:off x="9912075" y="5835781"/>
            <a:ext cx="1565193" cy="40599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ctr"/>
            <a:r>
              <a:rPr lang="en-US" sz="900">
                <a:solidFill>
                  <a:srgbClr val="000000"/>
                </a:solidFill>
              </a:rPr>
              <a:t>Current index of</a:t>
            </a:r>
          </a:p>
          <a:p>
            <a:pPr algn="ctr"/>
            <a:r>
              <a:rPr lang="en-US" sz="900">
                <a:solidFill>
                  <a:srgbClr val="000000"/>
                </a:solidFill>
              </a:rPr>
              <a:t>automation for EIW 3.1.3</a:t>
            </a:r>
          </a:p>
        </p:txBody>
      </p:sp>
      <p:grpSp>
        <p:nvGrpSpPr>
          <p:cNvPr id="117" name="Group 116">
            <a:extLst>
              <a:ext uri="{FF2B5EF4-FFF2-40B4-BE49-F238E27FC236}">
                <a16:creationId xmlns:a16="http://schemas.microsoft.com/office/drawing/2014/main" id="{277D769F-4682-69F3-3924-1A39CAA4C7FE}"/>
              </a:ext>
            </a:extLst>
          </p:cNvPr>
          <p:cNvGrpSpPr>
            <a:grpSpLocks noChangeAspect="1"/>
          </p:cNvGrpSpPr>
          <p:nvPr/>
        </p:nvGrpSpPr>
        <p:grpSpPr>
          <a:xfrm>
            <a:off x="2723453" y="5292756"/>
            <a:ext cx="249382" cy="249382"/>
            <a:chOff x="5942545" y="3294062"/>
            <a:chExt cx="306910" cy="306910"/>
          </a:xfrm>
          <a:effectLst>
            <a:outerShdw blurRad="50800" dist="38100" dir="2700000" algn="tl" rotWithShape="0">
              <a:prstClr val="black">
                <a:alpha val="40000"/>
              </a:prstClr>
            </a:outerShdw>
          </a:effectLst>
        </p:grpSpPr>
        <p:sp>
          <p:nvSpPr>
            <p:cNvPr id="118" name="Oval 10">
              <a:extLst>
                <a:ext uri="{FF2B5EF4-FFF2-40B4-BE49-F238E27FC236}">
                  <a16:creationId xmlns:a16="http://schemas.microsoft.com/office/drawing/2014/main" id="{09E73D20-3795-3ACB-A380-3DA9C842DE60}"/>
                </a:ext>
              </a:extLst>
            </p:cNvPr>
            <p:cNvSpPr>
              <a:spLocks noChangeArrowheads="1"/>
            </p:cNvSpPr>
            <p:nvPr/>
          </p:nvSpPr>
          <p:spPr bwMode="auto">
            <a:xfrm>
              <a:off x="5942545" y="3294062"/>
              <a:ext cx="306910" cy="306910"/>
            </a:xfrm>
            <a:prstGeom prst="ellipse">
              <a:avLst/>
            </a:prstGeom>
            <a:solidFill>
              <a:srgbClr val="002E50"/>
            </a:solidFill>
            <a:ln w="19050">
              <a:solidFill>
                <a:schemeClr val="bg1"/>
              </a:solid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9" name="Rectangle 11">
              <a:extLst>
                <a:ext uri="{FF2B5EF4-FFF2-40B4-BE49-F238E27FC236}">
                  <a16:creationId xmlns:a16="http://schemas.microsoft.com/office/drawing/2014/main" id="{E43CA005-9E46-F847-F328-58D7F9B98FF3}"/>
                </a:ext>
              </a:extLst>
            </p:cNvPr>
            <p:cNvSpPr>
              <a:spLocks noChangeArrowheads="1"/>
            </p:cNvSpPr>
            <p:nvPr/>
          </p:nvSpPr>
          <p:spPr bwMode="auto">
            <a:xfrm>
              <a:off x="6012953" y="3438490"/>
              <a:ext cx="166092" cy="19858"/>
            </a:xfrm>
            <a:prstGeom prst="rect">
              <a:avLst/>
            </a:prstGeom>
            <a:solidFill>
              <a:srgbClr val="FFFFFF">
                <a:lumMod val="100000"/>
              </a:srgbClr>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20" name="Group 119">
            <a:extLst>
              <a:ext uri="{FF2B5EF4-FFF2-40B4-BE49-F238E27FC236}">
                <a16:creationId xmlns:a16="http://schemas.microsoft.com/office/drawing/2014/main" id="{15BD2C45-6A9C-7870-D907-DB3B260D42F5}"/>
              </a:ext>
            </a:extLst>
          </p:cNvPr>
          <p:cNvGrpSpPr>
            <a:grpSpLocks noChangeAspect="1"/>
          </p:cNvGrpSpPr>
          <p:nvPr/>
        </p:nvGrpSpPr>
        <p:grpSpPr>
          <a:xfrm>
            <a:off x="6192759" y="5292756"/>
            <a:ext cx="249382" cy="249382"/>
            <a:chOff x="3989981" y="2360342"/>
            <a:chExt cx="279010" cy="279010"/>
          </a:xfrm>
          <a:effectLst>
            <a:outerShdw blurRad="50800" dist="38100" dir="2700000" algn="tl" rotWithShape="0">
              <a:prstClr val="black">
                <a:alpha val="40000"/>
              </a:prstClr>
            </a:outerShdw>
          </a:effectLst>
        </p:grpSpPr>
        <p:sp>
          <p:nvSpPr>
            <p:cNvPr id="121" name="Oval 18">
              <a:extLst>
                <a:ext uri="{FF2B5EF4-FFF2-40B4-BE49-F238E27FC236}">
                  <a16:creationId xmlns:a16="http://schemas.microsoft.com/office/drawing/2014/main" id="{D24D4888-C6D7-2F5E-DFD3-96F9E07D815C}"/>
                </a:ext>
              </a:extLst>
            </p:cNvPr>
            <p:cNvSpPr>
              <a:spLocks noChangeArrowheads="1"/>
            </p:cNvSpPr>
            <p:nvPr/>
          </p:nvSpPr>
          <p:spPr bwMode="auto">
            <a:xfrm>
              <a:off x="3989981" y="2360342"/>
              <a:ext cx="279010" cy="279010"/>
            </a:xfrm>
            <a:prstGeom prst="ellipse">
              <a:avLst/>
            </a:prstGeom>
            <a:solidFill>
              <a:srgbClr val="002E50"/>
            </a:solidFill>
            <a:ln w="19050">
              <a:solidFill>
                <a:schemeClr val="bg1"/>
              </a:solid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22" name="Freeform 19">
              <a:extLst>
                <a:ext uri="{FF2B5EF4-FFF2-40B4-BE49-F238E27FC236}">
                  <a16:creationId xmlns:a16="http://schemas.microsoft.com/office/drawing/2014/main" id="{25FC9E6F-48C3-5D3B-3127-1F02FC0BDFE2}"/>
                </a:ext>
              </a:extLst>
            </p:cNvPr>
            <p:cNvSpPr>
              <a:spLocks/>
            </p:cNvSpPr>
            <p:nvPr/>
          </p:nvSpPr>
          <p:spPr bwMode="auto">
            <a:xfrm>
              <a:off x="4072043" y="2442404"/>
              <a:ext cx="114886" cy="114886"/>
            </a:xfrm>
            <a:custGeom>
              <a:avLst/>
              <a:gdLst>
                <a:gd name="T0" fmla="*/ 63 w 70"/>
                <a:gd name="T1" fmla="*/ 0 h 70"/>
                <a:gd name="T2" fmla="*/ 35 w 70"/>
                <a:gd name="T3" fmla="*/ 29 h 70"/>
                <a:gd name="T4" fmla="*/ 6 w 70"/>
                <a:gd name="T5" fmla="*/ 0 h 70"/>
                <a:gd name="T6" fmla="*/ 0 w 70"/>
                <a:gd name="T7" fmla="*/ 6 h 70"/>
                <a:gd name="T8" fmla="*/ 28 w 70"/>
                <a:gd name="T9" fmla="*/ 35 h 70"/>
                <a:gd name="T10" fmla="*/ 0 w 70"/>
                <a:gd name="T11" fmla="*/ 63 h 70"/>
                <a:gd name="T12" fmla="*/ 6 w 70"/>
                <a:gd name="T13" fmla="*/ 70 h 70"/>
                <a:gd name="T14" fmla="*/ 35 w 70"/>
                <a:gd name="T15" fmla="*/ 41 h 70"/>
                <a:gd name="T16" fmla="*/ 63 w 70"/>
                <a:gd name="T17" fmla="*/ 70 h 70"/>
                <a:gd name="T18" fmla="*/ 70 w 70"/>
                <a:gd name="T19" fmla="*/ 63 h 70"/>
                <a:gd name="T20" fmla="*/ 41 w 70"/>
                <a:gd name="T21" fmla="*/ 35 h 70"/>
                <a:gd name="T22" fmla="*/ 70 w 70"/>
                <a:gd name="T23" fmla="*/ 6 h 70"/>
                <a:gd name="T24" fmla="*/ 63 w 70"/>
                <a:gd name="T25"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0">
                  <a:moveTo>
                    <a:pt x="63" y="0"/>
                  </a:moveTo>
                  <a:lnTo>
                    <a:pt x="35" y="29"/>
                  </a:lnTo>
                  <a:lnTo>
                    <a:pt x="6" y="0"/>
                  </a:lnTo>
                  <a:lnTo>
                    <a:pt x="0" y="6"/>
                  </a:lnTo>
                  <a:lnTo>
                    <a:pt x="28" y="35"/>
                  </a:lnTo>
                  <a:lnTo>
                    <a:pt x="0" y="63"/>
                  </a:lnTo>
                  <a:lnTo>
                    <a:pt x="6" y="70"/>
                  </a:lnTo>
                  <a:lnTo>
                    <a:pt x="35" y="41"/>
                  </a:lnTo>
                  <a:lnTo>
                    <a:pt x="63" y="70"/>
                  </a:lnTo>
                  <a:lnTo>
                    <a:pt x="70" y="63"/>
                  </a:lnTo>
                  <a:lnTo>
                    <a:pt x="41" y="35"/>
                  </a:lnTo>
                  <a:lnTo>
                    <a:pt x="70" y="6"/>
                  </a:lnTo>
                  <a:lnTo>
                    <a:pt x="63" y="0"/>
                  </a:lnTo>
                  <a:close/>
                </a:path>
              </a:pathLst>
            </a:custGeom>
            <a:solidFill>
              <a:srgbClr val="FFFFFF">
                <a:lumMod val="100000"/>
              </a:srgbClr>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123" name="TextBox 122">
            <a:extLst>
              <a:ext uri="{FF2B5EF4-FFF2-40B4-BE49-F238E27FC236}">
                <a16:creationId xmlns:a16="http://schemas.microsoft.com/office/drawing/2014/main" id="{FA659937-F1F4-2779-3146-799DF38597A7}"/>
              </a:ext>
            </a:extLst>
          </p:cNvPr>
          <p:cNvSpPr txBox="1"/>
          <p:nvPr/>
        </p:nvSpPr>
        <p:spPr>
          <a:xfrm>
            <a:off x="855527" y="4982844"/>
            <a:ext cx="4945193" cy="217012"/>
          </a:xfrm>
          <a:prstGeom prst="rect">
            <a:avLst/>
          </a:prstGeom>
          <a:solidFill>
            <a:srgbClr val="0191FF"/>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i="1" u="sng">
                <a:solidFill>
                  <a:schemeClr val="bg1"/>
                </a:solidFill>
              </a:rPr>
              <a:t>Illustrative example:</a:t>
            </a:r>
            <a:r>
              <a:rPr lang="en-US" sz="1200" b="1" i="1">
                <a:solidFill>
                  <a:schemeClr val="bg1"/>
                </a:solidFill>
              </a:rPr>
              <a:t> </a:t>
            </a:r>
            <a:r>
              <a:rPr lang="en-US" sz="1200" b="1" i="1" err="1">
                <a:solidFill>
                  <a:schemeClr val="bg1"/>
                </a:solidFill>
              </a:rPr>
              <a:t>EIW</a:t>
            </a:r>
            <a:r>
              <a:rPr lang="en-US" sz="1200" b="1" i="1">
                <a:solidFill>
                  <a:schemeClr val="bg1"/>
                </a:solidFill>
              </a:rPr>
              <a:t> 3.1.3 - Create service/solution design</a:t>
            </a:r>
          </a:p>
        </p:txBody>
      </p:sp>
      <p:sp>
        <p:nvSpPr>
          <p:cNvPr id="124" name="Left Bracket 123">
            <a:extLst>
              <a:ext uri="{FF2B5EF4-FFF2-40B4-BE49-F238E27FC236}">
                <a16:creationId xmlns:a16="http://schemas.microsoft.com/office/drawing/2014/main" id="{F56D11E5-F8B4-B010-8A06-C174BF87BA91}"/>
              </a:ext>
            </a:extLst>
          </p:cNvPr>
          <p:cNvSpPr/>
          <p:nvPr/>
        </p:nvSpPr>
        <p:spPr>
          <a:xfrm>
            <a:off x="750157" y="5254718"/>
            <a:ext cx="55500" cy="987057"/>
          </a:xfrm>
          <a:prstGeom prst="leftBracket">
            <a:avLst/>
          </a:prstGeom>
          <a:ln w="38100" cap="rnd" cmpd="sng" algn="ctr">
            <a:solidFill>
              <a:srgbClr val="0191FF"/>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5" name="Left Bracket 124">
            <a:extLst>
              <a:ext uri="{FF2B5EF4-FFF2-40B4-BE49-F238E27FC236}">
                <a16:creationId xmlns:a16="http://schemas.microsoft.com/office/drawing/2014/main" id="{5B5C320D-F4E7-26FC-12FD-E569AD6EC12B}"/>
              </a:ext>
            </a:extLst>
          </p:cNvPr>
          <p:cNvSpPr/>
          <p:nvPr/>
        </p:nvSpPr>
        <p:spPr>
          <a:xfrm rot="10800000">
            <a:off x="9472032" y="5254718"/>
            <a:ext cx="55500" cy="987058"/>
          </a:xfrm>
          <a:prstGeom prst="leftBracket">
            <a:avLst/>
          </a:prstGeom>
          <a:ln w="38100" cap="rnd" cmpd="sng" algn="ctr">
            <a:solidFill>
              <a:srgbClr val="0191FF"/>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ee4pFootnotes">
            <a:extLst>
              <a:ext uri="{FF2B5EF4-FFF2-40B4-BE49-F238E27FC236}">
                <a16:creationId xmlns:a16="http://schemas.microsoft.com/office/drawing/2014/main" id="{B6C5A77D-A793-A281-4686-B7DF2AA23C36}"/>
              </a:ext>
            </a:extLst>
          </p:cNvPr>
          <p:cNvSpPr>
            <a:spLocks noChangeArrowheads="1"/>
          </p:cNvSpPr>
          <p:nvPr/>
        </p:nvSpPr>
        <p:spPr bwMode="auto">
          <a:xfrm>
            <a:off x="630000" y="6437318"/>
            <a:ext cx="9030914" cy="276999"/>
          </a:xfrm>
          <a:prstGeom prst="rect">
            <a:avLst/>
          </a:prstGeom>
          <a:noFill/>
          <a:ln w="9525" algn="ctr">
            <a:noFill/>
            <a:miter lim="800000"/>
            <a:headEnd type="none" w="lg" len="lg"/>
            <a:tailEnd type="none" w="lg" len="lg"/>
          </a:ln>
        </p:spPr>
        <p:txBody>
          <a:bodyPr vert="horz" wrap="square" lIns="0" tIns="0" rIns="0" bIns="0" anchor="b" anchorCtr="0">
            <a:spAutoFit/>
          </a:bodyPr>
          <a:lstStyle/>
          <a:p>
            <a:pPr>
              <a:lnSpc>
                <a:spcPct val="90000"/>
              </a:lnSpc>
            </a:pPr>
            <a:r>
              <a:rPr lang="en-US" sz="1000">
                <a:solidFill>
                  <a:srgbClr val="555555"/>
                </a:solidFill>
                <a:latin typeface="Trebuchet MS" panose="020B0603020202020204" pitchFamily="34" charset="0"/>
                <a:cs typeface="Arial" pitchFamily="34" charset="0"/>
              </a:rPr>
              <a:t>* </a:t>
            </a:r>
            <a:r>
              <a:rPr lang="en-US" sz="1000" i="1">
                <a:solidFill>
                  <a:srgbClr val="555555"/>
                </a:solidFill>
                <a:latin typeface="Trebuchet MS" panose="020B0603020202020204" pitchFamily="34" charset="0"/>
                <a:cs typeface="Arial" pitchFamily="34" charset="0"/>
              </a:rPr>
              <a:t>Directional estimates based on description of AI initiative (provided by owner)</a:t>
            </a:r>
          </a:p>
          <a:p>
            <a:pPr>
              <a:lnSpc>
                <a:spcPct val="90000"/>
              </a:lnSpc>
            </a:pPr>
            <a:r>
              <a:rPr lang="en-US" sz="1000">
                <a:solidFill>
                  <a:srgbClr val="555555"/>
                </a:solidFill>
                <a:latin typeface="Trebuchet MS" panose="020B0603020202020204" pitchFamily="34" charset="0"/>
                <a:cs typeface="Arial" pitchFamily="34" charset="0"/>
              </a:rPr>
              <a:t>Source: Q2C initiative overviews, shared October 2025</a:t>
            </a:r>
          </a:p>
        </p:txBody>
      </p:sp>
      <p:sp>
        <p:nvSpPr>
          <p:cNvPr id="135" name="TextBox 134">
            <a:extLst>
              <a:ext uri="{FF2B5EF4-FFF2-40B4-BE49-F238E27FC236}">
                <a16:creationId xmlns:a16="http://schemas.microsoft.com/office/drawing/2014/main" id="{1BAF1ACF-0502-AC6B-13D7-6961412E061F}"/>
              </a:ext>
            </a:extLst>
          </p:cNvPr>
          <p:cNvSpPr txBox="1"/>
          <p:nvPr/>
        </p:nvSpPr>
        <p:spPr>
          <a:xfrm>
            <a:off x="964843" y="5291505"/>
            <a:ext cx="1480635" cy="251884"/>
          </a:xfrm>
          <a:prstGeom prst="rect">
            <a:avLst/>
          </a:prstGeom>
          <a:solidFill>
            <a:schemeClr val="bg1"/>
          </a:solidFill>
          <a:ln w="19050" cap="rnd">
            <a:solidFill>
              <a:schemeClr val="accent2"/>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indent="-225000" algn="ctr">
              <a:spcAft>
                <a:spcPts val="600"/>
              </a:spcAft>
              <a:buNone/>
            </a:pPr>
            <a:r>
              <a:rPr lang="en-US" sz="1200" b="1">
                <a:solidFill>
                  <a:schemeClr val="accent2"/>
                </a:solidFill>
              </a:rPr>
              <a:t>0.66</a:t>
            </a:r>
            <a:endParaRPr lang="en-US" sz="1200">
              <a:solidFill>
                <a:schemeClr val="accent2"/>
              </a:solidFill>
            </a:endParaRPr>
          </a:p>
        </p:txBody>
      </p:sp>
      <p:sp>
        <p:nvSpPr>
          <p:cNvPr id="136" name="TextBox 135">
            <a:extLst>
              <a:ext uri="{FF2B5EF4-FFF2-40B4-BE49-F238E27FC236}">
                <a16:creationId xmlns:a16="http://schemas.microsoft.com/office/drawing/2014/main" id="{BADDB92B-E1B9-ABF6-2236-014C2A178DC3}"/>
              </a:ext>
            </a:extLst>
          </p:cNvPr>
          <p:cNvSpPr txBox="1"/>
          <p:nvPr/>
        </p:nvSpPr>
        <p:spPr>
          <a:xfrm>
            <a:off x="3607947" y="5561937"/>
            <a:ext cx="2187376" cy="304779"/>
          </a:xfrm>
          <a:prstGeom prst="rect">
            <a:avLst/>
          </a:prstGeom>
          <a:noFill/>
          <a:ln w="19050" cap="rnd" cmpd="sng" algn="ctr">
            <a:noFill/>
            <a:prstDash val="solid"/>
            <a:roun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cap="rnd" cmpd="sng" algn="ctr">
                <a:solidFill>
                  <a:schemeClr val="accent2"/>
                </a:solidFill>
                <a:prstDash val="solid"/>
                <a:rou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a:solidFill>
                  <a:srgbClr val="000000"/>
                </a:solidFill>
              </a:rPr>
              <a:t>Coverage score*: </a:t>
            </a:r>
            <a:r>
              <a:rPr lang="en-US" sz="1100" b="1" u="sng">
                <a:solidFill>
                  <a:srgbClr val="000000"/>
                </a:solidFill>
              </a:rPr>
              <a:t>MED (66%)</a:t>
            </a:r>
            <a:endParaRPr lang="en-US" sz="1100" u="sng">
              <a:solidFill>
                <a:srgbClr val="000000"/>
              </a:solidFill>
            </a:endParaRPr>
          </a:p>
        </p:txBody>
      </p:sp>
      <p:sp>
        <p:nvSpPr>
          <p:cNvPr id="137" name="TextBox 136">
            <a:extLst>
              <a:ext uri="{FF2B5EF4-FFF2-40B4-BE49-F238E27FC236}">
                <a16:creationId xmlns:a16="http://schemas.microsoft.com/office/drawing/2014/main" id="{4CDEA61A-91BA-E9E1-5322-4DC313675E10}"/>
              </a:ext>
            </a:extLst>
          </p:cNvPr>
          <p:cNvSpPr txBox="1"/>
          <p:nvPr/>
        </p:nvSpPr>
        <p:spPr>
          <a:xfrm>
            <a:off x="7059033" y="5561937"/>
            <a:ext cx="1970171" cy="304779"/>
          </a:xfrm>
          <a:prstGeom prst="rect">
            <a:avLst/>
          </a:prstGeom>
          <a:noFill/>
          <a:ln w="19050" cap="rnd" cmpd="sng" algn="ctr">
            <a:noFill/>
            <a:prstDash val="solid"/>
            <a:roun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cap="rnd" cmpd="sng" algn="ctr">
                <a:solidFill>
                  <a:schemeClr val="accent2"/>
                </a:solidFill>
                <a:prstDash val="solid"/>
                <a:rou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dirty="0">
                <a:solidFill>
                  <a:srgbClr val="000000"/>
                </a:solidFill>
              </a:rPr>
              <a:t>Impact score*: </a:t>
            </a:r>
            <a:r>
              <a:rPr lang="en-US" sz="1100" b="1" u="sng" dirty="0">
                <a:solidFill>
                  <a:srgbClr val="000000"/>
                </a:solidFill>
              </a:rPr>
              <a:t>2 (50%)</a:t>
            </a:r>
          </a:p>
        </p:txBody>
      </p:sp>
      <p:sp>
        <p:nvSpPr>
          <p:cNvPr id="138" name="TextBox 137">
            <a:extLst>
              <a:ext uri="{FF2B5EF4-FFF2-40B4-BE49-F238E27FC236}">
                <a16:creationId xmlns:a16="http://schemas.microsoft.com/office/drawing/2014/main" id="{93650164-B8C9-D8FE-FBCC-45FD8C5B818D}"/>
              </a:ext>
            </a:extLst>
          </p:cNvPr>
          <p:cNvSpPr txBox="1"/>
          <p:nvPr/>
        </p:nvSpPr>
        <p:spPr>
          <a:xfrm>
            <a:off x="9954561" y="5561937"/>
            <a:ext cx="1480219" cy="304779"/>
          </a:xfrm>
          <a:prstGeom prst="rect">
            <a:avLst/>
          </a:prstGeom>
          <a:noFill/>
          <a:ln w="19050" cap="rnd" cmpd="sng" algn="ctr">
            <a:noFill/>
            <a:prstDash val="solid"/>
            <a:round/>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cap="rnd" cmpd="sng" algn="ctr">
                <a:solidFill>
                  <a:schemeClr val="accent2"/>
                </a:solidFill>
                <a:prstDash val="solid"/>
                <a:rou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a:solidFill>
                  <a:srgbClr val="000000"/>
                </a:solidFill>
              </a:rPr>
              <a:t>Automation Index</a:t>
            </a:r>
            <a:endParaRPr lang="en-US" sz="1100" b="1" u="sng">
              <a:solidFill>
                <a:srgbClr val="000000"/>
              </a:solidFill>
            </a:endParaRPr>
          </a:p>
        </p:txBody>
      </p:sp>
      <p:sp>
        <p:nvSpPr>
          <p:cNvPr id="5" name="IllustrativeStamp">
            <a:extLst>
              <a:ext uri="{FF2B5EF4-FFF2-40B4-BE49-F238E27FC236}">
                <a16:creationId xmlns:a16="http://schemas.microsoft.com/office/drawing/2014/main" id="{83F740B3-C6A1-8897-ADCB-585C29052D70}"/>
              </a:ext>
            </a:extLst>
          </p:cNvPr>
          <p:cNvSpPr/>
          <p:nvPr/>
        </p:nvSpPr>
        <p:spPr>
          <a:xfrm>
            <a:off x="4652082" y="0"/>
            <a:ext cx="2889186" cy="215900"/>
          </a:xfrm>
          <a:prstGeom prst="rect">
            <a:avLst/>
          </a:prstGeom>
          <a:solidFill>
            <a:srgbClr val="C00000"/>
          </a:solidFill>
          <a:ln w="9525">
            <a:solidFill>
              <a:srgbClr val="C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l"/>
            <a:r>
              <a:rPr lang="en-US" sz="1200" b="1">
                <a:solidFill>
                  <a:schemeClr val="bg1"/>
                </a:solidFill>
                <a:latin typeface="Trebuchet MS" panose="020B0603020202020204" pitchFamily="34" charset="0"/>
              </a:rPr>
              <a:t>Preliminary</a:t>
            </a:r>
          </a:p>
        </p:txBody>
      </p:sp>
      <p:sp>
        <p:nvSpPr>
          <p:cNvPr id="49" name="Left Bracket 48">
            <a:extLst>
              <a:ext uri="{FF2B5EF4-FFF2-40B4-BE49-F238E27FC236}">
                <a16:creationId xmlns:a16="http://schemas.microsoft.com/office/drawing/2014/main" id="{990DA23C-B5D5-0642-E5F1-E2234C1041B4}"/>
              </a:ext>
            </a:extLst>
          </p:cNvPr>
          <p:cNvSpPr/>
          <p:nvPr/>
        </p:nvSpPr>
        <p:spPr>
          <a:xfrm>
            <a:off x="3390020" y="5254718"/>
            <a:ext cx="55500" cy="987057"/>
          </a:xfrm>
          <a:prstGeom prst="leftBracket">
            <a:avLst/>
          </a:prstGeom>
          <a:ln w="38100" cap="rnd">
            <a:solidFill>
              <a:srgbClr val="002E50"/>
            </a:solidFill>
            <a:prstDash val="solid"/>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Left Bracket 50">
            <a:extLst>
              <a:ext uri="{FF2B5EF4-FFF2-40B4-BE49-F238E27FC236}">
                <a16:creationId xmlns:a16="http://schemas.microsoft.com/office/drawing/2014/main" id="{CDF79613-88F8-A529-0A73-B6D5ECD97D89}"/>
              </a:ext>
            </a:extLst>
          </p:cNvPr>
          <p:cNvSpPr/>
          <p:nvPr/>
        </p:nvSpPr>
        <p:spPr>
          <a:xfrm rot="10800000">
            <a:off x="9336648" y="5254718"/>
            <a:ext cx="55500" cy="987058"/>
          </a:xfrm>
          <a:prstGeom prst="leftBracket">
            <a:avLst/>
          </a:prstGeom>
          <a:ln w="38100" cap="rnd">
            <a:solidFill>
              <a:srgbClr val="002E50"/>
            </a:solidFill>
            <a:prstDash val="solid"/>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ee4pContent1">
            <a:extLst>
              <a:ext uri="{FF2B5EF4-FFF2-40B4-BE49-F238E27FC236}">
                <a16:creationId xmlns:a16="http://schemas.microsoft.com/office/drawing/2014/main" id="{4177C856-F235-58E6-19C4-3027414172A6}"/>
              </a:ext>
            </a:extLst>
          </p:cNvPr>
          <p:cNvSpPr txBox="1"/>
          <p:nvPr/>
        </p:nvSpPr>
        <p:spPr>
          <a:xfrm>
            <a:off x="9377496" y="1064477"/>
            <a:ext cx="2634348" cy="418281"/>
          </a:xfrm>
          <a:prstGeom prst="rect">
            <a:avLst/>
          </a:prstGeom>
          <a:no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lnSpc>
                <a:spcPct val="90000"/>
              </a:lnSpc>
              <a:spcAft>
                <a:spcPts val="600"/>
              </a:spcAft>
            </a:pPr>
            <a:r>
              <a:rPr lang="en-US" sz="1100" b="1" i="1" dirty="0">
                <a:sym typeface="Trebuchet MS" panose="020B0603020202020204" pitchFamily="34" charset="0"/>
              </a:rPr>
              <a:t>Units: L3 Equivalent = unit of activity equivalent to one L3 workflow</a:t>
            </a:r>
          </a:p>
        </p:txBody>
      </p:sp>
    </p:spTree>
    <p:extLst>
      <p:ext uri="{BB962C8B-B14F-4D97-AF65-F5344CB8AC3E}">
        <p14:creationId xmlns:p14="http://schemas.microsoft.com/office/powerpoint/2010/main" val="3139334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792FD-8E9B-3821-DD9A-667AA0347164}"/>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8466070-8678-68F6-6293-0C8D5ABF3CC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28466070-8678-68F6-6293-0C8D5ABF3CC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3AC3417-8B07-8B2D-5C25-69CC07E494A6}"/>
              </a:ext>
            </a:extLst>
          </p:cNvPr>
          <p:cNvSpPr>
            <a:spLocks noGrp="1"/>
          </p:cNvSpPr>
          <p:nvPr>
            <p:ph type="title"/>
          </p:nvPr>
        </p:nvSpPr>
        <p:spPr/>
        <p:txBody>
          <a:bodyPr vert="horz"/>
          <a:lstStyle/>
          <a:p>
            <a:r>
              <a:rPr lang="en-US">
                <a:solidFill>
                  <a:srgbClr val="002E50"/>
                </a:solidFill>
              </a:rPr>
              <a:t>Detail | </a:t>
            </a:r>
            <a:r>
              <a:rPr lang="en-US"/>
              <a:t>Evaluation form to share with initiative owners</a:t>
            </a:r>
          </a:p>
        </p:txBody>
      </p:sp>
      <p:grpSp>
        <p:nvGrpSpPr>
          <p:cNvPr id="78" name="Group 77">
            <a:extLst>
              <a:ext uri="{FF2B5EF4-FFF2-40B4-BE49-F238E27FC236}">
                <a16:creationId xmlns:a16="http://schemas.microsoft.com/office/drawing/2014/main" id="{49DC4081-5EE7-4DBF-33FA-F476C12E8BA6}"/>
              </a:ext>
            </a:extLst>
          </p:cNvPr>
          <p:cNvGrpSpPr/>
          <p:nvPr/>
        </p:nvGrpSpPr>
        <p:grpSpPr>
          <a:xfrm>
            <a:off x="630001" y="1068803"/>
            <a:ext cx="3484799" cy="726760"/>
            <a:chOff x="630001" y="1043403"/>
            <a:chExt cx="4352956" cy="452321"/>
          </a:xfrm>
        </p:grpSpPr>
        <p:sp>
          <p:nvSpPr>
            <p:cNvPr id="9" name="Rectangle 8">
              <a:extLst>
                <a:ext uri="{FF2B5EF4-FFF2-40B4-BE49-F238E27FC236}">
                  <a16:creationId xmlns:a16="http://schemas.microsoft.com/office/drawing/2014/main" id="{23C2665A-1A92-0B0F-DF55-FC5656EAE5CF}"/>
                </a:ext>
              </a:extLst>
            </p:cNvPr>
            <p:cNvSpPr/>
            <p:nvPr/>
          </p:nvSpPr>
          <p:spPr>
            <a:xfrm>
              <a:off x="2374903" y="1043403"/>
              <a:ext cx="2608054" cy="452321"/>
            </a:xfrm>
            <a:prstGeom prst="rect">
              <a:avLst/>
            </a:prstGeom>
            <a:solidFill>
              <a:schemeClr val="bg1"/>
            </a:solidFill>
            <a:ln w="19050" cap="rnd" cmpd="sng" algn="ctr">
              <a:solidFill>
                <a:schemeClr val="accent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i="1">
                  <a:solidFill>
                    <a:srgbClr val="8C9BA5"/>
                  </a:solidFill>
                </a:rPr>
                <a:t>Name of the AI automation initiative</a:t>
              </a:r>
            </a:p>
          </p:txBody>
        </p:sp>
        <p:sp>
          <p:nvSpPr>
            <p:cNvPr id="8" name="Rectangle: Top Corners Rounded 7">
              <a:extLst>
                <a:ext uri="{FF2B5EF4-FFF2-40B4-BE49-F238E27FC236}">
                  <a16:creationId xmlns:a16="http://schemas.microsoft.com/office/drawing/2014/main" id="{3798A552-CD2F-6776-4B74-95FB323042F9}"/>
                </a:ext>
              </a:extLst>
            </p:cNvPr>
            <p:cNvSpPr/>
            <p:nvPr/>
          </p:nvSpPr>
          <p:spPr>
            <a:xfrm rot="16200000">
              <a:off x="1276291" y="397113"/>
              <a:ext cx="452321" cy="1744902"/>
            </a:xfrm>
            <a:prstGeom prst="round2SameRect">
              <a:avLst>
                <a:gd name="adj1" fmla="val 15188"/>
                <a:gd name="adj2" fmla="val 0"/>
              </a:avLst>
            </a:prstGeom>
            <a:solidFill>
              <a:srgbClr val="005696"/>
            </a:solidFill>
            <a:ln w="19050" cap="rnd" cmpd="sng" algn="ctr">
              <a:solidFill>
                <a:schemeClr val="accent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10" name="TextBox 9">
              <a:extLst>
                <a:ext uri="{FF2B5EF4-FFF2-40B4-BE49-F238E27FC236}">
                  <a16:creationId xmlns:a16="http://schemas.microsoft.com/office/drawing/2014/main" id="{2E18A068-B2C9-3429-BC54-862EA0F18A0D}"/>
                </a:ext>
              </a:extLst>
            </p:cNvPr>
            <p:cNvSpPr txBox="1"/>
            <p:nvPr/>
          </p:nvSpPr>
          <p:spPr>
            <a:xfrm>
              <a:off x="653631" y="1043403"/>
              <a:ext cx="1697639" cy="452321"/>
            </a:xfrm>
            <a:prstGeom prst="rect">
              <a:avLst/>
            </a:prstGeom>
            <a:noFill/>
            <a:ln w="19050" cap="rnd" cmpd="sng" algn="ctr">
              <a:noFill/>
              <a:prstDash val="solid"/>
              <a:round/>
            </a:ln>
            <a:effectLst/>
            <a:extLst>
              <a:ext uri="{909E8E84-426E-40DD-AFC4-6F175D3DCCD1}">
                <a14:hiddenFill xmlns:a14="http://schemas.microsoft.com/office/drawing/2010/main">
                  <a:solidFill>
                    <a:srgbClr val="29BA74"/>
                  </a:solidFill>
                </a14:hiddenFill>
              </a:ext>
              <a:ext uri="{91240B29-F687-4F45-9708-019B960494DF}">
                <a14:hiddenLine xmlns:a14="http://schemas.microsoft.com/office/drawing/2010/main" w="19050" cap="rnd" cmpd="sng" algn="ctr">
                  <a:solidFill>
                    <a:schemeClr val="tx1"/>
                  </a:solidFill>
                  <a:prstDash val="solid"/>
                  <a:rou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Initiative Name</a:t>
              </a:r>
            </a:p>
          </p:txBody>
        </p:sp>
      </p:grpSp>
      <p:sp>
        <p:nvSpPr>
          <p:cNvPr id="24" name="Rectangle 23">
            <a:extLst>
              <a:ext uri="{FF2B5EF4-FFF2-40B4-BE49-F238E27FC236}">
                <a16:creationId xmlns:a16="http://schemas.microsoft.com/office/drawing/2014/main" id="{03EF16E2-CA2F-A76F-2B68-0F64E5EB293D}"/>
              </a:ext>
            </a:extLst>
          </p:cNvPr>
          <p:cNvSpPr/>
          <p:nvPr/>
        </p:nvSpPr>
        <p:spPr>
          <a:xfrm>
            <a:off x="630000" y="2179683"/>
            <a:ext cx="5901651" cy="4208418"/>
          </a:xfrm>
          <a:prstGeom prst="rect">
            <a:avLst/>
          </a:prstGeom>
          <a:solidFill>
            <a:schemeClr val="bg1"/>
          </a:solidFill>
          <a:ln w="19050" cap="rnd" cmpd="sng" algn="ctr">
            <a:solidFill>
              <a:srgbClr val="0191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25" name="Rectangle: Top Corners Rounded 24">
            <a:extLst>
              <a:ext uri="{FF2B5EF4-FFF2-40B4-BE49-F238E27FC236}">
                <a16:creationId xmlns:a16="http://schemas.microsoft.com/office/drawing/2014/main" id="{40FB5A4D-CBB6-CF4F-72A3-4288CBDD873C}"/>
              </a:ext>
            </a:extLst>
          </p:cNvPr>
          <p:cNvSpPr/>
          <p:nvPr/>
        </p:nvSpPr>
        <p:spPr>
          <a:xfrm>
            <a:off x="630001" y="1892493"/>
            <a:ext cx="5901650" cy="287190"/>
          </a:xfrm>
          <a:prstGeom prst="round2SameRect">
            <a:avLst>
              <a:gd name="adj1" fmla="val 21247"/>
              <a:gd name="adj2" fmla="val 0"/>
            </a:avLst>
          </a:prstGeom>
          <a:solidFill>
            <a:srgbClr val="0191FF"/>
          </a:solidFill>
          <a:ln w="19050" cap="rnd" cmpd="sng" algn="ctr">
            <a:solidFill>
              <a:srgbClr val="0191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u="sng">
                <a:solidFill>
                  <a:schemeClr val="bg1"/>
                </a:solidFill>
              </a:rPr>
              <a:t>Section 1</a:t>
            </a:r>
            <a:r>
              <a:rPr lang="en-US" sz="1200" b="1">
                <a:solidFill>
                  <a:schemeClr val="bg1"/>
                </a:solidFill>
              </a:rPr>
              <a:t>: Coverage within the L3 Process(es)</a:t>
            </a:r>
          </a:p>
        </p:txBody>
      </p:sp>
      <p:sp>
        <p:nvSpPr>
          <p:cNvPr id="55" name="IllustrativeStamp">
            <a:extLst>
              <a:ext uri="{FF2B5EF4-FFF2-40B4-BE49-F238E27FC236}">
                <a16:creationId xmlns:a16="http://schemas.microsoft.com/office/drawing/2014/main" id="{ED7F5767-9FC5-24D6-6066-383C6FF37150}"/>
              </a:ext>
            </a:extLst>
          </p:cNvPr>
          <p:cNvSpPr/>
          <p:nvPr/>
        </p:nvSpPr>
        <p:spPr>
          <a:xfrm>
            <a:off x="4652082" y="0"/>
            <a:ext cx="2889186" cy="215900"/>
          </a:xfrm>
          <a:prstGeom prst="rect">
            <a:avLst/>
          </a:prstGeom>
          <a:solidFill>
            <a:srgbClr val="C00000"/>
          </a:solidFill>
          <a:ln w="9525">
            <a:solidFill>
              <a:srgbClr val="C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l"/>
            <a:r>
              <a:rPr lang="en-US" sz="1200" b="1">
                <a:solidFill>
                  <a:schemeClr val="bg1"/>
                </a:solidFill>
                <a:latin typeface="Trebuchet MS" panose="020B0603020202020204" pitchFamily="34" charset="0"/>
              </a:rPr>
              <a:t>Preliminary</a:t>
            </a:r>
          </a:p>
        </p:txBody>
      </p:sp>
      <p:sp>
        <p:nvSpPr>
          <p:cNvPr id="60" name="TextBox 59">
            <a:extLst>
              <a:ext uri="{FF2B5EF4-FFF2-40B4-BE49-F238E27FC236}">
                <a16:creationId xmlns:a16="http://schemas.microsoft.com/office/drawing/2014/main" id="{9D17CEAC-1F96-4BD3-D435-B146323AC02A}"/>
              </a:ext>
            </a:extLst>
          </p:cNvPr>
          <p:cNvSpPr txBox="1"/>
          <p:nvPr/>
        </p:nvSpPr>
        <p:spPr>
          <a:xfrm>
            <a:off x="773695" y="4074964"/>
            <a:ext cx="5614262" cy="33723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rgbClr val="000000"/>
                </a:solidFill>
              </a:rPr>
              <a:t>Within the broader workflow, estimate the portion of total time (%) dedicated to your specific workflow within a given month. Select one: </a:t>
            </a:r>
          </a:p>
        </p:txBody>
      </p:sp>
      <p:sp>
        <p:nvSpPr>
          <p:cNvPr id="61" name="Rectangle 60">
            <a:extLst>
              <a:ext uri="{FF2B5EF4-FFF2-40B4-BE49-F238E27FC236}">
                <a16:creationId xmlns:a16="http://schemas.microsoft.com/office/drawing/2014/main" id="{6EE0E68B-0C8D-2619-FEF2-D3E2664E4F8F}"/>
              </a:ext>
            </a:extLst>
          </p:cNvPr>
          <p:cNvSpPr/>
          <p:nvPr/>
        </p:nvSpPr>
        <p:spPr>
          <a:xfrm>
            <a:off x="6642100" y="2179683"/>
            <a:ext cx="4919900" cy="4208418"/>
          </a:xfrm>
          <a:prstGeom prst="rect">
            <a:avLst/>
          </a:prstGeom>
          <a:solidFill>
            <a:schemeClr val="bg1"/>
          </a:solidFill>
          <a:ln w="19050" cap="rnd" cmpd="sng" algn="ctr">
            <a:solidFill>
              <a:srgbClr val="0191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62" name="Rectangle: Top Corners Rounded 61">
            <a:extLst>
              <a:ext uri="{FF2B5EF4-FFF2-40B4-BE49-F238E27FC236}">
                <a16:creationId xmlns:a16="http://schemas.microsoft.com/office/drawing/2014/main" id="{1E5F91F7-62F9-CCB0-EAF8-ECE4366E3B49}"/>
              </a:ext>
            </a:extLst>
          </p:cNvPr>
          <p:cNvSpPr/>
          <p:nvPr/>
        </p:nvSpPr>
        <p:spPr>
          <a:xfrm>
            <a:off x="6642100" y="1892493"/>
            <a:ext cx="4919899" cy="287190"/>
          </a:xfrm>
          <a:prstGeom prst="round2SameRect">
            <a:avLst>
              <a:gd name="adj1" fmla="val 21247"/>
              <a:gd name="adj2" fmla="val 0"/>
            </a:avLst>
          </a:prstGeom>
          <a:solidFill>
            <a:srgbClr val="0191FF"/>
          </a:solidFill>
          <a:ln w="19050" cap="rnd" cmpd="sng" algn="ctr">
            <a:solidFill>
              <a:srgbClr val="0191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u="sng">
                <a:solidFill>
                  <a:schemeClr val="bg1"/>
                </a:solidFill>
              </a:rPr>
              <a:t>Section 2</a:t>
            </a:r>
            <a:r>
              <a:rPr lang="en-US" sz="1200" b="1">
                <a:solidFill>
                  <a:schemeClr val="bg1"/>
                </a:solidFill>
              </a:rPr>
              <a:t>: What level of impact has the initiative realized today?</a:t>
            </a:r>
          </a:p>
        </p:txBody>
      </p:sp>
      <p:sp>
        <p:nvSpPr>
          <p:cNvPr id="63" name="TextBox 62">
            <a:extLst>
              <a:ext uri="{FF2B5EF4-FFF2-40B4-BE49-F238E27FC236}">
                <a16:creationId xmlns:a16="http://schemas.microsoft.com/office/drawing/2014/main" id="{ADB5CF15-7632-C302-1958-DF10E3D3F0EC}"/>
              </a:ext>
            </a:extLst>
          </p:cNvPr>
          <p:cNvSpPr txBox="1"/>
          <p:nvPr/>
        </p:nvSpPr>
        <p:spPr>
          <a:xfrm>
            <a:off x="6778769" y="2246472"/>
            <a:ext cx="4646562" cy="33723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rgbClr val="000000"/>
                </a:solidFill>
              </a:rPr>
              <a:t>What level of adoption or efficiency improvement has your initiative achieved so far? Select one: </a:t>
            </a:r>
          </a:p>
        </p:txBody>
      </p:sp>
      <p:sp>
        <p:nvSpPr>
          <p:cNvPr id="64" name="TextBox 63">
            <a:extLst>
              <a:ext uri="{FF2B5EF4-FFF2-40B4-BE49-F238E27FC236}">
                <a16:creationId xmlns:a16="http://schemas.microsoft.com/office/drawing/2014/main" id="{9CEBEA4D-136D-A2AB-CA4B-13A06104D8F5}"/>
              </a:ext>
            </a:extLst>
          </p:cNvPr>
          <p:cNvSpPr txBox="1"/>
          <p:nvPr/>
        </p:nvSpPr>
        <p:spPr>
          <a:xfrm>
            <a:off x="2316575" y="4585008"/>
            <a:ext cx="2374297" cy="5078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600"/>
              </a:spcAft>
              <a:buSzPts val="1200"/>
            </a:pPr>
            <a:r>
              <a:rPr lang="en-US" sz="1100" b="1">
                <a:solidFill>
                  <a:srgbClr val="000000"/>
                </a:solidFill>
              </a:rPr>
              <a:t>Most or all </a:t>
            </a:r>
            <a:r>
              <a:rPr lang="en-US" sz="1100">
                <a:solidFill>
                  <a:srgbClr val="000000"/>
                </a:solidFill>
              </a:rPr>
              <a:t>of total time spent on broader workflow activities covered by specific workflow</a:t>
            </a:r>
          </a:p>
        </p:txBody>
      </p:sp>
      <p:sp>
        <p:nvSpPr>
          <p:cNvPr id="81" name="TextBox 80">
            <a:extLst>
              <a:ext uri="{FF2B5EF4-FFF2-40B4-BE49-F238E27FC236}">
                <a16:creationId xmlns:a16="http://schemas.microsoft.com/office/drawing/2014/main" id="{6427B232-B113-1FBB-9BDE-224597CCCCB5}"/>
              </a:ext>
            </a:extLst>
          </p:cNvPr>
          <p:cNvSpPr txBox="1"/>
          <p:nvPr/>
        </p:nvSpPr>
        <p:spPr>
          <a:xfrm>
            <a:off x="2316575" y="5158611"/>
            <a:ext cx="2374297" cy="5078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600"/>
              </a:spcAft>
              <a:buSzPts val="1200"/>
            </a:pPr>
            <a:r>
              <a:rPr lang="en-US" sz="1100" b="1">
                <a:solidFill>
                  <a:srgbClr val="000000"/>
                </a:solidFill>
              </a:rPr>
              <a:t>A significant portion </a:t>
            </a:r>
            <a:r>
              <a:rPr lang="en-US" sz="1100">
                <a:solidFill>
                  <a:srgbClr val="000000"/>
                </a:solidFill>
              </a:rPr>
              <a:t>of total time spent on broader workflow activities covered by specific workflow</a:t>
            </a:r>
          </a:p>
        </p:txBody>
      </p:sp>
      <p:sp>
        <p:nvSpPr>
          <p:cNvPr id="82" name="TextBox 81">
            <a:extLst>
              <a:ext uri="{FF2B5EF4-FFF2-40B4-BE49-F238E27FC236}">
                <a16:creationId xmlns:a16="http://schemas.microsoft.com/office/drawing/2014/main" id="{A1CA4FB6-62C3-7B87-1D31-EA111E1DC241}"/>
              </a:ext>
            </a:extLst>
          </p:cNvPr>
          <p:cNvSpPr txBox="1"/>
          <p:nvPr/>
        </p:nvSpPr>
        <p:spPr>
          <a:xfrm>
            <a:off x="2316575" y="5732213"/>
            <a:ext cx="2374297" cy="5078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600"/>
              </a:spcAft>
              <a:buSzPts val="1200"/>
            </a:pPr>
            <a:r>
              <a:rPr lang="en-US" sz="1100" b="1">
                <a:solidFill>
                  <a:srgbClr val="000000"/>
                </a:solidFill>
              </a:rPr>
              <a:t>A limited amount </a:t>
            </a:r>
            <a:r>
              <a:rPr lang="en-US" sz="1100">
                <a:solidFill>
                  <a:srgbClr val="000000"/>
                </a:solidFill>
              </a:rPr>
              <a:t>of time spent on broader workflow activities covered by specific workflow</a:t>
            </a:r>
          </a:p>
        </p:txBody>
      </p:sp>
      <p:sp>
        <p:nvSpPr>
          <p:cNvPr id="66" name="TextBox 65">
            <a:extLst>
              <a:ext uri="{FF2B5EF4-FFF2-40B4-BE49-F238E27FC236}">
                <a16:creationId xmlns:a16="http://schemas.microsoft.com/office/drawing/2014/main" id="{110A380B-D0A2-E33C-B6C1-2C5EF669DD08}"/>
              </a:ext>
            </a:extLst>
          </p:cNvPr>
          <p:cNvSpPr txBox="1"/>
          <p:nvPr/>
        </p:nvSpPr>
        <p:spPr>
          <a:xfrm>
            <a:off x="6943868" y="2769640"/>
            <a:ext cx="714471" cy="177540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buFont typeface="Wingdings" panose="05000000000000000000" pitchFamily="2" charset="2"/>
              <a:buChar char="q"/>
            </a:pPr>
            <a:r>
              <a:rPr lang="en-US" sz="1100" b="1">
                <a:solidFill>
                  <a:srgbClr val="000000"/>
                </a:solidFill>
              </a:rPr>
              <a:t>4 –</a:t>
            </a:r>
          </a:p>
          <a:p>
            <a:pPr>
              <a:spcAft>
                <a:spcPts val="600"/>
              </a:spcAft>
            </a:pPr>
            <a:endParaRPr lang="en-US" sz="1100" b="1">
              <a:solidFill>
                <a:srgbClr val="000000"/>
              </a:solidFill>
            </a:endParaRPr>
          </a:p>
          <a:p>
            <a:pPr marL="171450" indent="-171450">
              <a:buFont typeface="Wingdings" panose="05000000000000000000" pitchFamily="2" charset="2"/>
              <a:buChar char="q"/>
            </a:pPr>
            <a:r>
              <a:rPr lang="en-US" sz="1100" b="1">
                <a:solidFill>
                  <a:srgbClr val="000000"/>
                </a:solidFill>
              </a:rPr>
              <a:t>3 –</a:t>
            </a:r>
          </a:p>
          <a:p>
            <a:pPr>
              <a:spcAft>
                <a:spcPts val="600"/>
              </a:spcAft>
            </a:pPr>
            <a:endParaRPr lang="en-US" sz="1100">
              <a:solidFill>
                <a:srgbClr val="000000"/>
              </a:solidFill>
            </a:endParaRPr>
          </a:p>
          <a:p>
            <a:pPr marL="171450" indent="-171450">
              <a:spcAft>
                <a:spcPts val="600"/>
              </a:spcAft>
              <a:buFont typeface="Wingdings" panose="05000000000000000000" pitchFamily="2" charset="2"/>
              <a:buChar char="q"/>
            </a:pPr>
            <a:r>
              <a:rPr lang="en-US" sz="1100" b="1">
                <a:solidFill>
                  <a:srgbClr val="000000"/>
                </a:solidFill>
              </a:rPr>
              <a:t>2 –</a:t>
            </a:r>
          </a:p>
          <a:p>
            <a:pPr marL="171450" indent="-171450">
              <a:spcAft>
                <a:spcPts val="600"/>
              </a:spcAft>
              <a:buFont typeface="Wingdings" panose="05000000000000000000" pitchFamily="2" charset="2"/>
              <a:buChar char="q"/>
            </a:pPr>
            <a:r>
              <a:rPr lang="en-US" sz="1100" b="1">
                <a:solidFill>
                  <a:srgbClr val="000000"/>
                </a:solidFill>
              </a:rPr>
              <a:t>1 –</a:t>
            </a:r>
            <a:endParaRPr lang="en-US" sz="1100">
              <a:solidFill>
                <a:srgbClr val="000000"/>
              </a:solidFill>
            </a:endParaRPr>
          </a:p>
          <a:p>
            <a:pPr marL="171450" indent="-171450">
              <a:spcAft>
                <a:spcPts val="600"/>
              </a:spcAft>
              <a:buFont typeface="Wingdings" panose="05000000000000000000" pitchFamily="2" charset="2"/>
              <a:buChar char="q"/>
            </a:pPr>
            <a:r>
              <a:rPr lang="en-US" sz="1100" b="1">
                <a:solidFill>
                  <a:srgbClr val="000000"/>
                </a:solidFill>
              </a:rPr>
              <a:t>0 – </a:t>
            </a:r>
            <a:endParaRPr lang="en-US" sz="1100">
              <a:solidFill>
                <a:srgbClr val="000000"/>
              </a:solidFill>
            </a:endParaRPr>
          </a:p>
        </p:txBody>
      </p:sp>
      <p:sp>
        <p:nvSpPr>
          <p:cNvPr id="68" name="TextBox 67">
            <a:extLst>
              <a:ext uri="{FF2B5EF4-FFF2-40B4-BE49-F238E27FC236}">
                <a16:creationId xmlns:a16="http://schemas.microsoft.com/office/drawing/2014/main" id="{6D4ABE60-16DB-941B-0F02-9FE39717DFA1}"/>
              </a:ext>
            </a:extLst>
          </p:cNvPr>
          <p:cNvSpPr txBox="1"/>
          <p:nvPr/>
        </p:nvSpPr>
        <p:spPr>
          <a:xfrm>
            <a:off x="7404100" y="2769640"/>
            <a:ext cx="3913337" cy="177540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spcAft>
                <a:spcPts val="600"/>
              </a:spcAft>
            </a:pPr>
            <a:r>
              <a:rPr lang="en-US" sz="1100" b="1">
                <a:solidFill>
                  <a:srgbClr val="000000"/>
                </a:solidFill>
              </a:rPr>
              <a:t>Broadly adopted </a:t>
            </a:r>
            <a:r>
              <a:rPr lang="en-US" sz="1100">
                <a:solidFill>
                  <a:srgbClr val="000000"/>
                </a:solidFill>
              </a:rPr>
              <a:t>and delivering full expected efficiencies across users and regions</a:t>
            </a:r>
          </a:p>
          <a:p>
            <a:pPr>
              <a:spcAft>
                <a:spcPts val="600"/>
              </a:spcAft>
            </a:pPr>
            <a:r>
              <a:rPr lang="en-US" sz="1100" b="1">
                <a:solidFill>
                  <a:srgbClr val="000000"/>
                </a:solidFill>
              </a:rPr>
              <a:t>Adopted across multiple regions/functions </a:t>
            </a:r>
            <a:r>
              <a:rPr lang="en-US" sz="1100">
                <a:solidFill>
                  <a:srgbClr val="000000"/>
                </a:solidFill>
              </a:rPr>
              <a:t>with measurable improvements</a:t>
            </a:r>
          </a:p>
          <a:p>
            <a:pPr>
              <a:spcAft>
                <a:spcPts val="600"/>
              </a:spcAft>
            </a:pPr>
            <a:r>
              <a:rPr lang="en-US" sz="1100" b="1">
                <a:solidFill>
                  <a:srgbClr val="000000"/>
                </a:solidFill>
              </a:rPr>
              <a:t>Early adoption </a:t>
            </a:r>
            <a:r>
              <a:rPr lang="en-US" sz="1100">
                <a:solidFill>
                  <a:srgbClr val="000000"/>
                </a:solidFill>
              </a:rPr>
              <a:t>with partial efficiency realized</a:t>
            </a:r>
          </a:p>
          <a:p>
            <a:pPr>
              <a:spcAft>
                <a:spcPts val="600"/>
              </a:spcAft>
            </a:pPr>
            <a:r>
              <a:rPr lang="en-US" sz="1100" b="1">
                <a:solidFill>
                  <a:srgbClr val="000000"/>
                </a:solidFill>
              </a:rPr>
              <a:t>Pilot or limited use</a:t>
            </a:r>
            <a:r>
              <a:rPr lang="en-US" sz="1100">
                <a:solidFill>
                  <a:srgbClr val="000000"/>
                </a:solidFill>
              </a:rPr>
              <a:t>, early indications of benefits</a:t>
            </a:r>
          </a:p>
          <a:p>
            <a:pPr>
              <a:spcAft>
                <a:spcPts val="600"/>
              </a:spcAft>
            </a:pPr>
            <a:r>
              <a:rPr lang="en-US" sz="1100" b="1">
                <a:solidFill>
                  <a:srgbClr val="000000"/>
                </a:solidFill>
              </a:rPr>
              <a:t>Not yet in use</a:t>
            </a:r>
            <a:r>
              <a:rPr lang="en-US" sz="1100">
                <a:solidFill>
                  <a:srgbClr val="000000"/>
                </a:solidFill>
              </a:rPr>
              <a:t>/delivering measurable impact</a:t>
            </a:r>
          </a:p>
        </p:txBody>
      </p:sp>
      <p:sp>
        <p:nvSpPr>
          <p:cNvPr id="70" name="TextBox 69">
            <a:extLst>
              <a:ext uri="{FF2B5EF4-FFF2-40B4-BE49-F238E27FC236}">
                <a16:creationId xmlns:a16="http://schemas.microsoft.com/office/drawing/2014/main" id="{05022C11-57B6-8C79-D541-F3A7F82BBA5E}"/>
              </a:ext>
            </a:extLst>
          </p:cNvPr>
          <p:cNvSpPr txBox="1"/>
          <p:nvPr/>
        </p:nvSpPr>
        <p:spPr>
          <a:xfrm>
            <a:off x="852718" y="4585008"/>
            <a:ext cx="1507449" cy="1692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a:buFont typeface="Wingdings" panose="05000000000000000000" pitchFamily="2" charset="2"/>
              <a:buChar char="q"/>
            </a:pPr>
            <a:r>
              <a:rPr lang="en-US" sz="1100" b="1">
                <a:solidFill>
                  <a:srgbClr val="000000"/>
                </a:solidFill>
              </a:rPr>
              <a:t>HIGH (~70-100%) -</a:t>
            </a:r>
          </a:p>
        </p:txBody>
      </p:sp>
      <p:sp>
        <p:nvSpPr>
          <p:cNvPr id="84" name="TextBox 83">
            <a:extLst>
              <a:ext uri="{FF2B5EF4-FFF2-40B4-BE49-F238E27FC236}">
                <a16:creationId xmlns:a16="http://schemas.microsoft.com/office/drawing/2014/main" id="{5433A1E1-A995-3FE0-F4EB-DDCE277E619A}"/>
              </a:ext>
            </a:extLst>
          </p:cNvPr>
          <p:cNvSpPr txBox="1"/>
          <p:nvPr/>
        </p:nvSpPr>
        <p:spPr>
          <a:xfrm>
            <a:off x="852718" y="5158611"/>
            <a:ext cx="1507449" cy="1692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a:buFont typeface="Wingdings" panose="05000000000000000000" pitchFamily="2" charset="2"/>
              <a:buChar char="q"/>
            </a:pPr>
            <a:r>
              <a:rPr lang="en-US" sz="1100" b="1">
                <a:solidFill>
                  <a:srgbClr val="000000"/>
                </a:solidFill>
              </a:rPr>
              <a:t>MED (~30-70%)   -</a:t>
            </a:r>
          </a:p>
        </p:txBody>
      </p:sp>
      <p:sp>
        <p:nvSpPr>
          <p:cNvPr id="85" name="TextBox 84">
            <a:extLst>
              <a:ext uri="{FF2B5EF4-FFF2-40B4-BE49-F238E27FC236}">
                <a16:creationId xmlns:a16="http://schemas.microsoft.com/office/drawing/2014/main" id="{ABFEC124-989B-B78F-0073-A00AEB562D71}"/>
              </a:ext>
            </a:extLst>
          </p:cNvPr>
          <p:cNvSpPr txBox="1"/>
          <p:nvPr/>
        </p:nvSpPr>
        <p:spPr>
          <a:xfrm>
            <a:off x="852718" y="5732213"/>
            <a:ext cx="1507449" cy="1692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a:buFont typeface="Wingdings" panose="05000000000000000000" pitchFamily="2" charset="2"/>
              <a:buChar char="q"/>
            </a:pPr>
            <a:r>
              <a:rPr lang="en-US" sz="1100" b="1">
                <a:solidFill>
                  <a:srgbClr val="000000"/>
                </a:solidFill>
              </a:rPr>
              <a:t>LOW (~1-30%)    -</a:t>
            </a:r>
          </a:p>
        </p:txBody>
      </p:sp>
      <p:sp>
        <p:nvSpPr>
          <p:cNvPr id="71" name="Rectangle 70">
            <a:extLst>
              <a:ext uri="{FF2B5EF4-FFF2-40B4-BE49-F238E27FC236}">
                <a16:creationId xmlns:a16="http://schemas.microsoft.com/office/drawing/2014/main" id="{DA5B7495-E9AE-4483-67E4-F08D4CF8CEE1}"/>
              </a:ext>
            </a:extLst>
          </p:cNvPr>
          <p:cNvSpPr/>
          <p:nvPr/>
        </p:nvSpPr>
        <p:spPr>
          <a:xfrm>
            <a:off x="6778770" y="4485224"/>
            <a:ext cx="4646562" cy="1813476"/>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191FF"/>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50" i="1">
                <a:solidFill>
                  <a:srgbClr val="8C9BA5"/>
                </a:solidFill>
              </a:rPr>
              <a:t>Please provide a brief justification for your selected impact level</a:t>
            </a:r>
          </a:p>
        </p:txBody>
      </p:sp>
      <p:sp>
        <p:nvSpPr>
          <p:cNvPr id="72" name="Rectangle 71">
            <a:extLst>
              <a:ext uri="{FF2B5EF4-FFF2-40B4-BE49-F238E27FC236}">
                <a16:creationId xmlns:a16="http://schemas.microsoft.com/office/drawing/2014/main" id="{54AED246-958E-1984-9934-306DDDEA18ED}"/>
              </a:ext>
            </a:extLst>
          </p:cNvPr>
          <p:cNvSpPr/>
          <p:nvPr/>
        </p:nvSpPr>
        <p:spPr>
          <a:xfrm>
            <a:off x="4718303" y="4485224"/>
            <a:ext cx="1669653" cy="1813476"/>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191FF"/>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50" i="1">
                <a:solidFill>
                  <a:srgbClr val="8C9BA5"/>
                </a:solidFill>
              </a:rPr>
              <a:t>Please provide a brief justification for your selected coverage level</a:t>
            </a:r>
          </a:p>
        </p:txBody>
      </p:sp>
      <p:sp>
        <p:nvSpPr>
          <p:cNvPr id="18" name="Rectangle 17">
            <a:extLst>
              <a:ext uri="{FF2B5EF4-FFF2-40B4-BE49-F238E27FC236}">
                <a16:creationId xmlns:a16="http://schemas.microsoft.com/office/drawing/2014/main" id="{20CC94A1-5536-AC67-2B7D-1389EE8A9C15}"/>
              </a:ext>
            </a:extLst>
          </p:cNvPr>
          <p:cNvSpPr/>
          <p:nvPr/>
        </p:nvSpPr>
        <p:spPr>
          <a:xfrm>
            <a:off x="5045128" y="1068803"/>
            <a:ext cx="6516872" cy="726759"/>
          </a:xfrm>
          <a:prstGeom prst="rect">
            <a:avLst/>
          </a:prstGeom>
          <a:solidFill>
            <a:schemeClr val="bg1"/>
          </a:solidFill>
          <a:ln w="19050" cap="rnd" cmpd="sng" algn="ctr">
            <a:solidFill>
              <a:schemeClr val="accent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19" name="Rectangle: Top Corners Rounded 18">
            <a:extLst>
              <a:ext uri="{FF2B5EF4-FFF2-40B4-BE49-F238E27FC236}">
                <a16:creationId xmlns:a16="http://schemas.microsoft.com/office/drawing/2014/main" id="{6EA33D19-0BFA-BADD-9E06-F4776F344C3D}"/>
              </a:ext>
            </a:extLst>
          </p:cNvPr>
          <p:cNvSpPr/>
          <p:nvPr/>
        </p:nvSpPr>
        <p:spPr>
          <a:xfrm rot="16200000">
            <a:off x="4438719" y="845906"/>
            <a:ext cx="726759" cy="1172554"/>
          </a:xfrm>
          <a:prstGeom prst="round2SameRect">
            <a:avLst>
              <a:gd name="adj1" fmla="val 10976"/>
              <a:gd name="adj2" fmla="val 0"/>
            </a:avLst>
          </a:prstGeom>
          <a:solidFill>
            <a:srgbClr val="005696"/>
          </a:solidFill>
          <a:ln w="19050" cap="rnd" cmpd="sng" algn="ctr">
            <a:solidFill>
              <a:schemeClr val="accent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20" name="TextBox 19">
            <a:extLst>
              <a:ext uri="{FF2B5EF4-FFF2-40B4-BE49-F238E27FC236}">
                <a16:creationId xmlns:a16="http://schemas.microsoft.com/office/drawing/2014/main" id="{24FA85F2-39D5-19D7-D501-47C40E4856EF}"/>
              </a:ext>
            </a:extLst>
          </p:cNvPr>
          <p:cNvSpPr txBox="1"/>
          <p:nvPr/>
        </p:nvSpPr>
        <p:spPr>
          <a:xfrm>
            <a:off x="4283157" y="1068803"/>
            <a:ext cx="1037883" cy="726759"/>
          </a:xfrm>
          <a:prstGeom prst="rect">
            <a:avLst/>
          </a:prstGeom>
          <a:noFill/>
          <a:ln w="9525" cap="rnd">
            <a:noFill/>
            <a:prstDash val="solid"/>
            <a:round/>
          </a:ln>
          <a:extLst>
            <a:ext uri="{909E8E84-426E-40DD-AFC4-6F175D3DCCD1}">
              <a14:hiddenFill xmlns:a14="http://schemas.microsoft.com/office/drawing/2010/main">
                <a:solidFill>
                  <a:schemeClr val="tx2">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bg1"/>
                </a:solidFill>
              </a:rPr>
              <a:t>Initiative Description</a:t>
            </a:r>
          </a:p>
        </p:txBody>
      </p:sp>
      <p:sp>
        <p:nvSpPr>
          <p:cNvPr id="21" name="TextBox 20">
            <a:extLst>
              <a:ext uri="{FF2B5EF4-FFF2-40B4-BE49-F238E27FC236}">
                <a16:creationId xmlns:a16="http://schemas.microsoft.com/office/drawing/2014/main" id="{BBD9F3E6-E79B-930B-0055-A9E53B469877}"/>
              </a:ext>
            </a:extLst>
          </p:cNvPr>
          <p:cNvSpPr txBox="1"/>
          <p:nvPr/>
        </p:nvSpPr>
        <p:spPr>
          <a:xfrm>
            <a:off x="5462597" y="1101179"/>
            <a:ext cx="6020648" cy="31310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rgbClr val="000000"/>
                </a:solidFill>
              </a:rPr>
              <a:t>Describe what your solution does and how it impacts the relevant process(es). Include intended users, deployment scope (teams/regions), and expected benefits or outcomes: </a:t>
            </a:r>
          </a:p>
        </p:txBody>
      </p:sp>
      <p:sp>
        <p:nvSpPr>
          <p:cNvPr id="73" name="Rectangle 72">
            <a:extLst>
              <a:ext uri="{FF2B5EF4-FFF2-40B4-BE49-F238E27FC236}">
                <a16:creationId xmlns:a16="http://schemas.microsoft.com/office/drawing/2014/main" id="{8B34B534-4287-473D-A9C0-7D720292F259}"/>
              </a:ext>
            </a:extLst>
          </p:cNvPr>
          <p:cNvSpPr/>
          <p:nvPr/>
        </p:nvSpPr>
        <p:spPr>
          <a:xfrm>
            <a:off x="5462597" y="1449683"/>
            <a:ext cx="6020648" cy="304238"/>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191FF"/>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50" i="1">
                <a:solidFill>
                  <a:srgbClr val="8C9BA5"/>
                </a:solidFill>
              </a:rPr>
              <a:t>Brief description of initiative, deployment timeline, and expected impact</a:t>
            </a:r>
            <a:endParaRPr lang="en-US" sz="1200" i="1">
              <a:solidFill>
                <a:srgbClr val="8C9BA5"/>
              </a:solidFill>
            </a:endParaRPr>
          </a:p>
        </p:txBody>
      </p:sp>
      <p:sp>
        <p:nvSpPr>
          <p:cNvPr id="76" name="TextBox 75">
            <a:extLst>
              <a:ext uri="{FF2B5EF4-FFF2-40B4-BE49-F238E27FC236}">
                <a16:creationId xmlns:a16="http://schemas.microsoft.com/office/drawing/2014/main" id="{61782E87-680A-194D-1187-4DA24563F081}"/>
              </a:ext>
            </a:extLst>
          </p:cNvPr>
          <p:cNvSpPr txBox="1"/>
          <p:nvPr/>
        </p:nvSpPr>
        <p:spPr>
          <a:xfrm>
            <a:off x="773695" y="2246472"/>
            <a:ext cx="5614262" cy="33724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rgbClr val="000000"/>
                </a:solidFill>
              </a:rPr>
              <a:t>Briefly describe the specific workflow or activities your initiative targets.</a:t>
            </a:r>
          </a:p>
        </p:txBody>
      </p:sp>
      <p:sp>
        <p:nvSpPr>
          <p:cNvPr id="77" name="TextBox 76">
            <a:extLst>
              <a:ext uri="{FF2B5EF4-FFF2-40B4-BE49-F238E27FC236}">
                <a16:creationId xmlns:a16="http://schemas.microsoft.com/office/drawing/2014/main" id="{1BB2B662-8963-A89A-2100-D7D17FECCE50}"/>
              </a:ext>
            </a:extLst>
          </p:cNvPr>
          <p:cNvSpPr txBox="1"/>
          <p:nvPr/>
        </p:nvSpPr>
        <p:spPr>
          <a:xfrm>
            <a:off x="773695" y="3143623"/>
            <a:ext cx="5614262" cy="33724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rgbClr val="000000"/>
                </a:solidFill>
              </a:rPr>
              <a:t>Briefly describe the broader workflow or process within which your initiative sits.  </a:t>
            </a:r>
          </a:p>
        </p:txBody>
      </p:sp>
      <p:sp>
        <p:nvSpPr>
          <p:cNvPr id="87" name="Rectangle 86">
            <a:extLst>
              <a:ext uri="{FF2B5EF4-FFF2-40B4-BE49-F238E27FC236}">
                <a16:creationId xmlns:a16="http://schemas.microsoft.com/office/drawing/2014/main" id="{DF2CF0CC-07AA-388F-9408-76B852508BF7}"/>
              </a:ext>
            </a:extLst>
          </p:cNvPr>
          <p:cNvSpPr/>
          <p:nvPr/>
        </p:nvSpPr>
        <p:spPr>
          <a:xfrm>
            <a:off x="773695" y="2595637"/>
            <a:ext cx="5614262" cy="502920"/>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191FF"/>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50" i="1">
                <a:solidFill>
                  <a:srgbClr val="8C9BA5"/>
                </a:solidFill>
              </a:rPr>
              <a:t>e.g., Source prospective talent, screen candidates, conduct outreach, set up interviews</a:t>
            </a:r>
          </a:p>
        </p:txBody>
      </p:sp>
      <p:sp>
        <p:nvSpPr>
          <p:cNvPr id="88" name="Rectangle 87">
            <a:extLst>
              <a:ext uri="{FF2B5EF4-FFF2-40B4-BE49-F238E27FC236}">
                <a16:creationId xmlns:a16="http://schemas.microsoft.com/office/drawing/2014/main" id="{246FC1EC-F851-F0F5-BE79-D29DFB53083D}"/>
              </a:ext>
            </a:extLst>
          </p:cNvPr>
          <p:cNvSpPr/>
          <p:nvPr/>
        </p:nvSpPr>
        <p:spPr>
          <a:xfrm>
            <a:off x="773695" y="3480208"/>
            <a:ext cx="5614262" cy="502920"/>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191FF"/>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50" i="1">
                <a:solidFill>
                  <a:srgbClr val="8C9BA5"/>
                </a:solidFill>
              </a:rPr>
              <a:t>e.g., Talent acquisition</a:t>
            </a:r>
          </a:p>
        </p:txBody>
      </p:sp>
    </p:spTree>
    <p:extLst>
      <p:ext uri="{BB962C8B-B14F-4D97-AF65-F5344CB8AC3E}">
        <p14:creationId xmlns:p14="http://schemas.microsoft.com/office/powerpoint/2010/main" val="35532326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91484-4DC2-2814-80FC-D47CA296E422}"/>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6A545A2-0881-9C4A-C21C-0F79E929CEF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4" name="think-cell data - do not delete" hidden="1">
                        <a:extLst>
                          <a:ext uri="{FF2B5EF4-FFF2-40B4-BE49-F238E27FC236}">
                            <a16:creationId xmlns:a16="http://schemas.microsoft.com/office/drawing/2014/main" id="{B6A545A2-0881-9C4A-C21C-0F79E929CEF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5E917C9-2413-2ADF-7EE7-8320C9CFBFA1}"/>
              </a:ext>
            </a:extLst>
          </p:cNvPr>
          <p:cNvSpPr>
            <a:spLocks noGrp="1"/>
          </p:cNvSpPr>
          <p:nvPr>
            <p:ph type="title"/>
          </p:nvPr>
        </p:nvSpPr>
        <p:spPr/>
        <p:txBody>
          <a:bodyPr vert="horz"/>
          <a:lstStyle/>
          <a:p>
            <a:r>
              <a:rPr lang="en-US">
                <a:solidFill>
                  <a:srgbClr val="002E50"/>
                </a:solidFill>
              </a:rPr>
              <a:t>Detail | </a:t>
            </a:r>
            <a:r>
              <a:rPr lang="en-US"/>
              <a:t>Evaluation form to share with initiative owners</a:t>
            </a:r>
          </a:p>
        </p:txBody>
      </p:sp>
      <p:grpSp>
        <p:nvGrpSpPr>
          <p:cNvPr id="78" name="Group 77">
            <a:extLst>
              <a:ext uri="{FF2B5EF4-FFF2-40B4-BE49-F238E27FC236}">
                <a16:creationId xmlns:a16="http://schemas.microsoft.com/office/drawing/2014/main" id="{FA4EC60F-6573-C178-F1E6-95916A0C25D7}"/>
              </a:ext>
            </a:extLst>
          </p:cNvPr>
          <p:cNvGrpSpPr/>
          <p:nvPr/>
        </p:nvGrpSpPr>
        <p:grpSpPr>
          <a:xfrm>
            <a:off x="630001" y="1068803"/>
            <a:ext cx="3484799" cy="726760"/>
            <a:chOff x="630001" y="1043403"/>
            <a:chExt cx="4352956" cy="452321"/>
          </a:xfrm>
        </p:grpSpPr>
        <p:sp>
          <p:nvSpPr>
            <p:cNvPr id="9" name="Rectangle 8">
              <a:extLst>
                <a:ext uri="{FF2B5EF4-FFF2-40B4-BE49-F238E27FC236}">
                  <a16:creationId xmlns:a16="http://schemas.microsoft.com/office/drawing/2014/main" id="{C8455A99-8694-BEAD-5243-13C74098373B}"/>
                </a:ext>
              </a:extLst>
            </p:cNvPr>
            <p:cNvSpPr/>
            <p:nvPr/>
          </p:nvSpPr>
          <p:spPr>
            <a:xfrm>
              <a:off x="2374903" y="1043403"/>
              <a:ext cx="2608054" cy="452321"/>
            </a:xfrm>
            <a:prstGeom prst="rect">
              <a:avLst/>
            </a:prstGeom>
            <a:solidFill>
              <a:schemeClr val="bg1"/>
            </a:solidFill>
            <a:ln w="19050" cap="rnd" cmpd="sng" algn="ctr">
              <a:solidFill>
                <a:schemeClr val="accent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a:solidFill>
                    <a:srgbClr val="9545D8"/>
                  </a:solidFill>
                </a:rPr>
                <a:t>Talent Acquisition Agent</a:t>
              </a:r>
            </a:p>
          </p:txBody>
        </p:sp>
        <p:sp>
          <p:nvSpPr>
            <p:cNvPr id="8" name="Rectangle: Top Corners Rounded 7">
              <a:extLst>
                <a:ext uri="{FF2B5EF4-FFF2-40B4-BE49-F238E27FC236}">
                  <a16:creationId xmlns:a16="http://schemas.microsoft.com/office/drawing/2014/main" id="{8A18831B-B44B-B33B-A726-1568FF963150}"/>
                </a:ext>
              </a:extLst>
            </p:cNvPr>
            <p:cNvSpPr/>
            <p:nvPr/>
          </p:nvSpPr>
          <p:spPr>
            <a:xfrm rot="16200000">
              <a:off x="1276291" y="397113"/>
              <a:ext cx="452321" cy="1744902"/>
            </a:xfrm>
            <a:prstGeom prst="round2SameRect">
              <a:avLst>
                <a:gd name="adj1" fmla="val 15188"/>
                <a:gd name="adj2" fmla="val 0"/>
              </a:avLst>
            </a:prstGeom>
            <a:solidFill>
              <a:srgbClr val="005696"/>
            </a:solidFill>
            <a:ln w="19050" cap="rnd" cmpd="sng" algn="ctr">
              <a:solidFill>
                <a:schemeClr val="accent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10" name="TextBox 9">
              <a:extLst>
                <a:ext uri="{FF2B5EF4-FFF2-40B4-BE49-F238E27FC236}">
                  <a16:creationId xmlns:a16="http://schemas.microsoft.com/office/drawing/2014/main" id="{3A2F4C3B-869A-4F9D-9686-6D93AB8AA3E6}"/>
                </a:ext>
              </a:extLst>
            </p:cNvPr>
            <p:cNvSpPr txBox="1"/>
            <p:nvPr/>
          </p:nvSpPr>
          <p:spPr>
            <a:xfrm>
              <a:off x="653631" y="1043403"/>
              <a:ext cx="1697639" cy="452321"/>
            </a:xfrm>
            <a:prstGeom prst="rect">
              <a:avLst/>
            </a:prstGeom>
            <a:noFill/>
            <a:ln w="19050" cap="rnd" cmpd="sng" algn="ctr">
              <a:noFill/>
              <a:prstDash val="solid"/>
              <a:round/>
            </a:ln>
            <a:effectLst/>
            <a:extLst>
              <a:ext uri="{909E8E84-426E-40DD-AFC4-6F175D3DCCD1}">
                <a14:hiddenFill xmlns:a14="http://schemas.microsoft.com/office/drawing/2010/main">
                  <a:solidFill>
                    <a:srgbClr val="29BA74"/>
                  </a:solidFill>
                </a14:hiddenFill>
              </a:ext>
              <a:ext uri="{91240B29-F687-4F45-9708-019B960494DF}">
                <a14:hiddenLine xmlns:a14="http://schemas.microsoft.com/office/drawing/2010/main" w="19050" cap="rnd" cmpd="sng" algn="ctr">
                  <a:solidFill>
                    <a:schemeClr val="tx1"/>
                  </a:solidFill>
                  <a:prstDash val="solid"/>
                  <a:rou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Initiative Name</a:t>
              </a:r>
            </a:p>
          </p:txBody>
        </p:sp>
      </p:grpSp>
      <p:sp>
        <p:nvSpPr>
          <p:cNvPr id="24" name="Rectangle 23">
            <a:extLst>
              <a:ext uri="{FF2B5EF4-FFF2-40B4-BE49-F238E27FC236}">
                <a16:creationId xmlns:a16="http://schemas.microsoft.com/office/drawing/2014/main" id="{20DC7E5F-B8A1-AAF3-5042-4C2B12B07447}"/>
              </a:ext>
            </a:extLst>
          </p:cNvPr>
          <p:cNvSpPr/>
          <p:nvPr/>
        </p:nvSpPr>
        <p:spPr>
          <a:xfrm>
            <a:off x="630000" y="2179683"/>
            <a:ext cx="5901651" cy="4208418"/>
          </a:xfrm>
          <a:prstGeom prst="rect">
            <a:avLst/>
          </a:prstGeom>
          <a:solidFill>
            <a:schemeClr val="bg1"/>
          </a:solidFill>
          <a:ln w="19050" cap="rnd" cmpd="sng" algn="ctr">
            <a:solidFill>
              <a:srgbClr val="0191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25" name="Rectangle: Top Corners Rounded 24">
            <a:extLst>
              <a:ext uri="{FF2B5EF4-FFF2-40B4-BE49-F238E27FC236}">
                <a16:creationId xmlns:a16="http://schemas.microsoft.com/office/drawing/2014/main" id="{7ABD876A-9151-8F56-55A9-2DE568DE2020}"/>
              </a:ext>
            </a:extLst>
          </p:cNvPr>
          <p:cNvSpPr/>
          <p:nvPr/>
        </p:nvSpPr>
        <p:spPr>
          <a:xfrm>
            <a:off x="630001" y="1892493"/>
            <a:ext cx="5901650" cy="287190"/>
          </a:xfrm>
          <a:prstGeom prst="round2SameRect">
            <a:avLst>
              <a:gd name="adj1" fmla="val 21247"/>
              <a:gd name="adj2" fmla="val 0"/>
            </a:avLst>
          </a:prstGeom>
          <a:solidFill>
            <a:srgbClr val="0191FF"/>
          </a:solidFill>
          <a:ln w="19050" cap="rnd" cmpd="sng" algn="ctr">
            <a:solidFill>
              <a:srgbClr val="0191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u="sng">
                <a:solidFill>
                  <a:schemeClr val="bg1"/>
                </a:solidFill>
              </a:rPr>
              <a:t>Section 1</a:t>
            </a:r>
            <a:r>
              <a:rPr lang="en-US" sz="1200" b="1">
                <a:solidFill>
                  <a:schemeClr val="bg1"/>
                </a:solidFill>
              </a:rPr>
              <a:t>: Coverage within the L3 Process(es)</a:t>
            </a:r>
          </a:p>
        </p:txBody>
      </p:sp>
      <p:sp>
        <p:nvSpPr>
          <p:cNvPr id="55" name="IllustrativeStamp">
            <a:extLst>
              <a:ext uri="{FF2B5EF4-FFF2-40B4-BE49-F238E27FC236}">
                <a16:creationId xmlns:a16="http://schemas.microsoft.com/office/drawing/2014/main" id="{64ECD37F-0833-96D8-A29D-590C5382B11D}"/>
              </a:ext>
            </a:extLst>
          </p:cNvPr>
          <p:cNvSpPr/>
          <p:nvPr/>
        </p:nvSpPr>
        <p:spPr>
          <a:xfrm>
            <a:off x="4652082" y="0"/>
            <a:ext cx="2889186" cy="215900"/>
          </a:xfrm>
          <a:prstGeom prst="rect">
            <a:avLst/>
          </a:prstGeom>
          <a:solidFill>
            <a:srgbClr val="C00000"/>
          </a:solidFill>
          <a:ln w="9525">
            <a:solidFill>
              <a:srgbClr val="C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l"/>
            <a:r>
              <a:rPr lang="en-US" sz="1200" b="1">
                <a:solidFill>
                  <a:schemeClr val="bg1"/>
                </a:solidFill>
                <a:latin typeface="Trebuchet MS" panose="020B0603020202020204" pitchFamily="34" charset="0"/>
              </a:rPr>
              <a:t>Preliminary</a:t>
            </a:r>
          </a:p>
        </p:txBody>
      </p:sp>
      <p:sp>
        <p:nvSpPr>
          <p:cNvPr id="60" name="TextBox 59">
            <a:extLst>
              <a:ext uri="{FF2B5EF4-FFF2-40B4-BE49-F238E27FC236}">
                <a16:creationId xmlns:a16="http://schemas.microsoft.com/office/drawing/2014/main" id="{8F3DE10A-2BDF-E14A-3B9C-73336C6834A7}"/>
              </a:ext>
            </a:extLst>
          </p:cNvPr>
          <p:cNvSpPr txBox="1"/>
          <p:nvPr/>
        </p:nvSpPr>
        <p:spPr>
          <a:xfrm>
            <a:off x="773695" y="4074964"/>
            <a:ext cx="5614262" cy="33723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rgbClr val="000000"/>
                </a:solidFill>
              </a:rPr>
              <a:t>Within the broader workflow, estimate the portion of total time (%) dedicated to your specific workflow within a given month. Select one: </a:t>
            </a:r>
          </a:p>
        </p:txBody>
      </p:sp>
      <p:sp>
        <p:nvSpPr>
          <p:cNvPr id="61" name="Rectangle 60">
            <a:extLst>
              <a:ext uri="{FF2B5EF4-FFF2-40B4-BE49-F238E27FC236}">
                <a16:creationId xmlns:a16="http://schemas.microsoft.com/office/drawing/2014/main" id="{8BE7A52E-4DCA-2598-7368-DD31629D270C}"/>
              </a:ext>
            </a:extLst>
          </p:cNvPr>
          <p:cNvSpPr/>
          <p:nvPr/>
        </p:nvSpPr>
        <p:spPr>
          <a:xfrm>
            <a:off x="6642100" y="2179683"/>
            <a:ext cx="4919900" cy="4208418"/>
          </a:xfrm>
          <a:prstGeom prst="rect">
            <a:avLst/>
          </a:prstGeom>
          <a:solidFill>
            <a:schemeClr val="bg1"/>
          </a:solidFill>
          <a:ln w="19050" cap="rnd" cmpd="sng" algn="ctr">
            <a:solidFill>
              <a:srgbClr val="0191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62" name="Rectangle: Top Corners Rounded 61">
            <a:extLst>
              <a:ext uri="{FF2B5EF4-FFF2-40B4-BE49-F238E27FC236}">
                <a16:creationId xmlns:a16="http://schemas.microsoft.com/office/drawing/2014/main" id="{B9432908-7C58-8789-2685-01AD37E6CE4D}"/>
              </a:ext>
            </a:extLst>
          </p:cNvPr>
          <p:cNvSpPr/>
          <p:nvPr/>
        </p:nvSpPr>
        <p:spPr>
          <a:xfrm>
            <a:off x="6642100" y="1892493"/>
            <a:ext cx="4919899" cy="287190"/>
          </a:xfrm>
          <a:prstGeom prst="round2SameRect">
            <a:avLst>
              <a:gd name="adj1" fmla="val 21247"/>
              <a:gd name="adj2" fmla="val 0"/>
            </a:avLst>
          </a:prstGeom>
          <a:solidFill>
            <a:srgbClr val="0191FF"/>
          </a:solidFill>
          <a:ln w="19050" cap="rnd" cmpd="sng" algn="ctr">
            <a:solidFill>
              <a:srgbClr val="0191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u="sng">
                <a:solidFill>
                  <a:schemeClr val="bg1"/>
                </a:solidFill>
              </a:rPr>
              <a:t>Section 2</a:t>
            </a:r>
            <a:r>
              <a:rPr lang="en-US" sz="1200" b="1">
                <a:solidFill>
                  <a:schemeClr val="bg1"/>
                </a:solidFill>
              </a:rPr>
              <a:t>: What level of impact has the initiative realized today?</a:t>
            </a:r>
          </a:p>
        </p:txBody>
      </p:sp>
      <p:sp>
        <p:nvSpPr>
          <p:cNvPr id="63" name="TextBox 62">
            <a:extLst>
              <a:ext uri="{FF2B5EF4-FFF2-40B4-BE49-F238E27FC236}">
                <a16:creationId xmlns:a16="http://schemas.microsoft.com/office/drawing/2014/main" id="{ADA9EC40-7C69-11DC-67DB-FD188CEAE3B3}"/>
              </a:ext>
            </a:extLst>
          </p:cNvPr>
          <p:cNvSpPr txBox="1"/>
          <p:nvPr/>
        </p:nvSpPr>
        <p:spPr>
          <a:xfrm>
            <a:off x="6778769" y="2246472"/>
            <a:ext cx="4646562" cy="33723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rgbClr val="000000"/>
                </a:solidFill>
              </a:rPr>
              <a:t>What level of adoption or efficiency improvement has your initiative achieved so far? Select one: </a:t>
            </a:r>
          </a:p>
        </p:txBody>
      </p:sp>
      <p:sp>
        <p:nvSpPr>
          <p:cNvPr id="64" name="TextBox 63">
            <a:extLst>
              <a:ext uri="{FF2B5EF4-FFF2-40B4-BE49-F238E27FC236}">
                <a16:creationId xmlns:a16="http://schemas.microsoft.com/office/drawing/2014/main" id="{4EBAE901-DE0C-57A6-57F0-38912D355AD3}"/>
              </a:ext>
            </a:extLst>
          </p:cNvPr>
          <p:cNvSpPr txBox="1"/>
          <p:nvPr/>
        </p:nvSpPr>
        <p:spPr>
          <a:xfrm>
            <a:off x="2316575" y="4585008"/>
            <a:ext cx="2374297" cy="5078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600"/>
              </a:spcAft>
              <a:buSzPts val="1200"/>
            </a:pPr>
            <a:r>
              <a:rPr lang="en-US" sz="1100" b="1">
                <a:solidFill>
                  <a:srgbClr val="000000"/>
                </a:solidFill>
              </a:rPr>
              <a:t>Most or all </a:t>
            </a:r>
            <a:r>
              <a:rPr lang="en-US" sz="1100">
                <a:solidFill>
                  <a:srgbClr val="000000"/>
                </a:solidFill>
              </a:rPr>
              <a:t>of total time spent on broader workflow activities covered by specific workflow</a:t>
            </a:r>
          </a:p>
        </p:txBody>
      </p:sp>
      <p:sp>
        <p:nvSpPr>
          <p:cNvPr id="81" name="TextBox 80">
            <a:extLst>
              <a:ext uri="{FF2B5EF4-FFF2-40B4-BE49-F238E27FC236}">
                <a16:creationId xmlns:a16="http://schemas.microsoft.com/office/drawing/2014/main" id="{FFE3DAC1-0D83-41A0-7B8E-B0F67B57F0F0}"/>
              </a:ext>
            </a:extLst>
          </p:cNvPr>
          <p:cNvSpPr txBox="1"/>
          <p:nvPr/>
        </p:nvSpPr>
        <p:spPr>
          <a:xfrm>
            <a:off x="2316575" y="5158611"/>
            <a:ext cx="2374297" cy="5078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600"/>
              </a:spcAft>
              <a:buSzPts val="1200"/>
            </a:pPr>
            <a:r>
              <a:rPr lang="en-US" sz="1100" b="1">
                <a:solidFill>
                  <a:srgbClr val="000000"/>
                </a:solidFill>
              </a:rPr>
              <a:t>A significant portion </a:t>
            </a:r>
            <a:r>
              <a:rPr lang="en-US" sz="1100">
                <a:solidFill>
                  <a:srgbClr val="000000"/>
                </a:solidFill>
              </a:rPr>
              <a:t>of total time spent on broader workflow activities covered by specific workflow</a:t>
            </a:r>
          </a:p>
        </p:txBody>
      </p:sp>
      <p:sp>
        <p:nvSpPr>
          <p:cNvPr id="82" name="TextBox 81">
            <a:extLst>
              <a:ext uri="{FF2B5EF4-FFF2-40B4-BE49-F238E27FC236}">
                <a16:creationId xmlns:a16="http://schemas.microsoft.com/office/drawing/2014/main" id="{34DA4618-FC41-8D57-B283-E4FE9F78C5D1}"/>
              </a:ext>
            </a:extLst>
          </p:cNvPr>
          <p:cNvSpPr txBox="1"/>
          <p:nvPr/>
        </p:nvSpPr>
        <p:spPr>
          <a:xfrm>
            <a:off x="2316575" y="5732213"/>
            <a:ext cx="2374297" cy="50783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Aft>
                <a:spcPts val="600"/>
              </a:spcAft>
              <a:buSzPts val="1200"/>
            </a:pPr>
            <a:r>
              <a:rPr lang="en-US" sz="1100" b="1">
                <a:solidFill>
                  <a:srgbClr val="000000"/>
                </a:solidFill>
              </a:rPr>
              <a:t>A limited amount </a:t>
            </a:r>
            <a:r>
              <a:rPr lang="en-US" sz="1100">
                <a:solidFill>
                  <a:srgbClr val="000000"/>
                </a:solidFill>
              </a:rPr>
              <a:t>of time spent on broader workflow activities covered by specific workflow</a:t>
            </a:r>
          </a:p>
        </p:txBody>
      </p:sp>
      <p:sp>
        <p:nvSpPr>
          <p:cNvPr id="66" name="TextBox 65">
            <a:extLst>
              <a:ext uri="{FF2B5EF4-FFF2-40B4-BE49-F238E27FC236}">
                <a16:creationId xmlns:a16="http://schemas.microsoft.com/office/drawing/2014/main" id="{BD430885-D27D-4915-BFF9-188BF47A0A62}"/>
              </a:ext>
            </a:extLst>
          </p:cNvPr>
          <p:cNvSpPr txBox="1"/>
          <p:nvPr/>
        </p:nvSpPr>
        <p:spPr>
          <a:xfrm>
            <a:off x="6943868" y="2769640"/>
            <a:ext cx="714471" cy="177540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171450" indent="-171450">
              <a:buFont typeface="Wingdings" panose="05000000000000000000" pitchFamily="2" charset="2"/>
              <a:buChar char="q"/>
            </a:pPr>
            <a:r>
              <a:rPr lang="en-US" sz="1100" b="1">
                <a:solidFill>
                  <a:srgbClr val="000000"/>
                </a:solidFill>
              </a:rPr>
              <a:t>4 –</a:t>
            </a:r>
          </a:p>
          <a:p>
            <a:pPr>
              <a:spcAft>
                <a:spcPts val="600"/>
              </a:spcAft>
            </a:pPr>
            <a:endParaRPr lang="en-US" sz="1100" b="1">
              <a:solidFill>
                <a:srgbClr val="000000"/>
              </a:solidFill>
            </a:endParaRPr>
          </a:p>
          <a:p>
            <a:pPr marL="171450" indent="-171450">
              <a:buFont typeface="Wingdings" panose="05000000000000000000" pitchFamily="2" charset="2"/>
              <a:buChar char="q"/>
            </a:pPr>
            <a:r>
              <a:rPr lang="en-US" sz="1100" b="1">
                <a:solidFill>
                  <a:srgbClr val="000000"/>
                </a:solidFill>
              </a:rPr>
              <a:t>3 –</a:t>
            </a:r>
          </a:p>
          <a:p>
            <a:pPr>
              <a:spcAft>
                <a:spcPts val="600"/>
              </a:spcAft>
            </a:pPr>
            <a:endParaRPr lang="en-US" sz="1100">
              <a:solidFill>
                <a:srgbClr val="000000"/>
              </a:solidFill>
            </a:endParaRPr>
          </a:p>
          <a:p>
            <a:pPr marL="171450" indent="-171450">
              <a:spcAft>
                <a:spcPts val="600"/>
              </a:spcAft>
              <a:buFont typeface="Wingdings" panose="05000000000000000000" pitchFamily="2" charset="2"/>
              <a:buChar char="q"/>
            </a:pPr>
            <a:r>
              <a:rPr lang="en-US" sz="1100" b="1">
                <a:solidFill>
                  <a:srgbClr val="000000"/>
                </a:solidFill>
              </a:rPr>
              <a:t>2 –</a:t>
            </a:r>
          </a:p>
          <a:p>
            <a:pPr marL="171450" indent="-171450">
              <a:spcAft>
                <a:spcPts val="600"/>
              </a:spcAft>
              <a:buFont typeface="Wingdings" panose="05000000000000000000" pitchFamily="2" charset="2"/>
              <a:buChar char="q"/>
            </a:pPr>
            <a:r>
              <a:rPr lang="en-US" sz="1100" b="1">
                <a:solidFill>
                  <a:srgbClr val="000000"/>
                </a:solidFill>
              </a:rPr>
              <a:t>1 –</a:t>
            </a:r>
            <a:endParaRPr lang="en-US" sz="1100">
              <a:solidFill>
                <a:srgbClr val="000000"/>
              </a:solidFill>
            </a:endParaRPr>
          </a:p>
          <a:p>
            <a:pPr marL="171450" indent="-171450">
              <a:spcAft>
                <a:spcPts val="600"/>
              </a:spcAft>
              <a:buFont typeface="Wingdings" panose="05000000000000000000" pitchFamily="2" charset="2"/>
              <a:buChar char="q"/>
            </a:pPr>
            <a:r>
              <a:rPr lang="en-US" sz="1100" b="1">
                <a:solidFill>
                  <a:srgbClr val="000000"/>
                </a:solidFill>
              </a:rPr>
              <a:t>0 – </a:t>
            </a:r>
            <a:endParaRPr lang="en-US" sz="1100">
              <a:solidFill>
                <a:srgbClr val="000000"/>
              </a:solidFill>
            </a:endParaRPr>
          </a:p>
        </p:txBody>
      </p:sp>
      <p:sp>
        <p:nvSpPr>
          <p:cNvPr id="68" name="TextBox 67">
            <a:extLst>
              <a:ext uri="{FF2B5EF4-FFF2-40B4-BE49-F238E27FC236}">
                <a16:creationId xmlns:a16="http://schemas.microsoft.com/office/drawing/2014/main" id="{4EF61A58-EA69-812E-6E27-0006BB20933D}"/>
              </a:ext>
            </a:extLst>
          </p:cNvPr>
          <p:cNvSpPr txBox="1"/>
          <p:nvPr/>
        </p:nvSpPr>
        <p:spPr>
          <a:xfrm>
            <a:off x="7404100" y="2769640"/>
            <a:ext cx="3913337" cy="177540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spcAft>
                <a:spcPts val="600"/>
              </a:spcAft>
            </a:pPr>
            <a:r>
              <a:rPr lang="en-US" sz="1100" b="1">
                <a:solidFill>
                  <a:srgbClr val="000000"/>
                </a:solidFill>
              </a:rPr>
              <a:t>Broadly adopted </a:t>
            </a:r>
            <a:r>
              <a:rPr lang="en-US" sz="1100">
                <a:solidFill>
                  <a:srgbClr val="000000"/>
                </a:solidFill>
              </a:rPr>
              <a:t>and delivering full expected efficiencies across users and regions</a:t>
            </a:r>
          </a:p>
          <a:p>
            <a:pPr>
              <a:spcAft>
                <a:spcPts val="600"/>
              </a:spcAft>
            </a:pPr>
            <a:r>
              <a:rPr lang="en-US" sz="1100" b="1">
                <a:solidFill>
                  <a:srgbClr val="000000"/>
                </a:solidFill>
              </a:rPr>
              <a:t>Adopted across multiple regions/functions </a:t>
            </a:r>
            <a:r>
              <a:rPr lang="en-US" sz="1100">
                <a:solidFill>
                  <a:srgbClr val="000000"/>
                </a:solidFill>
              </a:rPr>
              <a:t>with measurable improvements</a:t>
            </a:r>
          </a:p>
          <a:p>
            <a:pPr>
              <a:spcAft>
                <a:spcPts val="600"/>
              </a:spcAft>
            </a:pPr>
            <a:r>
              <a:rPr lang="en-US" sz="1100" b="1">
                <a:solidFill>
                  <a:srgbClr val="000000"/>
                </a:solidFill>
              </a:rPr>
              <a:t>Early adoption </a:t>
            </a:r>
            <a:r>
              <a:rPr lang="en-US" sz="1100">
                <a:solidFill>
                  <a:srgbClr val="000000"/>
                </a:solidFill>
              </a:rPr>
              <a:t>with partial efficiency realized</a:t>
            </a:r>
          </a:p>
          <a:p>
            <a:pPr>
              <a:spcAft>
                <a:spcPts val="600"/>
              </a:spcAft>
            </a:pPr>
            <a:r>
              <a:rPr lang="en-US" sz="1100" b="1">
                <a:solidFill>
                  <a:srgbClr val="000000"/>
                </a:solidFill>
              </a:rPr>
              <a:t>Pilot or limited use</a:t>
            </a:r>
            <a:r>
              <a:rPr lang="en-US" sz="1100">
                <a:solidFill>
                  <a:srgbClr val="000000"/>
                </a:solidFill>
              </a:rPr>
              <a:t>, early indications of benefits</a:t>
            </a:r>
          </a:p>
          <a:p>
            <a:pPr>
              <a:spcAft>
                <a:spcPts val="600"/>
              </a:spcAft>
            </a:pPr>
            <a:r>
              <a:rPr lang="en-US" sz="1100" b="1">
                <a:solidFill>
                  <a:srgbClr val="000000"/>
                </a:solidFill>
              </a:rPr>
              <a:t>Not yet in use</a:t>
            </a:r>
            <a:r>
              <a:rPr lang="en-US" sz="1100">
                <a:solidFill>
                  <a:srgbClr val="000000"/>
                </a:solidFill>
              </a:rPr>
              <a:t>/delivering measurable impact</a:t>
            </a:r>
          </a:p>
        </p:txBody>
      </p:sp>
      <p:sp>
        <p:nvSpPr>
          <p:cNvPr id="70" name="TextBox 69">
            <a:extLst>
              <a:ext uri="{FF2B5EF4-FFF2-40B4-BE49-F238E27FC236}">
                <a16:creationId xmlns:a16="http://schemas.microsoft.com/office/drawing/2014/main" id="{EF4D3E5F-DFD0-508A-83D0-448D365F6269}"/>
              </a:ext>
            </a:extLst>
          </p:cNvPr>
          <p:cNvSpPr txBox="1"/>
          <p:nvPr/>
        </p:nvSpPr>
        <p:spPr>
          <a:xfrm>
            <a:off x="852718" y="4585008"/>
            <a:ext cx="1507449" cy="1692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a:buFont typeface="Wingdings" panose="05000000000000000000" pitchFamily="2" charset="2"/>
              <a:buChar char="q"/>
            </a:pPr>
            <a:r>
              <a:rPr lang="en-US" sz="1100" b="1">
                <a:solidFill>
                  <a:srgbClr val="000000"/>
                </a:solidFill>
              </a:rPr>
              <a:t>HIGH (~70-100%) -</a:t>
            </a:r>
          </a:p>
        </p:txBody>
      </p:sp>
      <p:sp>
        <p:nvSpPr>
          <p:cNvPr id="84" name="TextBox 83">
            <a:extLst>
              <a:ext uri="{FF2B5EF4-FFF2-40B4-BE49-F238E27FC236}">
                <a16:creationId xmlns:a16="http://schemas.microsoft.com/office/drawing/2014/main" id="{B435FF27-D73E-29E7-5239-A2B1726ACF2E}"/>
              </a:ext>
            </a:extLst>
          </p:cNvPr>
          <p:cNvSpPr txBox="1"/>
          <p:nvPr/>
        </p:nvSpPr>
        <p:spPr>
          <a:xfrm>
            <a:off x="852718" y="5158611"/>
            <a:ext cx="1507449" cy="1692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a:buFont typeface="Wingdings" panose="05000000000000000000" pitchFamily="2" charset="2"/>
              <a:buChar char="q"/>
            </a:pPr>
            <a:r>
              <a:rPr lang="en-US" sz="1100" b="1">
                <a:solidFill>
                  <a:srgbClr val="000000"/>
                </a:solidFill>
              </a:rPr>
              <a:t>MED (~30-70%)   -</a:t>
            </a:r>
          </a:p>
        </p:txBody>
      </p:sp>
      <p:sp>
        <p:nvSpPr>
          <p:cNvPr id="85" name="TextBox 84">
            <a:extLst>
              <a:ext uri="{FF2B5EF4-FFF2-40B4-BE49-F238E27FC236}">
                <a16:creationId xmlns:a16="http://schemas.microsoft.com/office/drawing/2014/main" id="{2C5A16DC-1C54-9CBA-5280-740B73304C34}"/>
              </a:ext>
            </a:extLst>
          </p:cNvPr>
          <p:cNvSpPr txBox="1"/>
          <p:nvPr/>
        </p:nvSpPr>
        <p:spPr>
          <a:xfrm>
            <a:off x="852718" y="5732213"/>
            <a:ext cx="1507449" cy="1692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a:buFont typeface="Wingdings" panose="05000000000000000000" pitchFamily="2" charset="2"/>
              <a:buChar char="q"/>
            </a:pPr>
            <a:r>
              <a:rPr lang="en-US" sz="1100" b="1">
                <a:solidFill>
                  <a:srgbClr val="000000"/>
                </a:solidFill>
              </a:rPr>
              <a:t>LOW (~1-30%)    -</a:t>
            </a:r>
          </a:p>
        </p:txBody>
      </p:sp>
      <p:sp>
        <p:nvSpPr>
          <p:cNvPr id="71" name="Rectangle 70">
            <a:extLst>
              <a:ext uri="{FF2B5EF4-FFF2-40B4-BE49-F238E27FC236}">
                <a16:creationId xmlns:a16="http://schemas.microsoft.com/office/drawing/2014/main" id="{F10EB199-ED1B-6E32-DDEC-D48F3A688039}"/>
              </a:ext>
            </a:extLst>
          </p:cNvPr>
          <p:cNvSpPr/>
          <p:nvPr/>
        </p:nvSpPr>
        <p:spPr>
          <a:xfrm>
            <a:off x="6778770" y="4485224"/>
            <a:ext cx="4646562" cy="1813476"/>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191FF"/>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ctr" anchorCtr="0" forceAA="0" compatLnSpc="1">
            <a:prstTxWarp prst="textNoShape">
              <a:avLst/>
            </a:prstTxWarp>
            <a:noAutofit/>
          </a:bodyPr>
          <a:lstStyle/>
          <a:p>
            <a:pPr algn="ctr"/>
            <a:r>
              <a:rPr lang="en-US" sz="1050">
                <a:solidFill>
                  <a:srgbClr val="9545D8"/>
                </a:solidFill>
              </a:rPr>
              <a:t>Talent acquisition agent in development. Pilot to roll out in January 2026 for the US only. Expected to expand to other regions once the efficacy of the tool is proven.</a:t>
            </a:r>
          </a:p>
        </p:txBody>
      </p:sp>
      <p:sp>
        <p:nvSpPr>
          <p:cNvPr id="72" name="Rectangle 71">
            <a:extLst>
              <a:ext uri="{FF2B5EF4-FFF2-40B4-BE49-F238E27FC236}">
                <a16:creationId xmlns:a16="http://schemas.microsoft.com/office/drawing/2014/main" id="{68385D41-E80E-94A1-0101-24FBDB3DBCBF}"/>
              </a:ext>
            </a:extLst>
          </p:cNvPr>
          <p:cNvSpPr/>
          <p:nvPr/>
        </p:nvSpPr>
        <p:spPr>
          <a:xfrm>
            <a:off x="4718303" y="4485224"/>
            <a:ext cx="1669653" cy="1813476"/>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191FF"/>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50">
                <a:solidFill>
                  <a:srgbClr val="9545D8"/>
                </a:solidFill>
              </a:rPr>
              <a:t>Covers a meaningful portion of time spent on early-stage talent acquisition activities; additional time required to confirm candidate fit (e.g., live interviews)</a:t>
            </a:r>
          </a:p>
        </p:txBody>
      </p:sp>
      <p:sp>
        <p:nvSpPr>
          <p:cNvPr id="18" name="Rectangle 17">
            <a:extLst>
              <a:ext uri="{FF2B5EF4-FFF2-40B4-BE49-F238E27FC236}">
                <a16:creationId xmlns:a16="http://schemas.microsoft.com/office/drawing/2014/main" id="{8195B599-94D0-08E4-0279-2FAE76202963}"/>
              </a:ext>
            </a:extLst>
          </p:cNvPr>
          <p:cNvSpPr/>
          <p:nvPr/>
        </p:nvSpPr>
        <p:spPr>
          <a:xfrm>
            <a:off x="5388376" y="1068803"/>
            <a:ext cx="6173624" cy="726759"/>
          </a:xfrm>
          <a:prstGeom prst="rect">
            <a:avLst/>
          </a:prstGeom>
          <a:solidFill>
            <a:schemeClr val="bg1"/>
          </a:solidFill>
          <a:ln w="19050" cap="rnd" cmpd="sng" algn="ctr">
            <a:solidFill>
              <a:schemeClr val="accent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a:solidFill>
                  <a:srgbClr val="9545D8"/>
                </a:solidFill>
              </a:rPr>
              <a:t>This automation solution addresses the early stages of recruiting process by sourcing prospective candidates, screening them, and conducting initial outreach with the ability to set up interviews. Cover 50 FAs, with expected ~10-15x ROI. Expected timeline: US launch, January 2026. </a:t>
            </a:r>
          </a:p>
        </p:txBody>
      </p:sp>
      <p:sp>
        <p:nvSpPr>
          <p:cNvPr id="19" name="Rectangle: Top Corners Rounded 18">
            <a:extLst>
              <a:ext uri="{FF2B5EF4-FFF2-40B4-BE49-F238E27FC236}">
                <a16:creationId xmlns:a16="http://schemas.microsoft.com/office/drawing/2014/main" id="{EC8C185E-3E8A-9FAA-9BEE-D640CE7851FB}"/>
              </a:ext>
            </a:extLst>
          </p:cNvPr>
          <p:cNvSpPr/>
          <p:nvPr/>
        </p:nvSpPr>
        <p:spPr>
          <a:xfrm rot="16200000">
            <a:off x="4438719" y="845906"/>
            <a:ext cx="726759" cy="1172554"/>
          </a:xfrm>
          <a:prstGeom prst="round2SameRect">
            <a:avLst>
              <a:gd name="adj1" fmla="val 10976"/>
              <a:gd name="adj2" fmla="val 0"/>
            </a:avLst>
          </a:prstGeom>
          <a:solidFill>
            <a:srgbClr val="005696"/>
          </a:solidFill>
          <a:ln w="19050" cap="rnd" cmpd="sng" algn="ctr">
            <a:solidFill>
              <a:schemeClr val="accent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20" name="TextBox 19">
            <a:extLst>
              <a:ext uri="{FF2B5EF4-FFF2-40B4-BE49-F238E27FC236}">
                <a16:creationId xmlns:a16="http://schemas.microsoft.com/office/drawing/2014/main" id="{DFFB92F5-F526-B9D8-87FD-72E4B3CB675C}"/>
              </a:ext>
            </a:extLst>
          </p:cNvPr>
          <p:cNvSpPr txBox="1"/>
          <p:nvPr/>
        </p:nvSpPr>
        <p:spPr>
          <a:xfrm>
            <a:off x="4283157" y="1068803"/>
            <a:ext cx="1037883" cy="726759"/>
          </a:xfrm>
          <a:prstGeom prst="rect">
            <a:avLst/>
          </a:prstGeom>
          <a:noFill/>
          <a:ln w="9525" cap="rnd">
            <a:noFill/>
            <a:prstDash val="solid"/>
            <a:round/>
          </a:ln>
          <a:extLst>
            <a:ext uri="{909E8E84-426E-40DD-AFC4-6F175D3DCCD1}">
              <a14:hiddenFill xmlns:a14="http://schemas.microsoft.com/office/drawing/2010/main">
                <a:solidFill>
                  <a:schemeClr val="tx2">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200" b="1">
                <a:solidFill>
                  <a:schemeClr val="bg1"/>
                </a:solidFill>
              </a:rPr>
              <a:t>Initiative Description</a:t>
            </a:r>
          </a:p>
        </p:txBody>
      </p:sp>
      <p:sp>
        <p:nvSpPr>
          <p:cNvPr id="76" name="TextBox 75">
            <a:extLst>
              <a:ext uri="{FF2B5EF4-FFF2-40B4-BE49-F238E27FC236}">
                <a16:creationId xmlns:a16="http://schemas.microsoft.com/office/drawing/2014/main" id="{8FCAF773-2CE5-B50C-A795-D518CED854EA}"/>
              </a:ext>
            </a:extLst>
          </p:cNvPr>
          <p:cNvSpPr txBox="1"/>
          <p:nvPr/>
        </p:nvSpPr>
        <p:spPr>
          <a:xfrm>
            <a:off x="773695" y="2246472"/>
            <a:ext cx="5614262" cy="33724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rgbClr val="000000"/>
                </a:solidFill>
              </a:rPr>
              <a:t>Briefly describe the specific workflow or activities your initiative targets.</a:t>
            </a:r>
          </a:p>
        </p:txBody>
      </p:sp>
      <p:sp>
        <p:nvSpPr>
          <p:cNvPr id="77" name="TextBox 76">
            <a:extLst>
              <a:ext uri="{FF2B5EF4-FFF2-40B4-BE49-F238E27FC236}">
                <a16:creationId xmlns:a16="http://schemas.microsoft.com/office/drawing/2014/main" id="{47E6D8EB-5CC1-F580-8E08-9AC3E63D6AC3}"/>
              </a:ext>
            </a:extLst>
          </p:cNvPr>
          <p:cNvSpPr txBox="1"/>
          <p:nvPr/>
        </p:nvSpPr>
        <p:spPr>
          <a:xfrm>
            <a:off x="773695" y="3143623"/>
            <a:ext cx="5614262" cy="33724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100" b="1">
                <a:solidFill>
                  <a:srgbClr val="000000"/>
                </a:solidFill>
              </a:rPr>
              <a:t>Briefly describe the broader workflow or process within which your initiative sits.  </a:t>
            </a:r>
          </a:p>
        </p:txBody>
      </p:sp>
      <p:sp>
        <p:nvSpPr>
          <p:cNvPr id="87" name="Rectangle 86">
            <a:extLst>
              <a:ext uri="{FF2B5EF4-FFF2-40B4-BE49-F238E27FC236}">
                <a16:creationId xmlns:a16="http://schemas.microsoft.com/office/drawing/2014/main" id="{5145C8F2-D0D0-483A-25F2-6DDB2FF85284}"/>
              </a:ext>
            </a:extLst>
          </p:cNvPr>
          <p:cNvSpPr/>
          <p:nvPr/>
        </p:nvSpPr>
        <p:spPr>
          <a:xfrm>
            <a:off x="773695" y="2595637"/>
            <a:ext cx="5614262" cy="502920"/>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191FF"/>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50">
                <a:solidFill>
                  <a:srgbClr val="9545D8"/>
                </a:solidFill>
              </a:rPr>
              <a:t>Sourcing prospective talent, screening candidates, conducting outreach, and setting up interviews once approved</a:t>
            </a:r>
          </a:p>
        </p:txBody>
      </p:sp>
      <p:sp>
        <p:nvSpPr>
          <p:cNvPr id="88" name="Rectangle 87">
            <a:extLst>
              <a:ext uri="{FF2B5EF4-FFF2-40B4-BE49-F238E27FC236}">
                <a16:creationId xmlns:a16="http://schemas.microsoft.com/office/drawing/2014/main" id="{99391B72-5FE1-5053-849D-A771A817D36A}"/>
              </a:ext>
            </a:extLst>
          </p:cNvPr>
          <p:cNvSpPr/>
          <p:nvPr/>
        </p:nvSpPr>
        <p:spPr>
          <a:xfrm>
            <a:off x="773695" y="3480208"/>
            <a:ext cx="5614262" cy="502920"/>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0191FF"/>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50">
                <a:solidFill>
                  <a:srgbClr val="9545D8"/>
                </a:solidFill>
              </a:rPr>
              <a:t>Talent acquisition</a:t>
            </a:r>
          </a:p>
        </p:txBody>
      </p:sp>
      <p:sp>
        <p:nvSpPr>
          <p:cNvPr id="6" name="Freeform 17">
            <a:extLst>
              <a:ext uri="{FF2B5EF4-FFF2-40B4-BE49-F238E27FC236}">
                <a16:creationId xmlns:a16="http://schemas.microsoft.com/office/drawing/2014/main" id="{9450ED43-23E3-476B-EA74-0CDC98B58559}"/>
              </a:ext>
            </a:extLst>
          </p:cNvPr>
          <p:cNvSpPr>
            <a:spLocks/>
          </p:cNvSpPr>
          <p:nvPr/>
        </p:nvSpPr>
        <p:spPr bwMode="auto">
          <a:xfrm>
            <a:off x="842557" y="5104636"/>
            <a:ext cx="151650" cy="146233"/>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rgbClr val="9545D8"/>
          </a:solidFill>
          <a:ln w="9525" cap="flat" cmpd="sng" algn="ctr">
            <a:solidFill>
              <a:srgbClr val="9545D8"/>
            </a:solidFill>
            <a:prstDash val="solid"/>
            <a:round/>
            <a:headEnd type="none" w="med" len="med"/>
            <a:tailEnd type="none" w="med" len="med"/>
          </a:ln>
        </p:spPr>
        <p:txBody>
          <a:bodyPr vert="horz" wrap="square" lIns="91440" tIns="45720" rIns="91440" bIns="45720" numCol="1" anchor="t" anchorCtr="0" compatLnSpc="1">
            <a:prstTxWarp prst="textNoShape">
              <a:avLst/>
            </a:prstTxWarp>
          </a:bodyPr>
          <a:lstStyle/>
          <a:p>
            <a:endParaRPr lang="en-US"/>
          </a:p>
        </p:txBody>
      </p:sp>
      <p:sp>
        <p:nvSpPr>
          <p:cNvPr id="7" name="Freeform 17">
            <a:extLst>
              <a:ext uri="{FF2B5EF4-FFF2-40B4-BE49-F238E27FC236}">
                <a16:creationId xmlns:a16="http://schemas.microsoft.com/office/drawing/2014/main" id="{1F0E6C6D-3B7B-4600-6718-78AC91561D36}"/>
              </a:ext>
            </a:extLst>
          </p:cNvPr>
          <p:cNvSpPr>
            <a:spLocks/>
          </p:cNvSpPr>
          <p:nvPr/>
        </p:nvSpPr>
        <p:spPr bwMode="auto">
          <a:xfrm>
            <a:off x="6934724" y="3775391"/>
            <a:ext cx="151650" cy="146233"/>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rgbClr val="9545D8"/>
          </a:solidFill>
          <a:ln w="9525" cap="flat" cmpd="sng" algn="ctr">
            <a:solidFill>
              <a:srgbClr val="9545D8"/>
            </a:solidFill>
            <a:prstDash val="solid"/>
            <a:round/>
            <a:headEnd type="none" w="med" len="med"/>
            <a:tailEnd type="none" w="med" len="med"/>
          </a:ln>
        </p:spPr>
        <p:txBody>
          <a:bodyPr vert="horz" wrap="square" lIns="91440" tIns="45720" rIns="91440" bIns="45720" numCol="1" anchor="t" anchorCtr="0" compatLnSpc="1">
            <a:prstTxWarp prst="textNoShape">
              <a:avLst/>
            </a:prstTxWarp>
          </a:bodyPr>
          <a:lstStyle/>
          <a:p>
            <a:endParaRPr lang="en-US"/>
          </a:p>
        </p:txBody>
      </p:sp>
      <p:sp>
        <p:nvSpPr>
          <p:cNvPr id="12" name="TextBox 11">
            <a:extLst>
              <a:ext uri="{FF2B5EF4-FFF2-40B4-BE49-F238E27FC236}">
                <a16:creationId xmlns:a16="http://schemas.microsoft.com/office/drawing/2014/main" id="{3C338892-0A3A-2E11-9550-DD886E533A57}"/>
              </a:ext>
            </a:extLst>
          </p:cNvPr>
          <p:cNvSpPr txBox="1"/>
          <p:nvPr/>
        </p:nvSpPr>
        <p:spPr>
          <a:xfrm>
            <a:off x="9184133" y="430244"/>
            <a:ext cx="2347940" cy="624548"/>
          </a:xfrm>
          <a:prstGeom prst="rect">
            <a:avLst/>
          </a:prstGeom>
          <a:solidFill>
            <a:schemeClr val="bg1">
              <a:lumMod val="95000"/>
            </a:schemeClr>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i="1">
                <a:solidFill>
                  <a:srgbClr val="9545D8"/>
                </a:solidFill>
              </a:rPr>
              <a:t>Sample answers based on illustrative example</a:t>
            </a:r>
            <a:endParaRPr lang="en-US" i="1">
              <a:solidFill>
                <a:srgbClr val="9545D8"/>
              </a:solidFill>
            </a:endParaRPr>
          </a:p>
        </p:txBody>
      </p:sp>
    </p:spTree>
    <p:extLst>
      <p:ext uri="{BB962C8B-B14F-4D97-AF65-F5344CB8AC3E}">
        <p14:creationId xmlns:p14="http://schemas.microsoft.com/office/powerpoint/2010/main" val="6875445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65604F9-A11E-49A7-0E15-D746F438ADF3}"/>
              </a:ext>
            </a:extLst>
          </p:cNvPr>
          <p:cNvGraphicFramePr>
            <a:graphicFrameLocks noChangeAspect="1"/>
          </p:cNvGraphicFramePr>
          <p:nvPr>
            <p:custDataLst>
              <p:tags r:id="rId1"/>
            </p:custDataLst>
            <p:extLst>
              <p:ext uri="{D42A27DB-BD31-4B8C-83A1-F6EECF244321}">
                <p14:modId xmlns:p14="http://schemas.microsoft.com/office/powerpoint/2010/main" val="37221186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65604F9-A11E-49A7-0E15-D746F438ADF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15" name="Straight Connector 14">
            <a:extLst>
              <a:ext uri="{FF2B5EF4-FFF2-40B4-BE49-F238E27FC236}">
                <a16:creationId xmlns:a16="http://schemas.microsoft.com/office/drawing/2014/main" id="{7A98CD75-937C-2AA3-045A-51B05F426BC1}"/>
              </a:ext>
            </a:extLst>
          </p:cNvPr>
          <p:cNvCxnSpPr/>
          <p:nvPr/>
        </p:nvCxnSpPr>
        <p:spPr>
          <a:xfrm>
            <a:off x="4188919" y="1699285"/>
            <a:ext cx="0" cy="4115593"/>
          </a:xfrm>
          <a:prstGeom prst="line">
            <a:avLst/>
          </a:prstGeom>
          <a:ln w="9525" cap="rnd">
            <a:solidFill>
              <a:srgbClr val="9A9A9A"/>
            </a:solidFill>
            <a:prstDash val="soli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8D934B1-EE7E-45BB-A34A-E2A396A4B471}"/>
              </a:ext>
            </a:extLst>
          </p:cNvPr>
          <p:cNvSpPr>
            <a:spLocks noGrp="1"/>
          </p:cNvSpPr>
          <p:nvPr>
            <p:ph type="title"/>
          </p:nvPr>
        </p:nvSpPr>
        <p:spPr>
          <a:xfrm>
            <a:off x="630000" y="622800"/>
            <a:ext cx="10933350" cy="332399"/>
          </a:xfrm>
        </p:spPr>
        <p:txBody>
          <a:bodyPr vert="horz"/>
          <a:lstStyle/>
          <a:p>
            <a:r>
              <a:rPr lang="en-US">
                <a:solidFill>
                  <a:srgbClr val="002E50"/>
                </a:solidFill>
              </a:rPr>
              <a:t>Detail |</a:t>
            </a:r>
            <a:r>
              <a:rPr lang="en-US"/>
              <a:t> Key steps to operationalize evaluation framework</a:t>
            </a:r>
          </a:p>
        </p:txBody>
      </p:sp>
      <p:sp>
        <p:nvSpPr>
          <p:cNvPr id="4" name="TextBox 3">
            <a:extLst>
              <a:ext uri="{FF2B5EF4-FFF2-40B4-BE49-F238E27FC236}">
                <a16:creationId xmlns:a16="http://schemas.microsoft.com/office/drawing/2014/main" id="{56241F3B-860A-E9F2-17E6-1897C57EB86B}"/>
              </a:ext>
            </a:extLst>
          </p:cNvPr>
          <p:cNvSpPr txBox="1"/>
          <p:nvPr/>
        </p:nvSpPr>
        <p:spPr>
          <a:xfrm>
            <a:off x="780106" y="2474335"/>
            <a:ext cx="3002117" cy="112120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lvl="1" indent="-285750" fontAlgn="ctr">
              <a:spcAft>
                <a:spcPts val="600"/>
              </a:spcAft>
              <a:buClr>
                <a:srgbClr val="0191FF"/>
              </a:buClr>
              <a:buFont typeface="Arial" panose="020B0604020202020204" pitchFamily="34" charset="0"/>
              <a:buChar char="•"/>
            </a:pPr>
            <a:r>
              <a:rPr lang="en-US" sz="1400">
                <a:solidFill>
                  <a:srgbClr val="000000"/>
                </a:solidFill>
              </a:rPr>
              <a:t>Sent out survey to initiative owners via email with link to survey tools</a:t>
            </a:r>
          </a:p>
          <a:p>
            <a:pPr marL="285750" lvl="1" indent="-285750" fontAlgn="ctr">
              <a:spcAft>
                <a:spcPts val="600"/>
              </a:spcAft>
              <a:buClr>
                <a:srgbClr val="0191FF"/>
              </a:buClr>
              <a:buFont typeface="Arial" panose="020B0604020202020204" pitchFamily="34" charset="0"/>
              <a:buChar char="•"/>
            </a:pPr>
            <a:r>
              <a:rPr lang="en-US" sz="1400">
                <a:solidFill>
                  <a:srgbClr val="000000"/>
                </a:solidFill>
              </a:rPr>
              <a:t>Initiative owners fill out survey</a:t>
            </a:r>
          </a:p>
        </p:txBody>
      </p:sp>
      <p:sp>
        <p:nvSpPr>
          <p:cNvPr id="5" name="TextBox 4">
            <a:extLst>
              <a:ext uri="{FF2B5EF4-FFF2-40B4-BE49-F238E27FC236}">
                <a16:creationId xmlns:a16="http://schemas.microsoft.com/office/drawing/2014/main" id="{9F6CBA3C-8F2C-91FC-F927-FC5B170E8EE8}"/>
              </a:ext>
            </a:extLst>
          </p:cNvPr>
          <p:cNvSpPr txBox="1"/>
          <p:nvPr/>
        </p:nvSpPr>
        <p:spPr>
          <a:xfrm>
            <a:off x="780106" y="1699285"/>
            <a:ext cx="3002117" cy="611619"/>
          </a:xfrm>
          <a:prstGeom prst="rect">
            <a:avLst/>
          </a:prstGeom>
          <a:solidFill>
            <a:schemeClr val="tx2"/>
          </a:solidFill>
          <a:ln w="19050" cap="rnd">
            <a:solidFill>
              <a:schemeClr val="accent2"/>
            </a:solidFill>
            <a:prstDash val="solid"/>
            <a:roun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algn="ctr">
              <a:defRPr sz="717" b="1">
                <a:solidFill>
                  <a:srgbClr val="000000"/>
                </a:solidFill>
              </a:defRPr>
            </a:lvl1pPr>
            <a:lvl2pPr marL="0" lvl="1" algn="ctr">
              <a:defRPr sz="1200" b="1">
                <a:solidFill>
                  <a:schemeClr val="bg1"/>
                </a:solidFill>
              </a:defRPr>
            </a:lvl2pPr>
          </a:lstStyle>
          <a:p>
            <a:pPr lvl="1"/>
            <a:r>
              <a:rPr lang="en-US" sz="1400" u="sng" dirty="0"/>
              <a:t>Step 1:</a:t>
            </a:r>
            <a:r>
              <a:rPr lang="en-US" sz="1400" dirty="0"/>
              <a:t> Solicit input/descriptions from initiative owners</a:t>
            </a:r>
          </a:p>
        </p:txBody>
      </p:sp>
      <p:sp>
        <p:nvSpPr>
          <p:cNvPr id="11" name="TextBox 10">
            <a:extLst>
              <a:ext uri="{FF2B5EF4-FFF2-40B4-BE49-F238E27FC236}">
                <a16:creationId xmlns:a16="http://schemas.microsoft.com/office/drawing/2014/main" id="{B15AD3A3-5D45-37A1-6407-6B8CBFE8F245}"/>
              </a:ext>
            </a:extLst>
          </p:cNvPr>
          <p:cNvSpPr txBox="1"/>
          <p:nvPr/>
        </p:nvSpPr>
        <p:spPr>
          <a:xfrm>
            <a:off x="4595616" y="1702313"/>
            <a:ext cx="3002117" cy="605563"/>
          </a:xfrm>
          <a:prstGeom prst="rect">
            <a:avLst/>
          </a:prstGeom>
          <a:solidFill>
            <a:schemeClr val="tx2"/>
          </a:solidFill>
          <a:ln w="19050" cap="rnd">
            <a:solidFill>
              <a:schemeClr val="accent2"/>
            </a:solidFill>
            <a:prstDash val="solid"/>
            <a:roun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algn="ctr">
              <a:defRPr sz="717" b="1">
                <a:solidFill>
                  <a:srgbClr val="000000"/>
                </a:solidFill>
              </a:defRPr>
            </a:lvl1pPr>
            <a:lvl2pPr marL="0" lvl="1" algn="ctr">
              <a:defRPr sz="1200" b="1">
                <a:solidFill>
                  <a:schemeClr val="bg1"/>
                </a:solidFill>
              </a:defRPr>
            </a:lvl2pPr>
          </a:lstStyle>
          <a:p>
            <a:pPr lvl="1"/>
            <a:r>
              <a:rPr lang="en-US" sz="1400" u="sng"/>
              <a:t>Step 2:</a:t>
            </a:r>
            <a:r>
              <a:rPr lang="en-US" sz="1400"/>
              <a:t> Score each initiative based on provided context</a:t>
            </a:r>
          </a:p>
        </p:txBody>
      </p:sp>
      <p:sp>
        <p:nvSpPr>
          <p:cNvPr id="13" name="TextBox 12">
            <a:extLst>
              <a:ext uri="{FF2B5EF4-FFF2-40B4-BE49-F238E27FC236}">
                <a16:creationId xmlns:a16="http://schemas.microsoft.com/office/drawing/2014/main" id="{66A8A331-B6EE-71CE-9267-5E3806351DD0}"/>
              </a:ext>
            </a:extLst>
          </p:cNvPr>
          <p:cNvSpPr txBox="1"/>
          <p:nvPr/>
        </p:nvSpPr>
        <p:spPr>
          <a:xfrm>
            <a:off x="8411127" y="1702313"/>
            <a:ext cx="3002117" cy="605563"/>
          </a:xfrm>
          <a:prstGeom prst="rect">
            <a:avLst/>
          </a:prstGeom>
          <a:solidFill>
            <a:schemeClr val="tx2"/>
          </a:solidFill>
          <a:ln w="19050" cap="rnd">
            <a:solidFill>
              <a:schemeClr val="accent2"/>
            </a:solidFill>
            <a:prstDash val="solid"/>
            <a:roun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algn="ctr">
              <a:defRPr sz="717" b="1">
                <a:solidFill>
                  <a:srgbClr val="000000"/>
                </a:solidFill>
              </a:defRPr>
            </a:lvl1pPr>
            <a:lvl2pPr marL="0" lvl="1" algn="ctr">
              <a:defRPr sz="1200" b="1">
                <a:solidFill>
                  <a:schemeClr val="bg1"/>
                </a:solidFill>
              </a:defRPr>
            </a:lvl2pPr>
          </a:lstStyle>
          <a:p>
            <a:pPr lvl="1"/>
            <a:r>
              <a:rPr lang="en-US" sz="1400" u="sng"/>
              <a:t>Step 3: </a:t>
            </a:r>
            <a:r>
              <a:rPr lang="en-US" sz="1400"/>
              <a:t>Roll up results for socialization</a:t>
            </a:r>
          </a:p>
        </p:txBody>
      </p:sp>
      <p:cxnSp>
        <p:nvCxnSpPr>
          <p:cNvPr id="19" name="Straight Connector 18">
            <a:extLst>
              <a:ext uri="{FF2B5EF4-FFF2-40B4-BE49-F238E27FC236}">
                <a16:creationId xmlns:a16="http://schemas.microsoft.com/office/drawing/2014/main" id="{CD77F987-53C0-B24C-1639-F1471E45CCED}"/>
              </a:ext>
            </a:extLst>
          </p:cNvPr>
          <p:cNvCxnSpPr/>
          <p:nvPr/>
        </p:nvCxnSpPr>
        <p:spPr>
          <a:xfrm>
            <a:off x="8004430" y="1699285"/>
            <a:ext cx="0" cy="4115593"/>
          </a:xfrm>
          <a:prstGeom prst="line">
            <a:avLst/>
          </a:prstGeom>
          <a:ln w="9525" cap="rnd">
            <a:solidFill>
              <a:srgbClr val="9A9A9A"/>
            </a:solidFill>
            <a:prstDash val="soli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0A63F42-DC94-6F17-157F-E195C4AA700E}"/>
              </a:ext>
            </a:extLst>
          </p:cNvPr>
          <p:cNvSpPr txBox="1"/>
          <p:nvPr/>
        </p:nvSpPr>
        <p:spPr>
          <a:xfrm>
            <a:off x="4595616" y="2474335"/>
            <a:ext cx="3002117" cy="334054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3464" lvl="1" indent="-283464">
              <a:spcAft>
                <a:spcPts val="600"/>
              </a:spcAft>
              <a:buClr>
                <a:srgbClr val="0191FF"/>
              </a:buClr>
              <a:buFont typeface="Trebuchet MS" panose="020B0603020202020204" pitchFamily="34" charset="0"/>
              <a:buChar char="•"/>
            </a:pPr>
            <a:r>
              <a:rPr lang="en-US" sz="1400">
                <a:solidFill>
                  <a:srgbClr val="000000"/>
                </a:solidFill>
              </a:rPr>
              <a:t>Download the survey results from the survey tool</a:t>
            </a:r>
          </a:p>
          <a:p>
            <a:pPr marL="283464" lvl="1" indent="-283464">
              <a:spcAft>
                <a:spcPts val="600"/>
              </a:spcAft>
              <a:buClr>
                <a:srgbClr val="0191FF"/>
              </a:buClr>
              <a:buFont typeface="Trebuchet MS" panose="020B0603020202020204" pitchFamily="34" charset="0"/>
              <a:buChar char="•"/>
            </a:pPr>
            <a:r>
              <a:rPr lang="en-US" sz="1400">
                <a:solidFill>
                  <a:srgbClr val="000000"/>
                </a:solidFill>
              </a:rPr>
              <a:t>Copy the data into the scoring model excel</a:t>
            </a:r>
          </a:p>
          <a:p>
            <a:pPr marL="283464" lvl="1" indent="-283464">
              <a:spcAft>
                <a:spcPts val="600"/>
              </a:spcAft>
              <a:buClr>
                <a:srgbClr val="0191FF"/>
              </a:buClr>
              <a:buFont typeface="Trebuchet MS" panose="020B0603020202020204" pitchFamily="34" charset="0"/>
              <a:buChar char="•"/>
            </a:pPr>
            <a:r>
              <a:rPr lang="en-US" sz="1400">
                <a:solidFill>
                  <a:srgbClr val="000000"/>
                </a:solidFill>
              </a:rPr>
              <a:t>Map each initiative to the most relevant L3</a:t>
            </a:r>
          </a:p>
          <a:p>
            <a:pPr marL="283464" lvl="1" indent="-283464">
              <a:spcAft>
                <a:spcPts val="600"/>
              </a:spcAft>
              <a:buClr>
                <a:srgbClr val="0191FF"/>
              </a:buClr>
              <a:buFont typeface="Trebuchet MS" panose="020B0603020202020204" pitchFamily="34" charset="0"/>
              <a:buChar char="•"/>
            </a:pPr>
            <a:r>
              <a:rPr lang="en-US" sz="1400">
                <a:solidFill>
                  <a:srgbClr val="000000"/>
                </a:solidFill>
              </a:rPr>
              <a:t>Selects/adjust coverage and impact score based on the provided survey answers</a:t>
            </a:r>
          </a:p>
          <a:p>
            <a:pPr algn="ctr">
              <a:spcBef>
                <a:spcPts val="600"/>
              </a:spcBef>
            </a:pPr>
            <a:r>
              <a:rPr lang="en-US" sz="1400" i="1">
                <a:solidFill>
                  <a:srgbClr val="000000"/>
                </a:solidFill>
              </a:rPr>
              <a:t>Automation index scores are calculated by the templatized excel/dashboard</a:t>
            </a:r>
          </a:p>
        </p:txBody>
      </p:sp>
      <p:sp>
        <p:nvSpPr>
          <p:cNvPr id="29" name="TextBox 28">
            <a:extLst>
              <a:ext uri="{FF2B5EF4-FFF2-40B4-BE49-F238E27FC236}">
                <a16:creationId xmlns:a16="http://schemas.microsoft.com/office/drawing/2014/main" id="{0D3FFCF8-6E7E-531C-DC6C-1FBE1520D569}"/>
              </a:ext>
            </a:extLst>
          </p:cNvPr>
          <p:cNvSpPr txBox="1"/>
          <p:nvPr/>
        </p:nvSpPr>
        <p:spPr>
          <a:xfrm>
            <a:off x="8411126" y="2784433"/>
            <a:ext cx="3002117" cy="239197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94500" lvl="1" fontAlgn="ctr">
              <a:spcAft>
                <a:spcPts val="600"/>
              </a:spcAft>
              <a:buClr>
                <a:srgbClr val="0191FF"/>
              </a:buClr>
            </a:pPr>
            <a:endParaRPr lang="en-US" sz="1200">
              <a:solidFill>
                <a:srgbClr val="000000"/>
              </a:solidFill>
            </a:endParaRPr>
          </a:p>
        </p:txBody>
      </p:sp>
      <p:sp>
        <p:nvSpPr>
          <p:cNvPr id="32" name="IllustrativeStamp">
            <a:extLst>
              <a:ext uri="{FF2B5EF4-FFF2-40B4-BE49-F238E27FC236}">
                <a16:creationId xmlns:a16="http://schemas.microsoft.com/office/drawing/2014/main" id="{400827E2-DA18-AB97-CB2A-CEAB475E72A0}"/>
              </a:ext>
            </a:extLst>
          </p:cNvPr>
          <p:cNvSpPr/>
          <p:nvPr/>
        </p:nvSpPr>
        <p:spPr>
          <a:xfrm>
            <a:off x="4652082" y="0"/>
            <a:ext cx="2889186" cy="215900"/>
          </a:xfrm>
          <a:prstGeom prst="rect">
            <a:avLst/>
          </a:prstGeom>
          <a:solidFill>
            <a:srgbClr val="C00000"/>
          </a:solidFill>
          <a:ln w="9525">
            <a:solidFill>
              <a:srgbClr val="C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l"/>
            <a:r>
              <a:rPr lang="en-US" sz="1200" b="1">
                <a:solidFill>
                  <a:schemeClr val="bg1"/>
                </a:solidFill>
                <a:latin typeface="Trebuchet MS" panose="020B0603020202020204" pitchFamily="34" charset="0"/>
              </a:rPr>
              <a:t>Preliminary</a:t>
            </a:r>
          </a:p>
        </p:txBody>
      </p:sp>
      <p:sp>
        <p:nvSpPr>
          <p:cNvPr id="40" name="TextBox 39">
            <a:extLst>
              <a:ext uri="{FF2B5EF4-FFF2-40B4-BE49-F238E27FC236}">
                <a16:creationId xmlns:a16="http://schemas.microsoft.com/office/drawing/2014/main" id="{35BC8655-39A1-B008-5877-49DA6F190A04}"/>
              </a:ext>
            </a:extLst>
          </p:cNvPr>
          <p:cNvSpPr txBox="1"/>
          <p:nvPr/>
        </p:nvSpPr>
        <p:spPr>
          <a:xfrm>
            <a:off x="8411125" y="2474335"/>
            <a:ext cx="3002118" cy="263116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a:solidFill>
                  <a:srgbClr val="000000"/>
                </a:solidFill>
              </a:rPr>
              <a:t>Socialize rolled up Automation Index scores from excel dashboard with relevant stakeholders, at desired level of granularity </a:t>
            </a:r>
          </a:p>
          <a:p>
            <a:r>
              <a:rPr lang="en-US" sz="1400">
                <a:solidFill>
                  <a:srgbClr val="000000"/>
                </a:solidFill>
              </a:rPr>
              <a:t>(L1, L2 or L3)</a:t>
            </a:r>
          </a:p>
        </p:txBody>
      </p:sp>
      <p:grpSp>
        <p:nvGrpSpPr>
          <p:cNvPr id="39" name="Group 38">
            <a:extLst>
              <a:ext uri="{FF2B5EF4-FFF2-40B4-BE49-F238E27FC236}">
                <a16:creationId xmlns:a16="http://schemas.microsoft.com/office/drawing/2014/main" id="{1EB3628D-8FFE-B048-1EEF-8D00EEA9BC75}"/>
              </a:ext>
            </a:extLst>
          </p:cNvPr>
          <p:cNvGrpSpPr/>
          <p:nvPr/>
        </p:nvGrpSpPr>
        <p:grpSpPr>
          <a:xfrm>
            <a:off x="3909521" y="3388782"/>
            <a:ext cx="558796" cy="736600"/>
            <a:chOff x="3909521" y="3425358"/>
            <a:chExt cx="558796" cy="736600"/>
          </a:xfrm>
        </p:grpSpPr>
        <p:sp>
          <p:nvSpPr>
            <p:cNvPr id="37" name="Rectangle 36">
              <a:extLst>
                <a:ext uri="{FF2B5EF4-FFF2-40B4-BE49-F238E27FC236}">
                  <a16:creationId xmlns:a16="http://schemas.microsoft.com/office/drawing/2014/main" id="{FD4F4B83-A6EC-D192-9689-93542FF1F4E4}"/>
                </a:ext>
              </a:extLst>
            </p:cNvPr>
            <p:cNvSpPr/>
            <p:nvPr/>
          </p:nvSpPr>
          <p:spPr>
            <a:xfrm>
              <a:off x="3909521" y="3425358"/>
              <a:ext cx="558796" cy="736600"/>
            </a:xfrm>
            <a:prstGeom prst="rect">
              <a:avLst/>
            </a:prstGeom>
            <a:solidFill>
              <a:schemeClr val="bg1"/>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nvGrpSpPr>
            <p:cNvPr id="34" name="Group 33">
              <a:extLst>
                <a:ext uri="{FF2B5EF4-FFF2-40B4-BE49-F238E27FC236}">
                  <a16:creationId xmlns:a16="http://schemas.microsoft.com/office/drawing/2014/main" id="{11DB54E1-9913-D6E0-0E23-34EA0EF4A966}"/>
                </a:ext>
              </a:extLst>
            </p:cNvPr>
            <p:cNvGrpSpPr/>
            <p:nvPr/>
          </p:nvGrpSpPr>
          <p:grpSpPr>
            <a:xfrm>
              <a:off x="4042918" y="3557141"/>
              <a:ext cx="292001" cy="473033"/>
              <a:chOff x="4000500" y="2696649"/>
              <a:chExt cx="292001" cy="293715"/>
            </a:xfrm>
          </p:grpSpPr>
          <p:sp>
            <p:nvSpPr>
              <p:cNvPr id="35" name="Arrow: Chevron 34">
                <a:extLst>
                  <a:ext uri="{FF2B5EF4-FFF2-40B4-BE49-F238E27FC236}">
                    <a16:creationId xmlns:a16="http://schemas.microsoft.com/office/drawing/2014/main" id="{79BB51B7-0B0D-BD58-07DE-D895D7647DA2}"/>
                  </a:ext>
                </a:extLst>
              </p:cNvPr>
              <p:cNvSpPr/>
              <p:nvPr/>
            </p:nvSpPr>
            <p:spPr>
              <a:xfrm>
                <a:off x="4000500" y="2743200"/>
                <a:ext cx="139700" cy="200612"/>
              </a:xfrm>
              <a:prstGeom prst="chevron">
                <a:avLst/>
              </a:prstGeom>
              <a:solidFill>
                <a:srgbClr val="005696"/>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6" name="Arrow: Chevron 35">
                <a:extLst>
                  <a:ext uri="{FF2B5EF4-FFF2-40B4-BE49-F238E27FC236}">
                    <a16:creationId xmlns:a16="http://schemas.microsoft.com/office/drawing/2014/main" id="{CE929A0B-7F0A-BDCA-1D8E-0FAEE3416AD1}"/>
                  </a:ext>
                </a:extLst>
              </p:cNvPr>
              <p:cNvSpPr/>
              <p:nvPr/>
            </p:nvSpPr>
            <p:spPr>
              <a:xfrm>
                <a:off x="4087966" y="2696649"/>
                <a:ext cx="204535" cy="293715"/>
              </a:xfrm>
              <a:prstGeom prst="chevron">
                <a:avLst/>
              </a:prstGeom>
              <a:solidFill>
                <a:srgbClr val="0191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grpSp>
      <p:grpSp>
        <p:nvGrpSpPr>
          <p:cNvPr id="41" name="Group 40">
            <a:extLst>
              <a:ext uri="{FF2B5EF4-FFF2-40B4-BE49-F238E27FC236}">
                <a16:creationId xmlns:a16="http://schemas.microsoft.com/office/drawing/2014/main" id="{16632297-955E-9289-E8AA-2215C081FACE}"/>
              </a:ext>
            </a:extLst>
          </p:cNvPr>
          <p:cNvGrpSpPr/>
          <p:nvPr/>
        </p:nvGrpSpPr>
        <p:grpSpPr>
          <a:xfrm>
            <a:off x="7725032" y="3388782"/>
            <a:ext cx="558796" cy="736600"/>
            <a:chOff x="3909521" y="3425358"/>
            <a:chExt cx="558796" cy="736600"/>
          </a:xfrm>
        </p:grpSpPr>
        <p:sp>
          <p:nvSpPr>
            <p:cNvPr id="42" name="Rectangle 41">
              <a:extLst>
                <a:ext uri="{FF2B5EF4-FFF2-40B4-BE49-F238E27FC236}">
                  <a16:creationId xmlns:a16="http://schemas.microsoft.com/office/drawing/2014/main" id="{982230EC-70B9-5EE5-9758-F5008EE92371}"/>
                </a:ext>
              </a:extLst>
            </p:cNvPr>
            <p:cNvSpPr/>
            <p:nvPr/>
          </p:nvSpPr>
          <p:spPr>
            <a:xfrm>
              <a:off x="3909521" y="3425358"/>
              <a:ext cx="558796" cy="736600"/>
            </a:xfrm>
            <a:prstGeom prst="rect">
              <a:avLst/>
            </a:prstGeom>
            <a:solidFill>
              <a:schemeClr val="bg1"/>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nvGrpSpPr>
            <p:cNvPr id="43" name="Group 42">
              <a:extLst>
                <a:ext uri="{FF2B5EF4-FFF2-40B4-BE49-F238E27FC236}">
                  <a16:creationId xmlns:a16="http://schemas.microsoft.com/office/drawing/2014/main" id="{95D0F588-C1C4-D31D-F593-BFCB4F8B6251}"/>
                </a:ext>
              </a:extLst>
            </p:cNvPr>
            <p:cNvGrpSpPr/>
            <p:nvPr/>
          </p:nvGrpSpPr>
          <p:grpSpPr>
            <a:xfrm>
              <a:off x="4042918" y="3557141"/>
              <a:ext cx="292001" cy="473033"/>
              <a:chOff x="4000500" y="2696649"/>
              <a:chExt cx="292001" cy="293715"/>
            </a:xfrm>
          </p:grpSpPr>
          <p:sp>
            <p:nvSpPr>
              <p:cNvPr id="44" name="Arrow: Chevron 43">
                <a:extLst>
                  <a:ext uri="{FF2B5EF4-FFF2-40B4-BE49-F238E27FC236}">
                    <a16:creationId xmlns:a16="http://schemas.microsoft.com/office/drawing/2014/main" id="{33C05ABA-7F78-36ED-17A0-0F2A9CC681D1}"/>
                  </a:ext>
                </a:extLst>
              </p:cNvPr>
              <p:cNvSpPr/>
              <p:nvPr/>
            </p:nvSpPr>
            <p:spPr>
              <a:xfrm>
                <a:off x="4000500" y="2743200"/>
                <a:ext cx="139700" cy="200612"/>
              </a:xfrm>
              <a:prstGeom prst="chevron">
                <a:avLst/>
              </a:prstGeom>
              <a:solidFill>
                <a:srgbClr val="005696"/>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5" name="Arrow: Chevron 44">
                <a:extLst>
                  <a:ext uri="{FF2B5EF4-FFF2-40B4-BE49-F238E27FC236}">
                    <a16:creationId xmlns:a16="http://schemas.microsoft.com/office/drawing/2014/main" id="{B0ABBF98-A78C-69A1-B1CC-EED3944D4268}"/>
                  </a:ext>
                </a:extLst>
              </p:cNvPr>
              <p:cNvSpPr/>
              <p:nvPr/>
            </p:nvSpPr>
            <p:spPr>
              <a:xfrm>
                <a:off x="4087966" y="2696649"/>
                <a:ext cx="204535" cy="293715"/>
              </a:xfrm>
              <a:prstGeom prst="chevron">
                <a:avLst/>
              </a:prstGeom>
              <a:solidFill>
                <a:srgbClr val="0191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grpSp>
      <p:pic>
        <p:nvPicPr>
          <p:cNvPr id="22" name="Picture 21">
            <a:extLst>
              <a:ext uri="{FF2B5EF4-FFF2-40B4-BE49-F238E27FC236}">
                <a16:creationId xmlns:a16="http://schemas.microsoft.com/office/drawing/2014/main" id="{F0388A7A-56F4-AAF0-B6E1-C07EACB613D7}"/>
              </a:ext>
            </a:extLst>
          </p:cNvPr>
          <p:cNvPicPr>
            <a:picLocks noChangeAspect="1"/>
          </p:cNvPicPr>
          <p:nvPr/>
        </p:nvPicPr>
        <p:blipFill>
          <a:blip r:embed="rId5"/>
          <a:stretch>
            <a:fillRect/>
          </a:stretch>
        </p:blipFill>
        <p:spPr>
          <a:xfrm>
            <a:off x="8517783" y="4144606"/>
            <a:ext cx="3115723" cy="1479763"/>
          </a:xfrm>
          <a:prstGeom prst="rect">
            <a:avLst/>
          </a:prstGeom>
          <a:ln>
            <a:noFill/>
          </a:ln>
          <a:effectLst>
            <a:outerShdw blurRad="50800" dist="38100" dir="2700000" algn="tl" rotWithShape="0">
              <a:prstClr val="black">
                <a:alpha val="40000"/>
              </a:prstClr>
            </a:outerShdw>
          </a:effectLst>
        </p:spPr>
      </p:pic>
      <p:sp>
        <p:nvSpPr>
          <p:cNvPr id="23" name="TextBox 22">
            <a:extLst>
              <a:ext uri="{FF2B5EF4-FFF2-40B4-BE49-F238E27FC236}">
                <a16:creationId xmlns:a16="http://schemas.microsoft.com/office/drawing/2014/main" id="{1A75A9AF-8D5E-F6FB-8C6A-93C1945702D3}"/>
              </a:ext>
            </a:extLst>
          </p:cNvPr>
          <p:cNvSpPr txBox="1"/>
          <p:nvPr/>
        </p:nvSpPr>
        <p:spPr>
          <a:xfrm>
            <a:off x="8517783" y="3776359"/>
            <a:ext cx="2481088" cy="24147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i="1">
                <a:solidFill>
                  <a:srgbClr val="000000"/>
                </a:solidFill>
              </a:rPr>
              <a:t>Illustrative rollup output</a:t>
            </a:r>
          </a:p>
        </p:txBody>
      </p:sp>
      <p:pic>
        <p:nvPicPr>
          <p:cNvPr id="49" name="Picture 48">
            <a:extLst>
              <a:ext uri="{FF2B5EF4-FFF2-40B4-BE49-F238E27FC236}">
                <a16:creationId xmlns:a16="http://schemas.microsoft.com/office/drawing/2014/main" id="{F197A4ED-65D3-B790-2D83-71F7BE2EECFB}"/>
              </a:ext>
            </a:extLst>
          </p:cNvPr>
          <p:cNvPicPr>
            <a:picLocks noChangeAspect="1"/>
          </p:cNvPicPr>
          <p:nvPr/>
        </p:nvPicPr>
        <p:blipFill>
          <a:blip r:embed="rId6"/>
          <a:stretch>
            <a:fillRect/>
          </a:stretch>
        </p:blipFill>
        <p:spPr>
          <a:xfrm>
            <a:off x="780106" y="3980419"/>
            <a:ext cx="3002117" cy="1781968"/>
          </a:xfrm>
          <a:prstGeom prst="rect">
            <a:avLst/>
          </a:prstGeom>
          <a:effectLst>
            <a:outerShdw blurRad="50800" dist="38100" dir="2700000" algn="tl" rotWithShape="0">
              <a:prstClr val="black">
                <a:alpha val="40000"/>
              </a:prstClr>
            </a:outerShdw>
          </a:effectLst>
        </p:spPr>
      </p:pic>
      <p:sp>
        <p:nvSpPr>
          <p:cNvPr id="50" name="TextBox 49">
            <a:extLst>
              <a:ext uri="{FF2B5EF4-FFF2-40B4-BE49-F238E27FC236}">
                <a16:creationId xmlns:a16="http://schemas.microsoft.com/office/drawing/2014/main" id="{8DF7C761-5C78-C8E2-ADA5-216F098DCDD9}"/>
              </a:ext>
            </a:extLst>
          </p:cNvPr>
          <p:cNvSpPr txBox="1"/>
          <p:nvPr/>
        </p:nvSpPr>
        <p:spPr>
          <a:xfrm>
            <a:off x="807286" y="3636340"/>
            <a:ext cx="2481088" cy="24147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i="1">
                <a:solidFill>
                  <a:srgbClr val="000000"/>
                </a:solidFill>
              </a:rPr>
              <a:t>Illustrative survey</a:t>
            </a:r>
          </a:p>
        </p:txBody>
      </p:sp>
      <p:sp>
        <p:nvSpPr>
          <p:cNvPr id="51" name="Oval 20">
            <a:extLst>
              <a:ext uri="{FF2B5EF4-FFF2-40B4-BE49-F238E27FC236}">
                <a16:creationId xmlns:a16="http://schemas.microsoft.com/office/drawing/2014/main" id="{C9A51C55-89EA-1945-099D-89017746373D}"/>
              </a:ext>
            </a:extLst>
          </p:cNvPr>
          <p:cNvSpPr>
            <a:spLocks noChangeAspect="1" noChangeArrowheads="1"/>
          </p:cNvSpPr>
          <p:nvPr/>
        </p:nvSpPr>
        <p:spPr bwMode="auto">
          <a:xfrm>
            <a:off x="793198" y="2494148"/>
            <a:ext cx="253645" cy="253645"/>
          </a:xfrm>
          <a:prstGeom prst="ellipse">
            <a:avLst/>
          </a:prstGeom>
          <a:solidFill>
            <a:srgbClr val="0191FF">
              <a:lumMod val="100000"/>
            </a:srgbClr>
          </a:solidFill>
          <a:ln>
            <a:noFill/>
          </a:ln>
        </p:spPr>
        <p:txBody>
          <a:bodyPr vert="horz" wrap="square" lIns="0" tIns="0" rIns="0" bIns="0" numCol="1" anchor="ctr" anchorCtr="0" compatLnSpc="1">
            <a:prstTxWarp prst="textNoShape">
              <a:avLst/>
            </a:prstTxWarp>
          </a:bodyPr>
          <a:lstStyle/>
          <a:p>
            <a:pPr algn="ctr"/>
            <a:r>
              <a:rPr lang="en-US" sz="1050">
                <a:solidFill>
                  <a:srgbClr val="FFFFFF">
                    <a:lumMod val="100000"/>
                  </a:srgbClr>
                </a:solidFill>
                <a:latin typeface="Trebuchet MS" panose="020B0603020202020204" pitchFamily="34" charset="0"/>
              </a:rPr>
              <a:t>1a</a:t>
            </a:r>
          </a:p>
        </p:txBody>
      </p:sp>
      <p:sp>
        <p:nvSpPr>
          <p:cNvPr id="53" name="Oval 20">
            <a:extLst>
              <a:ext uri="{FF2B5EF4-FFF2-40B4-BE49-F238E27FC236}">
                <a16:creationId xmlns:a16="http://schemas.microsoft.com/office/drawing/2014/main" id="{5BCB1A6E-D7B9-5135-69D6-D0C913865184}"/>
              </a:ext>
            </a:extLst>
          </p:cNvPr>
          <p:cNvSpPr>
            <a:spLocks noChangeAspect="1" noChangeArrowheads="1"/>
          </p:cNvSpPr>
          <p:nvPr/>
        </p:nvSpPr>
        <p:spPr bwMode="auto">
          <a:xfrm>
            <a:off x="793198" y="3231761"/>
            <a:ext cx="253645" cy="253645"/>
          </a:xfrm>
          <a:prstGeom prst="ellipse">
            <a:avLst/>
          </a:prstGeom>
          <a:solidFill>
            <a:srgbClr val="0191FF">
              <a:lumMod val="100000"/>
            </a:srgbClr>
          </a:solidFill>
          <a:ln>
            <a:noFill/>
          </a:ln>
        </p:spPr>
        <p:txBody>
          <a:bodyPr vert="horz" wrap="square" lIns="0" tIns="0" rIns="0" bIns="0" numCol="1" anchor="ctr" anchorCtr="0" compatLnSpc="1">
            <a:prstTxWarp prst="textNoShape">
              <a:avLst/>
            </a:prstTxWarp>
          </a:bodyPr>
          <a:lstStyle/>
          <a:p>
            <a:pPr algn="ctr"/>
            <a:r>
              <a:rPr lang="en-US" sz="1050">
                <a:solidFill>
                  <a:srgbClr val="FFFFFF">
                    <a:lumMod val="100000"/>
                  </a:srgbClr>
                </a:solidFill>
                <a:latin typeface="Trebuchet MS" panose="020B0603020202020204" pitchFamily="34" charset="0"/>
              </a:rPr>
              <a:t>1b</a:t>
            </a:r>
          </a:p>
        </p:txBody>
      </p:sp>
      <p:sp>
        <p:nvSpPr>
          <p:cNvPr id="54" name="Oval 20">
            <a:extLst>
              <a:ext uri="{FF2B5EF4-FFF2-40B4-BE49-F238E27FC236}">
                <a16:creationId xmlns:a16="http://schemas.microsoft.com/office/drawing/2014/main" id="{E4F24E97-979F-86FD-61ED-000D656D54A1}"/>
              </a:ext>
            </a:extLst>
          </p:cNvPr>
          <p:cNvSpPr>
            <a:spLocks noChangeAspect="1" noChangeArrowheads="1"/>
          </p:cNvSpPr>
          <p:nvPr/>
        </p:nvSpPr>
        <p:spPr bwMode="auto">
          <a:xfrm>
            <a:off x="4595614" y="2528173"/>
            <a:ext cx="253645" cy="253645"/>
          </a:xfrm>
          <a:prstGeom prst="ellipse">
            <a:avLst/>
          </a:prstGeom>
          <a:solidFill>
            <a:srgbClr val="0191FF">
              <a:lumMod val="100000"/>
            </a:srgbClr>
          </a:solidFill>
          <a:ln>
            <a:noFill/>
          </a:ln>
        </p:spPr>
        <p:txBody>
          <a:bodyPr vert="horz" wrap="square" lIns="0" tIns="0" rIns="0" bIns="0" numCol="1" anchor="ctr" anchorCtr="0" compatLnSpc="1">
            <a:prstTxWarp prst="textNoShape">
              <a:avLst/>
            </a:prstTxWarp>
          </a:bodyPr>
          <a:lstStyle/>
          <a:p>
            <a:pPr algn="ctr"/>
            <a:r>
              <a:rPr lang="en-US" sz="1050">
                <a:solidFill>
                  <a:srgbClr val="FFFFFF">
                    <a:lumMod val="100000"/>
                  </a:srgbClr>
                </a:solidFill>
                <a:latin typeface="Trebuchet MS" panose="020B0603020202020204" pitchFamily="34" charset="0"/>
              </a:rPr>
              <a:t>2a</a:t>
            </a:r>
          </a:p>
        </p:txBody>
      </p:sp>
      <p:sp>
        <p:nvSpPr>
          <p:cNvPr id="55" name="Oval 20">
            <a:extLst>
              <a:ext uri="{FF2B5EF4-FFF2-40B4-BE49-F238E27FC236}">
                <a16:creationId xmlns:a16="http://schemas.microsoft.com/office/drawing/2014/main" id="{8F1A1EAD-3295-2DF3-2252-0948FF0213A3}"/>
              </a:ext>
            </a:extLst>
          </p:cNvPr>
          <p:cNvSpPr>
            <a:spLocks noChangeAspect="1" noChangeArrowheads="1"/>
          </p:cNvSpPr>
          <p:nvPr/>
        </p:nvSpPr>
        <p:spPr bwMode="auto">
          <a:xfrm>
            <a:off x="4595614" y="3047038"/>
            <a:ext cx="253645" cy="253645"/>
          </a:xfrm>
          <a:prstGeom prst="ellipse">
            <a:avLst/>
          </a:prstGeom>
          <a:solidFill>
            <a:srgbClr val="0191FF">
              <a:lumMod val="100000"/>
            </a:srgbClr>
          </a:solidFill>
          <a:ln>
            <a:noFill/>
          </a:ln>
        </p:spPr>
        <p:txBody>
          <a:bodyPr vert="horz" wrap="square" lIns="0" tIns="0" rIns="0" bIns="0" numCol="1" anchor="ctr" anchorCtr="0" compatLnSpc="1">
            <a:prstTxWarp prst="textNoShape">
              <a:avLst/>
            </a:prstTxWarp>
          </a:bodyPr>
          <a:lstStyle/>
          <a:p>
            <a:pPr algn="ctr"/>
            <a:r>
              <a:rPr lang="en-US" sz="1050">
                <a:solidFill>
                  <a:srgbClr val="FFFFFF">
                    <a:lumMod val="100000"/>
                  </a:srgbClr>
                </a:solidFill>
                <a:latin typeface="Trebuchet MS" panose="020B0603020202020204" pitchFamily="34" charset="0"/>
              </a:rPr>
              <a:t>2b</a:t>
            </a:r>
          </a:p>
        </p:txBody>
      </p:sp>
      <p:sp>
        <p:nvSpPr>
          <p:cNvPr id="56" name="Oval 20">
            <a:extLst>
              <a:ext uri="{FF2B5EF4-FFF2-40B4-BE49-F238E27FC236}">
                <a16:creationId xmlns:a16="http://schemas.microsoft.com/office/drawing/2014/main" id="{A47B6562-9197-C1CC-A132-56D743FDDD9C}"/>
              </a:ext>
            </a:extLst>
          </p:cNvPr>
          <p:cNvSpPr>
            <a:spLocks noChangeAspect="1" noChangeArrowheads="1"/>
          </p:cNvSpPr>
          <p:nvPr/>
        </p:nvSpPr>
        <p:spPr bwMode="auto">
          <a:xfrm>
            <a:off x="4595614" y="3539165"/>
            <a:ext cx="253645" cy="253645"/>
          </a:xfrm>
          <a:prstGeom prst="ellipse">
            <a:avLst/>
          </a:prstGeom>
          <a:solidFill>
            <a:srgbClr val="0191FF">
              <a:lumMod val="100000"/>
            </a:srgbClr>
          </a:solidFill>
          <a:ln>
            <a:noFill/>
          </a:ln>
        </p:spPr>
        <p:txBody>
          <a:bodyPr vert="horz" wrap="square" lIns="0" tIns="0" rIns="0" bIns="0" numCol="1" anchor="ctr" anchorCtr="0" compatLnSpc="1">
            <a:prstTxWarp prst="textNoShape">
              <a:avLst/>
            </a:prstTxWarp>
          </a:bodyPr>
          <a:lstStyle/>
          <a:p>
            <a:pPr algn="ctr"/>
            <a:r>
              <a:rPr lang="en-US" sz="1050">
                <a:solidFill>
                  <a:srgbClr val="FFFFFF">
                    <a:lumMod val="100000"/>
                  </a:srgbClr>
                </a:solidFill>
                <a:latin typeface="Trebuchet MS" panose="020B0603020202020204" pitchFamily="34" charset="0"/>
              </a:rPr>
              <a:t>2c</a:t>
            </a:r>
          </a:p>
        </p:txBody>
      </p:sp>
      <p:sp>
        <p:nvSpPr>
          <p:cNvPr id="57" name="Oval 20">
            <a:extLst>
              <a:ext uri="{FF2B5EF4-FFF2-40B4-BE49-F238E27FC236}">
                <a16:creationId xmlns:a16="http://schemas.microsoft.com/office/drawing/2014/main" id="{73454A87-DE95-A0E3-A7E2-C3ACBEEAB84C}"/>
              </a:ext>
            </a:extLst>
          </p:cNvPr>
          <p:cNvSpPr>
            <a:spLocks noChangeAspect="1" noChangeArrowheads="1"/>
          </p:cNvSpPr>
          <p:nvPr/>
        </p:nvSpPr>
        <p:spPr bwMode="auto">
          <a:xfrm>
            <a:off x="4595614" y="4070709"/>
            <a:ext cx="253645" cy="253645"/>
          </a:xfrm>
          <a:prstGeom prst="ellipse">
            <a:avLst/>
          </a:prstGeom>
          <a:solidFill>
            <a:srgbClr val="0191FF">
              <a:lumMod val="100000"/>
            </a:srgbClr>
          </a:solidFill>
          <a:ln>
            <a:noFill/>
          </a:ln>
        </p:spPr>
        <p:txBody>
          <a:bodyPr vert="horz" wrap="square" lIns="0" tIns="0" rIns="0" bIns="0" numCol="1" anchor="ctr" anchorCtr="0" compatLnSpc="1">
            <a:prstTxWarp prst="textNoShape">
              <a:avLst/>
            </a:prstTxWarp>
          </a:bodyPr>
          <a:lstStyle/>
          <a:p>
            <a:pPr algn="ctr"/>
            <a:r>
              <a:rPr lang="en-US" sz="1050">
                <a:solidFill>
                  <a:srgbClr val="FFFFFF">
                    <a:lumMod val="100000"/>
                  </a:srgbClr>
                </a:solidFill>
                <a:latin typeface="Trebuchet MS" panose="020B0603020202020204" pitchFamily="34" charset="0"/>
              </a:rPr>
              <a:t>2d</a:t>
            </a:r>
          </a:p>
        </p:txBody>
      </p:sp>
      <p:sp>
        <p:nvSpPr>
          <p:cNvPr id="60" name="TextBox 59">
            <a:extLst>
              <a:ext uri="{FF2B5EF4-FFF2-40B4-BE49-F238E27FC236}">
                <a16:creationId xmlns:a16="http://schemas.microsoft.com/office/drawing/2014/main" id="{BFC37071-27C9-D7BF-CB78-03A1C4C800FA}"/>
              </a:ext>
            </a:extLst>
          </p:cNvPr>
          <p:cNvSpPr txBox="1"/>
          <p:nvPr/>
        </p:nvSpPr>
        <p:spPr>
          <a:xfrm>
            <a:off x="882372" y="6116303"/>
            <a:ext cx="9889259" cy="488432"/>
          </a:xfrm>
          <a:prstGeom prst="rect">
            <a:avLst/>
          </a:prstGeom>
          <a:solidFill>
            <a:schemeClr val="tx2">
              <a:lumMod val="20000"/>
              <a:lumOff val="80000"/>
            </a:schemeClr>
          </a:solidFill>
          <a:ln w="9525" cap="rnd">
            <a:solidFill>
              <a:schemeClr val="accent2">
                <a:lumMod val="7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94500" lvl="1" algn="ctr" fontAlgn="ctr">
              <a:spcAft>
                <a:spcPts val="600"/>
              </a:spcAft>
              <a:buClr>
                <a:srgbClr val="0191FF"/>
              </a:buClr>
            </a:pPr>
            <a:endParaRPr lang="en-US" sz="1200">
              <a:solidFill>
                <a:srgbClr val="000000"/>
              </a:solidFill>
            </a:endParaRPr>
          </a:p>
        </p:txBody>
      </p:sp>
      <p:cxnSp>
        <p:nvCxnSpPr>
          <p:cNvPr id="62" name="Straight Connector 61">
            <a:extLst>
              <a:ext uri="{FF2B5EF4-FFF2-40B4-BE49-F238E27FC236}">
                <a16:creationId xmlns:a16="http://schemas.microsoft.com/office/drawing/2014/main" id="{50465A65-A652-2625-13D6-37018FDDCABB}"/>
              </a:ext>
            </a:extLst>
          </p:cNvPr>
          <p:cNvCxnSpPr/>
          <p:nvPr/>
        </p:nvCxnSpPr>
        <p:spPr>
          <a:xfrm>
            <a:off x="780106" y="1407209"/>
            <a:ext cx="10633138" cy="0"/>
          </a:xfrm>
          <a:prstGeom prst="line">
            <a:avLst/>
          </a:prstGeom>
          <a:ln w="9525" cap="rnd">
            <a:solidFill>
              <a:srgbClr val="9A9A9A"/>
            </a:solidFill>
            <a:prstDash val="solid"/>
            <a:roun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FD72809-484F-9EEE-B530-C0C709A93A9C}"/>
              </a:ext>
            </a:extLst>
          </p:cNvPr>
          <p:cNvSpPr txBox="1"/>
          <p:nvPr/>
        </p:nvSpPr>
        <p:spPr>
          <a:xfrm>
            <a:off x="1466547" y="1258351"/>
            <a:ext cx="9260256" cy="297715"/>
          </a:xfrm>
          <a:prstGeom prst="rect">
            <a:avLst/>
          </a:prstGeom>
          <a:solidFill>
            <a:schemeClr val="bg1"/>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lvl="1" algn="ctr" fontAlgn="ctr">
              <a:spcAft>
                <a:spcPts val="600"/>
              </a:spcAft>
              <a:buClr>
                <a:srgbClr val="0191FF"/>
              </a:buClr>
            </a:pPr>
            <a:r>
              <a:rPr lang="en-US" sz="1200">
                <a:solidFill>
                  <a:srgbClr val="000000"/>
                </a:solidFill>
              </a:rPr>
              <a:t>Evaluation process to be conducted yearly to refresh scores of existing initiatives; new initiatives to be scored as they are created</a:t>
            </a:r>
          </a:p>
        </p:txBody>
      </p:sp>
      <p:sp>
        <p:nvSpPr>
          <p:cNvPr id="64" name="TextBox 63">
            <a:extLst>
              <a:ext uri="{FF2B5EF4-FFF2-40B4-BE49-F238E27FC236}">
                <a16:creationId xmlns:a16="http://schemas.microsoft.com/office/drawing/2014/main" id="{17F0EAF5-7809-1A62-5D16-A44C26B84330}"/>
              </a:ext>
            </a:extLst>
          </p:cNvPr>
          <p:cNvSpPr txBox="1"/>
          <p:nvPr/>
        </p:nvSpPr>
        <p:spPr>
          <a:xfrm>
            <a:off x="1403892" y="6177036"/>
            <a:ext cx="8846221" cy="366966"/>
          </a:xfrm>
          <a:prstGeom prst="rect">
            <a:avLst/>
          </a:prstGeom>
          <a:solidFill>
            <a:schemeClr val="tx2">
              <a:lumMod val="20000"/>
              <a:lumOff val="80000"/>
            </a:schemeClr>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1" algn="ctr" fontAlgn="ctr">
              <a:spcAft>
                <a:spcPts val="600"/>
              </a:spcAft>
              <a:buClr>
                <a:srgbClr val="0191FF"/>
              </a:buClr>
            </a:pPr>
            <a:r>
              <a:rPr lang="en-US" sz="1400" b="1">
                <a:solidFill>
                  <a:srgbClr val="000000"/>
                </a:solidFill>
              </a:rPr>
              <a:t>Next steps: </a:t>
            </a:r>
            <a:r>
              <a:rPr lang="en-US" sz="1400">
                <a:solidFill>
                  <a:srgbClr val="000000"/>
                </a:solidFill>
              </a:rPr>
              <a:t>Set up survey for distribution to initiative owners – </a:t>
            </a:r>
            <a:r>
              <a:rPr lang="en-US" sz="1400" i="1">
                <a:solidFill>
                  <a:srgbClr val="000000"/>
                </a:solidFill>
              </a:rPr>
              <a:t>BCG can support here if helpful</a:t>
            </a:r>
          </a:p>
        </p:txBody>
      </p:sp>
    </p:spTree>
    <p:extLst>
      <p:ext uri="{BB962C8B-B14F-4D97-AF65-F5344CB8AC3E}">
        <p14:creationId xmlns:p14="http://schemas.microsoft.com/office/powerpoint/2010/main" val="20718991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7A77B46-5E5C-FD9D-8C77-8A2F7C3BD011}"/>
              </a:ext>
            </a:extLst>
          </p:cNvPr>
          <p:cNvGraphicFramePr>
            <a:graphicFrameLocks noChangeAspect="1"/>
          </p:cNvGraphicFramePr>
          <p:nvPr>
            <p:custDataLst>
              <p:tags r:id="rId1"/>
            </p:custDataLst>
            <p:extLst>
              <p:ext uri="{D42A27DB-BD31-4B8C-83A1-F6EECF244321}">
                <p14:modId xmlns:p14="http://schemas.microsoft.com/office/powerpoint/2010/main" val="33572807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77A77B46-5E5C-FD9D-8C77-8A2F7C3BD01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5" name="TextBox 44">
            <a:extLst>
              <a:ext uri="{FF2B5EF4-FFF2-40B4-BE49-F238E27FC236}">
                <a16:creationId xmlns:a16="http://schemas.microsoft.com/office/drawing/2014/main" id="{BF7720B9-971E-D9D2-FFD6-98A9FE7FE065}"/>
              </a:ext>
            </a:extLst>
          </p:cNvPr>
          <p:cNvSpPr txBox="1"/>
          <p:nvPr/>
        </p:nvSpPr>
        <p:spPr>
          <a:xfrm>
            <a:off x="628649" y="2180953"/>
            <a:ext cx="2447705" cy="3621223"/>
          </a:xfrm>
          <a:prstGeom prst="rect">
            <a:avLst/>
          </a:prstGeom>
          <a:solidFill>
            <a:schemeClr val="bg1">
              <a:lumMod val="95000"/>
            </a:schemeClr>
          </a:solidFill>
          <a:ln w="9525" cap="rnd">
            <a:solidFill>
              <a:schemeClr val="tx1">
                <a:lumMod val="50000"/>
                <a:lumOff val="50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err="1">
              <a:solidFill>
                <a:srgbClr val="000000"/>
              </a:solidFill>
            </a:endParaRPr>
          </a:p>
        </p:txBody>
      </p:sp>
      <p:sp>
        <p:nvSpPr>
          <p:cNvPr id="2" name="Title 1">
            <a:extLst>
              <a:ext uri="{FF2B5EF4-FFF2-40B4-BE49-F238E27FC236}">
                <a16:creationId xmlns:a16="http://schemas.microsoft.com/office/drawing/2014/main" id="{37310A6A-1FC8-5005-DAC1-86C7C3386101}"/>
              </a:ext>
            </a:extLst>
          </p:cNvPr>
          <p:cNvSpPr>
            <a:spLocks noGrp="1"/>
          </p:cNvSpPr>
          <p:nvPr>
            <p:ph type="title"/>
          </p:nvPr>
        </p:nvSpPr>
        <p:spPr/>
        <p:txBody>
          <a:bodyPr vert="horz"/>
          <a:lstStyle/>
          <a:p>
            <a:r>
              <a:rPr lang="en-US" dirty="0">
                <a:solidFill>
                  <a:srgbClr val="002E50"/>
                </a:solidFill>
              </a:rPr>
              <a:t>Detail |</a:t>
            </a:r>
            <a:r>
              <a:rPr lang="en-US" dirty="0"/>
              <a:t> Automation potential scoring methodology</a:t>
            </a:r>
          </a:p>
        </p:txBody>
      </p:sp>
      <p:sp>
        <p:nvSpPr>
          <p:cNvPr id="14" name="IllustrativeStamp">
            <a:extLst>
              <a:ext uri="{FF2B5EF4-FFF2-40B4-BE49-F238E27FC236}">
                <a16:creationId xmlns:a16="http://schemas.microsoft.com/office/drawing/2014/main" id="{D36F5932-3E3F-DA68-689F-95EE9FF538FD}"/>
              </a:ext>
            </a:extLst>
          </p:cNvPr>
          <p:cNvSpPr/>
          <p:nvPr/>
        </p:nvSpPr>
        <p:spPr>
          <a:xfrm>
            <a:off x="4652082" y="0"/>
            <a:ext cx="2889186" cy="215900"/>
          </a:xfrm>
          <a:prstGeom prst="rect">
            <a:avLst/>
          </a:prstGeom>
          <a:solidFill>
            <a:srgbClr val="C00000"/>
          </a:solidFill>
          <a:ln w="9525">
            <a:solidFill>
              <a:srgbClr val="C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l"/>
            <a:r>
              <a:rPr lang="en-US" sz="1200" b="1">
                <a:solidFill>
                  <a:schemeClr val="bg1"/>
                </a:solidFill>
                <a:latin typeface="Trebuchet MS" panose="020B0603020202020204" pitchFamily="34" charset="0"/>
              </a:rPr>
              <a:t>Preliminary</a:t>
            </a:r>
          </a:p>
        </p:txBody>
      </p:sp>
      <p:sp>
        <p:nvSpPr>
          <p:cNvPr id="16" name="ee4pContent1">
            <a:extLst>
              <a:ext uri="{FF2B5EF4-FFF2-40B4-BE49-F238E27FC236}">
                <a16:creationId xmlns:a16="http://schemas.microsoft.com/office/drawing/2014/main" id="{F3676132-9E43-D7B1-DCAC-A6A04529C53F}"/>
              </a:ext>
            </a:extLst>
          </p:cNvPr>
          <p:cNvSpPr txBox="1"/>
          <p:nvPr/>
        </p:nvSpPr>
        <p:spPr>
          <a:xfrm>
            <a:off x="657191" y="2186556"/>
            <a:ext cx="2390621" cy="1329414"/>
          </a:xfrm>
          <a:prstGeom prst="rect">
            <a:avLst/>
          </a:prstGeom>
          <a:no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spcAft>
                <a:spcPts val="600"/>
              </a:spcAft>
            </a:pPr>
            <a:r>
              <a:rPr lang="en-US" sz="1100" dirty="0"/>
              <a:t>Defines highest potential degree of automation based on the nature of each </a:t>
            </a:r>
            <a:r>
              <a:rPr lang="en-US" sz="1100" dirty="0" err="1"/>
              <a:t>EIW</a:t>
            </a:r>
            <a:r>
              <a:rPr lang="en-US" sz="1100" dirty="0"/>
              <a:t> L3</a:t>
            </a:r>
          </a:p>
          <a:p>
            <a:pPr algn="ctr">
              <a:spcAft>
                <a:spcPts val="1200"/>
              </a:spcAft>
            </a:pPr>
            <a:r>
              <a:rPr lang="en-US" sz="900" i="1" dirty="0"/>
              <a:t>(maximum expected coverage            with 100% impact)</a:t>
            </a:r>
          </a:p>
        </p:txBody>
      </p:sp>
      <p:sp>
        <p:nvSpPr>
          <p:cNvPr id="22" name="ee4pContent1">
            <a:extLst>
              <a:ext uri="{FF2B5EF4-FFF2-40B4-BE49-F238E27FC236}">
                <a16:creationId xmlns:a16="http://schemas.microsoft.com/office/drawing/2014/main" id="{5A943D2D-AF78-0AB1-50FE-54A019CFEF4A}"/>
              </a:ext>
            </a:extLst>
          </p:cNvPr>
          <p:cNvSpPr txBox="1"/>
          <p:nvPr/>
        </p:nvSpPr>
        <p:spPr>
          <a:xfrm>
            <a:off x="742614" y="4054926"/>
            <a:ext cx="799087" cy="338554"/>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indent="-225000">
              <a:buNone/>
            </a:pPr>
            <a:r>
              <a:rPr lang="en-US" sz="1100" b="1" u="sng" dirty="0">
                <a:solidFill>
                  <a:srgbClr val="49D6B7"/>
                </a:solidFill>
              </a:rPr>
              <a:t>HIGH </a:t>
            </a:r>
          </a:p>
          <a:p>
            <a:pPr indent="-225000">
              <a:spcAft>
                <a:spcPts val="600"/>
              </a:spcAft>
              <a:buNone/>
            </a:pPr>
            <a:r>
              <a:rPr lang="en-US" sz="1100" b="1" u="sng" dirty="0">
                <a:solidFill>
                  <a:srgbClr val="49D6B7"/>
                </a:solidFill>
              </a:rPr>
              <a:t>(70-100%)</a:t>
            </a:r>
            <a:endParaRPr lang="en-US" sz="1100" u="sng" dirty="0"/>
          </a:p>
        </p:txBody>
      </p:sp>
      <p:sp>
        <p:nvSpPr>
          <p:cNvPr id="23" name="ee4pContent1">
            <a:extLst>
              <a:ext uri="{FF2B5EF4-FFF2-40B4-BE49-F238E27FC236}">
                <a16:creationId xmlns:a16="http://schemas.microsoft.com/office/drawing/2014/main" id="{9FB594B0-6924-0201-99E3-9ED9F89DC499}"/>
              </a:ext>
            </a:extLst>
          </p:cNvPr>
          <p:cNvSpPr txBox="1"/>
          <p:nvPr/>
        </p:nvSpPr>
        <p:spPr>
          <a:xfrm>
            <a:off x="742615" y="4533000"/>
            <a:ext cx="864654" cy="338554"/>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indent="-225000">
              <a:buNone/>
            </a:pPr>
            <a:r>
              <a:rPr lang="en-US" sz="1100" b="1" u="sng" dirty="0">
                <a:solidFill>
                  <a:srgbClr val="E8B34A"/>
                </a:solidFill>
              </a:rPr>
              <a:t>MED </a:t>
            </a:r>
          </a:p>
          <a:p>
            <a:pPr indent="-225000">
              <a:spcAft>
                <a:spcPts val="600"/>
              </a:spcAft>
              <a:buNone/>
            </a:pPr>
            <a:r>
              <a:rPr lang="en-US" sz="1100" b="1" u="sng" dirty="0">
                <a:solidFill>
                  <a:srgbClr val="E8B34A"/>
                </a:solidFill>
              </a:rPr>
              <a:t>(30-70%)</a:t>
            </a:r>
            <a:endParaRPr lang="en-US" sz="1100" u="sng" dirty="0"/>
          </a:p>
        </p:txBody>
      </p:sp>
      <p:sp>
        <p:nvSpPr>
          <p:cNvPr id="24" name="ee4pContent1">
            <a:extLst>
              <a:ext uri="{FF2B5EF4-FFF2-40B4-BE49-F238E27FC236}">
                <a16:creationId xmlns:a16="http://schemas.microsoft.com/office/drawing/2014/main" id="{59737FA1-3B99-5945-52A4-FE20651BDB97}"/>
              </a:ext>
            </a:extLst>
          </p:cNvPr>
          <p:cNvSpPr txBox="1"/>
          <p:nvPr/>
        </p:nvSpPr>
        <p:spPr>
          <a:xfrm>
            <a:off x="742615" y="5011074"/>
            <a:ext cx="864653" cy="338554"/>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indent="-225000">
              <a:buNone/>
            </a:pPr>
            <a:r>
              <a:rPr lang="en-US" sz="1100" b="1" u="sng" dirty="0">
                <a:solidFill>
                  <a:srgbClr val="C00000"/>
                </a:solidFill>
              </a:rPr>
              <a:t>LOW </a:t>
            </a:r>
          </a:p>
          <a:p>
            <a:pPr indent="-225000">
              <a:spcAft>
                <a:spcPts val="600"/>
              </a:spcAft>
              <a:buNone/>
            </a:pPr>
            <a:r>
              <a:rPr lang="en-US" sz="1100" b="1" u="sng" dirty="0">
                <a:solidFill>
                  <a:srgbClr val="C00000"/>
                </a:solidFill>
              </a:rPr>
              <a:t>(1-30%)</a:t>
            </a:r>
            <a:endParaRPr lang="en-US" sz="1100" u="sng" dirty="0">
              <a:solidFill>
                <a:srgbClr val="FF767C"/>
              </a:solidFill>
            </a:endParaRPr>
          </a:p>
        </p:txBody>
      </p:sp>
      <p:cxnSp>
        <p:nvCxnSpPr>
          <p:cNvPr id="25" name="Straight Connector 24">
            <a:extLst>
              <a:ext uri="{FF2B5EF4-FFF2-40B4-BE49-F238E27FC236}">
                <a16:creationId xmlns:a16="http://schemas.microsoft.com/office/drawing/2014/main" id="{C0974DF2-BD36-61F7-C173-6B46D00B91A6}"/>
              </a:ext>
            </a:extLst>
          </p:cNvPr>
          <p:cNvCxnSpPr>
            <a:cxnSpLocks/>
          </p:cNvCxnSpPr>
          <p:nvPr/>
        </p:nvCxnSpPr>
        <p:spPr>
          <a:xfrm>
            <a:off x="735436" y="4463240"/>
            <a:ext cx="2229185" cy="0"/>
          </a:xfrm>
          <a:prstGeom prst="line">
            <a:avLst/>
          </a:prstGeom>
          <a:ln w="9525" cap="rnd" cmpd="sng" algn="ctr">
            <a:solidFill>
              <a:srgbClr val="555555"/>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DD0C9DA-4971-E686-768B-464B4EDE6AFB}"/>
              </a:ext>
            </a:extLst>
          </p:cNvPr>
          <p:cNvCxnSpPr>
            <a:cxnSpLocks/>
          </p:cNvCxnSpPr>
          <p:nvPr/>
        </p:nvCxnSpPr>
        <p:spPr>
          <a:xfrm>
            <a:off x="735436" y="4941314"/>
            <a:ext cx="2229185" cy="0"/>
          </a:xfrm>
          <a:prstGeom prst="line">
            <a:avLst/>
          </a:prstGeom>
          <a:ln w="9525" cap="rnd" cmpd="sng" algn="ctr">
            <a:solidFill>
              <a:srgbClr val="555555"/>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ee4pContent1">
            <a:extLst>
              <a:ext uri="{FF2B5EF4-FFF2-40B4-BE49-F238E27FC236}">
                <a16:creationId xmlns:a16="http://schemas.microsoft.com/office/drawing/2014/main" id="{779F6640-F292-0474-F03C-D0C2519757F2}"/>
              </a:ext>
            </a:extLst>
          </p:cNvPr>
          <p:cNvSpPr txBox="1"/>
          <p:nvPr/>
        </p:nvSpPr>
        <p:spPr>
          <a:xfrm>
            <a:off x="742615" y="5489148"/>
            <a:ext cx="864653" cy="169277"/>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indent="-225000">
              <a:spcAft>
                <a:spcPts val="600"/>
              </a:spcAft>
              <a:buNone/>
            </a:pPr>
            <a:r>
              <a:rPr lang="en-US" sz="1100" b="1" u="sng" dirty="0">
                <a:solidFill>
                  <a:srgbClr val="8C9BA5"/>
                </a:solidFill>
              </a:rPr>
              <a:t>NONE (0%)</a:t>
            </a:r>
            <a:endParaRPr lang="en-US" sz="1100" u="sng" dirty="0">
              <a:solidFill>
                <a:srgbClr val="8C9BA5"/>
              </a:solidFill>
            </a:endParaRPr>
          </a:p>
        </p:txBody>
      </p:sp>
      <p:cxnSp>
        <p:nvCxnSpPr>
          <p:cNvPr id="28" name="Straight Connector 27">
            <a:extLst>
              <a:ext uri="{FF2B5EF4-FFF2-40B4-BE49-F238E27FC236}">
                <a16:creationId xmlns:a16="http://schemas.microsoft.com/office/drawing/2014/main" id="{FA6266E8-B436-DE59-827C-F8BF289C2F40}"/>
              </a:ext>
            </a:extLst>
          </p:cNvPr>
          <p:cNvCxnSpPr>
            <a:cxnSpLocks/>
          </p:cNvCxnSpPr>
          <p:nvPr/>
        </p:nvCxnSpPr>
        <p:spPr>
          <a:xfrm>
            <a:off x="735436" y="5419388"/>
            <a:ext cx="2229185" cy="0"/>
          </a:xfrm>
          <a:prstGeom prst="line">
            <a:avLst/>
          </a:prstGeom>
          <a:ln w="9525" cap="rnd" cmpd="sng" algn="ctr">
            <a:solidFill>
              <a:srgbClr val="555555"/>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ee4pContent1">
            <a:extLst>
              <a:ext uri="{FF2B5EF4-FFF2-40B4-BE49-F238E27FC236}">
                <a16:creationId xmlns:a16="http://schemas.microsoft.com/office/drawing/2014/main" id="{9D952361-4404-029C-C24F-67021B6EBE03}"/>
              </a:ext>
            </a:extLst>
          </p:cNvPr>
          <p:cNvSpPr txBox="1"/>
          <p:nvPr/>
        </p:nvSpPr>
        <p:spPr>
          <a:xfrm>
            <a:off x="1570455" y="4039537"/>
            <a:ext cx="1401277" cy="369332"/>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marL="45720" lvl="1" indent="0">
              <a:buNone/>
            </a:pPr>
            <a:r>
              <a:rPr lang="en-US" sz="800" dirty="0"/>
              <a:t>Fully automatable across most or all relevant L3 workflows activities</a:t>
            </a:r>
          </a:p>
        </p:txBody>
      </p:sp>
      <p:sp>
        <p:nvSpPr>
          <p:cNvPr id="30" name="ee4pContent1">
            <a:extLst>
              <a:ext uri="{FF2B5EF4-FFF2-40B4-BE49-F238E27FC236}">
                <a16:creationId xmlns:a16="http://schemas.microsoft.com/office/drawing/2014/main" id="{C38B350F-20D7-8DE2-2922-1F6782B6587E}"/>
              </a:ext>
            </a:extLst>
          </p:cNvPr>
          <p:cNvSpPr txBox="1"/>
          <p:nvPr/>
        </p:nvSpPr>
        <p:spPr>
          <a:xfrm>
            <a:off x="1570455" y="4517611"/>
            <a:ext cx="1401277" cy="369332"/>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marL="45720" lvl="1" indent="0">
              <a:buNone/>
            </a:pPr>
            <a:r>
              <a:rPr lang="en-US" sz="800" dirty="0"/>
              <a:t>Partial automation across workflow steps; moderate human input required</a:t>
            </a:r>
          </a:p>
        </p:txBody>
      </p:sp>
      <p:sp>
        <p:nvSpPr>
          <p:cNvPr id="31" name="ee4pContent1">
            <a:extLst>
              <a:ext uri="{FF2B5EF4-FFF2-40B4-BE49-F238E27FC236}">
                <a16:creationId xmlns:a16="http://schemas.microsoft.com/office/drawing/2014/main" id="{D330D0F3-3B3C-DA62-31FA-D9079ED29B49}"/>
              </a:ext>
            </a:extLst>
          </p:cNvPr>
          <p:cNvSpPr txBox="1"/>
          <p:nvPr/>
        </p:nvSpPr>
        <p:spPr>
          <a:xfrm>
            <a:off x="1570455" y="4995686"/>
            <a:ext cx="1401277" cy="369332"/>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marL="45720" lvl="1" indent="0">
              <a:buNone/>
            </a:pPr>
            <a:r>
              <a:rPr lang="en-US" sz="800" dirty="0"/>
              <a:t>Minimal automation across workflow steps; heavy human input required</a:t>
            </a:r>
          </a:p>
        </p:txBody>
      </p:sp>
      <p:sp>
        <p:nvSpPr>
          <p:cNvPr id="32" name="ee4pContent1">
            <a:extLst>
              <a:ext uri="{FF2B5EF4-FFF2-40B4-BE49-F238E27FC236}">
                <a16:creationId xmlns:a16="http://schemas.microsoft.com/office/drawing/2014/main" id="{ED466562-FBA5-6C10-3414-91F41AECA04E}"/>
              </a:ext>
            </a:extLst>
          </p:cNvPr>
          <p:cNvSpPr txBox="1"/>
          <p:nvPr/>
        </p:nvSpPr>
        <p:spPr>
          <a:xfrm>
            <a:off x="1570455" y="5512229"/>
            <a:ext cx="1401277" cy="123111"/>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sp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marL="45720" lvl="1" indent="0">
              <a:buNone/>
            </a:pPr>
            <a:r>
              <a:rPr lang="en-US" sz="800" dirty="0"/>
              <a:t>Not automatable</a:t>
            </a:r>
          </a:p>
        </p:txBody>
      </p:sp>
      <p:sp>
        <p:nvSpPr>
          <p:cNvPr id="21" name="ee4pContent1">
            <a:extLst>
              <a:ext uri="{FF2B5EF4-FFF2-40B4-BE49-F238E27FC236}">
                <a16:creationId xmlns:a16="http://schemas.microsoft.com/office/drawing/2014/main" id="{06803C57-06FD-4E09-5D86-A36E143FF5E0}"/>
              </a:ext>
            </a:extLst>
          </p:cNvPr>
          <p:cNvSpPr txBox="1"/>
          <p:nvPr/>
        </p:nvSpPr>
        <p:spPr>
          <a:xfrm>
            <a:off x="981349" y="3505603"/>
            <a:ext cx="1737360" cy="424842"/>
          </a:xfrm>
          <a:prstGeom prst="rect">
            <a:avLst/>
          </a:prstGeom>
          <a:noFill/>
          <a:ln w="9525"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100" b="1" dirty="0">
                <a:solidFill>
                  <a:srgbClr val="0191FF"/>
                </a:solidFill>
              </a:rPr>
              <a:t>Scoring method: </a:t>
            </a:r>
          </a:p>
          <a:p>
            <a:pPr algn="ctr"/>
            <a:r>
              <a:rPr lang="en-US" sz="1100" b="1" dirty="0">
                <a:solidFill>
                  <a:srgbClr val="0191FF"/>
                </a:solidFill>
              </a:rPr>
              <a:t>H/M/L scale </a:t>
            </a:r>
          </a:p>
        </p:txBody>
      </p:sp>
      <p:sp>
        <p:nvSpPr>
          <p:cNvPr id="34" name="ee4pContent1">
            <a:extLst>
              <a:ext uri="{FF2B5EF4-FFF2-40B4-BE49-F238E27FC236}">
                <a16:creationId xmlns:a16="http://schemas.microsoft.com/office/drawing/2014/main" id="{FB0B5843-E4EC-AFA2-6E56-E3002C599DCD}"/>
              </a:ext>
            </a:extLst>
          </p:cNvPr>
          <p:cNvSpPr txBox="1"/>
          <p:nvPr/>
        </p:nvSpPr>
        <p:spPr>
          <a:xfrm>
            <a:off x="3812748" y="2701682"/>
            <a:ext cx="2440057" cy="1404021"/>
          </a:xfrm>
          <a:prstGeom prst="rect">
            <a:avLst/>
          </a:prstGeom>
          <a:solidFill>
            <a:schemeClr val="bg1">
              <a:lumMod val="95000"/>
            </a:schemeClr>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marL="99000" lvl="1" indent="0">
              <a:spcAft>
                <a:spcPts val="600"/>
              </a:spcAft>
              <a:buNone/>
            </a:pPr>
            <a:r>
              <a:rPr lang="en-US" sz="1100" dirty="0"/>
              <a:t>Two main inputs used for manual review of each L3:</a:t>
            </a:r>
          </a:p>
          <a:p>
            <a:pPr marL="327600" lvl="1" indent="-228600">
              <a:spcAft>
                <a:spcPts val="600"/>
              </a:spcAft>
              <a:buFont typeface="+mj-lt"/>
              <a:buAutoNum type="arabicPeriod"/>
            </a:pPr>
            <a:r>
              <a:rPr lang="en-US" sz="1100" dirty="0"/>
              <a:t>Individual L3 process descriptions</a:t>
            </a:r>
          </a:p>
          <a:p>
            <a:pPr marL="327600" lvl="1" indent="-228600">
              <a:spcAft>
                <a:spcPts val="600"/>
              </a:spcAft>
              <a:buFont typeface="+mj-lt"/>
              <a:buAutoNum type="arabicPeriod"/>
            </a:pPr>
            <a:r>
              <a:rPr lang="en-US" sz="1100" dirty="0" err="1"/>
              <a:t>APQC</a:t>
            </a:r>
            <a:r>
              <a:rPr lang="en-US" sz="1100" dirty="0"/>
              <a:t> long-form definitions</a:t>
            </a:r>
            <a:endParaRPr lang="en-US" sz="900" i="1" dirty="0"/>
          </a:p>
        </p:txBody>
      </p:sp>
      <p:sp>
        <p:nvSpPr>
          <p:cNvPr id="35" name="ee4pContent1">
            <a:extLst>
              <a:ext uri="{FF2B5EF4-FFF2-40B4-BE49-F238E27FC236}">
                <a16:creationId xmlns:a16="http://schemas.microsoft.com/office/drawing/2014/main" id="{0F924DF7-BBDC-0D6A-E69F-D2C0CD52861A}"/>
              </a:ext>
            </a:extLst>
          </p:cNvPr>
          <p:cNvSpPr txBox="1"/>
          <p:nvPr/>
        </p:nvSpPr>
        <p:spPr>
          <a:xfrm>
            <a:off x="6468021" y="2701682"/>
            <a:ext cx="2440056" cy="1404021"/>
          </a:xfrm>
          <a:prstGeom prst="rect">
            <a:avLst/>
          </a:prstGeom>
          <a:solidFill>
            <a:schemeClr val="bg1">
              <a:lumMod val="95000"/>
            </a:schemeClr>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spcAft>
                <a:spcPts val="600"/>
              </a:spcAft>
            </a:pPr>
            <a:r>
              <a:rPr lang="en-US" sz="1100" dirty="0"/>
              <a:t>Qualitative characteristics used for scoring determination: </a:t>
            </a:r>
          </a:p>
          <a:p>
            <a:pPr marL="216000" lvl="1" indent="-144000"/>
            <a:r>
              <a:rPr lang="en-US" sz="1100" dirty="0"/>
              <a:t>Strategic importance</a:t>
            </a:r>
          </a:p>
          <a:p>
            <a:pPr marL="216000" lvl="1" indent="-144000"/>
            <a:r>
              <a:rPr lang="en-US" sz="1100" dirty="0"/>
              <a:t>People to people involvement</a:t>
            </a:r>
          </a:p>
          <a:p>
            <a:pPr marL="216000" lvl="1" indent="-144000"/>
            <a:r>
              <a:rPr lang="en-US" sz="1100" dirty="0"/>
              <a:t>Transactional process</a:t>
            </a:r>
          </a:p>
          <a:p>
            <a:pPr marL="216000" lvl="1" indent="-144000"/>
            <a:r>
              <a:rPr lang="en-US" sz="1100" dirty="0"/>
              <a:t>etc.</a:t>
            </a:r>
          </a:p>
        </p:txBody>
      </p:sp>
      <p:sp>
        <p:nvSpPr>
          <p:cNvPr id="36" name="ee4pContent1">
            <a:extLst>
              <a:ext uri="{FF2B5EF4-FFF2-40B4-BE49-F238E27FC236}">
                <a16:creationId xmlns:a16="http://schemas.microsoft.com/office/drawing/2014/main" id="{3E3499B5-F0AC-AA2E-984B-5E66AB66C203}"/>
              </a:ext>
            </a:extLst>
          </p:cNvPr>
          <p:cNvSpPr txBox="1"/>
          <p:nvPr/>
        </p:nvSpPr>
        <p:spPr>
          <a:xfrm>
            <a:off x="3812748" y="1806958"/>
            <a:ext cx="2440057" cy="637792"/>
          </a:xfrm>
          <a:prstGeom prst="rect">
            <a:avLst/>
          </a:prstGeom>
          <a:solidFill>
            <a:schemeClr val="tx2"/>
          </a:solidFill>
          <a:ln w="19050" cap="rnd">
            <a:solidFill>
              <a:schemeClr val="accent2"/>
            </a:solidFill>
            <a:prstDash val="solid"/>
            <a:roun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algn="ctr">
              <a:defRPr sz="717" b="1">
                <a:solidFill>
                  <a:srgbClr val="000000"/>
                </a:solidFill>
              </a:defRPr>
            </a:lvl1pPr>
            <a:lvl2pPr marL="0" lvl="1" algn="ctr">
              <a:buSzPts val="1400"/>
              <a:defRPr sz="1400" b="1" u="sng">
                <a:solidFill>
                  <a:schemeClr val="bg1"/>
                </a:solidFill>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lvl="1"/>
            <a:r>
              <a:rPr lang="en-US" sz="1050" u="sng" dirty="0">
                <a:solidFill>
                  <a:schemeClr val="bg1"/>
                </a:solidFill>
              </a:rPr>
              <a:t>Step 1:</a:t>
            </a:r>
            <a:r>
              <a:rPr lang="en-US" sz="1050" u="none" dirty="0">
                <a:solidFill>
                  <a:schemeClr val="bg1"/>
                </a:solidFill>
              </a:rPr>
              <a:t> </a:t>
            </a:r>
            <a:r>
              <a:rPr lang="en-US" sz="1050" u="none" dirty="0"/>
              <a:t>R</a:t>
            </a:r>
            <a:r>
              <a:rPr lang="en-US" sz="1050" u="none" dirty="0">
                <a:solidFill>
                  <a:schemeClr val="bg1"/>
                </a:solidFill>
              </a:rPr>
              <a:t>ead through L3 and </a:t>
            </a:r>
            <a:r>
              <a:rPr lang="en-US" sz="1050" u="none" dirty="0" err="1">
                <a:solidFill>
                  <a:schemeClr val="bg1"/>
                </a:solidFill>
              </a:rPr>
              <a:t>APQC</a:t>
            </a:r>
            <a:r>
              <a:rPr lang="en-US" sz="1050" u="none" dirty="0">
                <a:solidFill>
                  <a:schemeClr val="bg1"/>
                </a:solidFill>
              </a:rPr>
              <a:t> process descriptions </a:t>
            </a:r>
          </a:p>
        </p:txBody>
      </p:sp>
      <p:sp>
        <p:nvSpPr>
          <p:cNvPr id="37" name="ee4pContent1">
            <a:extLst>
              <a:ext uri="{FF2B5EF4-FFF2-40B4-BE49-F238E27FC236}">
                <a16:creationId xmlns:a16="http://schemas.microsoft.com/office/drawing/2014/main" id="{3F91F9DF-8070-405D-F6A8-1E26F91F144A}"/>
              </a:ext>
            </a:extLst>
          </p:cNvPr>
          <p:cNvSpPr txBox="1"/>
          <p:nvPr/>
        </p:nvSpPr>
        <p:spPr>
          <a:xfrm>
            <a:off x="6468021" y="1806958"/>
            <a:ext cx="2440057" cy="637792"/>
          </a:xfrm>
          <a:prstGeom prst="rect">
            <a:avLst/>
          </a:prstGeom>
          <a:solidFill>
            <a:schemeClr val="tx2"/>
          </a:solidFill>
          <a:ln w="19050" cap="rnd">
            <a:solidFill>
              <a:schemeClr val="accent2"/>
            </a:solidFill>
            <a:prstDash val="solid"/>
            <a:roun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algn="ctr">
              <a:defRPr sz="717" b="1">
                <a:solidFill>
                  <a:srgbClr val="000000"/>
                </a:solidFill>
              </a:defRPr>
            </a:lvl1pPr>
            <a:lvl2pPr marL="0" lvl="1" algn="ctr">
              <a:buSzPts val="1400"/>
              <a:defRPr sz="1400" b="1" u="sng">
                <a:solidFill>
                  <a:schemeClr val="bg1"/>
                </a:solidFill>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lvl="1"/>
            <a:r>
              <a:rPr lang="en-US" sz="1050" u="sng" dirty="0">
                <a:solidFill>
                  <a:schemeClr val="bg1"/>
                </a:solidFill>
              </a:rPr>
              <a:t>Step 2:</a:t>
            </a:r>
            <a:r>
              <a:rPr lang="en-US" sz="1050" u="none" dirty="0">
                <a:solidFill>
                  <a:schemeClr val="bg1"/>
                </a:solidFill>
              </a:rPr>
              <a:t> Assess automation potential based on qualitative workflow characteristics</a:t>
            </a:r>
          </a:p>
        </p:txBody>
      </p:sp>
      <p:sp>
        <p:nvSpPr>
          <p:cNvPr id="38" name="ee4pContent1">
            <a:extLst>
              <a:ext uri="{FF2B5EF4-FFF2-40B4-BE49-F238E27FC236}">
                <a16:creationId xmlns:a16="http://schemas.microsoft.com/office/drawing/2014/main" id="{F64382B3-3A16-74E5-4F55-FDF35EE71FCC}"/>
              </a:ext>
            </a:extLst>
          </p:cNvPr>
          <p:cNvSpPr txBox="1"/>
          <p:nvPr/>
        </p:nvSpPr>
        <p:spPr>
          <a:xfrm>
            <a:off x="9123293" y="1806958"/>
            <a:ext cx="2440057" cy="637792"/>
          </a:xfrm>
          <a:prstGeom prst="rect">
            <a:avLst/>
          </a:prstGeom>
          <a:solidFill>
            <a:schemeClr val="tx2"/>
          </a:solidFill>
          <a:ln w="19050" cap="rnd">
            <a:solidFill>
              <a:schemeClr val="accent2"/>
            </a:solidFill>
            <a:prstDash val="solid"/>
            <a:roun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algn="ctr">
              <a:defRPr sz="717" b="1">
                <a:solidFill>
                  <a:srgbClr val="000000"/>
                </a:solidFill>
              </a:defRPr>
            </a:lvl1pPr>
            <a:lvl2pPr marL="0" lvl="1" algn="ctr">
              <a:buSzPts val="1400"/>
              <a:defRPr sz="1400" b="1" u="sng">
                <a:solidFill>
                  <a:schemeClr val="bg1"/>
                </a:solidFill>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lvl="1"/>
            <a:r>
              <a:rPr lang="en-US" sz="1050" u="sng" dirty="0">
                <a:solidFill>
                  <a:schemeClr val="bg1"/>
                </a:solidFill>
              </a:rPr>
              <a:t>Step 3:</a:t>
            </a:r>
            <a:r>
              <a:rPr lang="en-US" sz="1050" u="none" dirty="0">
                <a:solidFill>
                  <a:schemeClr val="bg1"/>
                </a:solidFill>
              </a:rPr>
              <a:t> Assign an automation score and provide rationale</a:t>
            </a:r>
          </a:p>
        </p:txBody>
      </p:sp>
      <p:cxnSp>
        <p:nvCxnSpPr>
          <p:cNvPr id="39" name="Straight Connector 38">
            <a:extLst>
              <a:ext uri="{FF2B5EF4-FFF2-40B4-BE49-F238E27FC236}">
                <a16:creationId xmlns:a16="http://schemas.microsoft.com/office/drawing/2014/main" id="{29B5D711-2901-0E0A-4105-38DBD9E709DD}"/>
              </a:ext>
            </a:extLst>
          </p:cNvPr>
          <p:cNvCxnSpPr/>
          <p:nvPr/>
        </p:nvCxnSpPr>
        <p:spPr>
          <a:xfrm>
            <a:off x="3432066" y="1686585"/>
            <a:ext cx="0" cy="4115593"/>
          </a:xfrm>
          <a:prstGeom prst="line">
            <a:avLst/>
          </a:prstGeom>
          <a:ln w="9525" cap="rnd">
            <a:solidFill>
              <a:srgbClr val="9A9A9A"/>
            </a:solidFill>
            <a:prstDash val="solid"/>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5ABFF3A7-B04D-5EC3-CD6F-FB8FD533790A}"/>
              </a:ext>
            </a:extLst>
          </p:cNvPr>
          <p:cNvGrpSpPr/>
          <p:nvPr/>
        </p:nvGrpSpPr>
        <p:grpSpPr>
          <a:xfrm>
            <a:off x="3152668" y="3376082"/>
            <a:ext cx="558796" cy="736600"/>
            <a:chOff x="3909521" y="3425358"/>
            <a:chExt cx="558796" cy="736600"/>
          </a:xfrm>
        </p:grpSpPr>
        <p:sp>
          <p:nvSpPr>
            <p:cNvPr id="41" name="Rectangle 40">
              <a:extLst>
                <a:ext uri="{FF2B5EF4-FFF2-40B4-BE49-F238E27FC236}">
                  <a16:creationId xmlns:a16="http://schemas.microsoft.com/office/drawing/2014/main" id="{BEF90A27-AA9C-07A6-BAEB-93F425051C94}"/>
                </a:ext>
              </a:extLst>
            </p:cNvPr>
            <p:cNvSpPr/>
            <p:nvPr/>
          </p:nvSpPr>
          <p:spPr>
            <a:xfrm>
              <a:off x="3909521" y="3425358"/>
              <a:ext cx="558796" cy="736600"/>
            </a:xfrm>
            <a:prstGeom prst="rect">
              <a:avLst/>
            </a:prstGeom>
            <a:solidFill>
              <a:schemeClr val="bg1"/>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nvGrpSpPr>
            <p:cNvPr id="42" name="Group 41">
              <a:extLst>
                <a:ext uri="{FF2B5EF4-FFF2-40B4-BE49-F238E27FC236}">
                  <a16:creationId xmlns:a16="http://schemas.microsoft.com/office/drawing/2014/main" id="{3F085E36-2161-3778-04F4-B308DE04283E}"/>
                </a:ext>
              </a:extLst>
            </p:cNvPr>
            <p:cNvGrpSpPr/>
            <p:nvPr/>
          </p:nvGrpSpPr>
          <p:grpSpPr>
            <a:xfrm>
              <a:off x="4042918" y="3557141"/>
              <a:ext cx="292001" cy="473033"/>
              <a:chOff x="4000500" y="2696649"/>
              <a:chExt cx="292001" cy="293715"/>
            </a:xfrm>
          </p:grpSpPr>
          <p:sp>
            <p:nvSpPr>
              <p:cNvPr id="43" name="Arrow: Chevron 42">
                <a:extLst>
                  <a:ext uri="{FF2B5EF4-FFF2-40B4-BE49-F238E27FC236}">
                    <a16:creationId xmlns:a16="http://schemas.microsoft.com/office/drawing/2014/main" id="{E52F0ADC-BFFE-C321-D13F-D71AF12435F0}"/>
                  </a:ext>
                </a:extLst>
              </p:cNvPr>
              <p:cNvSpPr/>
              <p:nvPr/>
            </p:nvSpPr>
            <p:spPr>
              <a:xfrm>
                <a:off x="4000500" y="2743200"/>
                <a:ext cx="139700" cy="200612"/>
              </a:xfrm>
              <a:prstGeom prst="chevron">
                <a:avLst/>
              </a:prstGeom>
              <a:solidFill>
                <a:srgbClr val="005696"/>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4" name="Arrow: Chevron 43">
                <a:extLst>
                  <a:ext uri="{FF2B5EF4-FFF2-40B4-BE49-F238E27FC236}">
                    <a16:creationId xmlns:a16="http://schemas.microsoft.com/office/drawing/2014/main" id="{9529EB50-68CC-1BBB-375E-202D145AE97F}"/>
                  </a:ext>
                </a:extLst>
              </p:cNvPr>
              <p:cNvSpPr/>
              <p:nvPr/>
            </p:nvSpPr>
            <p:spPr>
              <a:xfrm>
                <a:off x="4087966" y="2696649"/>
                <a:ext cx="204535" cy="293715"/>
              </a:xfrm>
              <a:prstGeom prst="chevron">
                <a:avLst/>
              </a:prstGeom>
              <a:solidFill>
                <a:srgbClr val="0191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grpSp>
      <p:cxnSp>
        <p:nvCxnSpPr>
          <p:cNvPr id="46" name="Straight Connector 45">
            <a:extLst>
              <a:ext uri="{FF2B5EF4-FFF2-40B4-BE49-F238E27FC236}">
                <a16:creationId xmlns:a16="http://schemas.microsoft.com/office/drawing/2014/main" id="{8DC6083F-774F-DA71-384C-E39419B95BE4}"/>
              </a:ext>
            </a:extLst>
          </p:cNvPr>
          <p:cNvCxnSpPr>
            <a:cxnSpLocks/>
          </p:cNvCxnSpPr>
          <p:nvPr/>
        </p:nvCxnSpPr>
        <p:spPr>
          <a:xfrm rot="5400000">
            <a:off x="1852130" y="2807528"/>
            <a:ext cx="0" cy="1192144"/>
          </a:xfrm>
          <a:prstGeom prst="line">
            <a:avLst/>
          </a:prstGeom>
          <a:ln w="9525" cap="rnd">
            <a:solidFill>
              <a:srgbClr val="9A9A9A"/>
            </a:solidFill>
            <a:prstDash val="solid"/>
          </a:ln>
        </p:spPr>
        <p:style>
          <a:lnRef idx="1">
            <a:schemeClr val="accent1"/>
          </a:lnRef>
          <a:fillRef idx="0">
            <a:schemeClr val="accent1"/>
          </a:fillRef>
          <a:effectRef idx="0">
            <a:schemeClr val="accent1"/>
          </a:effectRef>
          <a:fontRef idx="minor">
            <a:schemeClr val="tx1"/>
          </a:fontRef>
        </p:style>
      </p:cxnSp>
      <p:sp>
        <p:nvSpPr>
          <p:cNvPr id="33" name="ee4pContent1">
            <a:extLst>
              <a:ext uri="{FF2B5EF4-FFF2-40B4-BE49-F238E27FC236}">
                <a16:creationId xmlns:a16="http://schemas.microsoft.com/office/drawing/2014/main" id="{E061B92F-0BC1-B2B1-57C4-89A9E1C46D04}"/>
              </a:ext>
            </a:extLst>
          </p:cNvPr>
          <p:cNvSpPr txBox="1"/>
          <p:nvPr/>
        </p:nvSpPr>
        <p:spPr>
          <a:xfrm>
            <a:off x="610950" y="1760245"/>
            <a:ext cx="2480255" cy="460109"/>
          </a:xfrm>
          <a:prstGeom prst="round2DiagRect">
            <a:avLst/>
          </a:prstGeom>
          <a:solidFill>
            <a:srgbClr val="005696"/>
          </a:solidFill>
          <a:ln w="12700"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400" b="1">
                <a:solidFill>
                  <a:schemeClr val="bg1"/>
                </a:solidFill>
              </a:rPr>
              <a:t>Automation potential</a:t>
            </a:r>
          </a:p>
        </p:txBody>
      </p:sp>
      <p:sp>
        <p:nvSpPr>
          <p:cNvPr id="50" name="ee4pContent1">
            <a:extLst>
              <a:ext uri="{FF2B5EF4-FFF2-40B4-BE49-F238E27FC236}">
                <a16:creationId xmlns:a16="http://schemas.microsoft.com/office/drawing/2014/main" id="{607800CA-CA03-87E7-1272-7FE5D75FA814}"/>
              </a:ext>
            </a:extLst>
          </p:cNvPr>
          <p:cNvSpPr txBox="1"/>
          <p:nvPr/>
        </p:nvSpPr>
        <p:spPr>
          <a:xfrm>
            <a:off x="3812748" y="4459874"/>
            <a:ext cx="2440057" cy="1204242"/>
          </a:xfrm>
          <a:prstGeom prst="rect">
            <a:avLst/>
          </a:prstGeom>
          <a:noFill/>
          <a:ln w="9525" cap="flat" cmpd="sng" algn="ctr">
            <a:solidFill>
              <a:schemeClr val="tx1">
                <a:lumMod val="50000"/>
                <a:lumOff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137160" tIns="234000" rIns="137160" bIns="13716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spcAft>
                <a:spcPts val="300"/>
              </a:spcAft>
            </a:pPr>
            <a:r>
              <a:rPr lang="en-US" sz="1050" b="1" dirty="0">
                <a:solidFill>
                  <a:srgbClr val="0191FF"/>
                </a:solidFill>
              </a:rPr>
              <a:t>L3 description:</a:t>
            </a:r>
            <a:r>
              <a:rPr lang="en-US" sz="1050" dirty="0">
                <a:solidFill>
                  <a:srgbClr val="0191FF"/>
                </a:solidFill>
              </a:rPr>
              <a:t> </a:t>
            </a:r>
            <a:r>
              <a:rPr lang="en-US" sz="1050" dirty="0"/>
              <a:t>"5.2.3) Screen and select candidates"</a:t>
            </a:r>
          </a:p>
          <a:p>
            <a:pPr>
              <a:spcAft>
                <a:spcPts val="600"/>
              </a:spcAft>
            </a:pPr>
            <a:r>
              <a:rPr lang="en-US" sz="1050" b="1" dirty="0" err="1">
                <a:solidFill>
                  <a:srgbClr val="0191FF"/>
                </a:solidFill>
              </a:rPr>
              <a:t>APQC</a:t>
            </a:r>
            <a:r>
              <a:rPr lang="en-US" sz="1050" b="1" dirty="0">
                <a:solidFill>
                  <a:srgbClr val="0191FF"/>
                </a:solidFill>
              </a:rPr>
              <a:t> definition:</a:t>
            </a:r>
            <a:r>
              <a:rPr lang="en-US" sz="1050" dirty="0"/>
              <a:t> "Evaluating and selecting potential employees through interviews, tests, etc."</a:t>
            </a:r>
            <a:endParaRPr lang="en-US" sz="1050" i="1" dirty="0"/>
          </a:p>
        </p:txBody>
      </p:sp>
      <p:sp>
        <p:nvSpPr>
          <p:cNvPr id="51" name="ee4pContent1">
            <a:extLst>
              <a:ext uri="{FF2B5EF4-FFF2-40B4-BE49-F238E27FC236}">
                <a16:creationId xmlns:a16="http://schemas.microsoft.com/office/drawing/2014/main" id="{85B64F6E-3270-D639-D51C-5D52FE9ECC13}"/>
              </a:ext>
            </a:extLst>
          </p:cNvPr>
          <p:cNvSpPr txBox="1"/>
          <p:nvPr/>
        </p:nvSpPr>
        <p:spPr>
          <a:xfrm>
            <a:off x="6468021" y="4459874"/>
            <a:ext cx="2440056" cy="1204242"/>
          </a:xfrm>
          <a:prstGeom prst="rect">
            <a:avLst/>
          </a:prstGeom>
          <a:noFill/>
          <a:ln w="9525" cap="flat" cmpd="sng" algn="ctr">
            <a:solidFill>
              <a:schemeClr val="tx1">
                <a:lumMod val="50000"/>
                <a:lumOff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137160" tIns="234000" rIns="137160" bIns="13716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spcAft>
                <a:spcPts val="600"/>
              </a:spcAft>
            </a:pPr>
            <a:r>
              <a:rPr lang="en-US" sz="1050" b="1" dirty="0">
                <a:solidFill>
                  <a:srgbClr val="0191FF"/>
                </a:solidFill>
              </a:rPr>
              <a:t>Screening has high automation potential </a:t>
            </a:r>
            <a:r>
              <a:rPr lang="en-US" sz="1050" dirty="0"/>
              <a:t>along a defined set of parameters/criteria; </a:t>
            </a:r>
            <a:r>
              <a:rPr lang="en-US" sz="1050" b="1" dirty="0">
                <a:solidFill>
                  <a:srgbClr val="0191FF"/>
                </a:solidFill>
              </a:rPr>
              <a:t>final selection </a:t>
            </a:r>
            <a:r>
              <a:rPr lang="en-US" sz="1050" dirty="0"/>
              <a:t>process requires </a:t>
            </a:r>
            <a:r>
              <a:rPr lang="en-US" sz="1050" b="1" dirty="0">
                <a:solidFill>
                  <a:srgbClr val="0191FF"/>
                </a:solidFill>
              </a:rPr>
              <a:t>people to people involvement</a:t>
            </a:r>
            <a:r>
              <a:rPr lang="en-US" sz="1050" dirty="0"/>
              <a:t> </a:t>
            </a:r>
          </a:p>
        </p:txBody>
      </p:sp>
      <p:sp>
        <p:nvSpPr>
          <p:cNvPr id="52" name="TextBox 51">
            <a:extLst>
              <a:ext uri="{FF2B5EF4-FFF2-40B4-BE49-F238E27FC236}">
                <a16:creationId xmlns:a16="http://schemas.microsoft.com/office/drawing/2014/main" id="{3CF0C808-7272-016F-8EE6-88A69086B881}"/>
              </a:ext>
            </a:extLst>
          </p:cNvPr>
          <p:cNvSpPr txBox="1"/>
          <p:nvPr/>
        </p:nvSpPr>
        <p:spPr>
          <a:xfrm>
            <a:off x="4313641" y="4308969"/>
            <a:ext cx="1438271" cy="280836"/>
          </a:xfrm>
          <a:prstGeom prst="rect">
            <a:avLst/>
          </a:prstGeom>
          <a:solidFill>
            <a:schemeClr val="tx2">
              <a:lumMod val="20000"/>
              <a:lumOff val="80000"/>
            </a:schemeClr>
          </a:solidFill>
          <a:ln w="9525" cap="rnd">
            <a:solidFill>
              <a:schemeClr val="tx1">
                <a:lumMod val="50000"/>
                <a:lumOff val="50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i="1" dirty="0">
                <a:solidFill>
                  <a:srgbClr val="000000"/>
                </a:solidFill>
              </a:rPr>
              <a:t>Example</a:t>
            </a:r>
          </a:p>
        </p:txBody>
      </p:sp>
      <p:sp>
        <p:nvSpPr>
          <p:cNvPr id="53" name="TextBox 52">
            <a:extLst>
              <a:ext uri="{FF2B5EF4-FFF2-40B4-BE49-F238E27FC236}">
                <a16:creationId xmlns:a16="http://schemas.microsoft.com/office/drawing/2014/main" id="{629802C1-CB3C-6D5B-9A51-4478FCC9D833}"/>
              </a:ext>
            </a:extLst>
          </p:cNvPr>
          <p:cNvSpPr txBox="1"/>
          <p:nvPr/>
        </p:nvSpPr>
        <p:spPr>
          <a:xfrm>
            <a:off x="6968915" y="4308969"/>
            <a:ext cx="1438271" cy="280836"/>
          </a:xfrm>
          <a:prstGeom prst="rect">
            <a:avLst/>
          </a:prstGeom>
          <a:solidFill>
            <a:schemeClr val="tx2">
              <a:lumMod val="20000"/>
              <a:lumOff val="80000"/>
            </a:schemeClr>
          </a:solidFill>
          <a:ln w="9525" cap="rnd">
            <a:solidFill>
              <a:schemeClr val="tx1">
                <a:lumMod val="50000"/>
                <a:lumOff val="50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i="1" dirty="0">
                <a:solidFill>
                  <a:srgbClr val="000000"/>
                </a:solidFill>
              </a:rPr>
              <a:t>Example</a:t>
            </a:r>
          </a:p>
        </p:txBody>
      </p:sp>
      <p:sp>
        <p:nvSpPr>
          <p:cNvPr id="57" name="ee4pContent1">
            <a:extLst>
              <a:ext uri="{FF2B5EF4-FFF2-40B4-BE49-F238E27FC236}">
                <a16:creationId xmlns:a16="http://schemas.microsoft.com/office/drawing/2014/main" id="{E43476B0-9948-5886-F914-18BA0279148D}"/>
              </a:ext>
            </a:extLst>
          </p:cNvPr>
          <p:cNvSpPr txBox="1"/>
          <p:nvPr/>
        </p:nvSpPr>
        <p:spPr>
          <a:xfrm>
            <a:off x="9123293" y="4459874"/>
            <a:ext cx="2440056" cy="1204242"/>
          </a:xfrm>
          <a:prstGeom prst="rect">
            <a:avLst/>
          </a:prstGeom>
          <a:noFill/>
          <a:ln w="9525" cap="flat" cmpd="sng" algn="ctr">
            <a:solidFill>
              <a:schemeClr val="tx1">
                <a:lumMod val="50000"/>
                <a:lumOff val="5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137160" tIns="234000" rIns="137160" bIns="137160" rtlCol="0" anchor="ctr"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spcAft>
                <a:spcPts val="300"/>
              </a:spcAft>
              <a:buNone/>
            </a:pPr>
            <a:r>
              <a:rPr lang="en-US" sz="1050" b="1" dirty="0">
                <a:solidFill>
                  <a:srgbClr val="0191FF"/>
                </a:solidFill>
              </a:rPr>
              <a:t>Automation potential:</a:t>
            </a:r>
            <a:r>
              <a:rPr lang="en-US" sz="1050" dirty="0"/>
              <a:t> </a:t>
            </a:r>
            <a:r>
              <a:rPr lang="en-US" sz="1050" b="1" u="sng" dirty="0">
                <a:solidFill>
                  <a:srgbClr val="E8B34A"/>
                </a:solidFill>
              </a:rPr>
              <a:t>MED (66%)</a:t>
            </a:r>
          </a:p>
          <a:p>
            <a:pPr>
              <a:spcAft>
                <a:spcPts val="600"/>
              </a:spcAft>
            </a:pPr>
            <a:r>
              <a:rPr lang="en-US" sz="1050" b="1" dirty="0">
                <a:solidFill>
                  <a:srgbClr val="0191FF"/>
                </a:solidFill>
              </a:rPr>
              <a:t>Rationale:</a:t>
            </a:r>
            <a:r>
              <a:rPr lang="en-US" sz="1050" dirty="0">
                <a:solidFill>
                  <a:schemeClr val="tx1"/>
                </a:solidFill>
              </a:rPr>
              <a:t> "AI orchestrates workflows and prepares recommendations; human sets priorities and approves actions"</a:t>
            </a:r>
            <a:r>
              <a:rPr lang="en-US" sz="1050" dirty="0"/>
              <a:t> </a:t>
            </a:r>
          </a:p>
        </p:txBody>
      </p:sp>
      <p:sp>
        <p:nvSpPr>
          <p:cNvPr id="54" name="TextBox 53">
            <a:extLst>
              <a:ext uri="{FF2B5EF4-FFF2-40B4-BE49-F238E27FC236}">
                <a16:creationId xmlns:a16="http://schemas.microsoft.com/office/drawing/2014/main" id="{2375496D-A9A0-FC7E-9E8A-63A5DFF10886}"/>
              </a:ext>
            </a:extLst>
          </p:cNvPr>
          <p:cNvSpPr txBox="1"/>
          <p:nvPr/>
        </p:nvSpPr>
        <p:spPr>
          <a:xfrm>
            <a:off x="9624185" y="4308969"/>
            <a:ext cx="1438271" cy="280836"/>
          </a:xfrm>
          <a:prstGeom prst="rect">
            <a:avLst/>
          </a:prstGeom>
          <a:solidFill>
            <a:schemeClr val="tx2">
              <a:lumMod val="20000"/>
              <a:lumOff val="80000"/>
            </a:schemeClr>
          </a:solidFill>
          <a:ln w="9525" cap="rnd">
            <a:solidFill>
              <a:schemeClr val="tx1">
                <a:lumMod val="50000"/>
                <a:lumOff val="50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i="1" dirty="0">
                <a:solidFill>
                  <a:srgbClr val="000000"/>
                </a:solidFill>
              </a:rPr>
              <a:t>Example</a:t>
            </a:r>
          </a:p>
        </p:txBody>
      </p:sp>
      <p:sp>
        <p:nvSpPr>
          <p:cNvPr id="58" name="TextBox 57">
            <a:extLst>
              <a:ext uri="{FF2B5EF4-FFF2-40B4-BE49-F238E27FC236}">
                <a16:creationId xmlns:a16="http://schemas.microsoft.com/office/drawing/2014/main" id="{805550D9-10A1-3CCA-0992-1BA279F85C79}"/>
              </a:ext>
            </a:extLst>
          </p:cNvPr>
          <p:cNvSpPr txBox="1"/>
          <p:nvPr/>
        </p:nvSpPr>
        <p:spPr>
          <a:xfrm>
            <a:off x="882372" y="6018286"/>
            <a:ext cx="9889259" cy="366966"/>
          </a:xfrm>
          <a:prstGeom prst="rect">
            <a:avLst/>
          </a:prstGeom>
          <a:solidFill>
            <a:schemeClr val="tx2">
              <a:lumMod val="20000"/>
              <a:lumOff val="80000"/>
            </a:schemeClr>
          </a:solidFill>
          <a:ln w="9525" cap="rnd">
            <a:solidFill>
              <a:schemeClr val="accent2">
                <a:lumMod val="75000"/>
              </a:schemeClr>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1" algn="ctr" fontAlgn="ctr">
              <a:spcAft>
                <a:spcPts val="600"/>
              </a:spcAft>
              <a:buClr>
                <a:srgbClr val="0191FF"/>
              </a:buClr>
            </a:pPr>
            <a:r>
              <a:rPr lang="en-US" sz="1200" i="1" dirty="0">
                <a:solidFill>
                  <a:srgbClr val="000000"/>
                </a:solidFill>
              </a:rPr>
              <a:t>Preliminary review of L3 automation potential to be refined with stakeholder input</a:t>
            </a:r>
          </a:p>
        </p:txBody>
      </p:sp>
      <p:sp>
        <p:nvSpPr>
          <p:cNvPr id="60" name="ee4pContent1">
            <a:extLst>
              <a:ext uri="{FF2B5EF4-FFF2-40B4-BE49-F238E27FC236}">
                <a16:creationId xmlns:a16="http://schemas.microsoft.com/office/drawing/2014/main" id="{5128ED26-4709-8C48-B9E3-79D7E32B673F}"/>
              </a:ext>
            </a:extLst>
          </p:cNvPr>
          <p:cNvSpPr txBox="1"/>
          <p:nvPr/>
        </p:nvSpPr>
        <p:spPr>
          <a:xfrm>
            <a:off x="9123293" y="2701682"/>
            <a:ext cx="2440056" cy="1404021"/>
          </a:xfrm>
          <a:prstGeom prst="rect">
            <a:avLst/>
          </a:prstGeom>
          <a:solidFill>
            <a:schemeClr val="bg1">
              <a:lumMod val="95000"/>
            </a:schemeClr>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chorCtr="0"/>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marL="297000" lvl="1" indent="-198000"/>
            <a:r>
              <a:rPr lang="en-US" sz="1100" dirty="0"/>
              <a:t>Automation potential score assigned to each L3 (High, Medium, Low or None)</a:t>
            </a:r>
          </a:p>
          <a:p>
            <a:pPr marL="297000" lvl="1" indent="-198000"/>
            <a:r>
              <a:rPr lang="en-US" sz="1100" dirty="0"/>
              <a:t>Short description providing rationale for scoring determination included</a:t>
            </a:r>
          </a:p>
        </p:txBody>
      </p:sp>
      <p:sp>
        <p:nvSpPr>
          <p:cNvPr id="61" name="TextBox 60">
            <a:extLst>
              <a:ext uri="{FF2B5EF4-FFF2-40B4-BE49-F238E27FC236}">
                <a16:creationId xmlns:a16="http://schemas.microsoft.com/office/drawing/2014/main" id="{26898F45-0CDA-BA20-E7EA-58F2CB4840B0}"/>
              </a:ext>
            </a:extLst>
          </p:cNvPr>
          <p:cNvSpPr txBox="1"/>
          <p:nvPr/>
        </p:nvSpPr>
        <p:spPr>
          <a:xfrm>
            <a:off x="7554991" y="3871407"/>
            <a:ext cx="1307519" cy="190483"/>
          </a:xfrm>
          <a:prstGeom prst="rect">
            <a:avLst/>
          </a:prstGeom>
          <a:solidFill>
            <a:schemeClr val="bg1">
              <a:lumMod val="65000"/>
            </a:schemeClr>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b="1" i="1" dirty="0">
                <a:solidFill>
                  <a:schemeClr val="bg1"/>
                </a:solidFill>
              </a:rPr>
              <a:t>Non-exhaustive</a:t>
            </a:r>
          </a:p>
        </p:txBody>
      </p:sp>
    </p:spTree>
    <p:extLst>
      <p:ext uri="{BB962C8B-B14F-4D97-AF65-F5344CB8AC3E}">
        <p14:creationId xmlns:p14="http://schemas.microsoft.com/office/powerpoint/2010/main" val="1706092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5050F38-A98D-0022-1B69-4C43EAAF1380}"/>
              </a:ext>
            </a:extLst>
          </p:cNvPr>
          <p:cNvGraphicFramePr>
            <a:graphicFrameLocks noChangeAspect="1"/>
          </p:cNvGraphicFramePr>
          <p:nvPr>
            <p:custDataLst>
              <p:tags r:id="rId1"/>
            </p:custDataLst>
            <p:extLst>
              <p:ext uri="{D42A27DB-BD31-4B8C-83A1-F6EECF244321}">
                <p14:modId xmlns:p14="http://schemas.microsoft.com/office/powerpoint/2010/main" val="34035421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A5050F38-A98D-0022-1B69-4C43EAAF138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TextBox 15">
            <a:extLst>
              <a:ext uri="{FF2B5EF4-FFF2-40B4-BE49-F238E27FC236}">
                <a16:creationId xmlns:a16="http://schemas.microsoft.com/office/drawing/2014/main" id="{551E644F-B983-79C1-B178-637A75C878F7}"/>
              </a:ext>
            </a:extLst>
          </p:cNvPr>
          <p:cNvSpPr txBox="1"/>
          <p:nvPr/>
        </p:nvSpPr>
        <p:spPr>
          <a:xfrm>
            <a:off x="630000" y="1858985"/>
            <a:ext cx="4999038" cy="841175"/>
          </a:xfrm>
          <a:prstGeom prst="rect">
            <a:avLst/>
          </a:prstGeom>
          <a:solidFill>
            <a:srgbClr val="F2F2F2"/>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400">
                <a:solidFill>
                  <a:srgbClr val="000000"/>
                </a:solidFill>
              </a:rPr>
              <a:t>Evaluates the </a:t>
            </a:r>
            <a:r>
              <a:rPr lang="en-US" sz="1400" u="sng">
                <a:solidFill>
                  <a:srgbClr val="000000"/>
                </a:solidFill>
              </a:rPr>
              <a:t>number of activities automatable</a:t>
            </a:r>
            <a:r>
              <a:rPr lang="en-US" sz="1400">
                <a:solidFill>
                  <a:srgbClr val="000000"/>
                </a:solidFill>
              </a:rPr>
              <a:t> by your initiative out of the entire set of activities to be automated within the relevant EIW L3(s)</a:t>
            </a:r>
          </a:p>
        </p:txBody>
      </p:sp>
      <p:sp>
        <p:nvSpPr>
          <p:cNvPr id="18" name="TextBox 17">
            <a:extLst>
              <a:ext uri="{FF2B5EF4-FFF2-40B4-BE49-F238E27FC236}">
                <a16:creationId xmlns:a16="http://schemas.microsoft.com/office/drawing/2014/main" id="{4E637003-DFAC-9E34-2069-5FCFE85B19B5}"/>
              </a:ext>
            </a:extLst>
          </p:cNvPr>
          <p:cNvSpPr txBox="1"/>
          <p:nvPr/>
        </p:nvSpPr>
        <p:spPr>
          <a:xfrm>
            <a:off x="6561582" y="1858985"/>
            <a:ext cx="4999038" cy="841175"/>
          </a:xfrm>
          <a:prstGeom prst="rect">
            <a:avLst/>
          </a:prstGeom>
          <a:solidFill>
            <a:srgbClr val="F2F2F2"/>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400">
                <a:solidFill>
                  <a:srgbClr val="000000"/>
                </a:solidFill>
              </a:rPr>
              <a:t>Assesses </a:t>
            </a:r>
            <a:r>
              <a:rPr lang="en-US" sz="1400" u="sng">
                <a:solidFill>
                  <a:srgbClr val="000000"/>
                </a:solidFill>
              </a:rPr>
              <a:t>current efficiency gains</a:t>
            </a:r>
            <a:r>
              <a:rPr lang="en-US" sz="1400">
                <a:solidFill>
                  <a:srgbClr val="000000"/>
                </a:solidFill>
              </a:rPr>
              <a:t> by considering level of adoption across functions and regions as well as time saved through automation </a:t>
            </a:r>
          </a:p>
        </p:txBody>
      </p:sp>
      <p:sp>
        <p:nvSpPr>
          <p:cNvPr id="2" name="Title 1">
            <a:extLst>
              <a:ext uri="{FF2B5EF4-FFF2-40B4-BE49-F238E27FC236}">
                <a16:creationId xmlns:a16="http://schemas.microsoft.com/office/drawing/2014/main" id="{52A320D3-5FB4-D6A8-7AEB-2025C006C5DC}"/>
              </a:ext>
            </a:extLst>
          </p:cNvPr>
          <p:cNvSpPr>
            <a:spLocks noGrp="1"/>
          </p:cNvSpPr>
          <p:nvPr>
            <p:ph type="title"/>
          </p:nvPr>
        </p:nvSpPr>
        <p:spPr/>
        <p:txBody>
          <a:bodyPr vert="horz"/>
          <a:lstStyle/>
          <a:p>
            <a:r>
              <a:rPr lang="en-US">
                <a:solidFill>
                  <a:srgbClr val="002E50"/>
                </a:solidFill>
              </a:rPr>
              <a:t>Detail |</a:t>
            </a:r>
            <a:r>
              <a:rPr lang="en-US"/>
              <a:t> Scoring descriptions for coverage and impact evaluation</a:t>
            </a:r>
          </a:p>
        </p:txBody>
      </p:sp>
      <p:sp>
        <p:nvSpPr>
          <p:cNvPr id="12" name="ee4pContent1">
            <a:extLst>
              <a:ext uri="{FF2B5EF4-FFF2-40B4-BE49-F238E27FC236}">
                <a16:creationId xmlns:a16="http://schemas.microsoft.com/office/drawing/2014/main" id="{6A236CB1-2477-BE50-E5DE-8AD2B79F3437}"/>
              </a:ext>
            </a:extLst>
          </p:cNvPr>
          <p:cNvSpPr txBox="1"/>
          <p:nvPr/>
        </p:nvSpPr>
        <p:spPr>
          <a:xfrm>
            <a:off x="630000" y="1488277"/>
            <a:ext cx="4999038" cy="382007"/>
          </a:xfrm>
          <a:prstGeom prst="round2DiagRect">
            <a:avLst/>
          </a:prstGeom>
          <a:solidFill>
            <a:srgbClr val="002E50"/>
          </a:solidFill>
          <a:ln w="19050"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400" b="1">
                <a:solidFill>
                  <a:schemeClr val="bg1"/>
                </a:solidFill>
              </a:rPr>
              <a:t>Coverage</a:t>
            </a:r>
          </a:p>
        </p:txBody>
      </p:sp>
      <p:sp>
        <p:nvSpPr>
          <p:cNvPr id="13" name="ee4pContent1">
            <a:extLst>
              <a:ext uri="{FF2B5EF4-FFF2-40B4-BE49-F238E27FC236}">
                <a16:creationId xmlns:a16="http://schemas.microsoft.com/office/drawing/2014/main" id="{1C6E0F9B-FEF8-8039-6FEF-B6649B1A4B9F}"/>
              </a:ext>
            </a:extLst>
          </p:cNvPr>
          <p:cNvSpPr txBox="1"/>
          <p:nvPr/>
        </p:nvSpPr>
        <p:spPr>
          <a:xfrm>
            <a:off x="6561582" y="1488276"/>
            <a:ext cx="5001768" cy="382007"/>
          </a:xfrm>
          <a:prstGeom prst="round2DiagRect">
            <a:avLst/>
          </a:prstGeom>
          <a:solidFill>
            <a:srgbClr val="002E50"/>
          </a:solidFill>
          <a:ln w="19050"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defPPr>
              <a:defRPr lang="en-US"/>
            </a:defPPr>
            <a:lvl1pPr>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cs typeface="Arial" pitchFamily="34" charset="0"/>
              </a:defRPr>
            </a:lvl1pPr>
            <a:lvl2pPr marL="324000" lvl="1"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2pPr>
            <a:lvl3pPr marL="648000" lvl="2" indent="-216000">
              <a:buClr>
                <a:srgbClr val="0191FF"/>
              </a:buClr>
              <a:buSzPct val="100000"/>
              <a:buFont typeface="Trebuchet MS" panose="020B0603020202020204" pitchFamily="34" charset="0"/>
              <a:buChar char="–"/>
              <a:defRPr sz="1200">
                <a:solidFill>
                  <a:srgbClr val="000000"/>
                </a:solidFill>
                <a:latin typeface="Trebuchet MS" panose="020B0603020202020204" pitchFamily="34" charset="0"/>
              </a:defRPr>
            </a:lvl3pPr>
            <a:lvl4pPr marL="0" lvl="3">
              <a:buClr>
                <a:srgbClr val="0191FF"/>
              </a:buClr>
              <a:buSzPct val="100000"/>
              <a:buFont typeface="Trebuchet MS" panose="020B0603020202020204" pitchFamily="34" charset="0"/>
              <a:buChar char="​"/>
              <a:defRPr sz="1600">
                <a:solidFill>
                  <a:srgbClr val="0191FF"/>
                </a:solidFill>
                <a:latin typeface="Trebuchet MS" panose="020B0603020202020204" pitchFamily="34" charset="0"/>
              </a:defRPr>
            </a:lvl4pPr>
            <a:lvl5pPr marL="0" lvl="4">
              <a:buClr>
                <a:srgbClr val="0191FF"/>
              </a:buClr>
              <a:buSzPct val="100000"/>
              <a:buFont typeface="Trebuchet MS" panose="020B0603020202020204" pitchFamily="34" charset="0"/>
              <a:buChar char="​"/>
              <a:defRPr sz="1600" b="1">
                <a:solidFill>
                  <a:srgbClr val="000000"/>
                </a:solidFill>
                <a:latin typeface="Trebuchet MS" panose="020B0603020202020204" pitchFamily="34" charset="0"/>
              </a:defRPr>
            </a:lvl5pPr>
            <a:lvl6pPr marL="324000" lvl="5" indent="-216000">
              <a:buClr>
                <a:srgbClr val="0191FF"/>
              </a:buClr>
              <a:buSzPct val="100000"/>
              <a:buFont typeface="Trebuchet MS" panose="020B0603020202020204" pitchFamily="34" charset="0"/>
              <a:buChar char="•"/>
              <a:defRPr sz="1600">
                <a:solidFill>
                  <a:srgbClr val="000000"/>
                </a:solidFill>
                <a:latin typeface="Trebuchet MS" panose="020B0603020202020204" pitchFamily="34" charset="0"/>
              </a:defRPr>
            </a:lvl6pPr>
            <a:lvl7pPr marL="0" lvl="6">
              <a:buClr>
                <a:srgbClr val="0191FF"/>
              </a:buClr>
              <a:buSzPct val="100000"/>
              <a:buFont typeface="Trebuchet MS" panose="020B0603020202020204" pitchFamily="34" charset="0"/>
              <a:buChar char="​"/>
              <a:defRPr sz="4400">
                <a:solidFill>
                  <a:srgbClr val="000000"/>
                </a:solidFill>
                <a:latin typeface="Trebuchet MS" panose="020B0603020202020204" pitchFamily="34" charset="0"/>
              </a:defRPr>
            </a:lvl7pPr>
            <a:lvl8pPr marL="0" lvl="7">
              <a:buClr>
                <a:srgbClr val="0191FF"/>
              </a:buClr>
              <a:buSzPct val="100000"/>
              <a:buFont typeface="Trebuchet MS" panose="020B0603020202020204" pitchFamily="34" charset="0"/>
              <a:buChar char="​"/>
              <a:defRPr sz="5400">
                <a:solidFill>
                  <a:srgbClr val="0191FF"/>
                </a:solidFill>
                <a:latin typeface="Trebuchet MS" panose="020B0603020202020204" pitchFamily="34" charset="0"/>
              </a:defRPr>
            </a:lvl8pPr>
            <a:lvl9pPr marL="0" lvl="8">
              <a:buClr>
                <a:srgbClr val="0191FF"/>
              </a:buClr>
              <a:buSzPct val="100000"/>
              <a:buFont typeface="Trebuchet MS" panose="020B0603020202020204" pitchFamily="34" charset="0"/>
              <a:buChar char="​"/>
              <a:defRPr sz="2400">
                <a:solidFill>
                  <a:srgbClr val="0191FF"/>
                </a:solidFill>
                <a:latin typeface="Trebuchet MS" panose="020B0603020202020204" pitchFamily="34" charset="0"/>
              </a:defRPr>
            </a:lvl9pPr>
          </a:lstStyle>
          <a:p>
            <a:pPr algn="ctr"/>
            <a:r>
              <a:rPr lang="en-US" sz="1400" b="1">
                <a:solidFill>
                  <a:schemeClr val="bg1"/>
                </a:solidFill>
              </a:rPr>
              <a:t>Impact</a:t>
            </a:r>
          </a:p>
        </p:txBody>
      </p:sp>
      <p:graphicFrame>
        <p:nvGraphicFramePr>
          <p:cNvPr id="14" name="Table 13">
            <a:extLst>
              <a:ext uri="{FF2B5EF4-FFF2-40B4-BE49-F238E27FC236}">
                <a16:creationId xmlns:a16="http://schemas.microsoft.com/office/drawing/2014/main" id="{87C194C3-CD7F-4ADB-678C-4854BC6C1307}"/>
              </a:ext>
            </a:extLst>
          </p:cNvPr>
          <p:cNvGraphicFramePr>
            <a:graphicFrameLocks noGrp="1"/>
          </p:cNvGraphicFramePr>
          <p:nvPr>
            <p:extLst>
              <p:ext uri="{D42A27DB-BD31-4B8C-83A1-F6EECF244321}">
                <p14:modId xmlns:p14="http://schemas.microsoft.com/office/powerpoint/2010/main" val="798558390"/>
              </p:ext>
            </p:extLst>
          </p:nvPr>
        </p:nvGraphicFramePr>
        <p:xfrm>
          <a:off x="627274" y="2914749"/>
          <a:ext cx="4999036" cy="2784880"/>
        </p:xfrm>
        <a:graphic>
          <a:graphicData uri="http://schemas.openxmlformats.org/drawingml/2006/table">
            <a:tbl>
              <a:tblPr/>
              <a:tblGrid>
                <a:gridCol w="864747">
                  <a:extLst>
                    <a:ext uri="{9D8B030D-6E8A-4147-A177-3AD203B41FA5}">
                      <a16:colId xmlns:a16="http://schemas.microsoft.com/office/drawing/2014/main" val="3404618923"/>
                    </a:ext>
                  </a:extLst>
                </a:gridCol>
                <a:gridCol w="3492499">
                  <a:extLst>
                    <a:ext uri="{9D8B030D-6E8A-4147-A177-3AD203B41FA5}">
                      <a16:colId xmlns:a16="http://schemas.microsoft.com/office/drawing/2014/main" val="308360142"/>
                    </a:ext>
                  </a:extLst>
                </a:gridCol>
                <a:gridCol w="641790">
                  <a:extLst>
                    <a:ext uri="{9D8B030D-6E8A-4147-A177-3AD203B41FA5}">
                      <a16:colId xmlns:a16="http://schemas.microsoft.com/office/drawing/2014/main" val="669135235"/>
                    </a:ext>
                  </a:extLst>
                </a:gridCol>
              </a:tblGrid>
              <a:tr h="411618">
                <a:tc>
                  <a:txBody>
                    <a:bodyPr/>
                    <a:lstStyle/>
                    <a:p>
                      <a:pPr>
                        <a:buNone/>
                      </a:pPr>
                      <a:r>
                        <a:rPr lang="en-US" sz="1400" b="1">
                          <a:solidFill>
                            <a:srgbClr val="0191FF"/>
                          </a:solidFill>
                        </a:rPr>
                        <a:t>Level</a:t>
                      </a:r>
                    </a:p>
                  </a:txBody>
                  <a:tcPr marL="45720" marR="45720" marT="0" marB="110642" anchor="b">
                    <a:lnL>
                      <a:noFill/>
                    </a:lnL>
                    <a:lnR>
                      <a:noFill/>
                    </a:lnR>
                    <a:lnT>
                      <a:noFill/>
                    </a:lnT>
                    <a:lnB w="19050" cap="flat" cmpd="sng" algn="ctr">
                      <a:solidFill>
                        <a:schemeClr val="tx1"/>
                      </a:solidFill>
                      <a:prstDash val="solid"/>
                      <a:round/>
                      <a:headEnd type="none" w="med" len="med"/>
                      <a:tailEnd type="none" w="med" len="med"/>
                    </a:lnB>
                    <a:noFill/>
                  </a:tcPr>
                </a:tc>
                <a:tc>
                  <a:txBody>
                    <a:bodyPr/>
                    <a:lstStyle/>
                    <a:p>
                      <a:pPr>
                        <a:buNone/>
                      </a:pPr>
                      <a:r>
                        <a:rPr lang="en-US" sz="1400" b="1">
                          <a:solidFill>
                            <a:srgbClr val="0191FF"/>
                          </a:solidFill>
                        </a:rPr>
                        <a:t>Description</a:t>
                      </a:r>
                    </a:p>
                  </a:txBody>
                  <a:tcPr marL="45720" marR="45720" marT="0" marB="110642" anchor="b">
                    <a:lnL>
                      <a:noFill/>
                    </a:lnL>
                    <a:lnR>
                      <a:noFill/>
                    </a:lnR>
                    <a:lnT>
                      <a:noFill/>
                    </a:lnT>
                    <a:lnB w="19050" cap="flat" cmpd="sng" algn="ctr">
                      <a:solidFill>
                        <a:schemeClr val="tx1"/>
                      </a:solidFill>
                      <a:prstDash val="solid"/>
                      <a:round/>
                      <a:headEnd type="none" w="med" len="med"/>
                      <a:tailEnd type="none" w="med" len="med"/>
                    </a:lnB>
                    <a:noFill/>
                  </a:tcPr>
                </a:tc>
                <a:tc>
                  <a:txBody>
                    <a:bodyPr/>
                    <a:lstStyle/>
                    <a:p>
                      <a:pPr algn="ctr">
                        <a:buNone/>
                      </a:pPr>
                      <a:r>
                        <a:rPr lang="en-US" sz="1400" b="1">
                          <a:solidFill>
                            <a:srgbClr val="0191FF"/>
                          </a:solidFill>
                        </a:rPr>
                        <a:t>Score</a:t>
                      </a:r>
                    </a:p>
                  </a:txBody>
                  <a:tcPr marL="45720" marR="45720" marT="0" marB="110642" anchor="b">
                    <a:lnL>
                      <a:noFill/>
                    </a:lnL>
                    <a:lnR>
                      <a:noFill/>
                    </a:lnR>
                    <a:lnT>
                      <a:noFill/>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6579126"/>
                  </a:ext>
                </a:extLst>
              </a:tr>
              <a:tr h="720332">
                <a:tc>
                  <a:txBody>
                    <a:bodyPr/>
                    <a:lstStyle/>
                    <a:p>
                      <a:pPr>
                        <a:buNone/>
                      </a:pPr>
                      <a:r>
                        <a:rPr lang="en-US" sz="1400" b="1"/>
                        <a:t>High</a:t>
                      </a:r>
                      <a:endParaRPr lang="en-US" sz="1400"/>
                    </a:p>
                  </a:txBody>
                  <a:tcPr marT="55321" marB="55321" anchor="ct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ysDot"/>
                      <a:round/>
                      <a:headEnd type="none" w="med" len="med"/>
                      <a:tailEnd type="none" w="med" len="med"/>
                    </a:lnB>
                    <a:noFill/>
                  </a:tcPr>
                </a:tc>
                <a:tc>
                  <a:txBody>
                    <a:bodyPr/>
                    <a:lstStyle/>
                    <a:p>
                      <a:pPr>
                        <a:spcAft>
                          <a:spcPts val="600"/>
                        </a:spcAft>
                        <a:buSzPts val="1200"/>
                      </a:pPr>
                      <a:r>
                        <a:rPr lang="en-US" sz="1200" dirty="0">
                          <a:solidFill>
                            <a:srgbClr val="000000"/>
                          </a:solidFill>
                        </a:rPr>
                        <a:t>Covers most or all of the relevant workflows or process steps within the L3 process</a:t>
                      </a:r>
                    </a:p>
                  </a:txBody>
                  <a:tcPr marT="55321" marB="55321" anchor="ct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ysDot"/>
                      <a:round/>
                      <a:headEnd type="none" w="med" len="med"/>
                      <a:tailEnd type="none" w="med" len="med"/>
                    </a:lnB>
                    <a:noFill/>
                  </a:tcPr>
                </a:tc>
                <a:tc>
                  <a:txBody>
                    <a:bodyPr/>
                    <a:lstStyle/>
                    <a:p>
                      <a:pPr algn="ctr">
                        <a:buNone/>
                      </a:pPr>
                      <a:r>
                        <a:rPr lang="en-US" sz="1400" dirty="0"/>
                        <a:t>1.0</a:t>
                      </a:r>
                    </a:p>
                  </a:txBody>
                  <a:tcPr marT="55321" marB="55321" anchor="ct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1124860189"/>
                  </a:ext>
                </a:extLst>
              </a:tr>
              <a:tr h="553212">
                <a:tc>
                  <a:txBody>
                    <a:bodyPr/>
                    <a:lstStyle/>
                    <a:p>
                      <a:pPr>
                        <a:buNone/>
                      </a:pPr>
                      <a:r>
                        <a:rPr lang="en-US" sz="1400" b="1"/>
                        <a:t>Medium</a:t>
                      </a:r>
                      <a:endParaRPr lang="en-US" sz="1400"/>
                    </a:p>
                  </a:txBody>
                  <a:tcPr marT="55321" marB="55321" anchor="ctr">
                    <a:lnL>
                      <a:noFill/>
                    </a:lnL>
                    <a:lnR>
                      <a:noFill/>
                    </a:lnR>
                    <a:lnT w="19050" cap="flat" cmpd="sng" algn="ctr">
                      <a:solidFill>
                        <a:schemeClr val="tx1"/>
                      </a:solidFill>
                      <a:prstDash val="sysDot"/>
                      <a:round/>
                      <a:headEnd type="none" w="med" len="med"/>
                      <a:tailEnd type="none" w="med" len="med"/>
                    </a:lnT>
                    <a:lnB w="19050" cap="flat" cmpd="sng" algn="ctr">
                      <a:solidFill>
                        <a:schemeClr val="tx1"/>
                      </a:solidFill>
                      <a:prstDash val="sysDot"/>
                      <a:round/>
                      <a:headEnd type="none" w="med" len="med"/>
                      <a:tailEnd type="none" w="med" len="med"/>
                    </a:lnB>
                    <a:noFill/>
                  </a:tcPr>
                </a:tc>
                <a:tc>
                  <a:txBody>
                    <a:bodyPr/>
                    <a:lstStyle/>
                    <a:p>
                      <a:pPr>
                        <a:spcAft>
                          <a:spcPts val="600"/>
                        </a:spcAft>
                        <a:buSzPts val="1200"/>
                      </a:pPr>
                      <a:r>
                        <a:rPr lang="en-US" sz="1200" dirty="0">
                          <a:solidFill>
                            <a:srgbClr val="000000"/>
                          </a:solidFill>
                        </a:rPr>
                        <a:t>Covers several key workflows or a moderate portion of the L3 process</a:t>
                      </a:r>
                    </a:p>
                  </a:txBody>
                  <a:tcPr marT="55321" marB="55321" anchor="ctr">
                    <a:lnL>
                      <a:noFill/>
                    </a:lnL>
                    <a:lnR>
                      <a:noFill/>
                    </a:lnR>
                    <a:lnT w="19050" cap="flat" cmpd="sng" algn="ctr">
                      <a:solidFill>
                        <a:schemeClr val="tx1"/>
                      </a:solidFill>
                      <a:prstDash val="sysDot"/>
                      <a:round/>
                      <a:headEnd type="none" w="med" len="med"/>
                      <a:tailEnd type="none" w="med" len="med"/>
                    </a:lnT>
                    <a:lnB w="19050" cap="flat" cmpd="sng" algn="ctr">
                      <a:solidFill>
                        <a:schemeClr val="tx1"/>
                      </a:solidFill>
                      <a:prstDash val="sysDot"/>
                      <a:round/>
                      <a:headEnd type="none" w="med" len="med"/>
                      <a:tailEnd type="none" w="med" len="med"/>
                    </a:lnB>
                    <a:noFill/>
                  </a:tcPr>
                </a:tc>
                <a:tc>
                  <a:txBody>
                    <a:bodyPr/>
                    <a:lstStyle/>
                    <a:p>
                      <a:pPr algn="ctr">
                        <a:buNone/>
                      </a:pPr>
                      <a:r>
                        <a:rPr lang="en-US" sz="1400" dirty="0"/>
                        <a:t>0.66</a:t>
                      </a:r>
                    </a:p>
                  </a:txBody>
                  <a:tcPr marT="55321" marB="55321" anchor="ctr">
                    <a:lnL>
                      <a:noFill/>
                    </a:lnL>
                    <a:lnR>
                      <a:noFill/>
                    </a:lnR>
                    <a:lnT w="19050" cap="flat" cmpd="sng" algn="ctr">
                      <a:solidFill>
                        <a:schemeClr val="tx1"/>
                      </a:solidFill>
                      <a:prstDash val="sysDot"/>
                      <a:round/>
                      <a:headEnd type="none" w="med" len="med"/>
                      <a:tailEnd type="none" w="med" len="med"/>
                    </a:lnT>
                    <a:lnB w="1905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1147122378"/>
                  </a:ext>
                </a:extLst>
              </a:tr>
              <a:tr h="553212">
                <a:tc>
                  <a:txBody>
                    <a:bodyPr/>
                    <a:lstStyle/>
                    <a:p>
                      <a:pPr>
                        <a:buNone/>
                      </a:pPr>
                      <a:r>
                        <a:rPr lang="en-US" sz="1400" b="1"/>
                        <a:t>Low</a:t>
                      </a:r>
                      <a:endParaRPr lang="en-US" sz="1400"/>
                    </a:p>
                  </a:txBody>
                  <a:tcPr marT="55321" marB="55321" anchor="ctr">
                    <a:lnL>
                      <a:noFill/>
                    </a:lnL>
                    <a:lnR>
                      <a:noFill/>
                    </a:lnR>
                    <a:lnT w="19050" cap="flat" cmpd="sng" algn="ctr">
                      <a:solidFill>
                        <a:schemeClr val="tx1"/>
                      </a:solidFill>
                      <a:prstDash val="sysDot"/>
                      <a:round/>
                      <a:headEnd type="none" w="med" len="med"/>
                      <a:tailEnd type="none" w="med" len="med"/>
                    </a:lnT>
                    <a:lnB w="19050" cap="flat" cmpd="sng" algn="ctr">
                      <a:solidFill>
                        <a:schemeClr val="tx1"/>
                      </a:solidFill>
                      <a:prstDash val="sysDot"/>
                      <a:round/>
                      <a:headEnd type="none" w="med" len="med"/>
                      <a:tailEnd type="none" w="med" len="med"/>
                    </a:lnB>
                    <a:noFill/>
                  </a:tcPr>
                </a:tc>
                <a:tc>
                  <a:txBody>
                    <a:bodyPr/>
                    <a:lstStyle/>
                    <a:p>
                      <a:pPr>
                        <a:spcAft>
                          <a:spcPts val="600"/>
                        </a:spcAft>
                        <a:buSzPts val="1200"/>
                      </a:pPr>
                      <a:r>
                        <a:rPr lang="en-US" sz="1200" dirty="0">
                          <a:solidFill>
                            <a:srgbClr val="000000"/>
                          </a:solidFill>
                        </a:rPr>
                        <a:t>Covers a limited set of workflows or point activities within the L3 process</a:t>
                      </a:r>
                    </a:p>
                  </a:txBody>
                  <a:tcPr marT="55321" marB="55321" anchor="ctr">
                    <a:lnL>
                      <a:noFill/>
                    </a:lnL>
                    <a:lnR>
                      <a:noFill/>
                    </a:lnR>
                    <a:lnT w="19050" cap="flat" cmpd="sng" algn="ctr">
                      <a:solidFill>
                        <a:schemeClr val="tx1"/>
                      </a:solidFill>
                      <a:prstDash val="sysDot"/>
                      <a:round/>
                      <a:headEnd type="none" w="med" len="med"/>
                      <a:tailEnd type="none" w="med" len="med"/>
                    </a:lnT>
                    <a:lnB w="19050" cap="flat" cmpd="sng" algn="ctr">
                      <a:solidFill>
                        <a:schemeClr val="tx1"/>
                      </a:solidFill>
                      <a:prstDash val="sysDot"/>
                      <a:round/>
                      <a:headEnd type="none" w="med" len="med"/>
                      <a:tailEnd type="none" w="med" len="med"/>
                    </a:lnB>
                    <a:noFill/>
                  </a:tcPr>
                </a:tc>
                <a:tc>
                  <a:txBody>
                    <a:bodyPr/>
                    <a:lstStyle/>
                    <a:p>
                      <a:pPr algn="ctr">
                        <a:buNone/>
                      </a:pPr>
                      <a:r>
                        <a:rPr lang="en-US" sz="1400" dirty="0"/>
                        <a:t>0.33</a:t>
                      </a:r>
                    </a:p>
                  </a:txBody>
                  <a:tcPr marT="55321" marB="55321" anchor="ctr">
                    <a:lnL>
                      <a:noFill/>
                    </a:lnL>
                    <a:lnR>
                      <a:noFill/>
                    </a:lnR>
                    <a:lnT w="19050" cap="flat" cmpd="sng" algn="ctr">
                      <a:solidFill>
                        <a:schemeClr val="tx1"/>
                      </a:solidFill>
                      <a:prstDash val="sysDot"/>
                      <a:round/>
                      <a:headEnd type="none" w="med" len="med"/>
                      <a:tailEnd type="none" w="med" len="med"/>
                    </a:lnT>
                    <a:lnB w="1905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481270407"/>
                  </a:ext>
                </a:extLst>
              </a:tr>
              <a:tr h="546506">
                <a:tc>
                  <a:txBody>
                    <a:bodyPr/>
                    <a:lstStyle/>
                    <a:p>
                      <a:pPr>
                        <a:buNone/>
                      </a:pPr>
                      <a:r>
                        <a:rPr lang="en-US" sz="1400" b="1"/>
                        <a:t>None</a:t>
                      </a:r>
                      <a:endParaRPr lang="en-US" sz="1400"/>
                    </a:p>
                  </a:txBody>
                  <a:tcPr marT="55321" marB="55321" anchor="ctr">
                    <a:lnL>
                      <a:noFill/>
                    </a:lnL>
                    <a:lnR>
                      <a:noFill/>
                    </a:lnR>
                    <a:lnT w="19050" cap="flat" cmpd="sng" algn="ctr">
                      <a:solidFill>
                        <a:schemeClr val="tx1"/>
                      </a:solidFill>
                      <a:prstDash val="sysDot"/>
                      <a:round/>
                      <a:headEnd type="none" w="med" len="med"/>
                      <a:tailEnd type="none" w="med" len="med"/>
                    </a:lnT>
                    <a:lnB>
                      <a:noFill/>
                    </a:lnB>
                    <a:noFill/>
                  </a:tcPr>
                </a:tc>
                <a:tc>
                  <a:txBody>
                    <a:bodyPr/>
                    <a:lstStyle/>
                    <a:p>
                      <a:pPr>
                        <a:spcAft>
                          <a:spcPts val="600"/>
                        </a:spcAft>
                        <a:buSzPts val="1200"/>
                      </a:pPr>
                      <a:r>
                        <a:rPr lang="en-US" sz="1200">
                          <a:solidFill>
                            <a:srgbClr val="000000"/>
                          </a:solidFill>
                        </a:rPr>
                        <a:t>Does not currently cover any part of the L3 process</a:t>
                      </a:r>
                    </a:p>
                  </a:txBody>
                  <a:tcPr marT="55321" marB="55321" anchor="ctr">
                    <a:lnL>
                      <a:noFill/>
                    </a:lnL>
                    <a:lnR>
                      <a:noFill/>
                    </a:lnR>
                    <a:lnT w="19050" cap="flat" cmpd="sng" algn="ctr">
                      <a:solidFill>
                        <a:schemeClr val="tx1"/>
                      </a:solidFill>
                      <a:prstDash val="sysDot"/>
                      <a:round/>
                      <a:headEnd type="none" w="med" len="med"/>
                      <a:tailEnd type="none" w="med" len="med"/>
                    </a:lnT>
                    <a:lnB>
                      <a:noFill/>
                    </a:lnB>
                    <a:noFill/>
                  </a:tcPr>
                </a:tc>
                <a:tc>
                  <a:txBody>
                    <a:bodyPr/>
                    <a:lstStyle/>
                    <a:p>
                      <a:pPr algn="ctr">
                        <a:buNone/>
                      </a:pPr>
                      <a:r>
                        <a:rPr lang="en-US" sz="1400" dirty="0"/>
                        <a:t>0</a:t>
                      </a:r>
                    </a:p>
                  </a:txBody>
                  <a:tcPr marT="55321" marB="55321" anchor="ctr">
                    <a:lnL>
                      <a:noFill/>
                    </a:lnL>
                    <a:lnR>
                      <a:noFill/>
                    </a:lnR>
                    <a:lnT w="19050" cap="flat" cmpd="sng" algn="ctr">
                      <a:solidFill>
                        <a:schemeClr val="tx1"/>
                      </a:solidFill>
                      <a:prstDash val="sysDot"/>
                      <a:round/>
                      <a:headEnd type="none" w="med" len="med"/>
                      <a:tailEnd type="none" w="med" len="med"/>
                    </a:lnT>
                    <a:lnB>
                      <a:noFill/>
                    </a:lnB>
                    <a:noFill/>
                  </a:tcPr>
                </a:tc>
                <a:extLst>
                  <a:ext uri="{0D108BD9-81ED-4DB2-BD59-A6C34878D82A}">
                    <a16:rowId xmlns:a16="http://schemas.microsoft.com/office/drawing/2014/main" val="4101295992"/>
                  </a:ext>
                </a:extLst>
              </a:tr>
            </a:tbl>
          </a:graphicData>
        </a:graphic>
      </p:graphicFrame>
      <p:graphicFrame>
        <p:nvGraphicFramePr>
          <p:cNvPr id="15" name="Table 14">
            <a:extLst>
              <a:ext uri="{FF2B5EF4-FFF2-40B4-BE49-F238E27FC236}">
                <a16:creationId xmlns:a16="http://schemas.microsoft.com/office/drawing/2014/main" id="{C9586FC6-D75D-16F5-2338-A488CF4594EC}"/>
              </a:ext>
            </a:extLst>
          </p:cNvPr>
          <p:cNvGraphicFramePr>
            <a:graphicFrameLocks noGrp="1"/>
          </p:cNvGraphicFramePr>
          <p:nvPr>
            <p:extLst>
              <p:ext uri="{D42A27DB-BD31-4B8C-83A1-F6EECF244321}">
                <p14:modId xmlns:p14="http://schemas.microsoft.com/office/powerpoint/2010/main" val="3242710344"/>
              </p:ext>
            </p:extLst>
          </p:nvPr>
        </p:nvGraphicFramePr>
        <p:xfrm>
          <a:off x="6561582" y="2902545"/>
          <a:ext cx="4999038" cy="2873586"/>
        </p:xfrm>
        <a:graphic>
          <a:graphicData uri="http://schemas.openxmlformats.org/drawingml/2006/table">
            <a:tbl>
              <a:tblPr/>
              <a:tblGrid>
                <a:gridCol w="658615">
                  <a:extLst>
                    <a:ext uri="{9D8B030D-6E8A-4147-A177-3AD203B41FA5}">
                      <a16:colId xmlns:a16="http://schemas.microsoft.com/office/drawing/2014/main" val="4135710884"/>
                    </a:ext>
                  </a:extLst>
                </a:gridCol>
                <a:gridCol w="3735239">
                  <a:extLst>
                    <a:ext uri="{9D8B030D-6E8A-4147-A177-3AD203B41FA5}">
                      <a16:colId xmlns:a16="http://schemas.microsoft.com/office/drawing/2014/main" val="3131410908"/>
                    </a:ext>
                  </a:extLst>
                </a:gridCol>
                <a:gridCol w="605184">
                  <a:extLst>
                    <a:ext uri="{9D8B030D-6E8A-4147-A177-3AD203B41FA5}">
                      <a16:colId xmlns:a16="http://schemas.microsoft.com/office/drawing/2014/main" val="4016531446"/>
                    </a:ext>
                  </a:extLst>
                </a:gridCol>
              </a:tblGrid>
              <a:tr h="415045">
                <a:tc>
                  <a:txBody>
                    <a:bodyPr/>
                    <a:lstStyle/>
                    <a:p>
                      <a:pPr algn="ctr">
                        <a:buNone/>
                      </a:pPr>
                      <a:r>
                        <a:rPr lang="en-US" sz="1400" b="1">
                          <a:solidFill>
                            <a:srgbClr val="0191FF"/>
                          </a:solidFill>
                        </a:rPr>
                        <a:t>Level</a:t>
                      </a:r>
                    </a:p>
                  </a:txBody>
                  <a:tcPr marL="45720" marR="45720" marT="0" marB="110642" anchor="b">
                    <a:lnL>
                      <a:noFill/>
                    </a:lnL>
                    <a:lnR>
                      <a:noFill/>
                    </a:lnR>
                    <a:lnT>
                      <a:noFill/>
                    </a:lnT>
                    <a:lnB w="19050" cap="flat" cmpd="sng" algn="ctr">
                      <a:solidFill>
                        <a:schemeClr val="tx1"/>
                      </a:solidFill>
                      <a:prstDash val="solid"/>
                      <a:round/>
                      <a:headEnd type="none" w="med" len="med"/>
                      <a:tailEnd type="none" w="med" len="med"/>
                    </a:lnB>
                    <a:noFill/>
                  </a:tcPr>
                </a:tc>
                <a:tc>
                  <a:txBody>
                    <a:bodyPr/>
                    <a:lstStyle/>
                    <a:p>
                      <a:pPr>
                        <a:buNone/>
                      </a:pPr>
                      <a:r>
                        <a:rPr lang="en-US" sz="1400" b="1">
                          <a:solidFill>
                            <a:srgbClr val="0191FF"/>
                          </a:solidFill>
                        </a:rPr>
                        <a:t>Description</a:t>
                      </a:r>
                    </a:p>
                  </a:txBody>
                  <a:tcPr marL="45720" marR="45720" marT="0" marB="110642" anchor="b">
                    <a:lnL>
                      <a:noFill/>
                    </a:lnL>
                    <a:lnR>
                      <a:noFill/>
                    </a:lnR>
                    <a:lnT>
                      <a:noFill/>
                    </a:lnT>
                    <a:lnB w="19050" cap="flat" cmpd="sng" algn="ctr">
                      <a:solidFill>
                        <a:schemeClr val="tx1"/>
                      </a:solidFill>
                      <a:prstDash val="solid"/>
                      <a:round/>
                      <a:headEnd type="none" w="med" len="med"/>
                      <a:tailEnd type="none" w="med" len="med"/>
                    </a:lnB>
                    <a:noFill/>
                  </a:tcPr>
                </a:tc>
                <a:tc>
                  <a:txBody>
                    <a:bodyPr/>
                    <a:lstStyle/>
                    <a:p>
                      <a:pPr algn="ctr">
                        <a:buNone/>
                      </a:pPr>
                      <a:r>
                        <a:rPr lang="en-US" sz="1400" b="1">
                          <a:solidFill>
                            <a:srgbClr val="0191FF"/>
                          </a:solidFill>
                        </a:rPr>
                        <a:t>Score</a:t>
                      </a:r>
                    </a:p>
                  </a:txBody>
                  <a:tcPr marL="45720" marR="45720" marT="0" marB="110642" anchor="b">
                    <a:lnL>
                      <a:noFill/>
                    </a:lnL>
                    <a:lnR>
                      <a:noFill/>
                    </a:lnR>
                    <a:lnT>
                      <a:noFill/>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0914872"/>
                  </a:ext>
                </a:extLst>
              </a:tr>
              <a:tr h="553212">
                <a:tc>
                  <a:txBody>
                    <a:bodyPr/>
                    <a:lstStyle/>
                    <a:p>
                      <a:pPr algn="ctr">
                        <a:buNone/>
                      </a:pPr>
                      <a:r>
                        <a:rPr lang="en-US" sz="1400" b="1"/>
                        <a:t>4</a:t>
                      </a:r>
                      <a:endParaRPr lang="en-US" sz="1400"/>
                    </a:p>
                  </a:txBody>
                  <a:tcPr marT="55321" marB="55321" anchor="ct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ysDot"/>
                      <a:round/>
                      <a:headEnd type="none" w="med" len="med"/>
                      <a:tailEnd type="none" w="med" len="med"/>
                    </a:lnB>
                    <a:noFill/>
                  </a:tcPr>
                </a:tc>
                <a:tc>
                  <a:txBody>
                    <a:bodyPr/>
                    <a:lstStyle/>
                    <a:p>
                      <a:pPr>
                        <a:spcAft>
                          <a:spcPts val="600"/>
                        </a:spcAft>
                      </a:pPr>
                      <a:r>
                        <a:rPr lang="en-US" sz="1200" b="1">
                          <a:solidFill>
                            <a:srgbClr val="000000"/>
                          </a:solidFill>
                        </a:rPr>
                        <a:t>Broadly adopted </a:t>
                      </a:r>
                      <a:r>
                        <a:rPr lang="en-US" sz="1200">
                          <a:solidFill>
                            <a:srgbClr val="000000"/>
                          </a:solidFill>
                        </a:rPr>
                        <a:t>and delivering full expected efficiencies across users and regions</a:t>
                      </a:r>
                    </a:p>
                  </a:txBody>
                  <a:tcPr marT="55321" marB="55321" anchor="ct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ysDot"/>
                      <a:round/>
                      <a:headEnd type="none" w="med" len="med"/>
                      <a:tailEnd type="none" w="med" len="med"/>
                    </a:lnB>
                    <a:noFill/>
                  </a:tcPr>
                </a:tc>
                <a:tc>
                  <a:txBody>
                    <a:bodyPr/>
                    <a:lstStyle/>
                    <a:p>
                      <a:pPr algn="ctr">
                        <a:buNone/>
                      </a:pPr>
                      <a:r>
                        <a:rPr lang="en-US" sz="1400"/>
                        <a:t>100%</a:t>
                      </a:r>
                    </a:p>
                  </a:txBody>
                  <a:tcPr marT="55321" marB="55321" anchor="ct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1390376392"/>
                  </a:ext>
                </a:extLst>
              </a:tr>
              <a:tr h="553212">
                <a:tc>
                  <a:txBody>
                    <a:bodyPr/>
                    <a:lstStyle/>
                    <a:p>
                      <a:pPr algn="ctr">
                        <a:buNone/>
                      </a:pPr>
                      <a:r>
                        <a:rPr lang="en-US" sz="1400" b="1"/>
                        <a:t>3</a:t>
                      </a:r>
                      <a:endParaRPr lang="en-US" sz="1400"/>
                    </a:p>
                  </a:txBody>
                  <a:tcPr marT="55321" marB="55321" anchor="ctr">
                    <a:lnL>
                      <a:noFill/>
                    </a:lnL>
                    <a:lnR>
                      <a:noFill/>
                    </a:lnR>
                    <a:lnT w="19050" cap="flat" cmpd="sng" algn="ctr">
                      <a:solidFill>
                        <a:schemeClr val="tx1"/>
                      </a:solidFill>
                      <a:prstDash val="sysDot"/>
                      <a:round/>
                      <a:headEnd type="none" w="med" len="med"/>
                      <a:tailEnd type="none" w="med" len="med"/>
                    </a:lnT>
                    <a:lnB w="19050" cap="flat" cmpd="sng" algn="ctr">
                      <a:solidFill>
                        <a:schemeClr val="tx1"/>
                      </a:solidFill>
                      <a:prstDash val="sysDot"/>
                      <a:round/>
                      <a:headEnd type="none" w="med" len="med"/>
                      <a:tailEnd type="none" w="med" len="med"/>
                    </a:lnB>
                    <a:noFill/>
                  </a:tcPr>
                </a:tc>
                <a:tc>
                  <a:txBody>
                    <a:bodyPr/>
                    <a:lstStyle/>
                    <a:p>
                      <a:pPr>
                        <a:spcAft>
                          <a:spcPts val="600"/>
                        </a:spcAft>
                      </a:pPr>
                      <a:r>
                        <a:rPr lang="en-US" sz="1200" b="1">
                          <a:solidFill>
                            <a:srgbClr val="000000"/>
                          </a:solidFill>
                        </a:rPr>
                        <a:t>Adopted across multiple regions/functions </a:t>
                      </a:r>
                      <a:r>
                        <a:rPr lang="en-US" sz="1200">
                          <a:solidFill>
                            <a:srgbClr val="000000"/>
                          </a:solidFill>
                        </a:rPr>
                        <a:t>with measurable improvements</a:t>
                      </a:r>
                    </a:p>
                  </a:txBody>
                  <a:tcPr marT="55321" marB="55321" anchor="ctr">
                    <a:lnL>
                      <a:noFill/>
                    </a:lnL>
                    <a:lnR>
                      <a:noFill/>
                    </a:lnR>
                    <a:lnT w="19050" cap="flat" cmpd="sng" algn="ctr">
                      <a:solidFill>
                        <a:schemeClr val="tx1"/>
                      </a:solidFill>
                      <a:prstDash val="sysDot"/>
                      <a:round/>
                      <a:headEnd type="none" w="med" len="med"/>
                      <a:tailEnd type="none" w="med" len="med"/>
                    </a:lnT>
                    <a:lnB w="19050" cap="flat" cmpd="sng" algn="ctr">
                      <a:solidFill>
                        <a:schemeClr val="tx1"/>
                      </a:solidFill>
                      <a:prstDash val="sysDot"/>
                      <a:round/>
                      <a:headEnd type="none" w="med" len="med"/>
                      <a:tailEnd type="none" w="med" len="med"/>
                    </a:lnB>
                    <a:noFill/>
                  </a:tcPr>
                </a:tc>
                <a:tc>
                  <a:txBody>
                    <a:bodyPr/>
                    <a:lstStyle/>
                    <a:p>
                      <a:pPr algn="ctr">
                        <a:buNone/>
                      </a:pPr>
                      <a:r>
                        <a:rPr lang="en-US" sz="1400"/>
                        <a:t>75%</a:t>
                      </a:r>
                    </a:p>
                  </a:txBody>
                  <a:tcPr marT="55321" marB="55321" anchor="ctr">
                    <a:lnL>
                      <a:noFill/>
                    </a:lnL>
                    <a:lnR>
                      <a:noFill/>
                    </a:lnR>
                    <a:lnT w="19050" cap="flat" cmpd="sng" algn="ctr">
                      <a:solidFill>
                        <a:schemeClr val="tx1"/>
                      </a:solidFill>
                      <a:prstDash val="sysDot"/>
                      <a:round/>
                      <a:headEnd type="none" w="med" len="med"/>
                      <a:tailEnd type="none" w="med" len="med"/>
                    </a:lnT>
                    <a:lnB w="1905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1754608892"/>
                  </a:ext>
                </a:extLst>
              </a:tr>
              <a:tr h="477688">
                <a:tc>
                  <a:txBody>
                    <a:bodyPr/>
                    <a:lstStyle/>
                    <a:p>
                      <a:pPr algn="ctr">
                        <a:buNone/>
                      </a:pPr>
                      <a:r>
                        <a:rPr lang="en-US" sz="1400" b="1"/>
                        <a:t>2</a:t>
                      </a:r>
                      <a:endParaRPr lang="en-US" sz="1400"/>
                    </a:p>
                  </a:txBody>
                  <a:tcPr marT="55321" marB="55321" anchor="ctr">
                    <a:lnL>
                      <a:noFill/>
                    </a:lnL>
                    <a:lnR>
                      <a:noFill/>
                    </a:lnR>
                    <a:lnT w="19050" cap="flat" cmpd="sng" algn="ctr">
                      <a:solidFill>
                        <a:schemeClr val="tx1"/>
                      </a:solidFill>
                      <a:prstDash val="sysDot"/>
                      <a:round/>
                      <a:headEnd type="none" w="med" len="med"/>
                      <a:tailEnd type="none" w="med" len="med"/>
                    </a:lnT>
                    <a:lnB w="19050" cap="flat" cmpd="sng" algn="ctr">
                      <a:solidFill>
                        <a:schemeClr val="tx1"/>
                      </a:solidFill>
                      <a:prstDash val="sysDot"/>
                      <a:round/>
                      <a:headEnd type="none" w="med" len="med"/>
                      <a:tailEnd type="none" w="med" len="med"/>
                    </a:lnB>
                    <a:noFill/>
                  </a:tcPr>
                </a:tc>
                <a:tc>
                  <a:txBody>
                    <a:bodyPr/>
                    <a:lstStyle/>
                    <a:p>
                      <a:pPr>
                        <a:spcAft>
                          <a:spcPts val="600"/>
                        </a:spcAft>
                      </a:pPr>
                      <a:r>
                        <a:rPr lang="en-US" sz="1200" b="1">
                          <a:solidFill>
                            <a:srgbClr val="000000"/>
                          </a:solidFill>
                        </a:rPr>
                        <a:t>Early adoption </a:t>
                      </a:r>
                      <a:r>
                        <a:rPr lang="en-US" sz="1200">
                          <a:solidFill>
                            <a:srgbClr val="000000"/>
                          </a:solidFill>
                        </a:rPr>
                        <a:t>with partial efficiency realized</a:t>
                      </a:r>
                    </a:p>
                  </a:txBody>
                  <a:tcPr marT="55321" marB="55321" anchor="ctr">
                    <a:lnL>
                      <a:noFill/>
                    </a:lnL>
                    <a:lnR>
                      <a:noFill/>
                    </a:lnR>
                    <a:lnT w="19050" cap="flat" cmpd="sng" algn="ctr">
                      <a:solidFill>
                        <a:schemeClr val="tx1"/>
                      </a:solidFill>
                      <a:prstDash val="sysDot"/>
                      <a:round/>
                      <a:headEnd type="none" w="med" len="med"/>
                      <a:tailEnd type="none" w="med" len="med"/>
                    </a:lnT>
                    <a:lnB w="19050" cap="flat" cmpd="sng" algn="ctr">
                      <a:solidFill>
                        <a:schemeClr val="tx1"/>
                      </a:solidFill>
                      <a:prstDash val="sysDot"/>
                      <a:round/>
                      <a:headEnd type="none" w="med" len="med"/>
                      <a:tailEnd type="none" w="med" len="med"/>
                    </a:lnB>
                    <a:noFill/>
                  </a:tcPr>
                </a:tc>
                <a:tc>
                  <a:txBody>
                    <a:bodyPr/>
                    <a:lstStyle/>
                    <a:p>
                      <a:pPr algn="ctr">
                        <a:buNone/>
                      </a:pPr>
                      <a:r>
                        <a:rPr lang="en-US" sz="1400"/>
                        <a:t>50%</a:t>
                      </a:r>
                    </a:p>
                  </a:txBody>
                  <a:tcPr marT="55321" marB="55321" anchor="ctr">
                    <a:lnL>
                      <a:noFill/>
                    </a:lnL>
                    <a:lnR>
                      <a:noFill/>
                    </a:lnR>
                    <a:lnT w="19050" cap="flat" cmpd="sng" algn="ctr">
                      <a:solidFill>
                        <a:schemeClr val="tx1"/>
                      </a:solidFill>
                      <a:prstDash val="sysDot"/>
                      <a:round/>
                      <a:headEnd type="none" w="med" len="med"/>
                      <a:tailEnd type="none" w="med" len="med"/>
                    </a:lnT>
                    <a:lnB w="1905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179243125"/>
                  </a:ext>
                </a:extLst>
              </a:tr>
              <a:tr h="477688">
                <a:tc>
                  <a:txBody>
                    <a:bodyPr/>
                    <a:lstStyle/>
                    <a:p>
                      <a:pPr algn="ctr">
                        <a:buNone/>
                      </a:pPr>
                      <a:r>
                        <a:rPr lang="en-US" sz="1400" b="1"/>
                        <a:t>1</a:t>
                      </a:r>
                      <a:endParaRPr lang="en-US" sz="1400"/>
                    </a:p>
                  </a:txBody>
                  <a:tcPr marT="55321" marB="55321" anchor="ctr">
                    <a:lnL>
                      <a:noFill/>
                    </a:lnL>
                    <a:lnR>
                      <a:noFill/>
                    </a:lnR>
                    <a:lnT w="19050" cap="flat" cmpd="sng" algn="ctr">
                      <a:solidFill>
                        <a:schemeClr val="tx1"/>
                      </a:solidFill>
                      <a:prstDash val="sysDot"/>
                      <a:round/>
                      <a:headEnd type="none" w="med" len="med"/>
                      <a:tailEnd type="none" w="med" len="med"/>
                    </a:lnT>
                    <a:lnB w="19050" cap="flat" cmpd="sng" algn="ctr">
                      <a:solidFill>
                        <a:schemeClr val="tx1"/>
                      </a:solidFill>
                      <a:prstDash val="sysDot"/>
                      <a:round/>
                      <a:headEnd type="none" w="med" len="med"/>
                      <a:tailEnd type="none" w="med" len="med"/>
                    </a:lnB>
                    <a:noFill/>
                  </a:tcPr>
                </a:tc>
                <a:tc>
                  <a:txBody>
                    <a:bodyPr/>
                    <a:lstStyle/>
                    <a:p>
                      <a:pPr>
                        <a:spcAft>
                          <a:spcPts val="600"/>
                        </a:spcAft>
                      </a:pPr>
                      <a:r>
                        <a:rPr lang="en-US" sz="1200" b="1">
                          <a:solidFill>
                            <a:srgbClr val="000000"/>
                          </a:solidFill>
                        </a:rPr>
                        <a:t>Pilot or limited use</a:t>
                      </a:r>
                      <a:r>
                        <a:rPr lang="en-US" sz="1200">
                          <a:solidFill>
                            <a:srgbClr val="000000"/>
                          </a:solidFill>
                        </a:rPr>
                        <a:t>, early indications of benefits</a:t>
                      </a:r>
                    </a:p>
                  </a:txBody>
                  <a:tcPr marT="55321" marB="55321" anchor="ctr">
                    <a:lnL>
                      <a:noFill/>
                    </a:lnL>
                    <a:lnR>
                      <a:noFill/>
                    </a:lnR>
                    <a:lnT w="19050" cap="flat" cmpd="sng" algn="ctr">
                      <a:solidFill>
                        <a:schemeClr val="tx1"/>
                      </a:solidFill>
                      <a:prstDash val="sysDot"/>
                      <a:round/>
                      <a:headEnd type="none" w="med" len="med"/>
                      <a:tailEnd type="none" w="med" len="med"/>
                    </a:lnT>
                    <a:lnB w="19050" cap="flat" cmpd="sng" algn="ctr">
                      <a:solidFill>
                        <a:schemeClr val="tx1"/>
                      </a:solidFill>
                      <a:prstDash val="sysDot"/>
                      <a:round/>
                      <a:headEnd type="none" w="med" len="med"/>
                      <a:tailEnd type="none" w="med" len="med"/>
                    </a:lnB>
                    <a:noFill/>
                  </a:tcPr>
                </a:tc>
                <a:tc>
                  <a:txBody>
                    <a:bodyPr/>
                    <a:lstStyle/>
                    <a:p>
                      <a:pPr algn="ctr">
                        <a:buNone/>
                      </a:pPr>
                      <a:r>
                        <a:rPr lang="en-US" sz="1400"/>
                        <a:t>25%</a:t>
                      </a:r>
                    </a:p>
                  </a:txBody>
                  <a:tcPr marT="55321" marB="55321" anchor="ctr">
                    <a:lnL>
                      <a:noFill/>
                    </a:lnL>
                    <a:lnR>
                      <a:noFill/>
                    </a:lnR>
                    <a:lnT w="19050" cap="flat" cmpd="sng" algn="ctr">
                      <a:solidFill>
                        <a:schemeClr val="tx1"/>
                      </a:solidFill>
                      <a:prstDash val="sysDot"/>
                      <a:round/>
                      <a:headEnd type="none" w="med" len="med"/>
                      <a:tailEnd type="none" w="med" len="med"/>
                    </a:lnT>
                    <a:lnB w="1905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713872023"/>
                  </a:ext>
                </a:extLst>
              </a:tr>
              <a:tr h="396741">
                <a:tc>
                  <a:txBody>
                    <a:bodyPr/>
                    <a:lstStyle/>
                    <a:p>
                      <a:pPr algn="ctr">
                        <a:buNone/>
                      </a:pPr>
                      <a:r>
                        <a:rPr lang="en-US" sz="1400" b="1"/>
                        <a:t>0</a:t>
                      </a:r>
                      <a:endParaRPr lang="en-US" sz="1400"/>
                    </a:p>
                  </a:txBody>
                  <a:tcPr marT="55321" marB="55321" anchor="ctr">
                    <a:lnL>
                      <a:noFill/>
                    </a:lnL>
                    <a:lnR>
                      <a:noFill/>
                    </a:lnR>
                    <a:lnT w="19050" cap="flat" cmpd="sng" algn="ctr">
                      <a:solidFill>
                        <a:schemeClr val="tx1"/>
                      </a:solidFill>
                      <a:prstDash val="sysDot"/>
                      <a:round/>
                      <a:headEnd type="none" w="med" len="med"/>
                      <a:tailEnd type="none" w="med" len="med"/>
                    </a:lnT>
                    <a:lnB>
                      <a:noFill/>
                    </a:lnB>
                    <a:noFill/>
                  </a:tcPr>
                </a:tc>
                <a:tc>
                  <a:txBody>
                    <a:bodyPr/>
                    <a:lstStyle/>
                    <a:p>
                      <a:pPr>
                        <a:spcAft>
                          <a:spcPts val="600"/>
                        </a:spcAft>
                      </a:pPr>
                      <a:r>
                        <a:rPr lang="en-US" sz="1200" b="1">
                          <a:solidFill>
                            <a:srgbClr val="000000"/>
                          </a:solidFill>
                        </a:rPr>
                        <a:t>Not yet in use</a:t>
                      </a:r>
                      <a:r>
                        <a:rPr lang="en-US" sz="1200">
                          <a:solidFill>
                            <a:srgbClr val="000000"/>
                          </a:solidFill>
                        </a:rPr>
                        <a:t>/delivering measurable impact</a:t>
                      </a:r>
                    </a:p>
                  </a:txBody>
                  <a:tcPr marT="55321" marB="55321" anchor="ctr">
                    <a:lnL>
                      <a:noFill/>
                    </a:lnL>
                    <a:lnR>
                      <a:noFill/>
                    </a:lnR>
                    <a:lnT w="19050" cap="flat" cmpd="sng" algn="ctr">
                      <a:solidFill>
                        <a:schemeClr val="tx1"/>
                      </a:solidFill>
                      <a:prstDash val="sysDot"/>
                      <a:round/>
                      <a:headEnd type="none" w="med" len="med"/>
                      <a:tailEnd type="none" w="med" len="med"/>
                    </a:lnT>
                    <a:lnB>
                      <a:noFill/>
                    </a:lnB>
                    <a:noFill/>
                  </a:tcPr>
                </a:tc>
                <a:tc>
                  <a:txBody>
                    <a:bodyPr/>
                    <a:lstStyle/>
                    <a:p>
                      <a:pPr algn="ctr">
                        <a:buNone/>
                      </a:pPr>
                      <a:r>
                        <a:rPr lang="en-US" sz="1400"/>
                        <a:t>0%</a:t>
                      </a:r>
                    </a:p>
                  </a:txBody>
                  <a:tcPr marT="55321" marB="55321" anchor="ctr">
                    <a:lnL>
                      <a:noFill/>
                    </a:lnL>
                    <a:lnR>
                      <a:noFill/>
                    </a:lnR>
                    <a:lnT w="19050" cap="flat" cmpd="sng" algn="ctr">
                      <a:solidFill>
                        <a:schemeClr val="tx1"/>
                      </a:solidFill>
                      <a:prstDash val="sysDot"/>
                      <a:round/>
                      <a:headEnd type="none" w="med" len="med"/>
                      <a:tailEnd type="none" w="med" len="med"/>
                    </a:lnT>
                    <a:lnB>
                      <a:noFill/>
                    </a:lnB>
                    <a:noFill/>
                  </a:tcPr>
                </a:tc>
                <a:extLst>
                  <a:ext uri="{0D108BD9-81ED-4DB2-BD59-A6C34878D82A}">
                    <a16:rowId xmlns:a16="http://schemas.microsoft.com/office/drawing/2014/main" val="3140243832"/>
                  </a:ext>
                </a:extLst>
              </a:tr>
            </a:tbl>
          </a:graphicData>
        </a:graphic>
      </p:graphicFrame>
      <p:cxnSp>
        <p:nvCxnSpPr>
          <p:cNvPr id="17" name="Straight Connector 16">
            <a:extLst>
              <a:ext uri="{FF2B5EF4-FFF2-40B4-BE49-F238E27FC236}">
                <a16:creationId xmlns:a16="http://schemas.microsoft.com/office/drawing/2014/main" id="{D5AF152E-676C-7E89-476E-E245FC4900A4}"/>
              </a:ext>
            </a:extLst>
          </p:cNvPr>
          <p:cNvCxnSpPr>
            <a:cxnSpLocks/>
          </p:cNvCxnSpPr>
          <p:nvPr/>
        </p:nvCxnSpPr>
        <p:spPr>
          <a:xfrm>
            <a:off x="6096675" y="1488277"/>
            <a:ext cx="0" cy="4287854"/>
          </a:xfrm>
          <a:prstGeom prst="line">
            <a:avLst/>
          </a:prstGeom>
          <a:ln w="9525" cap="rnd">
            <a:solidFill>
              <a:srgbClr val="9A9A9A"/>
            </a:solidFill>
            <a:prstDash val="solid"/>
          </a:ln>
        </p:spPr>
        <p:style>
          <a:lnRef idx="1">
            <a:schemeClr val="accent1"/>
          </a:lnRef>
          <a:fillRef idx="0">
            <a:schemeClr val="accent1"/>
          </a:fillRef>
          <a:effectRef idx="0">
            <a:schemeClr val="accent1"/>
          </a:effectRef>
          <a:fontRef idx="minor">
            <a:schemeClr val="tx1"/>
          </a:fontRef>
        </p:style>
      </p:cxnSp>
      <p:sp>
        <p:nvSpPr>
          <p:cNvPr id="22" name="IllustrativeStamp">
            <a:extLst>
              <a:ext uri="{FF2B5EF4-FFF2-40B4-BE49-F238E27FC236}">
                <a16:creationId xmlns:a16="http://schemas.microsoft.com/office/drawing/2014/main" id="{60485985-2ABC-50A8-9208-15FBADCA87B1}"/>
              </a:ext>
            </a:extLst>
          </p:cNvPr>
          <p:cNvSpPr/>
          <p:nvPr/>
        </p:nvSpPr>
        <p:spPr>
          <a:xfrm>
            <a:off x="4652082" y="0"/>
            <a:ext cx="2889186" cy="215900"/>
          </a:xfrm>
          <a:prstGeom prst="rect">
            <a:avLst/>
          </a:prstGeom>
          <a:solidFill>
            <a:srgbClr val="C00000"/>
          </a:solidFill>
          <a:ln w="9525">
            <a:solidFill>
              <a:srgbClr val="C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l"/>
            <a:r>
              <a:rPr lang="en-US" sz="1200" b="1">
                <a:solidFill>
                  <a:schemeClr val="bg1"/>
                </a:solidFill>
                <a:latin typeface="Trebuchet MS" panose="020B0603020202020204" pitchFamily="34" charset="0"/>
              </a:rPr>
              <a:t>Preliminary</a:t>
            </a:r>
          </a:p>
        </p:txBody>
      </p:sp>
      <p:sp>
        <p:nvSpPr>
          <p:cNvPr id="23" name="Rectangle 22">
            <a:extLst>
              <a:ext uri="{FF2B5EF4-FFF2-40B4-BE49-F238E27FC236}">
                <a16:creationId xmlns:a16="http://schemas.microsoft.com/office/drawing/2014/main" id="{42D85048-3F09-0334-0764-C77E3E7832E7}"/>
              </a:ext>
            </a:extLst>
          </p:cNvPr>
          <p:cNvSpPr/>
          <p:nvPr/>
        </p:nvSpPr>
        <p:spPr>
          <a:xfrm>
            <a:off x="629999" y="6003414"/>
            <a:ext cx="10933350" cy="320223"/>
          </a:xfrm>
          <a:prstGeom prst="rect">
            <a:avLst/>
          </a:prstGeom>
          <a:solidFill>
            <a:srgbClr val="F2F2F2"/>
          </a:solidFill>
          <a:ln w="9525" cap="rnd" cmpd="sng" algn="ctr">
            <a:solidFill>
              <a:srgbClr val="0191FF"/>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i="1">
                <a:solidFill>
                  <a:srgbClr val="000000"/>
                </a:solidFill>
              </a:rPr>
              <a:t>User selects the appropriate coverage and impact level for each initiative based on initiative context/description</a:t>
            </a:r>
          </a:p>
        </p:txBody>
      </p:sp>
      <p:sp>
        <p:nvSpPr>
          <p:cNvPr id="24" name="TextBox 23">
            <a:extLst>
              <a:ext uri="{FF2B5EF4-FFF2-40B4-BE49-F238E27FC236}">
                <a16:creationId xmlns:a16="http://schemas.microsoft.com/office/drawing/2014/main" id="{4DE4C879-D198-A880-1C8D-83AF32248E5E}"/>
              </a:ext>
            </a:extLst>
          </p:cNvPr>
          <p:cNvSpPr txBox="1"/>
          <p:nvPr/>
        </p:nvSpPr>
        <p:spPr>
          <a:xfrm>
            <a:off x="630000" y="1092600"/>
            <a:ext cx="6151629" cy="32049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600" b="1" i="1">
                <a:solidFill>
                  <a:srgbClr val="000000"/>
                </a:solidFill>
              </a:rPr>
              <a:t>Standardized scoring descriptions</a:t>
            </a:r>
          </a:p>
        </p:txBody>
      </p:sp>
    </p:spTree>
    <p:extLst>
      <p:ext uri="{BB962C8B-B14F-4D97-AF65-F5344CB8AC3E}">
        <p14:creationId xmlns:p14="http://schemas.microsoft.com/office/powerpoint/2010/main" val="4458312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MASTERWIZARD_DRAFT" val="0"/>
  <p:tag name="EE4P_LANGUAGE_ID" val="1033"/>
  <p:tag name="EE4P_STYLE_NAME" val="IBM Grid 16:9"/>
  <p:tag name="THINKCELLUNDODONOTDELETE" val="0"/>
  <p:tag name="DH_FLYSHEET_STYLE" val="1"/>
  <p:tag name="DECKSTER_PRESENTATION_ID" val="8a70694d-6e49-4469-87dc-55d581e28ed9"/>
  <p:tag name="EE4P_MASTERWIZARD_MARGINS" val="0"/>
  <p:tag name="EE4P_STYLE_ID" val="OYCBIvlA"/>
  <p:tag name="THINKCELLPRESENTATIONDONOTDELETE" val="&lt;?xml version=&quot;1.0&quot; encoding=&quot;UTF-16&quot; standalone=&quot;yes&quot;?&gt;&lt;root reqver=&quot;28224&quot;&gt;&lt;version val=&quot;3579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 %&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9&quot;&gt;&lt;elem m_fUsage=&quot;2.55609999999999981668E+00&quot;&gt;&lt;m_msothmcolidx val=&quot;0&quot;/&gt;&lt;m_rgb r=&quot;85&quot; g=&quot;C1&quot; b=&quot;FD&quot;/&gt;&lt;/elem&gt;&lt;elem m_fUsage=&quot;1.89469619304614833588E+00&quot;&gt;&lt;m_msothmcolidx val=&quot;0&quot;/&gt;&lt;m_rgb r=&quot;AE&quot; g=&quot;DC&quot; b=&quot;FF&quot;/&gt;&lt;/elem&gt;&lt;elem m_fUsage=&quot;1.53899999999999992362E+00&quot;&gt;&lt;m_msothmcolidx val=&quot;0&quot;/&gt;&lt;m_rgb r=&quot;62&quot; g=&quot;6B&quot; b=&quot;78&quot;/&gt;&lt;/elem&gt;&lt;elem m_fUsage=&quot;6.69850025481000144190E-01&quot;&gt;&lt;m_msothmcolidx val=&quot;0&quot;/&gt;&lt;m_rgb r=&quot;F7&quot; g=&quot;CA&quot; b=&quot;E1&quot;/&gt;&lt;/elem&gt;&lt;elem m_fUsage=&quot;5.90490000000000181402E-01&quot;&gt;&lt;m_msothmcolidx val=&quot;0&quot;/&gt;&lt;m_rgb r=&quot;85&quot; g=&quot;B6&quot; b=&quot;FD&quot;/&gt;&lt;/elem&gt;&lt;elem m_fUsage=&quot;5.31441000000000163261E-01&quot;&gt;&lt;m_msothmcolidx val=&quot;0&quot;/&gt;&lt;m_rgb r=&quot;B0&quot; g=&quot;B3&quot; b=&quot;FE&quot;/&gt;&lt;/elem&gt;&lt;elem m_fUsage=&quot;5.19701728184649325293E-01&quot;&gt;&lt;m_msothmcolidx val=&quot;0&quot;/&gt;&lt;m_rgb r=&quot;EB&quot; g=&quot;65&quot; b=&quot;DA&quot;/&gt;&lt;/elem&gt;&lt;elem m_fUsage=&quot;2.54186582832900132001E-01&quot;&gt;&lt;m_msothmcolidx val=&quot;0&quot;/&gt;&lt;m_rgb r=&quot;F5&quot; g=&quot;D5&quot; b=&quot;F8&quot;/&gt;&lt;/elem&gt;&lt;elem m_fUsage=&quot;2.28767924549610118801E-01&quot;&gt;&lt;m_msothmcolidx val=&quot;0&quot;/&gt;&lt;m_rgb r=&quot;F9&quot; g=&quot;D6&quot; b=&quot;F5&quot;/&gt;&lt;/elem&gt;&lt;/m_vecMRU&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jq.pRQmTriNhEI6qtEdd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5JlY3G3CTESCSb2B_0Ys.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NZRCtoNES0WrkTxW3gzq7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zepCDHncSte1DaZCT82SO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3w1uaLTJTFOnD80AS_U_A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l1vbYmtPRzObRZ9sJy1NNQ"/>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yqRXJ1z3RPe33KXu8t.Me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noN5P6BET0yplzcUpyzlz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qOsBonvTSlCrJUwCVgqkw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Zijy04hVQVGN03fNAEUZv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CEQuTLY2ThGZQlMhJFiXQ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dn4I8uyFShya1GtehRVq8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4Yd6278rTTqBwLiXcLu9j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6JCNa_anSV6PRE4XUi7RE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zfqBTEpBQS2c6pYQ3rCyK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wYdeHoq5TCqOLagIOJOxF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PBNFlDrcTp.KcM.hnhpOw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gauTvSExSjSfN3UOG4OKD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J_l3gFVIQG24NSD6GwYv3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6r6nchLoTtmJ79yT02szt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ajugL0OSRcaFTf78xznBqg"/>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RxTze5RhT8SXpiFjS0BIdg"/>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8mas5bt9ThGQgFSANeS8tg"/>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ACjztitLT4Kst6NkO3M0rA"/>
</p:tagLst>
</file>

<file path=ppt/tags/tag56.xml><?xml version="1.0" encoding="utf-8"?>
<p:tagLst xmlns:a="http://schemas.openxmlformats.org/drawingml/2006/main" xmlns:r="http://schemas.openxmlformats.org/officeDocument/2006/relationships" xmlns:p="http://schemas.openxmlformats.org/presentationml/2006/main">
  <p:tag name="MM_SLIDE_TYPE" val="6"/>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N8b5pRq4SKCnvniorNbGSg"/>
</p:tagLst>
</file>

<file path=ppt/tags/tag59.xml><?xml version="1.0" encoding="utf-8"?>
<p:tagLst xmlns:a="http://schemas.openxmlformats.org/drawingml/2006/main" xmlns:r="http://schemas.openxmlformats.org/officeDocument/2006/relationships" xmlns:p="http://schemas.openxmlformats.org/presentationml/2006/main">
  <p:tag name="MM_SLIDE_TYPE" val="6"/>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rB7j2pQ_Qn2EgiT.ICtqFQ"/>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P40mA6SQpqk_BRCsFJpP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xA0He5FtTQWAoeNNZh6gxA"/>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IeDsySl0TMOfNAJFcp4Rkw"/>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gS2ExqNvR_a9QSEDd4tLLQ"/>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Eh1xOJpJRu.p4P6AMYIrmQ"/>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s4O4EVmqRlW.9k.fp6FZpQ"/>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YBG8xdfTPKyFfZJFr7Fog"/>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aZHOdnp9R9WIPWFRUI0JAA"/>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REDLEMAVRkKVjjynDL6llA"/>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jZSy90LnRwKC6Vll.6W4Tw"/>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TUworZCySpaH8UQ1LSmfGw"/>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ukOpdYaxTSSu6iNJURbjRQ"/>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Ocpv6yUwRl2DBqQPpEVlFA"/>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WjpHjPB5TXyib5xRs0DVOw"/>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nkCh_8l1So2kEPiOJTKdhQ"/>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zW_.W4r4R0aR2lZVLBq14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wf554a7rRGOSqhNPnY97wA"/>
</p:tagLst>
</file>

<file path=ppt/tags/tag96.xml><?xml version="1.0" encoding="utf-8"?>
<p:tagLst xmlns:a="http://schemas.openxmlformats.org/drawingml/2006/main" xmlns:r="http://schemas.openxmlformats.org/officeDocument/2006/relationships" xmlns:p="http://schemas.openxmlformats.org/presentationml/2006/main">
  <p:tag name="MM_SLIDE_TYPE" val="6"/>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gdu5KUFyQYihGKG1uu2wsw"/>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J2GFm_G.Q4ShZ7F64q39aA"/>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qyeUcnkkR2emzD0tBThwNg"/>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X_l1.1RS6irZygkx319MQ"/>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BM Grid 16:9">
  <a:themeElements>
    <a:clrScheme name="IBM">
      <a:dk1>
        <a:srgbClr val="000000"/>
      </a:dk1>
      <a:lt1>
        <a:sysClr val="window" lastClr="FFFFFF"/>
      </a:lt1>
      <a:dk2>
        <a:srgbClr val="0191FF"/>
      </a:dk2>
      <a:lt2>
        <a:srgbClr val="F2F2F2"/>
      </a:lt2>
      <a:accent1>
        <a:srgbClr val="002E50"/>
      </a:accent1>
      <a:accent2>
        <a:srgbClr val="005696"/>
      </a:accent2>
      <a:accent3>
        <a:srgbClr val="EEC87A"/>
      </a:accent3>
      <a:accent4>
        <a:srgbClr val="32C4FC"/>
      </a:accent4>
      <a:accent5>
        <a:srgbClr val="8C9BA5"/>
      </a:accent5>
      <a:accent6>
        <a:srgbClr val="9545D8"/>
      </a:accent6>
      <a:hlink>
        <a:srgbClr val="2E3558"/>
      </a:hlink>
      <a:folHlink>
        <a:srgbClr val="2E3558"/>
      </a:folHlink>
    </a:clrScheme>
    <a:fontScheme name="IBM">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191FF"/>
        </a:solidFill>
        <a:ln w="9525" cap="rnd" cmpd="sng" algn="ctr">
          <a:solidFill>
            <a:srgbClr val="0191FF"/>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rgbClr val="9A9A9A"/>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122C0D-3D24-4BDF-A7C2-D3EB46C265B6}">
  <we:reference id="1e02f4c4-fc90-4da1-8ab3-b26c44d971ec" version="2.2.0.0" store="EXCatalog" storeType="EXCatalog"/>
  <we:alternateReferences/>
  <we:properties>
    <we:property name="ClientColors" value="&quot;[\&quot;#000000\&quot;,\&quot;#0191FF\&quot;,\&quot;#002E50\&quot;,\&quot;#005696\&quot;,\&quot;#EEC87A\&quot;,\&quot;#32C4FC\&quot;,\&quot;#8C9BA5\&quot;,\&quot;#9545D8\&quot;,\&quot;#005696\&quot;]&quot;"/>
    <we:property name="ThemeElements" value="&quot;{\&quot;colors\&quot;:[\&quot;#000000\&quot;,\&quot;#0191FF\&quot;,\&quot;#002E50\&quot;,\&quot;#005696\&quot;,\&quot;#EEC87A\&quot;,\&quot;#32C4FC\&quot;,\&quot;#8C9BA5\&quot;,\&quot;#9545D8\&quot;,\&quot;#005696\&quot;],\&quot;fonts\&quot;:[\&quot;Trebuchet MS\&quot;]}&quot;"/>
    <we:property name="ClientFonts" value="&quot;[\&quot;Trebuchet MS\&quot;]&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3922E2066466747B06F5A2CB1EF004C" ma:contentTypeVersion="12" ma:contentTypeDescription="Create a new document." ma:contentTypeScope="" ma:versionID="273c804a40a3007035126c9a1bf407a1">
  <xsd:schema xmlns:xsd="http://www.w3.org/2001/XMLSchema" xmlns:xs="http://www.w3.org/2001/XMLSchema" xmlns:p="http://schemas.microsoft.com/office/2006/metadata/properties" xmlns:ns2="e7e42320-c381-4d5c-a06d-fb941b9287c9" xmlns:ns3="e4cee1ae-901f-403b-af36-81ae1c6bd840" targetNamespace="http://schemas.microsoft.com/office/2006/metadata/properties" ma:root="true" ma:fieldsID="bb522c1fb3d2cea70fe48e17a5d80425" ns2:_="" ns3:_="">
    <xsd:import namespace="e7e42320-c381-4d5c-a06d-fb941b9287c9"/>
    <xsd:import namespace="e4cee1ae-901f-403b-af36-81ae1c6bd84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e42320-c381-4d5c-a06d-fb941b9287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319edae7-b79a-4a5e-b725-af92424e0568"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cee1ae-901f-403b-af36-81ae1c6bd84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2537be7-019f-49ec-95ad-57224fc3b453}" ma:internalName="TaxCatchAll" ma:showField="CatchAllData" ma:web="e4cee1ae-901f-403b-af36-81ae1c6bd8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7e42320-c381-4d5c-a06d-fb941b9287c9">
      <Terms xmlns="http://schemas.microsoft.com/office/infopath/2007/PartnerControls"/>
    </lcf76f155ced4ddcb4097134ff3c332f>
    <TaxCatchAll xmlns="e4cee1ae-901f-403b-af36-81ae1c6bd84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92870B8-3460-4716-B835-2C8754F98C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7e42320-c381-4d5c-a06d-fb941b9287c9"/>
    <ds:schemaRef ds:uri="e4cee1ae-901f-403b-af36-81ae1c6bd8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3287881-9058-4854-BD58-36B808FBEBBA}">
  <ds:schemaRefs>
    <ds:schemaRef ds:uri="b456eb53-8607-4b64-aa1f-49da217673c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e7e42320-c381-4d5c-a06d-fb941b9287c9"/>
    <ds:schemaRef ds:uri="e4cee1ae-901f-403b-af36-81ae1c6bd840"/>
  </ds:schemaRefs>
</ds:datastoreItem>
</file>

<file path=customXml/itemProps3.xml><?xml version="1.0" encoding="utf-8"?>
<ds:datastoreItem xmlns:ds="http://schemas.openxmlformats.org/officeDocument/2006/customXml" ds:itemID="{B8A41D69-3FF1-48EC-94B8-8E257D000F2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106</TotalTime>
  <Words>1829</Words>
  <Application>Microsoft Office PowerPoint</Application>
  <PresentationFormat>Widescreen</PresentationFormat>
  <Paragraphs>275</Paragraphs>
  <Slides>8</Slides>
  <Notes>3</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IBM Grid 16:9</vt:lpstr>
      <vt:lpstr>PowerPoint Presentation</vt:lpstr>
      <vt:lpstr>Overview | Framework for evaluating EIW automation priorities</vt:lpstr>
      <vt:lpstr>Automation Index | Sample walkthrough of framework to identify whitespace opportunity for a given process</vt:lpstr>
      <vt:lpstr>Detail | Evaluation form to share with initiative owners</vt:lpstr>
      <vt:lpstr>Detail | Evaluation form to share with initiative owners</vt:lpstr>
      <vt:lpstr>Detail | Key steps to operationalize evaluation framework</vt:lpstr>
      <vt:lpstr>Detail | Automation potential scoring methodology</vt:lpstr>
      <vt:lpstr>Detail | Scoring descriptions for coverage and impact evaluation</vt:lpstr>
    </vt:vector>
  </TitlesOfParts>
  <Manager/>
  <Company>The Boston Consulting Group</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The Boston Consulting Group</dc:creator>
  <cp:keywords/>
  <dc:description/>
  <cp:lastModifiedBy>Rachel Fein</cp:lastModifiedBy>
  <cp:revision>4</cp:revision>
  <cp:lastPrinted>2000-01-01T05:00:00Z</cp:lastPrinted>
  <dcterms:created xsi:type="dcterms:W3CDTF">2025-09-30T20:12:53Z</dcterms:created>
  <dcterms:modified xsi:type="dcterms:W3CDTF">2026-07-30T21:21:54Z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2025-09-30T23:22:02Z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895f8ea5-7234-471c-8225-fa1173163ffc</vt:lpwstr>
  </property>
  <property fmtid="{D5CDD505-2E9C-101B-9397-08002B2CF9AE}" pid="13" name="MSIP_Label_b0d5c4f4-7a29-4385-b7a5-afbe2154ae6f_ContentBits">
    <vt:lpwstr>0</vt:lpwstr>
  </property>
  <property fmtid="{D5CDD505-2E9C-101B-9397-08002B2CF9AE}" pid="14" name="MSIP_Label_b0d5c4f4-7a29-4385-b7a5-afbe2154ae6f_Tag">
    <vt:lpwstr>10, 3, 0, 1</vt:lpwstr>
  </property>
  <property fmtid="{D5CDD505-2E9C-101B-9397-08002B2CF9AE}" pid="15" name="ContentTypeId">
    <vt:lpwstr>0x010100E3922E2066466747B06F5A2CB1EF004C</vt:lpwstr>
  </property>
</Properties>
</file>