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17" autoAdjust="0"/>
    <p:restoredTop sz="94838" autoAdjust="0"/>
  </p:normalViewPr>
  <p:slideViewPr>
    <p:cSldViewPr snapToGrid="0">
      <p:cViewPr varScale="1">
        <p:scale>
          <a:sx n="85" d="100"/>
          <a:sy n="85" d="100"/>
        </p:scale>
        <p:origin x="23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5B9F7-9240-324A-AF9B-62606360BA6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630FA7-5BE9-9841-B30B-4FAE09208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7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D44E-D85D-DAFD-A463-63C75F4D9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22532-F32B-BB13-7B74-9891CE431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B18D2-9A83-FA42-BF45-CE225CD57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9F364-1E61-93FD-3CD0-26CFCB12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9BE53-5865-04DA-A7C2-21D6CAF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3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93C4-3AE6-7FBD-C46F-F7AFBFCF2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41176-D9C1-FAFF-197D-32476BDD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0F265-1736-B47A-3585-A51F7217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59C69-CDE2-11B8-14D8-E11C47B1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E3924-DBB5-7CFC-24BC-05874D6B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18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9635A-6D33-1699-1273-852C0317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874B4-3414-C133-7D71-7AC093AA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8A20E-A10A-9741-A571-0E270F427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44CFF-1692-4A4D-1734-50E719E6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D291A-2379-DFD5-89A9-031A3F78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55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2ECDD-F840-98AD-F896-3B01FCAD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9F6B5-75D8-3599-EB4B-213EF87AD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54EFBB-F7D6-557C-CE85-84AC7B89F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96D09-E42F-7547-4BD2-2A8E3648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E1968-A78A-039C-C43C-B8F73FC9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96BEB-8E7B-4232-9036-17E2F4B3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7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C9A6-985D-88E8-4B38-49D11FE23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67561-620B-BDD1-236D-7C49B3909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FFE30-1451-8B0B-A90F-CB73F82F6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C5896-396F-7461-2697-0A1EF2149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4FA67-028D-27A5-D83D-607BA6B47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C9E3F-D10E-41CD-CA39-A3B47BDE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9754B-B140-F439-3295-BD9C90C75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DAE0E0-A08D-0D11-B344-CE66F686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85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7A0-92CD-5A2E-DADB-96E40E9B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A8700-EADA-A78C-35B1-CF50CB3D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AAEF3A-5131-9799-9436-543F480E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F3027E-62B2-0905-B863-F3A27E40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05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E2437-86A6-5CDC-5AE8-282BFC65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91E57-5E09-2D17-1951-2F8E79910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E8B0E-202C-3AEC-8DB9-6B7462B6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25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0DDF8-8A12-FA6B-DBEF-02D3E1B8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02051-48B5-19C3-E57C-5A8675515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549A6-216F-CB10-A366-3881885C4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4CDA5-76AB-2F3E-1DEF-13F1D2C2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DBD78-9333-936D-E1DD-8623C352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CF29F-391F-256C-80D0-557A015E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1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B68D-89C1-FCFF-2433-6519A7FF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F36F56-A797-40DC-CF54-085E95D3EE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717F9-4F64-D4D3-6707-1577850E5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9F809-4458-8096-DDEA-5511B450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17C68-A06C-B968-5DAD-CC55B38F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F02DB-B0B1-8B37-A49D-56053AFF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1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AE4D-931F-3539-5A86-61C3F24A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14411-D821-96A6-FC34-96DB50096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2F991-DD7D-A203-032A-2F44B9CE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06F8F-B66C-A12D-2110-6EAF9483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BEA63-AD6D-75AB-78FF-93606196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73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D13E0-9F4D-B744-3F30-7BBC68C3B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7B518-DEC6-D351-F932-0550233B6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2802C-B1E3-1E78-9CEA-A00218E8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2559-C922-1332-35B2-5AFE7D82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1D90-1583-ED62-A4FA-8477AE20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2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AE5EF-29C0-2C5F-B384-B39B46D6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9E0FE-1D1B-41AA-78DF-C0DF62990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8BD48-9238-A658-5B97-5F747A578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41043-3B74-1746-918D-21D93354770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008E5-2FAB-66A4-1F43-F0BB77291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4AA22-415E-25B3-A781-7587F8FF6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47732-4445-DF43-9926-2A32428D4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9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E69E4-7608-3FAF-DDC5-2B419928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1E0619-E464-361B-1814-50D62053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6" y="125740"/>
            <a:ext cx="1046285" cy="9144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8B325A-EC46-691D-3647-2CD476A522F5}"/>
              </a:ext>
            </a:extLst>
          </p:cNvPr>
          <p:cNvGraphicFramePr>
            <a:graphicFrameLocks noGrp="1"/>
          </p:cNvGraphicFramePr>
          <p:nvPr/>
        </p:nvGraphicFramePr>
        <p:xfrm>
          <a:off x="3345295" y="957708"/>
          <a:ext cx="8678041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153">
                  <a:extLst>
                    <a:ext uri="{9D8B030D-6E8A-4147-A177-3AD203B41FA5}">
                      <a16:colId xmlns:a16="http://schemas.microsoft.com/office/drawing/2014/main" val="393995246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410957418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3681522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90595048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2839680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497743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7327572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9741534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64216808"/>
                    </a:ext>
                  </a:extLst>
                </a:gridCol>
              </a:tblGrid>
              <a:tr h="391633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Activity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Product Management</a:t>
                      </a:r>
                    </a:p>
                    <a:p>
                      <a:pPr algn="l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    Outbound.             Inbound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Project Management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Data Science &amp; Engineering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Design, Prototype, UX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SMEs, workflow owners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Platform / enterprise architecture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Value Realization*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619182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Define problem and success metrics*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601077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Benchmarking and industry research*, ^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561512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Prioritize domain use cases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871994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Delivery plan (scope, schedule)*, ^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58874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Build and integrate solution*, ^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404314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Data domain usage and validation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141146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Design and usability  testing*, ^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918506"/>
                  </a:ext>
                </a:extLst>
              </a:tr>
              <a:tr h="198785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Validation and sign off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88770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Launch and enablement*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149137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Adoption and value tracking*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023730"/>
                  </a:ext>
                </a:extLst>
              </a:tr>
              <a:tr h="284824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Platform alignment and scalability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982935"/>
                  </a:ext>
                </a:extLst>
              </a:tr>
              <a:tr h="198785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Product roadmap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IBM Plex Sans" panose="020B0503050203000203" pitchFamily="34" charset="0"/>
                        </a:rPr>
                        <a:t>C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0" dirty="0">
                        <a:solidFill>
                          <a:schemeClr val="tx1"/>
                        </a:solidFill>
                        <a:latin typeface="IBM Plex Sans" panose="020B0503050203000203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9939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06CB518-5FB3-DA94-BC0B-2C3E634CD3B0}"/>
              </a:ext>
            </a:extLst>
          </p:cNvPr>
          <p:cNvSpPr txBox="1"/>
          <p:nvPr/>
        </p:nvSpPr>
        <p:spPr>
          <a:xfrm>
            <a:off x="3344139" y="5699474"/>
            <a:ext cx="40990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0E8B0-D105-3C20-BCCB-B03517CDFA22}"/>
              </a:ext>
            </a:extLst>
          </p:cNvPr>
          <p:cNvSpPr txBox="1"/>
          <p:nvPr/>
        </p:nvSpPr>
        <p:spPr>
          <a:xfrm>
            <a:off x="6350109" y="5699474"/>
            <a:ext cx="409903" cy="36933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5917A7-80F7-C9E8-9D20-66BF3F5AB660}"/>
              </a:ext>
            </a:extLst>
          </p:cNvPr>
          <p:cNvSpPr txBox="1"/>
          <p:nvPr/>
        </p:nvSpPr>
        <p:spPr>
          <a:xfrm>
            <a:off x="9198425" y="5699474"/>
            <a:ext cx="409903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59CDDD-E36A-0F2E-CE40-698CF67B9B36}"/>
              </a:ext>
            </a:extLst>
          </p:cNvPr>
          <p:cNvSpPr txBox="1"/>
          <p:nvPr/>
        </p:nvSpPr>
        <p:spPr>
          <a:xfrm>
            <a:off x="3864401" y="5631153"/>
            <a:ext cx="2186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IBM Plex Sans" panose="020B0503050203000203" pitchFamily="34" charset="0"/>
              </a:rPr>
              <a:t>Accountable</a:t>
            </a:r>
          </a:p>
          <a:p>
            <a:r>
              <a:rPr lang="en-US" sz="900" dirty="0">
                <a:latin typeface="IBM Plex Sans" panose="020B0503050203000203" pitchFamily="34" charset="0"/>
              </a:rPr>
              <a:t>The single owner who signs off and is ultimately answerable for the outcome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190F3-C79A-A890-3EFB-02A6BB6C3B82}"/>
              </a:ext>
            </a:extLst>
          </p:cNvPr>
          <p:cNvSpPr txBox="1"/>
          <p:nvPr/>
        </p:nvSpPr>
        <p:spPr>
          <a:xfrm>
            <a:off x="6775797" y="5625896"/>
            <a:ext cx="2186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IBM Plex Sans" panose="020B0503050203000203" pitchFamily="34" charset="0"/>
              </a:rPr>
              <a:t>Responsible</a:t>
            </a:r>
          </a:p>
          <a:p>
            <a:r>
              <a:rPr lang="en-US" sz="900" dirty="0">
                <a:latin typeface="IBM Plex Sans" panose="020B0503050203000203" pitchFamily="34" charset="0"/>
              </a:rPr>
              <a:t>The person(s) doing the work to delivery the activity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3255E-EE18-E92F-23AA-72ABB5444A5D}"/>
              </a:ext>
            </a:extLst>
          </p:cNvPr>
          <p:cNvSpPr txBox="1"/>
          <p:nvPr/>
        </p:nvSpPr>
        <p:spPr>
          <a:xfrm>
            <a:off x="9655626" y="5620639"/>
            <a:ext cx="2186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IBM Plex Sans" panose="020B0503050203000203" pitchFamily="34" charset="0"/>
              </a:rPr>
              <a:t>Consulted</a:t>
            </a:r>
          </a:p>
          <a:p>
            <a:r>
              <a:rPr lang="en-US" sz="900" dirty="0">
                <a:latin typeface="IBM Plex Sans" panose="020B0503050203000203" pitchFamily="34" charset="0"/>
              </a:rPr>
              <a:t>Provides input or expertise before a decision or action is taken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D5087F-8655-5374-8717-EE4EE9F487DE}"/>
              </a:ext>
            </a:extLst>
          </p:cNvPr>
          <p:cNvSpPr txBox="1"/>
          <p:nvPr/>
        </p:nvSpPr>
        <p:spPr>
          <a:xfrm>
            <a:off x="1497723" y="337952"/>
            <a:ext cx="10320029" cy="437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n-ea"/>
                <a:cs typeface="+mn-cs"/>
                <a:sym typeface="IBM Plex Sans Light"/>
              </a:rPr>
              <a:t>90 Day MVP 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77A10-A659-A45D-E09F-D78913F5AD94}"/>
              </a:ext>
            </a:extLst>
          </p:cNvPr>
          <p:cNvSpPr txBox="1"/>
          <p:nvPr/>
        </p:nvSpPr>
        <p:spPr>
          <a:xfrm>
            <a:off x="57799" y="1060070"/>
            <a:ext cx="3197132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latin typeface="IBM Plex Sans" panose="020B0503050203000203" pitchFamily="34" charset="0"/>
              </a:rPr>
              <a:t>Team</a:t>
            </a:r>
          </a:p>
          <a:p>
            <a:r>
              <a:rPr lang="en-US" sz="1000" b="1" dirty="0">
                <a:latin typeface="IBM Plex Sans" panose="020B0503050203000203" pitchFamily="34" charset="0"/>
              </a:rPr>
              <a:t>Product Management (CIO, Business)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IBM Plex Sans" panose="020B0503050203000203" pitchFamily="34" charset="0"/>
              </a:rPr>
              <a:t>Inbound (Stefa, Vishnu)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>
                <a:latin typeface="IBM Plex Sans" panose="020B0503050203000203" pitchFamily="34" charset="0"/>
              </a:rPr>
              <a:t>Outbound (Peter H)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Partners with domain SMEs to shape requirements and validate solutions</a:t>
            </a:r>
          </a:p>
          <a:p>
            <a:pPr>
              <a:spcBef>
                <a:spcPts val="600"/>
              </a:spcBef>
            </a:pPr>
            <a:r>
              <a:rPr lang="en-US" sz="1000" b="1" dirty="0">
                <a:latin typeface="IBM Plex Sans" panose="020B0503050203000203" pitchFamily="34" charset="0"/>
              </a:rPr>
              <a:t>Project Manager (Sandy)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Runs planning, standups, demos, retros to drive schedule, scope, dependencies, risk. Ensures release lands on time</a:t>
            </a:r>
          </a:p>
          <a:p>
            <a:pPr>
              <a:spcBef>
                <a:spcPts val="600"/>
              </a:spcBef>
            </a:pPr>
            <a:r>
              <a:rPr lang="en-US" sz="1000" b="1" dirty="0">
                <a:latin typeface="IBM Plex Sans" panose="020B0503050203000203" pitchFamily="34" charset="0"/>
              </a:rPr>
              <a:t>Data science / engineering (Roland, Bence, Anna, Jason, Isha, Sam, Abi^, Rich^, Cody^, Alex^)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Builds and integrates the solution, ensures technical feasibility, and maintains data quality and performance</a:t>
            </a:r>
          </a:p>
          <a:p>
            <a:pPr>
              <a:spcBef>
                <a:spcPts val="600"/>
              </a:spcBef>
            </a:pPr>
            <a:r>
              <a:rPr lang="en-US" sz="1000" b="1" dirty="0">
                <a:latin typeface="IBM Plex Sans" panose="020B0503050203000203" pitchFamily="34" charset="0"/>
              </a:rPr>
              <a:t>Design, prototyping, UX (Cynthia, Sonal)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Ensures solution is usable and meets experience standards. Creates workflows and wireframes, leads usability testing</a:t>
            </a:r>
          </a:p>
          <a:p>
            <a:pPr>
              <a:spcBef>
                <a:spcPts val="600"/>
              </a:spcBef>
            </a:pPr>
            <a:r>
              <a:rPr lang="en-US" sz="1000" b="1" dirty="0">
                <a:latin typeface="IBM Plex Sans" panose="020B0503050203000203" pitchFamily="34" charset="0"/>
              </a:rPr>
              <a:t>SMEs / Workflow owners (Peter, Lilla, Sreejith, Csilla, Betti, Vivien, Bessi, Madhukumar)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Provide domain context, test data and scenarios, validate outputs, sign off on accuracy and usability</a:t>
            </a:r>
          </a:p>
          <a:p>
            <a:pPr>
              <a:spcBef>
                <a:spcPts val="600"/>
              </a:spcBef>
            </a:pPr>
            <a:r>
              <a:rPr lang="en-US" sz="1000" b="1" dirty="0">
                <a:latin typeface="IBM Plex Sans" panose="020B0503050203000203" pitchFamily="34" charset="0"/>
              </a:rPr>
              <a:t>Platform and enterprise architecture (Vasanthi, Chitra, Mike, Rich^)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Ensure alignment with enterprise standards, scalability, and integration with core systems</a:t>
            </a:r>
          </a:p>
          <a:p>
            <a:pPr>
              <a:spcBef>
                <a:spcPts val="600"/>
              </a:spcBef>
            </a:pPr>
            <a:r>
              <a:rPr lang="en-US" sz="1000" b="1" dirty="0">
                <a:latin typeface="IBM Plex Sans" panose="020B0503050203000203" pitchFamily="34" charset="0"/>
              </a:rPr>
              <a:t>Value realization, commercialization, </a:t>
            </a:r>
            <a:r>
              <a:rPr lang="en-US" sz="1000" b="1" dirty="0" err="1">
                <a:latin typeface="IBM Plex Sans" panose="020B0503050203000203" pitchFamily="34" charset="0"/>
              </a:rPr>
              <a:t>wxO</a:t>
            </a:r>
            <a:r>
              <a:rPr lang="en-US" sz="1000" b="1" dirty="0">
                <a:latin typeface="IBM Plex Sans" panose="020B0503050203000203" pitchFamily="34" charset="0"/>
              </a:rPr>
              <a:t> support (IBMC, Peter, Christine, Jyotsna)</a:t>
            </a:r>
          </a:p>
          <a:p>
            <a:r>
              <a:rPr lang="en-US" sz="1000" dirty="0">
                <a:latin typeface="IBM Plex Sans" panose="020B0503050203000203" pitchFamily="34" charset="0"/>
              </a:rPr>
              <a:t>Ensure success against metrics, track and source in Apptio/EBM for progress, scaling decisions etc. Drive change management and user enablement. Drive alignment to commercial offerings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800FAA-3571-81C8-25D5-F29C0E47F0AF}"/>
              </a:ext>
            </a:extLst>
          </p:cNvPr>
          <p:cNvSpPr txBox="1"/>
          <p:nvPr/>
        </p:nvSpPr>
        <p:spPr>
          <a:xfrm>
            <a:off x="3272147" y="6231158"/>
            <a:ext cx="84976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IBM Plex Sans" panose="020B0503050203000203" pitchFamily="34" charset="0"/>
              </a:rPr>
              <a:t>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latin typeface="IBM Plex Sans" panose="020B0503050203000203" pitchFamily="34" charset="0"/>
              </a:rPr>
              <a:t>IBMC </a:t>
            </a:r>
            <a:r>
              <a:rPr lang="en-US" sz="900" dirty="0">
                <a:latin typeface="IBM Plex Sans" panose="020B0503050203000203" pitchFamily="34" charset="0"/>
              </a:rPr>
              <a:t>will 1) drive VR/enablement 2) provide consulting support where indicated by “*” 3) augment technical resources where requested by 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 b="1" dirty="0">
                <a:latin typeface="IBM Plex Sans" panose="020B0503050203000203" pitchFamily="34" charset="0"/>
              </a:rPr>
              <a:t>SAP</a:t>
            </a:r>
            <a:r>
              <a:rPr lang="en-US" sz="900" dirty="0">
                <a:latin typeface="IBM Plex Sans" panose="020B0503050203000203" pitchFamily="34" charset="0"/>
              </a:rPr>
              <a:t> will 1) drive deployment and integration of SAP CIM 2) provide consulting support and perspective on transformation where indicated by “^”</a:t>
            </a:r>
            <a:endParaRPr lang="en-US" sz="900" b="1" dirty="0">
              <a:latin typeface="IBM Plex Sans" panose="020B0503050203000203" pitchFamily="34" charset="0"/>
            </a:endParaRPr>
          </a:p>
        </p:txBody>
      </p:sp>
      <p:sp>
        <p:nvSpPr>
          <p:cNvPr id="13" name="IllustrativeStamp">
            <a:extLst>
              <a:ext uri="{FF2B5EF4-FFF2-40B4-BE49-F238E27FC236}">
                <a16:creationId xmlns:a16="http://schemas.microsoft.com/office/drawing/2014/main" id="{0A36D9C7-DFDC-65D0-2D5F-A2DF76521962}"/>
              </a:ext>
            </a:extLst>
          </p:cNvPr>
          <p:cNvSpPr/>
          <p:nvPr/>
        </p:nvSpPr>
        <p:spPr>
          <a:xfrm>
            <a:off x="4593426" y="0"/>
            <a:ext cx="3006499" cy="215900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BM Plex Sans Light"/>
                <a:ea typeface="+mn-ea"/>
                <a:cs typeface="+mn-cs"/>
              </a:rPr>
              <a:t>Preliminary</a:t>
            </a:r>
          </a:p>
        </p:txBody>
      </p:sp>
    </p:spTree>
    <p:extLst>
      <p:ext uri="{BB962C8B-B14F-4D97-AF65-F5344CB8AC3E}">
        <p14:creationId xmlns:p14="http://schemas.microsoft.com/office/powerpoint/2010/main" val="238848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922E2066466747B06F5A2CB1EF004C" ma:contentTypeVersion="12" ma:contentTypeDescription="Create a new document." ma:contentTypeScope="" ma:versionID="273c804a40a3007035126c9a1bf407a1">
  <xsd:schema xmlns:xsd="http://www.w3.org/2001/XMLSchema" xmlns:xs="http://www.w3.org/2001/XMLSchema" xmlns:p="http://schemas.microsoft.com/office/2006/metadata/properties" xmlns:ns2="e7e42320-c381-4d5c-a06d-fb941b9287c9" xmlns:ns3="e4cee1ae-901f-403b-af36-81ae1c6bd840" targetNamespace="http://schemas.microsoft.com/office/2006/metadata/properties" ma:root="true" ma:fieldsID="bb522c1fb3d2cea70fe48e17a5d80425" ns2:_="" ns3:_="">
    <xsd:import namespace="e7e42320-c381-4d5c-a06d-fb941b9287c9"/>
    <xsd:import namespace="e4cee1ae-901f-403b-af36-81ae1c6bd8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e42320-c381-4d5c-a06d-fb941b928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19edae7-b79a-4a5e-b725-af92424e05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ee1ae-901f-403b-af36-81ae1c6bd84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537be7-019f-49ec-95ad-57224fc3b453}" ma:internalName="TaxCatchAll" ma:showField="CatchAllData" ma:web="e4cee1ae-901f-403b-af36-81ae1c6bd8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e42320-c381-4d5c-a06d-fb941b9287c9">
      <Terms xmlns="http://schemas.microsoft.com/office/infopath/2007/PartnerControls"/>
    </lcf76f155ced4ddcb4097134ff3c332f>
    <TaxCatchAll xmlns="e4cee1ae-901f-403b-af36-81ae1c6bd840" xsi:nil="true"/>
  </documentManagement>
</p:properties>
</file>

<file path=customXml/itemProps1.xml><?xml version="1.0" encoding="utf-8"?>
<ds:datastoreItem xmlns:ds="http://schemas.openxmlformats.org/officeDocument/2006/customXml" ds:itemID="{FCDD44A2-2069-4296-BE46-3DD184BE587C}"/>
</file>

<file path=customXml/itemProps2.xml><?xml version="1.0" encoding="utf-8"?>
<ds:datastoreItem xmlns:ds="http://schemas.openxmlformats.org/officeDocument/2006/customXml" ds:itemID="{996CBC90-A09D-40F3-B372-345332D25207}"/>
</file>

<file path=customXml/itemProps3.xml><?xml version="1.0" encoding="utf-8"?>
<ds:datastoreItem xmlns:ds="http://schemas.openxmlformats.org/officeDocument/2006/customXml" ds:itemID="{1FBF8FC3-5975-402C-A030-169BE380E96F}"/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515</Words>
  <Application>Microsoft Office PowerPoint</Application>
  <PresentationFormat>Widescreen</PresentationFormat>
  <Paragraphs>142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IBM Plex Sans</vt:lpstr>
      <vt:lpstr>IBM Plex Sans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Harling</dc:creator>
  <cp:lastModifiedBy>Sandy Yu</cp:lastModifiedBy>
  <cp:revision>46</cp:revision>
  <cp:lastPrinted>2026-01-12T21:12:20Z</cp:lastPrinted>
  <dcterms:created xsi:type="dcterms:W3CDTF">2026-01-12T18:36:50Z</dcterms:created>
  <dcterms:modified xsi:type="dcterms:W3CDTF">2026-01-28T20:39:22Z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0x010100E3922E2066466747B06F5A2CB1EF004C</vt:lpwstr>
  </property>
</Properties>
</file>