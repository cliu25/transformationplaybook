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notesSlides/notesSlide11.xml" ContentType="application/vnd.openxmlformats-officedocument.presentationml.notesSlide+xml"/>
  <Override PartName="/docProps/app.xml" ContentType="application/vnd.openxmlformats-officedocument.extended-properties+xml"/>
  <Override PartName="/docProps/core.xml" ContentType="application/vnd.openxmlformats-package.core-properties+xml"/>
  <Override PartName="/ppt/notesSlides/notesSlide4.xml" ContentType="application/vnd.openxmlformats-officedocument.presentationml.notesSlide+xml"/>
  <Override PartName="/ppt/slides/slide2.xml" ContentType="application/vnd.openxmlformats-officedocument.presentationml.slide+xml"/>
  <Override PartName="/ppt/tags/tag1.xml" ContentType="application/vnd.openxmlformats-officedocument.presentationml.tags+xml"/>
  <Override PartName="/ppt/presentation.xml" ContentType="application/vnd.openxmlformats-officedocument.presentationml.presentation.main+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slides/slide5.xml" ContentType="application/vnd.openxmlformats-officedocument.presentationml.slide+xml"/>
  <Override PartName="/ppt/viewProps.xml" ContentType="application/vnd.openxmlformats-officedocument.presentationml.viewProps+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3.xml" ContentType="application/vnd.openxmlformats-officedocument.presentationml.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1.xml" ContentType="application/vnd.openxmlformats-officedocument.presentationml.slide+xml"/>
  <Override PartName="/ppt/notesSlides/notesSlide8.xml" ContentType="application/vnd.openxmlformats-officedocument.presentationml.notesSlide+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369" r:id="rId3"/>
    <p:sldId id="257" r:id="rId4"/>
    <p:sldId id="258" r:id="rId5"/>
    <p:sldId id="305" r:id="rId6"/>
    <p:sldId id="259" r:id="rId7"/>
    <p:sldId id="370" r:id="rId8"/>
    <p:sldId id="373" r:id="rId9"/>
    <p:sldId id="261" r:id="rId10"/>
    <p:sldId id="262" r:id="rId11"/>
    <p:sldId id="368" r:id="rId12"/>
    <p:sldId id="371" r:id="rId13"/>
    <p:sldId id="275" r:id="rId14"/>
    <p:sldId id="372" r:id="rId15"/>
    <p:sldId id="31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819AC7-0CCC-4F46-ADE2-105000F72E08}">
          <p14:sldIdLst>
            <p14:sldId id="256"/>
            <p14:sldId id="369"/>
            <p14:sldId id="257"/>
            <p14:sldId id="258"/>
            <p14:sldId id="305"/>
            <p14:sldId id="259"/>
            <p14:sldId id="370"/>
            <p14:sldId id="373"/>
            <p14:sldId id="261"/>
            <p14:sldId id="262"/>
            <p14:sldId id="368"/>
            <p14:sldId id="371"/>
          </p14:sldIdLst>
        </p14:section>
        <p14:section name="Untitled Section" id="{45682001-6C2B-4670-9BDF-F503C6CCE77F}">
          <p14:sldIdLst>
            <p14:sldId id="275"/>
            <p14:sldId id="372"/>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3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353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DFC91-5529-888F-31FA-A88AC4151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DF95A-74B6-A120-AADF-CE9F6259CDC6}"/>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0066EC89-A259-0014-B05A-22C0F7D1FF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E6ED85-B864-6474-53FE-5EC96869532A}"/>
              </a:ext>
            </a:extLst>
          </p:cNvPr>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18D02FFD-07D4-5C4F-BD77-92100817734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7751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563B-0FC5-D0DF-BB1A-402760F96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ABF73-8100-082C-30E2-6584C6D5B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50801-3806-EFD9-85F8-163CA94F52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F4C226-CA02-ED36-43B5-31707DC5C29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7895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E0AC-33AA-A7B9-FCF5-8FFD88C8A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78BD6-355E-FD13-8517-60FF908D4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535E6-478E-0C62-07D8-BB91A1B3C1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973827-D10F-C883-42A6-BAE5AFB2E6C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38392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5"/>
            <a:ext cx="5522976" cy="1072896"/>
          </a:xfrm>
          <a:prstGeom prst="rect">
            <a:avLst/>
          </a:prstGeom>
        </p:spPr>
        <p:txBody>
          <a:bodyPr/>
          <a:lstStyle>
            <a:lvl1pPr>
              <a:defRPr>
                <a:solidFill>
                  <a:schemeClr val="tx1"/>
                </a:solidFill>
              </a:defRPr>
            </a:lvl1pPr>
          </a:lstStyle>
          <a:p>
            <a:r>
              <a:rPr lang="en-US"/>
              <a:t>Click to edit Master title style</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13268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a:prstGeom prst="rect">
            <a:avLst/>
          </a:prstGeo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5" name="Slide Number">
            <a:extLst>
              <a:ext uri="{FF2B5EF4-FFF2-40B4-BE49-F238E27FC236}">
                <a16:creationId xmlns:a16="http://schemas.microsoft.com/office/drawing/2014/main" id="{7C8AE4B3-7BFF-7413-5AE1-5252B5686DA3}"/>
              </a:ext>
            </a:extLst>
          </p:cNvPr>
          <p:cNvSpPr txBox="1">
            <a:spLocks/>
          </p:cNvSpPr>
          <p:nvPr userDrawn="1"/>
        </p:nvSpPr>
        <p:spPr>
          <a:xfrm>
            <a:off x="168421" y="6644609"/>
            <a:ext cx="215119" cy="123111"/>
          </a:xfrm>
          <a:prstGeom prst="rect">
            <a:avLst/>
          </a:prstGeom>
          <a:ln w="12700">
            <a:miter lim="400000"/>
          </a:ln>
        </p:spPr>
        <p:txBody>
          <a:bodyPr wrap="square" lIns="0" tIns="0" rIns="0" bIns="0" anchor="b"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fld id="{86CB4B4D-7CA3-9044-876B-883B54F8677D}" type="slidenum">
              <a:rPr lang="en-US" sz="800" smtClean="0"/>
              <a:pPr/>
              <a:t>‹#›</a:t>
            </a:fld>
            <a:endParaRPr lang="en-US" sz="800"/>
          </a:p>
        </p:txBody>
      </p:sp>
    </p:spTree>
    <p:extLst>
      <p:ext uri="{BB962C8B-B14F-4D97-AF65-F5344CB8AC3E}">
        <p14:creationId xmlns:p14="http://schemas.microsoft.com/office/powerpoint/2010/main" val="153266124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8.png"/><Relationship Id="rId3" Type="http://schemas.openxmlformats.org/officeDocument/2006/relationships/notesSlide" Target="../notesSlides/notesSlide4.xml"/><Relationship Id="rId7" Type="http://schemas.openxmlformats.org/officeDocument/2006/relationships/image" Target="../media/image3.png"/><Relationship Id="rId12"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2.png"/><Relationship Id="rId11" Type="http://schemas.openxmlformats.org/officeDocument/2006/relationships/image" Target="../media/image6.jpe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1.bin"/><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141"/>
        </a:solidFill>
        <a:effectLst/>
      </p:bgPr>
    </p:bg>
    <p:spTree>
      <p:nvGrpSpPr>
        <p:cNvPr id="1" name=""/>
        <p:cNvGrpSpPr/>
        <p:nvPr/>
      </p:nvGrpSpPr>
      <p:grpSpPr>
        <a:xfrm>
          <a:off x="0" y="0"/>
          <a:ext cx="0" cy="0"/>
          <a:chOff x="0" y="0"/>
          <a:chExt cx="0" cy="0"/>
        </a:xfrm>
      </p:grpSpPr>
      <p:sp>
        <p:nvSpPr>
          <p:cNvPr id="2" name="Text 0"/>
          <p:cNvSpPr/>
          <p:nvPr/>
        </p:nvSpPr>
        <p:spPr>
          <a:xfrm>
            <a:off x="731520" y="2194560"/>
            <a:ext cx="10698480" cy="914400"/>
          </a:xfrm>
          <a:prstGeom prst="rect">
            <a:avLst/>
          </a:prstGeom>
          <a:noFill/>
          <a:ln/>
        </p:spPr>
        <p:txBody>
          <a:bodyPr wrap="square" rtlCol="0" anchor="ctr"/>
          <a:lstStyle/>
          <a:p>
            <a:pPr marL="0" indent="0">
              <a:buNone/>
            </a:pPr>
            <a:r>
              <a:rPr lang="en-US" sz="4400" b="1" dirty="0">
                <a:solidFill>
                  <a:srgbClr val="FFFFFF"/>
                </a:solidFill>
                <a:latin typeface="IBM Plex Sans" panose="020B0503050203000203" pitchFamily="34" charset="0"/>
                <a:ea typeface="Arial" pitchFamily="34" charset="-122"/>
                <a:cs typeface="Arial" pitchFamily="34" charset="-120"/>
              </a:rPr>
              <a:t>How We Prioritized</a:t>
            </a:r>
            <a:endParaRPr lang="en-US" sz="4400" dirty="0">
              <a:latin typeface="IBM Plex Sans" panose="020B0503050203000203" pitchFamily="34" charset="0"/>
            </a:endParaRPr>
          </a:p>
        </p:txBody>
      </p:sp>
      <p:sp>
        <p:nvSpPr>
          <p:cNvPr id="3" name="Text 1"/>
          <p:cNvSpPr/>
          <p:nvPr/>
        </p:nvSpPr>
        <p:spPr>
          <a:xfrm>
            <a:off x="749808" y="3200400"/>
            <a:ext cx="10058400" cy="548640"/>
          </a:xfrm>
          <a:prstGeom prst="rect">
            <a:avLst/>
          </a:prstGeom>
          <a:noFill/>
          <a:ln/>
        </p:spPr>
        <p:txBody>
          <a:bodyPr wrap="square" rtlCol="0" anchor="ctr"/>
          <a:lstStyle/>
          <a:p>
            <a:pPr marL="0" indent="0">
              <a:buNone/>
            </a:pPr>
            <a:r>
              <a:rPr lang="en-US" sz="1800" dirty="0">
                <a:solidFill>
                  <a:srgbClr val="A6C8FF"/>
                </a:solidFill>
                <a:latin typeface="IBM Plex Sans" panose="020B0503050203000203" pitchFamily="34" charset="0"/>
                <a:ea typeface="Arial" pitchFamily="34" charset="-122"/>
                <a:cs typeface="Arial" pitchFamily="34" charset="-120"/>
              </a:rPr>
              <a:t>The method behind the MCC AI initiative roadmap</a:t>
            </a:r>
            <a:endParaRPr lang="en-US" sz="1800" dirty="0">
              <a:latin typeface="IBM Plex Sans" panose="020B0503050203000203" pitchFamily="34" charset="0"/>
            </a:endParaRPr>
          </a:p>
        </p:txBody>
      </p:sp>
      <p:sp>
        <p:nvSpPr>
          <p:cNvPr id="4" name="Text 2"/>
          <p:cNvSpPr/>
          <p:nvPr/>
        </p:nvSpPr>
        <p:spPr>
          <a:xfrm>
            <a:off x="749808" y="5852160"/>
            <a:ext cx="8229600" cy="365760"/>
          </a:xfrm>
          <a:prstGeom prst="rect">
            <a:avLst/>
          </a:prstGeom>
          <a:noFill/>
          <a:ln/>
        </p:spPr>
        <p:txBody>
          <a:bodyPr wrap="square" rtlCol="0" anchor="ctr"/>
          <a:lstStyle/>
          <a:p>
            <a:pPr marL="0" indent="0">
              <a:buNone/>
            </a:pPr>
            <a:r>
              <a:rPr lang="en-US" sz="1200" dirty="0">
                <a:solidFill>
                  <a:srgbClr val="8DB1F0"/>
                </a:solidFill>
                <a:latin typeface="IBM Plex Sans" panose="020B0503050203000203" pitchFamily="34" charset="0"/>
                <a:ea typeface="Arial" pitchFamily="34" charset="-122"/>
                <a:cs typeface="Arial" pitchFamily="34" charset="-120"/>
              </a:rPr>
              <a:t>Methodology share  ·  MCC AI Transformation</a:t>
            </a:r>
            <a:endParaRPr lang="en-US" sz="1200" dirty="0">
              <a:latin typeface="IBM Plex Sans" panose="020B050305020300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61610"/>
          </a:xfrm>
          <a:prstGeom prst="rect">
            <a:avLst/>
          </a:prstGeom>
          <a:noFill/>
        </p:spPr>
        <p:txBody>
          <a:bodyPr wrap="square">
            <a:spAutoFit/>
          </a:bodyPr>
          <a:lstStyle/>
          <a:p>
            <a:r>
              <a:rPr sz="1100" b="1" i="0">
                <a:solidFill>
                  <a:srgbClr val="0F62FE"/>
                </a:solidFill>
                <a:latin typeface="IBM Plex Sans" panose="020B0503050203000203" pitchFamily="34" charset="0"/>
              </a:rPr>
              <a:t>CONTEXT</a:t>
            </a:r>
          </a:p>
        </p:txBody>
      </p:sp>
      <p:sp>
        <p:nvSpPr>
          <p:cNvPr id="3" name="TextBox 2"/>
          <p:cNvSpPr txBox="1"/>
          <p:nvPr/>
        </p:nvSpPr>
        <p:spPr>
          <a:xfrm>
            <a:off x="548640" y="640080"/>
            <a:ext cx="11064240" cy="461665"/>
          </a:xfrm>
          <a:prstGeom prst="rect">
            <a:avLst/>
          </a:prstGeom>
          <a:noFill/>
        </p:spPr>
        <p:txBody>
          <a:bodyPr wrap="square">
            <a:spAutoFit/>
          </a:bodyPr>
          <a:lstStyle/>
          <a:p>
            <a:r>
              <a:rPr sz="2400" b="1" i="0">
                <a:solidFill>
                  <a:srgbClr val="161616"/>
                </a:solidFill>
                <a:latin typeface="IBM Plex Sans" panose="020B0503050203000203" pitchFamily="34" charset="0"/>
              </a:rPr>
              <a:t>What this was, and how we built it</a:t>
            </a:r>
          </a:p>
        </p:txBody>
      </p:sp>
      <p:cxnSp>
        <p:nvCxnSpPr>
          <p:cNvPr id="4" name="Connector 3"/>
          <p:cNvCxnSpPr/>
          <p:nvPr/>
        </p:nvCxnSpPr>
        <p:spPr>
          <a:xfrm>
            <a:off x="548640" y="1371600"/>
            <a:ext cx="11064240" cy="0"/>
          </a:xfrm>
          <a:prstGeom prst="line">
            <a:avLst/>
          </a:prstGeom>
          <a:ln w="12700">
            <a:solidFill>
              <a:srgbClr val="C6C6C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874519"/>
            <a:ext cx="11064240" cy="1785104"/>
          </a:xfrm>
          <a:prstGeom prst="rect">
            <a:avLst/>
          </a:prstGeom>
          <a:noFill/>
        </p:spPr>
        <p:txBody>
          <a:bodyPr wrap="square">
            <a:spAutoFit/>
          </a:bodyPr>
          <a:lstStyle/>
          <a:p>
            <a:pPr marL="228600" indent="-228600">
              <a:spcAft>
                <a:spcPts val="1200"/>
              </a:spcAft>
              <a:buFont typeface="Arial"/>
              <a:buChar char="•"/>
            </a:pPr>
            <a:r>
              <a:rPr sz="1400" b="0" i="0" dirty="0">
                <a:solidFill>
                  <a:srgbClr val="161616"/>
                </a:solidFill>
                <a:latin typeface="IBM Plex Sans" panose="020B0503050203000203" pitchFamily="34" charset="0"/>
              </a:rPr>
              <a:t>An eight-week IBMC strategy engagement to define MCC's AI initiative roadmap.</a:t>
            </a:r>
          </a:p>
          <a:p>
            <a:pPr marL="228600" indent="-228600">
              <a:spcAft>
                <a:spcPts val="1200"/>
              </a:spcAft>
              <a:buFont typeface="Arial"/>
              <a:buChar char="•"/>
            </a:pPr>
            <a:r>
              <a:rPr sz="1400" b="0" i="0" dirty="0">
                <a:solidFill>
                  <a:srgbClr val="161616"/>
                </a:solidFill>
                <a:latin typeface="IBM Plex Sans" panose="020B0503050203000203" pitchFamily="34" charset="0"/>
              </a:rPr>
              <a:t>Built from about 17 domain-lead interviews and 8 cross-domain workshops, on top of the IX team's 321 detailed process maps.</a:t>
            </a:r>
          </a:p>
          <a:p>
            <a:pPr marL="228600" indent="-228600">
              <a:spcAft>
                <a:spcPts val="1200"/>
              </a:spcAft>
              <a:buFont typeface="Arial"/>
              <a:buChar char="•"/>
            </a:pPr>
            <a:r>
              <a:rPr sz="1400" b="0" i="0" dirty="0">
                <a:solidFill>
                  <a:srgbClr val="161616"/>
                </a:solidFill>
                <a:latin typeface="IBM Plex Sans" panose="020B0503050203000203" pitchFamily="34" charset="0"/>
              </a:rPr>
              <a:t>Run with MCC domain leads, and with the CIO for the feasibility assessment.</a:t>
            </a:r>
          </a:p>
          <a:p>
            <a:pPr marL="228600" indent="-228600">
              <a:spcAft>
                <a:spcPts val="1200"/>
              </a:spcAft>
              <a:buFont typeface="Arial"/>
              <a:buChar char="•"/>
            </a:pPr>
            <a:r>
              <a:rPr sz="1400" b="0" i="0" dirty="0">
                <a:solidFill>
                  <a:srgbClr val="161616"/>
                </a:solidFill>
                <a:latin typeface="IBM Plex Sans" panose="020B0503050203000203" pitchFamily="34" charset="0"/>
              </a:rPr>
              <a:t>Output: 41 initiatives, scored on Value and Feasibility and grouped into core marketing capabilities, with 10 selected for Wave 3.</a:t>
            </a:r>
          </a:p>
          <a:p>
            <a:pPr marL="228600" indent="-228600">
              <a:spcAft>
                <a:spcPts val="1200"/>
              </a:spcAft>
              <a:buFont typeface="Arial"/>
              <a:buChar char="•"/>
            </a:pPr>
            <a:r>
              <a:rPr sz="1400" b="0" i="0" dirty="0">
                <a:solidFill>
                  <a:srgbClr val="161616"/>
                </a:solidFill>
                <a:latin typeface="IBM Plex Sans" panose="020B0503050203000203" pitchFamily="34" charset="0"/>
              </a:rPr>
              <a:t>The top tier was fully prioritized for Wave 3; the rest stay in the backlog and are re-scored each wave.</a:t>
            </a:r>
          </a:p>
        </p:txBody>
      </p:sp>
      <p:sp>
        <p:nvSpPr>
          <p:cNvPr id="6" name="TextBox 5"/>
          <p:cNvSpPr txBox="1"/>
          <p:nvPr/>
        </p:nvSpPr>
        <p:spPr>
          <a:xfrm>
            <a:off x="548640" y="5486400"/>
            <a:ext cx="10972800" cy="276999"/>
          </a:xfrm>
          <a:prstGeom prst="rect">
            <a:avLst/>
          </a:prstGeom>
          <a:noFill/>
        </p:spPr>
        <p:txBody>
          <a:bodyPr wrap="square">
            <a:spAutoFit/>
          </a:bodyPr>
          <a:lstStyle/>
          <a:p>
            <a:r>
              <a:rPr sz="1200" b="0" i="1">
                <a:solidFill>
                  <a:srgbClr val="525252"/>
                </a:solidFill>
                <a:latin typeface="IBM Plex Sans" panose="020B0503050203000203" pitchFamily="34" charset="0"/>
              </a:rPr>
              <a:t>This deck is the repeatable method, so the backlog can be re-scored as new waves and new ideas arrive.</a:t>
            </a:r>
          </a:p>
        </p:txBody>
      </p:sp>
      <p:sp>
        <p:nvSpPr>
          <p:cNvPr id="7" name="TextBox 6"/>
          <p:cNvSpPr txBox="1"/>
          <p:nvPr/>
        </p:nvSpPr>
        <p:spPr>
          <a:xfrm>
            <a:off x="548640" y="6473952"/>
            <a:ext cx="8229600" cy="230832"/>
          </a:xfrm>
          <a:prstGeom prst="rect">
            <a:avLst/>
          </a:prstGeom>
          <a:noFill/>
        </p:spPr>
        <p:txBody>
          <a:bodyPr wrap="square">
            <a:spAutoFit/>
          </a:bodyPr>
          <a:lstStyle/>
          <a:p>
            <a:r>
              <a:rPr sz="900" b="0" i="0">
                <a:solidFill>
                  <a:srgbClr val="525252"/>
                </a:solidFill>
                <a:latin typeface="IBM Plex Sans" panose="020B0503050203000203" pitchFamily="34" charset="0"/>
              </a:rPr>
              <a:t>How We Prioritized  |  MCC AI Transformation</a:t>
            </a:r>
          </a:p>
        </p:txBody>
      </p:sp>
      <p:sp>
        <p:nvSpPr>
          <p:cNvPr id="8" name="TextBox 7"/>
          <p:cNvSpPr txBox="1"/>
          <p:nvPr/>
        </p:nvSpPr>
        <p:spPr>
          <a:xfrm>
            <a:off x="11430000" y="6473952"/>
            <a:ext cx="274320" cy="230832"/>
          </a:xfrm>
          <a:prstGeom prst="rect">
            <a:avLst/>
          </a:prstGeom>
          <a:noFill/>
        </p:spPr>
        <p:txBody>
          <a:bodyPr wrap="square">
            <a:spAutoFit/>
          </a:bodyPr>
          <a:lstStyle/>
          <a:p>
            <a:pPr algn="r"/>
            <a:r>
              <a:rPr sz="900" b="0" i="0">
                <a:solidFill>
                  <a:srgbClr val="525252"/>
                </a:solidFill>
                <a:latin typeface="IBM Plex Sans" panose="020B0503050203000203"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100" b="1" kern="0" spc="100" dirty="0">
                <a:solidFill>
                  <a:srgbClr val="0F62FE"/>
                </a:solidFill>
                <a:latin typeface="IBM Plex Sans" panose="020B0503050203000203" pitchFamily="34" charset="0"/>
                <a:ea typeface="Arial" pitchFamily="34" charset="-122"/>
                <a:cs typeface="Arial" pitchFamily="34" charset="-120"/>
              </a:rPr>
              <a:t>THE PROCESS</a:t>
            </a:r>
            <a:endParaRPr lang="en-US" sz="1100" dirty="0">
              <a:latin typeface="IBM Plex Sans" panose="020B0503050203000203" pitchFamily="34" charset="0"/>
            </a:endParaRPr>
          </a:p>
        </p:txBody>
      </p:sp>
      <p:sp>
        <p:nvSpPr>
          <p:cNvPr id="3" name="Text 1"/>
          <p:cNvSpPr/>
          <p:nvPr/>
        </p:nvSpPr>
        <p:spPr>
          <a:xfrm>
            <a:off x="548640" y="640080"/>
            <a:ext cx="11064240" cy="640080"/>
          </a:xfrm>
          <a:prstGeom prst="rect">
            <a:avLst/>
          </a:prstGeom>
          <a:noFill/>
          <a:ln/>
        </p:spPr>
        <p:txBody>
          <a:bodyPr wrap="square" rtlCol="0" anchor="ctr"/>
          <a:lstStyle/>
          <a:p>
            <a:pPr marL="0" indent="0">
              <a:buNone/>
            </a:pPr>
            <a:r>
              <a:rPr lang="en-US" sz="2400" b="1" dirty="0">
                <a:solidFill>
                  <a:srgbClr val="161616"/>
                </a:solidFill>
                <a:latin typeface="IBM Plex Sans" panose="020B0503050203000203" pitchFamily="34" charset="0"/>
                <a:ea typeface="Arial" pitchFamily="34" charset="-122"/>
                <a:cs typeface="Arial" pitchFamily="34" charset="-120"/>
              </a:rPr>
              <a:t>Five steps, from raw asks to a sequenced roadmap</a:t>
            </a:r>
            <a:endParaRPr lang="en-US" sz="2400" dirty="0">
              <a:latin typeface="IBM Plex Sans" panose="020B0503050203000203" pitchFamily="34" charset="0"/>
            </a:endParaRPr>
          </a:p>
        </p:txBody>
      </p:sp>
      <p:sp>
        <p:nvSpPr>
          <p:cNvPr id="4" name="Shape 2"/>
          <p:cNvSpPr/>
          <p:nvPr/>
        </p:nvSpPr>
        <p:spPr>
          <a:xfrm>
            <a:off x="548640" y="1371600"/>
            <a:ext cx="11064240" cy="0"/>
          </a:xfrm>
          <a:prstGeom prst="line">
            <a:avLst/>
          </a:prstGeom>
          <a:noFill/>
          <a:ln w="12700">
            <a:solidFill>
              <a:srgbClr val="C6C6C6"/>
            </a:solidFill>
            <a:prstDash val="solid"/>
          </a:ln>
        </p:spPr>
        <p:txBody>
          <a:bodyPr/>
          <a:lstStyle/>
          <a:p>
            <a:endParaRPr lang="en-US">
              <a:latin typeface="IBM Plex Sans" panose="020B0503050203000203" pitchFamily="34" charset="0"/>
            </a:endParaRPr>
          </a:p>
        </p:txBody>
      </p:sp>
      <p:sp>
        <p:nvSpPr>
          <p:cNvPr id="5" name="Shape 3"/>
          <p:cNvSpPr/>
          <p:nvPr/>
        </p:nvSpPr>
        <p:spPr>
          <a:xfrm>
            <a:off x="640080" y="1691640"/>
            <a:ext cx="411480" cy="411480"/>
          </a:xfrm>
          <a:prstGeom prst="ellipse">
            <a:avLst/>
          </a:prstGeom>
          <a:solidFill>
            <a:srgbClr val="0F62FE"/>
          </a:solidFill>
          <a:ln/>
        </p:spPr>
        <p:txBody>
          <a:bodyPr/>
          <a:lstStyle/>
          <a:p>
            <a:endParaRPr lang="en-US">
              <a:latin typeface="IBM Plex Sans" panose="020B0503050203000203" pitchFamily="34" charset="0"/>
            </a:endParaRPr>
          </a:p>
        </p:txBody>
      </p:sp>
      <p:sp>
        <p:nvSpPr>
          <p:cNvPr id="6" name="Text 4"/>
          <p:cNvSpPr/>
          <p:nvPr/>
        </p:nvSpPr>
        <p:spPr>
          <a:xfrm>
            <a:off x="640080" y="1691640"/>
            <a:ext cx="411480" cy="411480"/>
          </a:xfrm>
          <a:prstGeom prst="rect">
            <a:avLst/>
          </a:prstGeom>
          <a:noFill/>
          <a:ln/>
        </p:spPr>
        <p:txBody>
          <a:bodyPr wrap="square" rtlCol="0" anchor="ctr"/>
          <a:lstStyle/>
          <a:p>
            <a:pPr marL="0" indent="0" algn="ctr">
              <a:buNone/>
            </a:pPr>
            <a:r>
              <a:rPr lang="en-US" sz="1400" b="1" dirty="0">
                <a:solidFill>
                  <a:srgbClr val="FFFFFF"/>
                </a:solidFill>
                <a:latin typeface="IBM Plex Sans" panose="020B0503050203000203" pitchFamily="34" charset="0"/>
                <a:ea typeface="Arial" pitchFamily="34" charset="-122"/>
                <a:cs typeface="Arial" pitchFamily="34" charset="-120"/>
              </a:rPr>
              <a:t>1</a:t>
            </a:r>
            <a:endParaRPr lang="en-US" sz="1400" dirty="0">
              <a:latin typeface="IBM Plex Sans" panose="020B0503050203000203" pitchFamily="34" charset="0"/>
            </a:endParaRPr>
          </a:p>
        </p:txBody>
      </p:sp>
      <p:sp>
        <p:nvSpPr>
          <p:cNvPr id="7" name="Shape 5"/>
          <p:cNvSpPr/>
          <p:nvPr/>
        </p:nvSpPr>
        <p:spPr>
          <a:xfrm>
            <a:off x="845820" y="2103120"/>
            <a:ext cx="0" cy="502920"/>
          </a:xfrm>
          <a:prstGeom prst="line">
            <a:avLst/>
          </a:prstGeom>
          <a:noFill/>
          <a:ln w="19050">
            <a:solidFill>
              <a:srgbClr val="C6C6C6"/>
            </a:solidFill>
            <a:prstDash val="solid"/>
          </a:ln>
        </p:spPr>
        <p:txBody>
          <a:bodyPr/>
          <a:lstStyle/>
          <a:p>
            <a:endParaRPr lang="en-US">
              <a:latin typeface="IBM Plex Sans" panose="020B0503050203000203" pitchFamily="34" charset="0"/>
            </a:endParaRPr>
          </a:p>
        </p:txBody>
      </p:sp>
      <p:sp>
        <p:nvSpPr>
          <p:cNvPr id="8" name="Text 6"/>
          <p:cNvSpPr/>
          <p:nvPr/>
        </p:nvSpPr>
        <p:spPr>
          <a:xfrm>
            <a:off x="1234440" y="1645920"/>
            <a:ext cx="10332720" cy="502920"/>
          </a:xfrm>
          <a:prstGeom prst="rect">
            <a:avLst/>
          </a:prstGeom>
          <a:noFill/>
          <a:ln/>
        </p:spPr>
        <p:txBody>
          <a:bodyPr wrap="square" rtlCol="0" anchor="t"/>
          <a:lstStyle/>
          <a:p>
            <a:pPr marL="0" indent="0">
              <a:lnSpc>
                <a:spcPct val="102000"/>
              </a:lnSpc>
              <a:buNone/>
            </a:pPr>
            <a:r>
              <a:rPr lang="en-US" sz="1350" b="1" dirty="0">
                <a:solidFill>
                  <a:srgbClr val="001141"/>
                </a:solidFill>
                <a:latin typeface="IBM Plex Sans" panose="020B0503050203000203" pitchFamily="34" charset="0"/>
                <a:ea typeface="Arial" pitchFamily="34" charset="-122"/>
                <a:cs typeface="Arial" pitchFamily="34" charset="-120"/>
              </a:rPr>
              <a:t>Capture   </a:t>
            </a:r>
            <a:r>
              <a:rPr lang="en-US" sz="1350" dirty="0">
                <a:solidFill>
                  <a:srgbClr val="525252"/>
                </a:solidFill>
                <a:latin typeface="IBM Plex Sans" panose="020B0503050203000203" pitchFamily="34" charset="0"/>
                <a:ea typeface="Arial" pitchFamily="34" charset="-122"/>
                <a:cs typeface="Arial" pitchFamily="34" charset="-120"/>
              </a:rPr>
              <a:t>Pulled every initiative we heard across the discovery interviews into one backlog.</a:t>
            </a:r>
            <a:endParaRPr lang="en-US" sz="1350" dirty="0">
              <a:latin typeface="IBM Plex Sans" panose="020B0503050203000203" pitchFamily="34" charset="0"/>
            </a:endParaRPr>
          </a:p>
        </p:txBody>
      </p:sp>
      <p:sp>
        <p:nvSpPr>
          <p:cNvPr id="9" name="Shape 7"/>
          <p:cNvSpPr/>
          <p:nvPr/>
        </p:nvSpPr>
        <p:spPr>
          <a:xfrm>
            <a:off x="640080" y="2606040"/>
            <a:ext cx="411480" cy="411480"/>
          </a:xfrm>
          <a:prstGeom prst="ellipse">
            <a:avLst/>
          </a:prstGeom>
          <a:solidFill>
            <a:srgbClr val="0F62FE"/>
          </a:solidFill>
          <a:ln/>
        </p:spPr>
        <p:txBody>
          <a:bodyPr/>
          <a:lstStyle/>
          <a:p>
            <a:endParaRPr lang="en-US">
              <a:latin typeface="IBM Plex Sans" panose="020B0503050203000203" pitchFamily="34" charset="0"/>
            </a:endParaRPr>
          </a:p>
        </p:txBody>
      </p:sp>
      <p:sp>
        <p:nvSpPr>
          <p:cNvPr id="10" name="Text 8"/>
          <p:cNvSpPr/>
          <p:nvPr/>
        </p:nvSpPr>
        <p:spPr>
          <a:xfrm>
            <a:off x="640080" y="2606040"/>
            <a:ext cx="411480" cy="411480"/>
          </a:xfrm>
          <a:prstGeom prst="rect">
            <a:avLst/>
          </a:prstGeom>
          <a:noFill/>
          <a:ln/>
        </p:spPr>
        <p:txBody>
          <a:bodyPr wrap="square" rtlCol="0" anchor="ctr"/>
          <a:lstStyle/>
          <a:p>
            <a:pPr marL="0" indent="0" algn="ctr">
              <a:buNone/>
            </a:pPr>
            <a:r>
              <a:rPr lang="en-US" sz="1400" b="1" dirty="0">
                <a:solidFill>
                  <a:srgbClr val="FFFFFF"/>
                </a:solidFill>
                <a:latin typeface="IBM Plex Sans" panose="020B0503050203000203" pitchFamily="34" charset="0"/>
                <a:ea typeface="Arial" pitchFamily="34" charset="-122"/>
                <a:cs typeface="Arial" pitchFamily="34" charset="-120"/>
              </a:rPr>
              <a:t>2</a:t>
            </a:r>
            <a:endParaRPr lang="en-US" sz="1400" dirty="0">
              <a:latin typeface="IBM Plex Sans" panose="020B0503050203000203" pitchFamily="34" charset="0"/>
            </a:endParaRPr>
          </a:p>
        </p:txBody>
      </p:sp>
      <p:sp>
        <p:nvSpPr>
          <p:cNvPr id="11" name="Shape 9"/>
          <p:cNvSpPr/>
          <p:nvPr/>
        </p:nvSpPr>
        <p:spPr>
          <a:xfrm>
            <a:off x="845820" y="3017520"/>
            <a:ext cx="0" cy="502920"/>
          </a:xfrm>
          <a:prstGeom prst="line">
            <a:avLst/>
          </a:prstGeom>
          <a:noFill/>
          <a:ln w="19050">
            <a:solidFill>
              <a:srgbClr val="C6C6C6"/>
            </a:solidFill>
            <a:prstDash val="solid"/>
          </a:ln>
        </p:spPr>
        <p:txBody>
          <a:bodyPr/>
          <a:lstStyle/>
          <a:p>
            <a:endParaRPr lang="en-US">
              <a:latin typeface="IBM Plex Sans" panose="020B0503050203000203" pitchFamily="34" charset="0"/>
            </a:endParaRPr>
          </a:p>
        </p:txBody>
      </p:sp>
      <p:sp>
        <p:nvSpPr>
          <p:cNvPr id="12" name="Text 10"/>
          <p:cNvSpPr/>
          <p:nvPr/>
        </p:nvSpPr>
        <p:spPr>
          <a:xfrm>
            <a:off x="1234440" y="2560320"/>
            <a:ext cx="10332720" cy="502920"/>
          </a:xfrm>
          <a:prstGeom prst="rect">
            <a:avLst/>
          </a:prstGeom>
          <a:noFill/>
          <a:ln/>
        </p:spPr>
        <p:txBody>
          <a:bodyPr wrap="square" rtlCol="0" anchor="t"/>
          <a:lstStyle/>
          <a:p>
            <a:pPr marL="0" indent="0">
              <a:lnSpc>
                <a:spcPct val="102000"/>
              </a:lnSpc>
              <a:buNone/>
            </a:pPr>
            <a:r>
              <a:rPr lang="en-US" sz="1350" b="1" dirty="0">
                <a:solidFill>
                  <a:srgbClr val="001141"/>
                </a:solidFill>
                <a:latin typeface="IBM Plex Sans" panose="020B0503050203000203" pitchFamily="34" charset="0"/>
                <a:ea typeface="Arial" pitchFamily="34" charset="-122"/>
                <a:cs typeface="Arial" pitchFamily="34" charset="-120"/>
              </a:rPr>
              <a:t>Refine   </a:t>
            </a:r>
            <a:r>
              <a:rPr lang="en-US" sz="1350" dirty="0">
                <a:solidFill>
                  <a:srgbClr val="525252"/>
                </a:solidFill>
                <a:latin typeface="IBM Plex Sans" panose="020B0503050203000203" pitchFamily="34" charset="0"/>
                <a:ea typeface="Arial" pitchFamily="34" charset="-122"/>
                <a:cs typeface="Arial" pitchFamily="34" charset="-120"/>
              </a:rPr>
              <a:t>Filtered and consolidated duplicates into standardized, comparable initiative blueprints.</a:t>
            </a:r>
            <a:endParaRPr lang="en-US" sz="1350" dirty="0">
              <a:latin typeface="IBM Plex Sans" panose="020B0503050203000203" pitchFamily="34" charset="0"/>
            </a:endParaRPr>
          </a:p>
        </p:txBody>
      </p:sp>
      <p:sp>
        <p:nvSpPr>
          <p:cNvPr id="13" name="Shape 11"/>
          <p:cNvSpPr/>
          <p:nvPr/>
        </p:nvSpPr>
        <p:spPr>
          <a:xfrm>
            <a:off x="640080" y="3520440"/>
            <a:ext cx="411480" cy="411480"/>
          </a:xfrm>
          <a:prstGeom prst="ellipse">
            <a:avLst/>
          </a:prstGeom>
          <a:solidFill>
            <a:srgbClr val="0F62FE"/>
          </a:solidFill>
          <a:ln/>
        </p:spPr>
        <p:txBody>
          <a:bodyPr/>
          <a:lstStyle/>
          <a:p>
            <a:endParaRPr lang="en-US">
              <a:latin typeface="IBM Plex Sans" panose="020B0503050203000203" pitchFamily="34" charset="0"/>
            </a:endParaRPr>
          </a:p>
        </p:txBody>
      </p:sp>
      <p:sp>
        <p:nvSpPr>
          <p:cNvPr id="14" name="Text 12"/>
          <p:cNvSpPr/>
          <p:nvPr/>
        </p:nvSpPr>
        <p:spPr>
          <a:xfrm>
            <a:off x="640080" y="3520440"/>
            <a:ext cx="411480" cy="411480"/>
          </a:xfrm>
          <a:prstGeom prst="rect">
            <a:avLst/>
          </a:prstGeom>
          <a:noFill/>
          <a:ln/>
        </p:spPr>
        <p:txBody>
          <a:bodyPr wrap="square" rtlCol="0" anchor="ctr"/>
          <a:lstStyle/>
          <a:p>
            <a:pPr marL="0" indent="0" algn="ctr">
              <a:buNone/>
            </a:pPr>
            <a:r>
              <a:rPr lang="en-US" sz="1400" b="1" dirty="0">
                <a:solidFill>
                  <a:srgbClr val="FFFFFF"/>
                </a:solidFill>
                <a:latin typeface="IBM Plex Sans" panose="020B0503050203000203" pitchFamily="34" charset="0"/>
                <a:ea typeface="Arial" pitchFamily="34" charset="-122"/>
                <a:cs typeface="Arial" pitchFamily="34" charset="-120"/>
              </a:rPr>
              <a:t>3</a:t>
            </a:r>
            <a:endParaRPr lang="en-US" sz="1400" dirty="0">
              <a:latin typeface="IBM Plex Sans" panose="020B0503050203000203" pitchFamily="34" charset="0"/>
            </a:endParaRPr>
          </a:p>
        </p:txBody>
      </p:sp>
      <p:sp>
        <p:nvSpPr>
          <p:cNvPr id="15" name="Shape 13"/>
          <p:cNvSpPr/>
          <p:nvPr/>
        </p:nvSpPr>
        <p:spPr>
          <a:xfrm>
            <a:off x="845820" y="3931920"/>
            <a:ext cx="0" cy="502920"/>
          </a:xfrm>
          <a:prstGeom prst="line">
            <a:avLst/>
          </a:prstGeom>
          <a:noFill/>
          <a:ln w="19050">
            <a:solidFill>
              <a:srgbClr val="C6C6C6"/>
            </a:solidFill>
            <a:prstDash val="solid"/>
          </a:ln>
        </p:spPr>
        <p:txBody>
          <a:bodyPr/>
          <a:lstStyle/>
          <a:p>
            <a:endParaRPr lang="en-US">
              <a:latin typeface="IBM Plex Sans" panose="020B0503050203000203" pitchFamily="34" charset="0"/>
            </a:endParaRPr>
          </a:p>
        </p:txBody>
      </p:sp>
      <p:sp>
        <p:nvSpPr>
          <p:cNvPr id="16" name="Text 14"/>
          <p:cNvSpPr/>
          <p:nvPr/>
        </p:nvSpPr>
        <p:spPr>
          <a:xfrm>
            <a:off x="1234440" y="3474720"/>
            <a:ext cx="10332720" cy="502920"/>
          </a:xfrm>
          <a:prstGeom prst="rect">
            <a:avLst/>
          </a:prstGeom>
          <a:noFill/>
          <a:ln/>
        </p:spPr>
        <p:txBody>
          <a:bodyPr wrap="square" rtlCol="0" anchor="t"/>
          <a:lstStyle/>
          <a:p>
            <a:pPr marL="0" indent="0">
              <a:lnSpc>
                <a:spcPct val="102000"/>
              </a:lnSpc>
              <a:buNone/>
            </a:pPr>
            <a:r>
              <a:rPr lang="en-US" sz="1350" b="1" dirty="0">
                <a:solidFill>
                  <a:srgbClr val="001141"/>
                </a:solidFill>
                <a:latin typeface="IBM Plex Sans" panose="020B0503050203000203" pitchFamily="34" charset="0"/>
                <a:ea typeface="Arial" pitchFamily="34" charset="-122"/>
                <a:cs typeface="Arial" pitchFamily="34" charset="-120"/>
              </a:rPr>
              <a:t>Score   </a:t>
            </a:r>
            <a:r>
              <a:rPr lang="en-US" sz="1350" dirty="0">
                <a:solidFill>
                  <a:srgbClr val="525252"/>
                </a:solidFill>
                <a:latin typeface="IBM Plex Sans" panose="020B0503050203000203" pitchFamily="34" charset="0"/>
                <a:ea typeface="Arial" pitchFamily="34" charset="-122"/>
                <a:cs typeface="Arial" pitchFamily="34" charset="-120"/>
              </a:rPr>
              <a:t>Rated each on two dimensions: Value and Feasibility, using simple 1 to 3 sub-metrics.</a:t>
            </a:r>
            <a:endParaRPr lang="en-US" sz="1350" dirty="0">
              <a:latin typeface="IBM Plex Sans" panose="020B0503050203000203" pitchFamily="34" charset="0"/>
            </a:endParaRPr>
          </a:p>
        </p:txBody>
      </p:sp>
      <p:sp>
        <p:nvSpPr>
          <p:cNvPr id="17" name="Shape 15"/>
          <p:cNvSpPr/>
          <p:nvPr/>
        </p:nvSpPr>
        <p:spPr>
          <a:xfrm>
            <a:off x="640080" y="4434840"/>
            <a:ext cx="411480" cy="411480"/>
          </a:xfrm>
          <a:prstGeom prst="ellipse">
            <a:avLst/>
          </a:prstGeom>
          <a:solidFill>
            <a:srgbClr val="0F62FE"/>
          </a:solidFill>
          <a:ln/>
        </p:spPr>
        <p:txBody>
          <a:bodyPr/>
          <a:lstStyle/>
          <a:p>
            <a:endParaRPr lang="en-US">
              <a:latin typeface="IBM Plex Sans" panose="020B0503050203000203" pitchFamily="34" charset="0"/>
            </a:endParaRPr>
          </a:p>
        </p:txBody>
      </p:sp>
      <p:sp>
        <p:nvSpPr>
          <p:cNvPr id="18" name="Text 16"/>
          <p:cNvSpPr/>
          <p:nvPr/>
        </p:nvSpPr>
        <p:spPr>
          <a:xfrm>
            <a:off x="640080" y="4434840"/>
            <a:ext cx="411480" cy="411480"/>
          </a:xfrm>
          <a:prstGeom prst="rect">
            <a:avLst/>
          </a:prstGeom>
          <a:noFill/>
          <a:ln/>
        </p:spPr>
        <p:txBody>
          <a:bodyPr wrap="square" rtlCol="0" anchor="ctr"/>
          <a:lstStyle/>
          <a:p>
            <a:pPr marL="0" indent="0" algn="ctr">
              <a:buNone/>
            </a:pPr>
            <a:r>
              <a:rPr lang="en-US" sz="1400" b="1" dirty="0">
                <a:solidFill>
                  <a:srgbClr val="FFFFFF"/>
                </a:solidFill>
                <a:latin typeface="IBM Plex Sans" panose="020B0503050203000203" pitchFamily="34" charset="0"/>
                <a:ea typeface="Arial" pitchFamily="34" charset="-122"/>
                <a:cs typeface="Arial" pitchFamily="34" charset="-120"/>
              </a:rPr>
              <a:t>4</a:t>
            </a:r>
            <a:endParaRPr lang="en-US" sz="1400" dirty="0">
              <a:latin typeface="IBM Plex Sans" panose="020B0503050203000203" pitchFamily="34" charset="0"/>
            </a:endParaRPr>
          </a:p>
        </p:txBody>
      </p:sp>
      <p:sp>
        <p:nvSpPr>
          <p:cNvPr id="19" name="Shape 17"/>
          <p:cNvSpPr/>
          <p:nvPr/>
        </p:nvSpPr>
        <p:spPr>
          <a:xfrm>
            <a:off x="845820" y="4846320"/>
            <a:ext cx="0" cy="502920"/>
          </a:xfrm>
          <a:prstGeom prst="line">
            <a:avLst/>
          </a:prstGeom>
          <a:noFill/>
          <a:ln w="19050">
            <a:solidFill>
              <a:srgbClr val="C6C6C6"/>
            </a:solidFill>
            <a:prstDash val="solid"/>
          </a:ln>
        </p:spPr>
        <p:txBody>
          <a:bodyPr/>
          <a:lstStyle/>
          <a:p>
            <a:endParaRPr lang="en-US">
              <a:latin typeface="IBM Plex Sans" panose="020B0503050203000203" pitchFamily="34" charset="0"/>
            </a:endParaRPr>
          </a:p>
        </p:txBody>
      </p:sp>
      <p:sp>
        <p:nvSpPr>
          <p:cNvPr id="20" name="Text 18"/>
          <p:cNvSpPr/>
          <p:nvPr/>
        </p:nvSpPr>
        <p:spPr>
          <a:xfrm>
            <a:off x="1234440" y="4389120"/>
            <a:ext cx="10332720" cy="502920"/>
          </a:xfrm>
          <a:prstGeom prst="rect">
            <a:avLst/>
          </a:prstGeom>
          <a:noFill/>
          <a:ln/>
        </p:spPr>
        <p:txBody>
          <a:bodyPr wrap="square" rtlCol="0" anchor="t"/>
          <a:lstStyle/>
          <a:p>
            <a:pPr marL="0" indent="0">
              <a:lnSpc>
                <a:spcPct val="102000"/>
              </a:lnSpc>
              <a:buNone/>
            </a:pPr>
            <a:r>
              <a:rPr lang="en-US" sz="1350" b="1" dirty="0">
                <a:solidFill>
                  <a:srgbClr val="001141"/>
                </a:solidFill>
                <a:latin typeface="IBM Plex Sans" panose="020B0503050203000203" pitchFamily="34" charset="0"/>
                <a:ea typeface="Arial" pitchFamily="34" charset="-122"/>
                <a:cs typeface="Arial" pitchFamily="34" charset="-120"/>
              </a:rPr>
              <a:t>Place   </a:t>
            </a:r>
            <a:r>
              <a:rPr lang="en-US" sz="1350" dirty="0">
                <a:solidFill>
                  <a:srgbClr val="525252"/>
                </a:solidFill>
                <a:latin typeface="IBM Plex Sans" panose="020B0503050203000203" pitchFamily="34" charset="0"/>
                <a:ea typeface="Arial" pitchFamily="34" charset="-122"/>
                <a:cs typeface="Arial" pitchFamily="34" charset="-120"/>
              </a:rPr>
              <a:t>Plotted every initiative on a Value by Feasibility matrix to see relative priority at a glance.</a:t>
            </a:r>
            <a:endParaRPr lang="en-US" sz="1350" dirty="0">
              <a:latin typeface="IBM Plex Sans" panose="020B0503050203000203" pitchFamily="34" charset="0"/>
            </a:endParaRPr>
          </a:p>
        </p:txBody>
      </p:sp>
      <p:sp>
        <p:nvSpPr>
          <p:cNvPr id="21" name="Shape 19"/>
          <p:cNvSpPr/>
          <p:nvPr/>
        </p:nvSpPr>
        <p:spPr>
          <a:xfrm>
            <a:off x="640080" y="5349240"/>
            <a:ext cx="411480" cy="411480"/>
          </a:xfrm>
          <a:prstGeom prst="ellipse">
            <a:avLst/>
          </a:prstGeom>
          <a:solidFill>
            <a:srgbClr val="001141"/>
          </a:solidFill>
          <a:ln/>
        </p:spPr>
        <p:txBody>
          <a:bodyPr/>
          <a:lstStyle/>
          <a:p>
            <a:endParaRPr lang="en-US">
              <a:latin typeface="IBM Plex Sans" panose="020B0503050203000203" pitchFamily="34" charset="0"/>
            </a:endParaRPr>
          </a:p>
        </p:txBody>
      </p:sp>
      <p:sp>
        <p:nvSpPr>
          <p:cNvPr id="22" name="Text 20"/>
          <p:cNvSpPr/>
          <p:nvPr/>
        </p:nvSpPr>
        <p:spPr>
          <a:xfrm>
            <a:off x="640080" y="5349240"/>
            <a:ext cx="411480" cy="411480"/>
          </a:xfrm>
          <a:prstGeom prst="rect">
            <a:avLst/>
          </a:prstGeom>
          <a:noFill/>
          <a:ln/>
        </p:spPr>
        <p:txBody>
          <a:bodyPr wrap="square" rtlCol="0" anchor="ctr"/>
          <a:lstStyle/>
          <a:p>
            <a:pPr marL="0" indent="0" algn="ctr">
              <a:buNone/>
            </a:pPr>
            <a:r>
              <a:rPr lang="en-US" sz="1400" b="1" dirty="0">
                <a:solidFill>
                  <a:srgbClr val="FFFFFF"/>
                </a:solidFill>
                <a:latin typeface="IBM Plex Sans" panose="020B0503050203000203" pitchFamily="34" charset="0"/>
                <a:ea typeface="Arial" pitchFamily="34" charset="-122"/>
                <a:cs typeface="Arial" pitchFamily="34" charset="-120"/>
              </a:rPr>
              <a:t>5</a:t>
            </a:r>
            <a:endParaRPr lang="en-US" sz="1400" dirty="0">
              <a:latin typeface="IBM Plex Sans" panose="020B0503050203000203" pitchFamily="34" charset="0"/>
            </a:endParaRPr>
          </a:p>
        </p:txBody>
      </p:sp>
      <p:sp>
        <p:nvSpPr>
          <p:cNvPr id="23" name="Text 21"/>
          <p:cNvSpPr/>
          <p:nvPr/>
        </p:nvSpPr>
        <p:spPr>
          <a:xfrm>
            <a:off x="1234440" y="5303520"/>
            <a:ext cx="10332720" cy="502920"/>
          </a:xfrm>
          <a:prstGeom prst="rect">
            <a:avLst/>
          </a:prstGeom>
          <a:noFill/>
          <a:ln/>
        </p:spPr>
        <p:txBody>
          <a:bodyPr wrap="square" rtlCol="0" anchor="t"/>
          <a:lstStyle/>
          <a:p>
            <a:pPr marL="0" indent="0">
              <a:lnSpc>
                <a:spcPct val="102000"/>
              </a:lnSpc>
              <a:buNone/>
            </a:pPr>
            <a:r>
              <a:rPr lang="en-US" sz="1350" b="1" dirty="0">
                <a:solidFill>
                  <a:srgbClr val="001141"/>
                </a:solidFill>
                <a:latin typeface="IBM Plex Sans" panose="020B0503050203000203" pitchFamily="34" charset="0"/>
                <a:ea typeface="Arial" pitchFamily="34" charset="-122"/>
                <a:cs typeface="Arial" pitchFamily="34" charset="-120"/>
              </a:rPr>
              <a:t>Sequence   </a:t>
            </a:r>
            <a:r>
              <a:rPr lang="en-US" sz="1350" dirty="0">
                <a:solidFill>
                  <a:srgbClr val="525252"/>
                </a:solidFill>
                <a:latin typeface="IBM Plex Sans" panose="020B0503050203000203" pitchFamily="34" charset="0"/>
                <a:ea typeface="Arial" pitchFamily="34" charset="-122"/>
                <a:cs typeface="Arial" pitchFamily="34" charset="-120"/>
              </a:rPr>
              <a:t>Grouped the placed initiatives into capability clusters so the roadmap builds in a reinforcing order.</a:t>
            </a:r>
            <a:endParaRPr lang="en-US" sz="1350" dirty="0">
              <a:latin typeface="IBM Plex Sans" panose="020B0503050203000203" pitchFamily="34" charset="0"/>
            </a:endParaRPr>
          </a:p>
        </p:txBody>
      </p:sp>
      <p:sp>
        <p:nvSpPr>
          <p:cNvPr id="24" name="Text 22"/>
          <p:cNvSpPr/>
          <p:nvPr/>
        </p:nvSpPr>
        <p:spPr>
          <a:xfrm>
            <a:off x="1234440" y="5989320"/>
            <a:ext cx="10058400" cy="365760"/>
          </a:xfrm>
          <a:prstGeom prst="rect">
            <a:avLst/>
          </a:prstGeom>
          <a:noFill/>
          <a:ln/>
        </p:spPr>
        <p:txBody>
          <a:bodyPr wrap="square" rtlCol="0" anchor="ctr"/>
          <a:lstStyle/>
          <a:p>
            <a:pPr marL="0" indent="0">
              <a:buNone/>
            </a:pPr>
            <a:r>
              <a:rPr lang="en-US" sz="1100" i="1" dirty="0">
                <a:solidFill>
                  <a:srgbClr val="525252"/>
                </a:solidFill>
                <a:latin typeface="IBM Plex Sans" panose="020B0503050203000203" pitchFamily="34" charset="0"/>
                <a:ea typeface="Arial" pitchFamily="34" charset="-122"/>
                <a:cs typeface="Arial" pitchFamily="34" charset="-120"/>
              </a:rPr>
              <a:t>Steps 3 and 4 are objective and identical for every workflow. Step 5 is where MCC judgment shapes the sequence.</a:t>
            </a:r>
            <a:endParaRPr lang="en-US" sz="1100" dirty="0">
              <a:latin typeface="IBM Plex Sans" panose="020B0503050203000203" pitchFamily="34" charset="0"/>
            </a:endParaRPr>
          </a:p>
        </p:txBody>
      </p:sp>
      <p:sp>
        <p:nvSpPr>
          <p:cNvPr id="25" name="Text 23"/>
          <p:cNvSpPr/>
          <p:nvPr/>
        </p:nvSpPr>
        <p:spPr>
          <a:xfrm>
            <a:off x="548640" y="6473952"/>
            <a:ext cx="8229600" cy="274320"/>
          </a:xfrm>
          <a:prstGeom prst="rect">
            <a:avLst/>
          </a:prstGeom>
          <a:noFill/>
          <a:ln/>
        </p:spPr>
        <p:txBody>
          <a:bodyPr wrap="square" rtlCol="0" anchor="ctr"/>
          <a:lstStyle/>
          <a:p>
            <a:pPr marL="0" indent="0">
              <a:buNone/>
            </a:pPr>
            <a:r>
              <a:rPr lang="en-US" sz="900" dirty="0">
                <a:solidFill>
                  <a:srgbClr val="525252"/>
                </a:solidFill>
                <a:latin typeface="IBM Plex Sans" panose="020B0503050203000203" pitchFamily="34" charset="0"/>
                <a:ea typeface="Arial" pitchFamily="34" charset="-122"/>
                <a:cs typeface="Arial" pitchFamily="34" charset="-120"/>
              </a:rPr>
              <a:t>How We Prioritized  |  MCC AI Transformation</a:t>
            </a:r>
            <a:endParaRPr lang="en-US" sz="900" dirty="0">
              <a:latin typeface="IBM Plex Sans" panose="020B0503050203000203" pitchFamily="34" charset="0"/>
            </a:endParaRPr>
          </a:p>
        </p:txBody>
      </p:sp>
      <p:sp>
        <p:nvSpPr>
          <p:cNvPr id="26" name="Text 24"/>
          <p:cNvSpPr/>
          <p:nvPr/>
        </p:nvSpPr>
        <p:spPr>
          <a:xfrm>
            <a:off x="11430000" y="6473952"/>
            <a:ext cx="274320" cy="274320"/>
          </a:xfrm>
          <a:prstGeom prst="rect">
            <a:avLst/>
          </a:prstGeom>
          <a:noFill/>
          <a:ln/>
        </p:spPr>
        <p:txBody>
          <a:bodyPr wrap="square" rtlCol="0" anchor="ctr"/>
          <a:lstStyle/>
          <a:p>
            <a:pPr marL="0" indent="0" algn="r">
              <a:buNone/>
            </a:pPr>
            <a:r>
              <a:rPr lang="en-US" sz="900" dirty="0">
                <a:solidFill>
                  <a:srgbClr val="525252"/>
                </a:solidFill>
                <a:latin typeface="IBM Plex Sans" panose="020B0503050203000203" pitchFamily="34" charset="0"/>
                <a:ea typeface="Arial" pitchFamily="34" charset="-122"/>
                <a:cs typeface="Arial" pitchFamily="34" charset="-120"/>
              </a:rPr>
              <a:t>3</a:t>
            </a:r>
            <a:endParaRPr lang="en-US" sz="900" dirty="0">
              <a:latin typeface="IBM Plex Sans" panose="020B050305020300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100" b="1" kern="0" spc="100" dirty="0">
                <a:solidFill>
                  <a:srgbClr val="0F62FE"/>
                </a:solidFill>
                <a:latin typeface="IBM Plex Sans" panose="020B0503050203000203" pitchFamily="34" charset="0"/>
                <a:ea typeface="Arial" pitchFamily="34" charset="-122"/>
                <a:cs typeface="Arial" pitchFamily="34" charset="-120"/>
              </a:rPr>
              <a:t>HOW WE SCORED, THE TWO DIMENSIONS</a:t>
            </a:r>
            <a:endParaRPr lang="en-US" sz="1100" dirty="0">
              <a:latin typeface="IBM Plex Sans" panose="020B0503050203000203" pitchFamily="34" charset="0"/>
            </a:endParaRPr>
          </a:p>
        </p:txBody>
      </p:sp>
      <p:sp>
        <p:nvSpPr>
          <p:cNvPr id="3" name="Text 1"/>
          <p:cNvSpPr/>
          <p:nvPr/>
        </p:nvSpPr>
        <p:spPr>
          <a:xfrm>
            <a:off x="548640" y="640080"/>
            <a:ext cx="11064240" cy="640080"/>
          </a:xfrm>
          <a:prstGeom prst="rect">
            <a:avLst/>
          </a:prstGeom>
          <a:noFill/>
          <a:ln/>
        </p:spPr>
        <p:txBody>
          <a:bodyPr wrap="square" rtlCol="0" anchor="ctr"/>
          <a:lstStyle/>
          <a:p>
            <a:pPr marL="0" indent="0">
              <a:buNone/>
            </a:pPr>
            <a:r>
              <a:rPr lang="en-US" sz="2400" b="1" dirty="0">
                <a:solidFill>
                  <a:srgbClr val="161616"/>
                </a:solidFill>
                <a:latin typeface="IBM Plex Sans" panose="020B0503050203000203" pitchFamily="34" charset="0"/>
                <a:ea typeface="Arial" pitchFamily="34" charset="-122"/>
                <a:cs typeface="Arial" pitchFamily="34" charset="-120"/>
              </a:rPr>
              <a:t>Value, crossed with feasibility</a:t>
            </a:r>
            <a:endParaRPr lang="en-US" sz="2400" dirty="0">
              <a:latin typeface="IBM Plex Sans" panose="020B0503050203000203" pitchFamily="34" charset="0"/>
            </a:endParaRPr>
          </a:p>
        </p:txBody>
      </p:sp>
      <p:sp>
        <p:nvSpPr>
          <p:cNvPr id="4" name="Shape 2"/>
          <p:cNvSpPr/>
          <p:nvPr/>
        </p:nvSpPr>
        <p:spPr>
          <a:xfrm>
            <a:off x="548640" y="1371600"/>
            <a:ext cx="11064240" cy="0"/>
          </a:xfrm>
          <a:prstGeom prst="line">
            <a:avLst/>
          </a:prstGeom>
          <a:noFill/>
          <a:ln w="12700">
            <a:solidFill>
              <a:srgbClr val="C6C6C6"/>
            </a:solidFill>
            <a:prstDash val="solid"/>
          </a:ln>
        </p:spPr>
        <p:txBody>
          <a:bodyPr/>
          <a:lstStyle/>
          <a:p>
            <a:endParaRPr lang="en-US">
              <a:latin typeface="IBM Plex Sans" panose="020B0503050203000203" pitchFamily="34" charset="0"/>
            </a:endParaRPr>
          </a:p>
        </p:txBody>
      </p:sp>
      <p:sp>
        <p:nvSpPr>
          <p:cNvPr id="5" name="Shape 3"/>
          <p:cNvSpPr/>
          <p:nvPr/>
        </p:nvSpPr>
        <p:spPr>
          <a:xfrm>
            <a:off x="548640" y="1645920"/>
            <a:ext cx="5486400" cy="3657600"/>
          </a:xfrm>
          <a:prstGeom prst="rect">
            <a:avLst/>
          </a:prstGeom>
          <a:solidFill>
            <a:srgbClr val="FFFFFF"/>
          </a:solidFill>
          <a:ln w="12700">
            <a:solidFill>
              <a:srgbClr val="C6C6C6"/>
            </a:solidFill>
            <a:prstDash val="solid"/>
          </a:ln>
        </p:spPr>
        <p:txBody>
          <a:bodyPr/>
          <a:lstStyle/>
          <a:p>
            <a:endParaRPr lang="en-US">
              <a:latin typeface="IBM Plex Sans" panose="020B0503050203000203" pitchFamily="34" charset="0"/>
            </a:endParaRPr>
          </a:p>
        </p:txBody>
      </p:sp>
      <p:sp>
        <p:nvSpPr>
          <p:cNvPr id="6" name="Shape 4"/>
          <p:cNvSpPr/>
          <p:nvPr/>
        </p:nvSpPr>
        <p:spPr>
          <a:xfrm>
            <a:off x="548640" y="1645920"/>
            <a:ext cx="73152" cy="3657600"/>
          </a:xfrm>
          <a:prstGeom prst="rect">
            <a:avLst/>
          </a:prstGeom>
          <a:solidFill>
            <a:srgbClr val="0F62FE"/>
          </a:solidFill>
          <a:ln/>
        </p:spPr>
        <p:txBody>
          <a:bodyPr/>
          <a:lstStyle/>
          <a:p>
            <a:endParaRPr lang="en-US">
              <a:latin typeface="IBM Plex Sans" panose="020B0503050203000203" pitchFamily="34" charset="0"/>
            </a:endParaRPr>
          </a:p>
        </p:txBody>
      </p:sp>
      <p:sp>
        <p:nvSpPr>
          <p:cNvPr id="7" name="Text 5"/>
          <p:cNvSpPr/>
          <p:nvPr/>
        </p:nvSpPr>
        <p:spPr>
          <a:xfrm>
            <a:off x="749808" y="1764792"/>
            <a:ext cx="5120640" cy="320040"/>
          </a:xfrm>
          <a:prstGeom prst="rect">
            <a:avLst/>
          </a:prstGeom>
          <a:noFill/>
          <a:ln/>
        </p:spPr>
        <p:txBody>
          <a:bodyPr wrap="square" rtlCol="0" anchor="ctr"/>
          <a:lstStyle/>
          <a:p>
            <a:pPr marL="0" indent="0">
              <a:buNone/>
            </a:pPr>
            <a:r>
              <a:rPr lang="en-US" sz="1300" b="1" dirty="0">
                <a:solidFill>
                  <a:srgbClr val="161616"/>
                </a:solidFill>
                <a:latin typeface="IBM Plex Sans" panose="020B0503050203000203" pitchFamily="34" charset="0"/>
                <a:ea typeface="Arial" pitchFamily="34" charset="-122"/>
                <a:cs typeface="Arial" pitchFamily="34" charset="-120"/>
              </a:rPr>
              <a:t>Value</a:t>
            </a:r>
            <a:endParaRPr lang="en-US" sz="1300" dirty="0">
              <a:latin typeface="IBM Plex Sans" panose="020B0503050203000203" pitchFamily="34" charset="0"/>
            </a:endParaRPr>
          </a:p>
        </p:txBody>
      </p:sp>
      <p:sp>
        <p:nvSpPr>
          <p:cNvPr id="8" name="Text 6"/>
          <p:cNvSpPr/>
          <p:nvPr/>
        </p:nvSpPr>
        <p:spPr>
          <a:xfrm>
            <a:off x="749808" y="2121408"/>
            <a:ext cx="5120640" cy="3090672"/>
          </a:xfrm>
          <a:prstGeom prst="rect">
            <a:avLst/>
          </a:prstGeom>
          <a:noFill/>
          <a:ln/>
        </p:spPr>
        <p:txBody>
          <a:bodyPr wrap="square" rtlCol="0" anchor="t"/>
          <a:lstStyle/>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Direct value over current approaches: efficiency, effectiveness, speed.</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Sized first by relative efficiency impact, how many resources the process consumes today. The heaviest factor, about 50%.</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Then productivity, the share of that effort AI can remove, plus alignment to MCC strategy.</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Time to value.</a:t>
            </a:r>
            <a:endParaRPr lang="en-US" sz="1050" dirty="0">
              <a:latin typeface="IBM Plex Sans" panose="020B0503050203000203" pitchFamily="34" charset="0"/>
            </a:endParaRPr>
          </a:p>
          <a:p>
            <a:pPr>
              <a:spcBef>
                <a:spcPts val="800"/>
              </a:spcBef>
            </a:pPr>
            <a:r>
              <a:rPr sz="1050" b="0" i="0" dirty="0">
                <a:solidFill>
                  <a:srgbClr val="525252"/>
                </a:solidFill>
                <a:latin typeface="IBM Plex Sans" panose="020B0503050203000203" pitchFamily="34" charset="0"/>
              </a:rPr>
              <a:t>Business priority is the top-line lens: the KPIs each initiative moves (revenue or pipeline), T-shirt sized high, medium, or low.</a:t>
            </a:r>
          </a:p>
        </p:txBody>
      </p:sp>
      <p:sp>
        <p:nvSpPr>
          <p:cNvPr id="9" name="Shape 7"/>
          <p:cNvSpPr/>
          <p:nvPr/>
        </p:nvSpPr>
        <p:spPr>
          <a:xfrm>
            <a:off x="6172200" y="1645920"/>
            <a:ext cx="5440680" cy="3657600"/>
          </a:xfrm>
          <a:prstGeom prst="rect">
            <a:avLst/>
          </a:prstGeom>
          <a:solidFill>
            <a:srgbClr val="FFFFFF"/>
          </a:solidFill>
          <a:ln w="12700">
            <a:solidFill>
              <a:srgbClr val="C6C6C6"/>
            </a:solidFill>
            <a:prstDash val="solid"/>
          </a:ln>
        </p:spPr>
        <p:txBody>
          <a:bodyPr/>
          <a:lstStyle/>
          <a:p>
            <a:endParaRPr lang="en-US">
              <a:latin typeface="IBM Plex Sans" panose="020B0503050203000203" pitchFamily="34" charset="0"/>
            </a:endParaRPr>
          </a:p>
        </p:txBody>
      </p:sp>
      <p:sp>
        <p:nvSpPr>
          <p:cNvPr id="10" name="Shape 8"/>
          <p:cNvSpPr/>
          <p:nvPr/>
        </p:nvSpPr>
        <p:spPr>
          <a:xfrm>
            <a:off x="6172200" y="1645920"/>
            <a:ext cx="73152" cy="3657600"/>
          </a:xfrm>
          <a:prstGeom prst="rect">
            <a:avLst/>
          </a:prstGeom>
          <a:solidFill>
            <a:srgbClr val="24A148"/>
          </a:solidFill>
          <a:ln/>
        </p:spPr>
        <p:txBody>
          <a:bodyPr/>
          <a:lstStyle/>
          <a:p>
            <a:endParaRPr lang="en-US">
              <a:latin typeface="IBM Plex Sans" panose="020B0503050203000203" pitchFamily="34" charset="0"/>
            </a:endParaRPr>
          </a:p>
        </p:txBody>
      </p:sp>
      <p:sp>
        <p:nvSpPr>
          <p:cNvPr id="11" name="Text 9"/>
          <p:cNvSpPr/>
          <p:nvPr/>
        </p:nvSpPr>
        <p:spPr>
          <a:xfrm>
            <a:off x="6373368" y="1764792"/>
            <a:ext cx="5074920" cy="320040"/>
          </a:xfrm>
          <a:prstGeom prst="rect">
            <a:avLst/>
          </a:prstGeom>
          <a:noFill/>
          <a:ln/>
        </p:spPr>
        <p:txBody>
          <a:bodyPr wrap="square" rtlCol="0" anchor="ctr"/>
          <a:lstStyle/>
          <a:p>
            <a:pPr marL="0" indent="0">
              <a:buNone/>
            </a:pPr>
            <a:r>
              <a:rPr lang="en-US" sz="1300" b="1" dirty="0">
                <a:solidFill>
                  <a:srgbClr val="161616"/>
                </a:solidFill>
                <a:latin typeface="IBM Plex Sans" panose="020B0503050203000203" pitchFamily="34" charset="0"/>
                <a:ea typeface="Arial" pitchFamily="34" charset="-122"/>
                <a:cs typeface="Arial" pitchFamily="34" charset="-120"/>
              </a:rPr>
              <a:t>Feasibility</a:t>
            </a:r>
            <a:endParaRPr lang="en-US" sz="1300" dirty="0">
              <a:latin typeface="IBM Plex Sans" panose="020B0503050203000203" pitchFamily="34" charset="0"/>
            </a:endParaRPr>
          </a:p>
        </p:txBody>
      </p:sp>
      <p:sp>
        <p:nvSpPr>
          <p:cNvPr id="12" name="Text 10"/>
          <p:cNvSpPr/>
          <p:nvPr/>
        </p:nvSpPr>
        <p:spPr>
          <a:xfrm>
            <a:off x="6373368" y="2121408"/>
            <a:ext cx="5074920" cy="3090672"/>
          </a:xfrm>
          <a:prstGeom prst="rect">
            <a:avLst/>
          </a:prstGeom>
          <a:noFill/>
          <a:ln/>
        </p:spPr>
        <p:txBody>
          <a:bodyPr wrap="square" rtlCol="0" anchor="t"/>
          <a:lstStyle/>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A joint CIO and delivery-team assessment.</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Data availability and quality (sensitivity, semantic readiness, security).</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Dependency on and maturity of existing platforms.</a:t>
            </a:r>
            <a:endParaRPr lang="en-US" sz="1050" dirty="0">
              <a:latin typeface="IBM Plex Sans" panose="020B0503050203000203" pitchFamily="34" charset="0"/>
            </a:endParaRPr>
          </a:p>
          <a:p>
            <a:pPr marL="0" indent="0">
              <a:lnSpc>
                <a:spcPct val="103000"/>
              </a:lnSpc>
              <a:buNone/>
            </a:pPr>
            <a:endParaRPr lang="en-US" sz="1050" dirty="0">
              <a:latin typeface="IBM Plex Sans" panose="020B0503050203000203" pitchFamily="34" charset="0"/>
            </a:endParaRPr>
          </a:p>
          <a:p>
            <a:pPr marL="0" indent="0">
              <a:lnSpc>
                <a:spcPct val="103000"/>
              </a:lnSpc>
              <a:buNone/>
            </a:pPr>
            <a:r>
              <a:rPr lang="en-US" sz="1050" dirty="0">
                <a:solidFill>
                  <a:srgbClr val="525252"/>
                </a:solidFill>
                <a:latin typeface="IBM Plex Sans" panose="020B0503050203000203" pitchFamily="34" charset="0"/>
                <a:ea typeface="Arial" pitchFamily="34" charset="-122"/>
                <a:cs typeface="Arial" pitchFamily="34" charset="-120"/>
              </a:rPr>
              <a:t>Level of effort and implementation complexity (agent outcome, identity, organizational).</a:t>
            </a:r>
            <a:endParaRPr lang="en-US" sz="1050" dirty="0">
              <a:latin typeface="IBM Plex Sans" panose="020B0503050203000203" pitchFamily="34" charset="0"/>
            </a:endParaRPr>
          </a:p>
        </p:txBody>
      </p:sp>
      <p:sp>
        <p:nvSpPr>
          <p:cNvPr id="13" name="Text 11"/>
          <p:cNvSpPr/>
          <p:nvPr/>
        </p:nvSpPr>
        <p:spPr>
          <a:xfrm>
            <a:off x="548640" y="5486400"/>
            <a:ext cx="10972800" cy="457200"/>
          </a:xfrm>
          <a:prstGeom prst="rect">
            <a:avLst/>
          </a:prstGeom>
          <a:noFill/>
          <a:ln/>
        </p:spPr>
        <p:txBody>
          <a:bodyPr wrap="square" rtlCol="0" anchor="ctr"/>
          <a:lstStyle/>
          <a:p>
            <a:pPr marL="0" indent="0">
              <a:buNone/>
            </a:pPr>
            <a:r>
              <a:rPr lang="en-US" sz="1200" i="1" dirty="0">
                <a:solidFill>
                  <a:srgbClr val="525252"/>
                </a:solidFill>
                <a:latin typeface="IBM Plex Sans" panose="020B0503050203000203" pitchFamily="34" charset="0"/>
                <a:ea typeface="Arial" pitchFamily="34" charset="-122"/>
                <a:cs typeface="Arial" pitchFamily="34" charset="-120"/>
              </a:rPr>
              <a:t>Both dimensions consider AI capabilities from across the martech ecosystem, not just one vendor. Efficiency is quantified; top-line impact is kept directional, captured through business priority.</a:t>
            </a:r>
            <a:endParaRPr lang="en-US" sz="1200" dirty="0">
              <a:latin typeface="IBM Plex Sans" panose="020B0503050203000203" pitchFamily="34" charset="0"/>
            </a:endParaRPr>
          </a:p>
        </p:txBody>
      </p:sp>
      <p:sp>
        <p:nvSpPr>
          <p:cNvPr id="14" name="Text 12"/>
          <p:cNvSpPr/>
          <p:nvPr/>
        </p:nvSpPr>
        <p:spPr>
          <a:xfrm>
            <a:off x="548640" y="6473952"/>
            <a:ext cx="8229600" cy="274320"/>
          </a:xfrm>
          <a:prstGeom prst="rect">
            <a:avLst/>
          </a:prstGeom>
          <a:noFill/>
          <a:ln/>
        </p:spPr>
        <p:txBody>
          <a:bodyPr wrap="square" rtlCol="0" anchor="ctr"/>
          <a:lstStyle/>
          <a:p>
            <a:pPr marL="0" indent="0">
              <a:buNone/>
            </a:pPr>
            <a:r>
              <a:rPr lang="en-US" sz="900" dirty="0">
                <a:solidFill>
                  <a:srgbClr val="525252"/>
                </a:solidFill>
                <a:latin typeface="IBM Plex Sans" panose="020B0503050203000203" pitchFamily="34" charset="0"/>
                <a:ea typeface="Arial" pitchFamily="34" charset="-122"/>
                <a:cs typeface="Arial" pitchFamily="34" charset="-120"/>
              </a:rPr>
              <a:t>How We Prioritized  |  MCC AI Transformation</a:t>
            </a:r>
            <a:endParaRPr lang="en-US" sz="900" dirty="0">
              <a:latin typeface="IBM Plex Sans" panose="020B0503050203000203" pitchFamily="34" charset="0"/>
            </a:endParaRPr>
          </a:p>
        </p:txBody>
      </p:sp>
      <p:sp>
        <p:nvSpPr>
          <p:cNvPr id="15" name="Text 13"/>
          <p:cNvSpPr/>
          <p:nvPr/>
        </p:nvSpPr>
        <p:spPr>
          <a:xfrm>
            <a:off x="11430000" y="6473952"/>
            <a:ext cx="274320" cy="274320"/>
          </a:xfrm>
          <a:prstGeom prst="rect">
            <a:avLst/>
          </a:prstGeom>
          <a:noFill/>
          <a:ln/>
        </p:spPr>
        <p:txBody>
          <a:bodyPr wrap="square" rtlCol="0" anchor="ctr"/>
          <a:lstStyle/>
          <a:p>
            <a:pPr marL="0" indent="0" algn="r">
              <a:buNone/>
            </a:pPr>
            <a:r>
              <a:rPr lang="en-US" sz="900" dirty="0">
                <a:solidFill>
                  <a:srgbClr val="525252"/>
                </a:solidFill>
                <a:latin typeface="IBM Plex Sans" panose="020B0503050203000203" pitchFamily="34" charset="0"/>
                <a:ea typeface="Arial" pitchFamily="34" charset="-122"/>
                <a:cs typeface="Arial" pitchFamily="34" charset="-120"/>
              </a:rPr>
              <a:t>4</a:t>
            </a:r>
            <a:endParaRPr lang="en-US" sz="900" dirty="0">
              <a:latin typeface="IBM Plex Sans" panose="020B050305020300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31FBE-076A-705F-2B27-3C843C3C889D}"/>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53D71CAC-51C9-F5E2-2B08-08FCADCA0967}"/>
              </a:ext>
            </a:extLst>
          </p:cNvPr>
          <p:cNvGraphicFramePr>
            <a:graphicFrameLocks/>
          </p:cNvGraphicFramePr>
          <p:nvPr>
            <p:custDataLst>
              <p:tags r:id="rId1"/>
            </p:custDataLst>
          </p:nvPr>
        </p:nvGraphicFramePr>
        <p:xfrm>
          <a:off x="794" y="1240"/>
          <a:ext cx="794" cy="794"/>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15" name="think-cell data - do not delete" hidden="1">
                        <a:extLst>
                          <a:ext uri="{FF2B5EF4-FFF2-40B4-BE49-F238E27FC236}">
                            <a16:creationId xmlns:a16="http://schemas.microsoft.com/office/drawing/2014/main" id="{53D71CAC-51C9-F5E2-2B08-08FCADCA0967}"/>
                          </a:ext>
                        </a:extLst>
                      </p:cNvPr>
                      <p:cNvPicPr/>
                      <p:nvPr/>
                    </p:nvPicPr>
                    <p:blipFill>
                      <a:blip r:embed="rId5"/>
                      <a:stretch>
                        <a:fillRect/>
                      </a:stretch>
                    </p:blipFill>
                    <p:spPr>
                      <a:xfrm>
                        <a:off x="794" y="1240"/>
                        <a:ext cx="794" cy="794"/>
                      </a:xfrm>
                      <a:prstGeom prst="rect">
                        <a:avLst/>
                      </a:prstGeom>
                    </p:spPr>
                  </p:pic>
                </p:oleObj>
              </mc:Fallback>
            </mc:AlternateContent>
          </a:graphicData>
        </a:graphic>
      </p:graphicFrame>
      <p:sp>
        <p:nvSpPr>
          <p:cNvPr id="5" name="Slide Number Placeholder 3">
            <a:extLst>
              <a:ext uri="{FF2B5EF4-FFF2-40B4-BE49-F238E27FC236}">
                <a16:creationId xmlns:a16="http://schemas.microsoft.com/office/drawing/2014/main" id="{EADD9E31-3CD1-9F50-EBB9-2A47AF9B2830}"/>
              </a:ext>
            </a:extLst>
          </p:cNvPr>
          <p:cNvSpPr txBox="1">
            <a:spLocks/>
          </p:cNvSpPr>
          <p:nvPr/>
        </p:nvSpPr>
        <p:spPr>
          <a:xfrm>
            <a:off x="9609014" y="6589366"/>
            <a:ext cx="2437992" cy="222220"/>
          </a:xfrm>
          <a:prstGeom prst="rect">
            <a:avLst/>
          </a:prstGeom>
        </p:spPr>
        <p:txBody>
          <a:bodyPr vert="horz" lIns="0" tIns="0" rIns="0" bIns="0" rtlCol="0" anchor="ctr"/>
          <a:lstStyle>
            <a:defPPr>
              <a:defRPr lang="en-US"/>
            </a:defPPr>
            <a:lvl1pPr marL="0" algn="r" defTabSz="685800" rtl="0" eaLnBrk="1" latinLnBrk="0" hangingPunct="1">
              <a:defRPr sz="600" b="0" i="0" kern="1200">
                <a:solidFill>
                  <a:schemeClr val="tx1"/>
                </a:solidFill>
                <a:latin typeface="IBM Plex Sans" panose="020B0503050203000203" pitchFamily="34"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r" defTabSz="914194" rtl="0" eaLnBrk="1" fontAlgn="auto" latinLnBrk="0" hangingPunct="1">
              <a:lnSpc>
                <a:spcPct val="100000"/>
              </a:lnSpc>
              <a:spcBef>
                <a:spcPts val="0"/>
              </a:spcBef>
              <a:spcAft>
                <a:spcPts val="0"/>
              </a:spcAft>
              <a:buClrTx/>
              <a:buSzTx/>
              <a:buFontTx/>
              <a:buNone/>
              <a:tabLst/>
              <a:defRPr/>
            </a:pPr>
            <a:fld id="{59395FB3-9C97-154F-86B2-7E381B951268}" type="slidenum">
              <a:rPr kumimoji="0" lang="en-US" sz="933" b="0" i="0" u="none" strike="noStrike" kern="1200" cap="none" spc="0" normalizeH="0" baseline="0" noProof="0">
                <a:ln>
                  <a:noFill/>
                </a:ln>
                <a:solidFill>
                  <a:srgbClr val="000000"/>
                </a:solidFill>
                <a:effectLst/>
                <a:uLnTx/>
                <a:uFillTx/>
                <a:ea typeface="+mn-ea"/>
                <a:cs typeface="+mn-cs"/>
              </a:rPr>
              <a:pPr marL="0" marR="0" lvl="0" indent="0" algn="r" defTabSz="914194" rtl="0" eaLnBrk="1" fontAlgn="auto" latinLnBrk="0" hangingPunct="1">
                <a:lnSpc>
                  <a:spcPct val="100000"/>
                </a:lnSpc>
                <a:spcBef>
                  <a:spcPts val="0"/>
                </a:spcBef>
                <a:spcAft>
                  <a:spcPts val="0"/>
                </a:spcAft>
                <a:buClrTx/>
                <a:buSzTx/>
                <a:buFontTx/>
                <a:buNone/>
                <a:tabLst/>
                <a:defRPr/>
              </a:pPr>
              <a:t>5</a:t>
            </a:fld>
            <a:endParaRPr kumimoji="0" lang="en-US" sz="933" b="0" i="0" u="none" strike="noStrike" kern="1200" cap="none" spc="0" normalizeH="0" baseline="0" noProof="0">
              <a:ln>
                <a:noFill/>
              </a:ln>
              <a:solidFill>
                <a:srgbClr val="000000"/>
              </a:solidFill>
              <a:effectLst/>
              <a:uLnTx/>
              <a:uFillTx/>
              <a:ea typeface="+mn-ea"/>
              <a:cs typeface="+mn-cs"/>
            </a:endParaRPr>
          </a:p>
        </p:txBody>
      </p:sp>
      <p:sp>
        <p:nvSpPr>
          <p:cNvPr id="29" name="TextBox 28">
            <a:extLst>
              <a:ext uri="{FF2B5EF4-FFF2-40B4-BE49-F238E27FC236}">
                <a16:creationId xmlns:a16="http://schemas.microsoft.com/office/drawing/2014/main" id="{3236FDDC-D82D-3380-6499-29BB7F05C036}"/>
              </a:ext>
            </a:extLst>
          </p:cNvPr>
          <p:cNvSpPr txBox="1"/>
          <p:nvPr/>
        </p:nvSpPr>
        <p:spPr>
          <a:xfrm>
            <a:off x="223196" y="1034370"/>
            <a:ext cx="3120891" cy="1923579"/>
          </a:xfrm>
          <a:prstGeom prst="rect">
            <a:avLst/>
          </a:prstGeom>
          <a:noFill/>
        </p:spPr>
        <p:txBody>
          <a:bodyPr wrap="square" lIns="182856" tIns="91428" rIns="182856" bIns="91428" rtlCol="0" anchor="ctr">
            <a:spAutoFit/>
          </a:bodyPr>
          <a:lstStyle/>
          <a:p>
            <a:pPr marL="0" marR="0" lvl="0" indent="0" algn="l" defTabSz="914180" rtl="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dirty="0">
                <a:ln>
                  <a:noFill/>
                </a:ln>
                <a:solidFill>
                  <a:srgbClr val="0F62FE"/>
                </a:solidFill>
                <a:effectLst/>
                <a:uLnTx/>
                <a:uFillTx/>
                <a:latin typeface="IBM Plex Sans" panose="020B0503050203000203" pitchFamily="34" charset="0"/>
                <a:ea typeface="IBM Plex Sans" charset="0"/>
                <a:cs typeface="IBM Plex Sans" charset="0"/>
              </a:rPr>
              <a:t>Value</a:t>
            </a:r>
          </a:p>
          <a:p>
            <a:pPr marL="171409" marR="0" lvl="0" indent="-171409" algn="l" defTabSz="9141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lumMod val="75000"/>
                    <a:lumOff val="25000"/>
                  </a:srgbClr>
                </a:solidFill>
                <a:effectLst/>
                <a:uLnTx/>
                <a:uFillTx/>
                <a:latin typeface="IBM Plex Sans" panose="020B0503050203000203" pitchFamily="34" charset="0"/>
                <a:ea typeface="IBM Plex Sans" charset="0"/>
                <a:cs typeface="IBM Plex Sans" charset="0"/>
              </a:rPr>
              <a:t>Direct value over current approaches (incl. efficiency, effectiveness, speed)</a:t>
            </a:r>
          </a:p>
          <a:p>
            <a:pPr marL="171409" marR="0" lvl="0" indent="-171409" algn="l" defTabSz="9141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lumMod val="75000"/>
                    <a:lumOff val="25000"/>
                  </a:srgbClr>
                </a:solidFill>
                <a:effectLst/>
                <a:uLnTx/>
                <a:uFillTx/>
                <a:latin typeface="IBM Plex Sans" panose="020B0503050203000203" pitchFamily="34" charset="0"/>
                <a:ea typeface="IBM Plex Sans" charset="0"/>
                <a:cs typeface="IBM Plex Sans" charset="0"/>
              </a:rPr>
              <a:t>Alignment to MCC strategy and agentic vision</a:t>
            </a:r>
          </a:p>
          <a:p>
            <a:pPr marL="171409" marR="0" lvl="0" indent="-171409" algn="l" defTabSz="91418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000000">
                    <a:lumMod val="75000"/>
                    <a:lumOff val="25000"/>
                  </a:srgbClr>
                </a:solidFill>
                <a:effectLst/>
                <a:uLnTx/>
                <a:uFillTx/>
                <a:latin typeface="IBM Plex Sans" panose="020B0503050203000203" pitchFamily="34" charset="0"/>
                <a:ea typeface="IBM Plex Sans" charset="0"/>
                <a:cs typeface="IBM Plex Sans" charset="0"/>
              </a:rPr>
              <a:t>Time to value</a:t>
            </a:r>
          </a:p>
        </p:txBody>
      </p:sp>
      <p:sp>
        <p:nvSpPr>
          <p:cNvPr id="30" name="TextBox 29">
            <a:extLst>
              <a:ext uri="{FF2B5EF4-FFF2-40B4-BE49-F238E27FC236}">
                <a16:creationId xmlns:a16="http://schemas.microsoft.com/office/drawing/2014/main" id="{CF44505B-EA06-92F5-0E7C-622E272DD948}"/>
              </a:ext>
            </a:extLst>
          </p:cNvPr>
          <p:cNvSpPr txBox="1"/>
          <p:nvPr/>
        </p:nvSpPr>
        <p:spPr>
          <a:xfrm>
            <a:off x="223195" y="3245020"/>
            <a:ext cx="3812197" cy="2139023"/>
          </a:xfrm>
          <a:prstGeom prst="rect">
            <a:avLst/>
          </a:prstGeom>
          <a:noFill/>
        </p:spPr>
        <p:txBody>
          <a:bodyPr wrap="square" lIns="182856" tIns="91428" rIns="182856" bIns="91428" rtlCol="0" anchor="t">
            <a:spAutoFit/>
          </a:bodyPr>
          <a:lstStyle/>
          <a:p>
            <a:pPr marL="0" marR="0" lvl="0" indent="0" algn="l" defTabSz="914180" rtl="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a:ln>
                  <a:noFill/>
                </a:ln>
                <a:solidFill>
                  <a:srgbClr val="0F62FE"/>
                </a:solidFill>
                <a:effectLst/>
                <a:uLnTx/>
                <a:uFillTx/>
                <a:latin typeface="IBM Plex Sans" panose="020B0503050203000203" pitchFamily="34" charset="0"/>
                <a:ea typeface="IBM Plex Sans" charset="0"/>
                <a:cs typeface="IBM Plex Sans" charset="0"/>
              </a:rPr>
              <a:t>Feasibility*</a:t>
            </a:r>
          </a:p>
          <a:p>
            <a:pPr marL="171098" lvl="0" indent="-171098" defTabSz="914180">
              <a:spcAft>
                <a:spcPts val="600"/>
              </a:spcAft>
              <a:buFont typeface="Arial" panose="020B0604020202020204" pitchFamily="34" charset="0"/>
              <a:buChar char="•"/>
              <a:defRPr/>
            </a:pPr>
            <a:r>
              <a:rPr lang="en-US" altLang="en-US" sz="1400">
                <a:solidFill>
                  <a:schemeClr val="bg2">
                    <a:lumMod val="10000"/>
                  </a:schemeClr>
                </a:solidFill>
                <a:latin typeface="IBM Plex Sans" panose="020B0503050203000203" pitchFamily="34" charset="0"/>
              </a:rPr>
              <a:t>Data availability and quality (data sensitivity, semantic readiness, security)</a:t>
            </a:r>
          </a:p>
          <a:p>
            <a:pPr marL="171098" indent="-171098" defTabSz="914180">
              <a:spcAft>
                <a:spcPts val="600"/>
              </a:spcAft>
              <a:buFont typeface="Arial" panose="020B0604020202020204" pitchFamily="34" charset="0"/>
              <a:buChar char="•"/>
              <a:defRPr/>
            </a:pPr>
            <a:r>
              <a:rPr lang="en-US" sz="1400" kern="0">
                <a:solidFill>
                  <a:schemeClr val="bg2">
                    <a:lumMod val="10000"/>
                  </a:schemeClr>
                </a:solidFill>
                <a:latin typeface="IBM Plex Sans" panose="020B0503050203000203" pitchFamily="34" charset="0"/>
              </a:rPr>
              <a:t>Dependency and Maturity of CIO existing platforms</a:t>
            </a:r>
            <a:endParaRPr lang="en-US" altLang="en-US" sz="1400">
              <a:solidFill>
                <a:schemeClr val="bg2">
                  <a:lumMod val="10000"/>
                </a:schemeClr>
              </a:solidFill>
              <a:latin typeface="IBM Plex Sans" panose="020B0503050203000203" pitchFamily="34" charset="0"/>
            </a:endParaRPr>
          </a:p>
          <a:p>
            <a:pPr marL="171098" indent="-171098" defTabSz="914180">
              <a:spcAft>
                <a:spcPts val="600"/>
              </a:spcAft>
              <a:buFont typeface="Arial" panose="020B0604020202020204" pitchFamily="34" charset="0"/>
              <a:buChar char="•"/>
              <a:defRPr/>
            </a:pPr>
            <a:r>
              <a:rPr lang="en-US" altLang="en-US" sz="1400">
                <a:solidFill>
                  <a:schemeClr val="bg2">
                    <a:lumMod val="10000"/>
                  </a:schemeClr>
                </a:solidFill>
                <a:latin typeface="IBM Plex Sans" panose="020B0503050203000203" pitchFamily="34" charset="0"/>
              </a:rPr>
              <a:t>Implementation complexity (agent outcome, identity management, and organizational) </a:t>
            </a:r>
          </a:p>
        </p:txBody>
      </p:sp>
      <p:grpSp>
        <p:nvGrpSpPr>
          <p:cNvPr id="6" name="Group 5">
            <a:extLst>
              <a:ext uri="{FF2B5EF4-FFF2-40B4-BE49-F238E27FC236}">
                <a16:creationId xmlns:a16="http://schemas.microsoft.com/office/drawing/2014/main" id="{5FEABDB9-22FD-97F0-EF92-7E2EE4DC5C92}"/>
              </a:ext>
            </a:extLst>
          </p:cNvPr>
          <p:cNvGrpSpPr/>
          <p:nvPr/>
        </p:nvGrpSpPr>
        <p:grpSpPr>
          <a:xfrm>
            <a:off x="398592" y="6182562"/>
            <a:ext cx="4172914" cy="607700"/>
            <a:chOff x="2311861" y="12083785"/>
            <a:chExt cx="8346914" cy="1215554"/>
          </a:xfrm>
        </p:grpSpPr>
        <p:sp>
          <p:nvSpPr>
            <p:cNvPr id="70" name="TextBox 69">
              <a:extLst>
                <a:ext uri="{FF2B5EF4-FFF2-40B4-BE49-F238E27FC236}">
                  <a16:creationId xmlns:a16="http://schemas.microsoft.com/office/drawing/2014/main" id="{52962716-82F8-004C-33E8-9208208BF202}"/>
                </a:ext>
              </a:extLst>
            </p:cNvPr>
            <p:cNvSpPr txBox="1"/>
            <p:nvPr/>
          </p:nvSpPr>
          <p:spPr>
            <a:xfrm>
              <a:off x="2311861" y="12083785"/>
              <a:ext cx="8346914" cy="707930"/>
            </a:xfrm>
            <a:prstGeom prst="rect">
              <a:avLst/>
            </a:prstGeom>
            <a:noFill/>
          </p:spPr>
          <p:txBody>
            <a:bodyPr wrap="none" lIns="91428" tIns="91428" rIns="91428" bIns="91428" rtlCol="0" anchor="ctr">
              <a:spAutoFit/>
            </a:bodyPr>
            <a:lstStyle/>
            <a:p>
              <a:pPr marL="0" marR="0" lvl="0" indent="0" algn="ctr" defTabSz="914217" rtl="0" eaLnBrk="1" fontAlgn="auto" latinLnBrk="0" hangingPunct="1">
                <a:lnSpc>
                  <a:spcPct val="100000"/>
                </a:lnSpc>
                <a:spcBef>
                  <a:spcPts val="1100"/>
                </a:spcBef>
                <a:spcAft>
                  <a:spcPts val="0"/>
                </a:spcAft>
                <a:buClrTx/>
                <a:buSzTx/>
                <a:buFontTx/>
                <a:buNone/>
                <a:tabLst/>
                <a:defRPr/>
              </a:pPr>
              <a:r>
                <a:rPr kumimoji="0" lang="en-US" sz="1100" b="0" i="0" u="none" strike="noStrike" kern="1200" cap="none" spc="0" normalizeH="0" baseline="0" noProof="0">
                  <a:ln>
                    <a:noFill/>
                  </a:ln>
                  <a:solidFill>
                    <a:srgbClr val="8D8D8D"/>
                  </a:solidFill>
                  <a:effectLst/>
                  <a:uLnTx/>
                  <a:uFillTx/>
                  <a:latin typeface="IBM Plex Sans" panose="020B0503050203000203" pitchFamily="34" charset="0"/>
                  <a:ea typeface="IBM Plex Sans" charset="0"/>
                  <a:cs typeface="IBM Plex Sans" charset="0"/>
                </a:rPr>
                <a:t>Considering AI capabilities from across the </a:t>
              </a:r>
              <a:r>
                <a:rPr kumimoji="0" lang="en-US" sz="1100" b="0" i="0" u="none" strike="noStrike" kern="1200" cap="none" spc="0" normalizeH="0" baseline="0" noProof="0" err="1">
                  <a:ln>
                    <a:noFill/>
                  </a:ln>
                  <a:solidFill>
                    <a:srgbClr val="8D8D8D"/>
                  </a:solidFill>
                  <a:effectLst/>
                  <a:uLnTx/>
                  <a:uFillTx/>
                  <a:latin typeface="IBM Plex Sans" panose="020B0503050203000203" pitchFamily="34" charset="0"/>
                  <a:ea typeface="IBM Plex Sans" charset="0"/>
                  <a:cs typeface="IBM Plex Sans" charset="0"/>
                </a:rPr>
                <a:t>martech</a:t>
              </a:r>
              <a:r>
                <a:rPr kumimoji="0" lang="en-US" sz="1100" b="0" i="0" u="none" strike="noStrike" kern="1200" cap="none" spc="0" normalizeH="0" baseline="0" noProof="0">
                  <a:ln>
                    <a:noFill/>
                  </a:ln>
                  <a:solidFill>
                    <a:srgbClr val="8D8D8D"/>
                  </a:solidFill>
                  <a:effectLst/>
                  <a:uLnTx/>
                  <a:uFillTx/>
                  <a:latin typeface="IBM Plex Sans" panose="020B0503050203000203" pitchFamily="34" charset="0"/>
                  <a:ea typeface="IBM Plex Sans" charset="0"/>
                  <a:cs typeface="IBM Plex Sans" charset="0"/>
                </a:rPr>
                <a:t> ecosystem</a:t>
              </a:r>
            </a:p>
          </p:txBody>
        </p:sp>
        <p:grpSp>
          <p:nvGrpSpPr>
            <p:cNvPr id="13" name="Group 12">
              <a:extLst>
                <a:ext uri="{FF2B5EF4-FFF2-40B4-BE49-F238E27FC236}">
                  <a16:creationId xmlns:a16="http://schemas.microsoft.com/office/drawing/2014/main" id="{2FAE6BC1-0F60-4EA1-59EE-A1E189CAF9DF}"/>
                </a:ext>
              </a:extLst>
            </p:cNvPr>
            <p:cNvGrpSpPr/>
            <p:nvPr/>
          </p:nvGrpSpPr>
          <p:grpSpPr>
            <a:xfrm>
              <a:off x="2618673" y="12512149"/>
              <a:ext cx="7921393" cy="787190"/>
              <a:chOff x="2618673" y="12127141"/>
              <a:chExt cx="7921393" cy="787190"/>
            </a:xfrm>
          </p:grpSpPr>
          <p:pic>
            <p:nvPicPr>
              <p:cNvPr id="62" name="Picture 61">
                <a:extLst>
                  <a:ext uri="{FF2B5EF4-FFF2-40B4-BE49-F238E27FC236}">
                    <a16:creationId xmlns:a16="http://schemas.microsoft.com/office/drawing/2014/main" id="{9E9BA970-5EA3-D8A7-06C7-22C214672D26}"/>
                  </a:ext>
                </a:extLst>
              </p:cNvPr>
              <p:cNvPicPr>
                <a:picLocks noChangeAspect="1"/>
              </p:cNvPicPr>
              <p:nvPr/>
            </p:nvPicPr>
            <p:blipFill>
              <a:blip r:embed="rId6"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3925222" y="12322027"/>
                <a:ext cx="567740" cy="397418"/>
              </a:xfrm>
              <a:prstGeom prst="rect">
                <a:avLst/>
              </a:prstGeom>
            </p:spPr>
          </p:pic>
          <p:pic>
            <p:nvPicPr>
              <p:cNvPr id="65" name="Picture 64" descr="Logo&#10;&#10;Description automatically generated">
                <a:extLst>
                  <a:ext uri="{FF2B5EF4-FFF2-40B4-BE49-F238E27FC236}">
                    <a16:creationId xmlns:a16="http://schemas.microsoft.com/office/drawing/2014/main" id="{CD43D706-FE45-81C3-EEA3-319C9B2DC4EC}"/>
                  </a:ext>
                </a:extLst>
              </p:cNvPr>
              <p:cNvPicPr>
                <a:picLocks noChangeAspect="1"/>
              </p:cNvPicPr>
              <p:nvPr/>
            </p:nvPicPr>
            <p:blipFill>
              <a:blip r:embed="rId7" cstate="screen">
                <a:duotone>
                  <a:schemeClr val="bg2">
                    <a:shade val="45000"/>
                    <a:satMod val="135000"/>
                  </a:schemeClr>
                  <a:prstClr val="white"/>
                </a:duotone>
                <a:extLst>
                  <a:ext uri="{BEBA8EAE-BF5A-486C-A8C5-ECC9F3942E4B}">
                    <a14:imgProps xmlns:a14="http://schemas.microsoft.com/office/drawing/2010/main">
                      <a14:imgLayer r:embed="rId8">
                        <a14:imgEffect>
                          <a14:brightnessContrast bright="-7000"/>
                        </a14:imgEffect>
                      </a14:imgLayer>
                    </a14:imgProps>
                  </a:ext>
                  <a:ext uri="{28A0092B-C50C-407E-A947-70E740481C1C}">
                    <a14:useLocalDpi xmlns:a14="http://schemas.microsoft.com/office/drawing/2010/main"/>
                  </a:ext>
                </a:extLst>
              </a:blip>
              <a:stretch>
                <a:fillRect/>
              </a:stretch>
            </p:blipFill>
            <p:spPr>
              <a:xfrm>
                <a:off x="2618673" y="12380480"/>
                <a:ext cx="1075446" cy="280512"/>
              </a:xfrm>
              <a:prstGeom prst="rect">
                <a:avLst/>
              </a:prstGeom>
            </p:spPr>
          </p:pic>
          <p:pic>
            <p:nvPicPr>
              <p:cNvPr id="4" name="Picture 3">
                <a:extLst>
                  <a:ext uri="{FF2B5EF4-FFF2-40B4-BE49-F238E27FC236}">
                    <a16:creationId xmlns:a16="http://schemas.microsoft.com/office/drawing/2014/main" id="{560A2D0B-1220-7750-BFF9-9A1DC06E61F7}"/>
                  </a:ext>
                </a:extLst>
              </p:cNvPr>
              <p:cNvPicPr>
                <a:picLocks noChangeAspect="1"/>
              </p:cNvPicPr>
              <p:nvPr/>
            </p:nvPicPr>
            <p:blipFill>
              <a:blip r:embed="rId9">
                <a:duotone>
                  <a:schemeClr val="bg2">
                    <a:shade val="45000"/>
                    <a:satMod val="135000"/>
                  </a:schemeClr>
                  <a:prstClr val="white"/>
                </a:duotone>
                <a:alphaModFix amt="70000"/>
              </a:blip>
              <a:stretch>
                <a:fillRect/>
              </a:stretch>
            </p:blipFill>
            <p:spPr>
              <a:xfrm>
                <a:off x="9294134" y="12357701"/>
                <a:ext cx="1245932" cy="326070"/>
              </a:xfrm>
              <a:prstGeom prst="rect">
                <a:avLst/>
              </a:prstGeom>
            </p:spPr>
          </p:pic>
          <p:pic>
            <p:nvPicPr>
              <p:cNvPr id="8" name="Picture 7">
                <a:extLst>
                  <a:ext uri="{FF2B5EF4-FFF2-40B4-BE49-F238E27FC236}">
                    <a16:creationId xmlns:a16="http://schemas.microsoft.com/office/drawing/2014/main" id="{7825DF82-2003-1103-C477-7412F324E0B2}"/>
                  </a:ext>
                </a:extLst>
              </p:cNvPr>
              <p:cNvPicPr>
                <a:picLocks noChangeAspect="1"/>
              </p:cNvPicPr>
              <p:nvPr/>
            </p:nvPicPr>
            <p:blipFill>
              <a:blip r:embed="rId10">
                <a:duotone>
                  <a:schemeClr val="bg2">
                    <a:shade val="45000"/>
                    <a:satMod val="135000"/>
                  </a:schemeClr>
                  <a:prstClr val="white"/>
                </a:duotone>
                <a:alphaModFix amt="70000"/>
              </a:blip>
              <a:stretch>
                <a:fillRect/>
              </a:stretch>
            </p:blipFill>
            <p:spPr>
              <a:xfrm>
                <a:off x="4724065" y="12314727"/>
                <a:ext cx="904970" cy="412018"/>
              </a:xfrm>
              <a:prstGeom prst="rect">
                <a:avLst/>
              </a:prstGeom>
            </p:spPr>
          </p:pic>
          <p:pic>
            <p:nvPicPr>
              <p:cNvPr id="1028" name="Picture 4" descr="Claravine Introduces The Data Standards Cloud™ to Address ...">
                <a:extLst>
                  <a:ext uri="{FF2B5EF4-FFF2-40B4-BE49-F238E27FC236}">
                    <a16:creationId xmlns:a16="http://schemas.microsoft.com/office/drawing/2014/main" id="{920350E8-CE1A-F128-3322-2F0531AEFB94}"/>
                  </a:ext>
                </a:extLst>
              </p:cNvPr>
              <p:cNvPicPr>
                <a:picLocks noChangeAspect="1" noChangeArrowheads="1"/>
              </p:cNvPicPr>
              <p:nvPr/>
            </p:nvPicPr>
            <p:blipFill rotWithShape="1">
              <a:blip r:embed="rId11">
                <a:clrChange>
                  <a:clrFrom>
                    <a:srgbClr val="FFFFFF"/>
                  </a:clrFrom>
                  <a:clrTo>
                    <a:srgbClr val="FFFFFF">
                      <a:alpha val="0"/>
                    </a:srgbClr>
                  </a:clrTo>
                </a:clrChange>
                <a:alphaModFix amt="70000"/>
                <a:duotone>
                  <a:schemeClr val="bg2">
                    <a:shade val="45000"/>
                    <a:satMod val="135000"/>
                  </a:schemeClr>
                  <a:prstClr val="white"/>
                </a:duotone>
                <a:extLst>
                  <a:ext uri="{28A0092B-C50C-407E-A947-70E740481C1C}">
                    <a14:useLocalDpi xmlns:a14="http://schemas.microsoft.com/office/drawing/2010/main" val="0"/>
                  </a:ext>
                </a:extLst>
              </a:blip>
              <a:srcRect t="21541" b="28219"/>
              <a:stretch>
                <a:fillRect/>
              </a:stretch>
            </p:blipFill>
            <p:spPr bwMode="auto">
              <a:xfrm>
                <a:off x="5860138" y="12337043"/>
                <a:ext cx="1397412" cy="3673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274FF43-1ED0-2E26-C66F-2FAB3B94447C}"/>
                  </a:ext>
                </a:extLst>
              </p:cNvPr>
              <p:cNvPicPr>
                <a:picLocks noChangeAspect="1"/>
              </p:cNvPicPr>
              <p:nvPr/>
            </p:nvPicPr>
            <p:blipFill>
              <a:blip r:embed="rId12">
                <a:duotone>
                  <a:schemeClr val="bg2">
                    <a:shade val="45000"/>
                    <a:satMod val="135000"/>
                  </a:schemeClr>
                  <a:prstClr val="white"/>
                </a:duotone>
              </a:blip>
              <a:stretch>
                <a:fillRect/>
              </a:stretch>
            </p:blipFill>
            <p:spPr>
              <a:xfrm>
                <a:off x="7488653" y="12127141"/>
                <a:ext cx="1574380" cy="787190"/>
              </a:xfrm>
              <a:prstGeom prst="rect">
                <a:avLst/>
              </a:prstGeom>
            </p:spPr>
          </p:pic>
        </p:grpSp>
      </p:grpSp>
      <p:sp>
        <p:nvSpPr>
          <p:cNvPr id="3" name="Slide Number">
            <a:extLst>
              <a:ext uri="{FF2B5EF4-FFF2-40B4-BE49-F238E27FC236}">
                <a16:creationId xmlns:a16="http://schemas.microsoft.com/office/drawing/2014/main" id="{3128D8E8-2E97-8FCD-81EF-31FCA534582A}"/>
              </a:ext>
            </a:extLst>
          </p:cNvPr>
          <p:cNvSpPr txBox="1">
            <a:spLocks/>
          </p:cNvSpPr>
          <p:nvPr/>
        </p:nvSpPr>
        <p:spPr>
          <a:xfrm>
            <a:off x="168421" y="6644173"/>
            <a:ext cx="215119" cy="123111"/>
          </a:xfrm>
          <a:prstGeom prst="rect">
            <a:avLst/>
          </a:prstGeom>
          <a:ln w="12700">
            <a:miter lim="400000"/>
          </a:ln>
        </p:spPr>
        <p:txBody>
          <a:bodyPr wrap="square" lIns="0" tIns="0" rIns="0" bIns="0" anchor="b" anchorCtr="0">
            <a:spAutoFit/>
          </a:bodyPr>
          <a:lstStyle>
            <a:defPPr>
              <a:defRPr lang="en-US"/>
            </a:defPPr>
            <a:lvl1pPr marL="0" algn="r" defTabSz="1829379" rtl="0" eaLnBrk="1" latinLnBrk="0" hangingPunct="1">
              <a:defRPr sz="1600" b="0" i="0" kern="1200">
                <a:solidFill>
                  <a:schemeClr val="tx1"/>
                </a:solidFill>
                <a:latin typeface="IBM Plex Sans" panose="020B0503050203000203" pitchFamily="34" charset="0"/>
                <a:ea typeface="+mn-ea"/>
                <a:cs typeface="+mn-cs"/>
                <a:sym typeface="IBM Plex San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pPr marL="0" marR="0" lvl="0" indent="0" algn="r" defTabSz="914507" rtl="0" eaLnBrk="1" fontAlgn="auto" latinLnBrk="0" hangingPunct="1">
              <a:lnSpc>
                <a:spcPct val="100000"/>
              </a:lnSpc>
              <a:spcBef>
                <a:spcPts val="0"/>
              </a:spcBef>
              <a:spcAft>
                <a:spcPts val="0"/>
              </a:spcAft>
              <a:buClrTx/>
              <a:buSzTx/>
              <a:buFontTx/>
              <a:buNone/>
              <a:tabLst/>
              <a:defRPr/>
            </a:pPr>
            <a:fld id="{86CB4B4D-7CA3-9044-876B-883B54F8677D}" type="slidenum">
              <a:rPr kumimoji="0" lang="en-US" sz="800" b="0" i="0" u="none" strike="noStrike" kern="1200" cap="none" spc="0" normalizeH="0" baseline="0" noProof="0">
                <a:ln>
                  <a:noFill/>
                </a:ln>
                <a:solidFill>
                  <a:srgbClr val="000000"/>
                </a:solidFill>
                <a:effectLst/>
                <a:uLnTx/>
                <a:uFillTx/>
                <a:ea typeface="+mn-ea"/>
                <a:cs typeface="+mn-cs"/>
                <a:sym typeface="IBM Plex Sans"/>
              </a:rPr>
              <a:pPr marL="0" marR="0" lvl="0" indent="0" algn="r" defTabSz="914507"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ea typeface="+mn-ea"/>
              <a:cs typeface="+mn-cs"/>
              <a:sym typeface="IBM Plex Sans"/>
            </a:endParaRPr>
          </a:p>
        </p:txBody>
      </p:sp>
      <p:sp>
        <p:nvSpPr>
          <p:cNvPr id="2" name="TextBox 1">
            <a:extLst>
              <a:ext uri="{FF2B5EF4-FFF2-40B4-BE49-F238E27FC236}">
                <a16:creationId xmlns:a16="http://schemas.microsoft.com/office/drawing/2014/main" id="{54EE13DA-A6AF-BB20-C791-09E6DC727086}"/>
              </a:ext>
            </a:extLst>
          </p:cNvPr>
          <p:cNvSpPr txBox="1"/>
          <p:nvPr/>
        </p:nvSpPr>
        <p:spPr>
          <a:xfrm>
            <a:off x="398592" y="5884063"/>
            <a:ext cx="6806660" cy="215444"/>
          </a:xfrm>
          <a:prstGeom prst="rect">
            <a:avLst/>
          </a:prstGeom>
          <a:noFill/>
        </p:spPr>
        <p:txBody>
          <a:bodyPr wrap="square" rtlCol="0">
            <a:spAutoFit/>
          </a:bodyPr>
          <a:lstStyle/>
          <a:p>
            <a:r>
              <a:rPr lang="en-US" sz="800" kern="0">
                <a:solidFill>
                  <a:srgbClr val="0F62FE"/>
                </a:solidFill>
                <a:latin typeface="IBM Plex Sans" panose="020B0503050203000203" pitchFamily="34" charset="0"/>
              </a:rPr>
              <a:t>*The above feasibility assessment was a joint exercise between the CIO and IBMC</a:t>
            </a:r>
          </a:p>
        </p:txBody>
      </p:sp>
      <p:sp>
        <p:nvSpPr>
          <p:cNvPr id="9" name="Shape 0">
            <a:extLst>
              <a:ext uri="{FF2B5EF4-FFF2-40B4-BE49-F238E27FC236}">
                <a16:creationId xmlns:a16="http://schemas.microsoft.com/office/drawing/2014/main" id="{38F26031-9BA1-1369-D591-1B76112A7DF2}"/>
              </a:ext>
            </a:extLst>
          </p:cNvPr>
          <p:cNvSpPr/>
          <p:nvPr/>
        </p:nvSpPr>
        <p:spPr>
          <a:xfrm>
            <a:off x="1588" y="0"/>
            <a:ext cx="12188952" cy="1005840"/>
          </a:xfrm>
          <a:prstGeom prst="rect">
            <a:avLst/>
          </a:prstGeom>
          <a:solidFill>
            <a:schemeClr val="bg1">
              <a:lumMod val="95000"/>
            </a:schemeClr>
          </a:solidFill>
          <a:ln/>
        </p:spPr>
        <p:txBody>
          <a:bodyPr/>
          <a:lstStyle/>
          <a:p>
            <a:endParaRPr lang="en-US">
              <a:latin typeface="IBM Plex Sans" panose="020B0503050203000203" pitchFamily="34" charset="0"/>
            </a:endParaRPr>
          </a:p>
        </p:txBody>
      </p:sp>
      <p:sp>
        <p:nvSpPr>
          <p:cNvPr id="18" name="Text 1">
            <a:extLst>
              <a:ext uri="{FF2B5EF4-FFF2-40B4-BE49-F238E27FC236}">
                <a16:creationId xmlns:a16="http://schemas.microsoft.com/office/drawing/2014/main" id="{DC0FFA06-B4DC-8146-CF02-B90C00B2B6B1}"/>
              </a:ext>
            </a:extLst>
          </p:cNvPr>
          <p:cNvSpPr/>
          <p:nvPr/>
        </p:nvSpPr>
        <p:spPr>
          <a:xfrm>
            <a:off x="407302" y="271025"/>
            <a:ext cx="9597082" cy="446903"/>
          </a:xfrm>
          <a:prstGeom prst="rect">
            <a:avLst/>
          </a:prstGeom>
          <a:noFill/>
          <a:ln/>
        </p:spPr>
        <p:txBody>
          <a:bodyPr wrap="square" lIns="0" tIns="0" rIns="0" bIns="0" rtlCol="0" anchor="ctr"/>
          <a:lstStyle/>
          <a:p>
            <a:r>
              <a:rPr lang="en-US" sz="2800" b="1">
                <a:solidFill>
                  <a:srgbClr val="0F62FE"/>
                </a:solidFill>
                <a:latin typeface="IBM Plex Sans" panose="020B0503050203000203" pitchFamily="34" charset="0"/>
              </a:rPr>
              <a:t>Prioritization Approach Across Workflows</a:t>
            </a:r>
            <a:endParaRPr lang="en-US">
              <a:latin typeface="IBM Plex Sans" panose="020B0503050203000203" pitchFamily="34" charset="0"/>
            </a:endParaRPr>
          </a:p>
        </p:txBody>
      </p:sp>
      <p:pic>
        <p:nvPicPr>
          <p:cNvPr id="7" name="Picture 6" descr="A diagram of a high priority&#10;&#10;AI-generated content may be incorrect.">
            <a:extLst>
              <a:ext uri="{FF2B5EF4-FFF2-40B4-BE49-F238E27FC236}">
                <a16:creationId xmlns:a16="http://schemas.microsoft.com/office/drawing/2014/main" id="{E574C1D8-E0F7-E301-C0F4-B7E9AAE313D9}"/>
              </a:ext>
            </a:extLst>
          </p:cNvPr>
          <p:cNvPicPr>
            <a:picLocks noChangeAspect="1"/>
          </p:cNvPicPr>
          <p:nvPr/>
        </p:nvPicPr>
        <p:blipFill>
          <a:blip r:embed="rId13"/>
          <a:stretch>
            <a:fillRect/>
          </a:stretch>
        </p:blipFill>
        <p:spPr>
          <a:xfrm>
            <a:off x="4728106" y="1139851"/>
            <a:ext cx="6382053" cy="5346596"/>
          </a:xfrm>
          <a:prstGeom prst="rect">
            <a:avLst/>
          </a:prstGeom>
        </p:spPr>
      </p:pic>
    </p:spTree>
    <p:extLst>
      <p:ext uri="{BB962C8B-B14F-4D97-AF65-F5344CB8AC3E}">
        <p14:creationId xmlns:p14="http://schemas.microsoft.com/office/powerpoint/2010/main" val="223032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100" b="1" kern="0" spc="100" dirty="0">
                <a:solidFill>
                  <a:srgbClr val="0F62FE"/>
                </a:solidFill>
                <a:latin typeface="IBM Plex Sans" panose="020B0503050203000203" pitchFamily="34" charset="0"/>
                <a:ea typeface="Arial" pitchFamily="34" charset="-122"/>
                <a:cs typeface="Arial" pitchFamily="34" charset="-120"/>
              </a:rPr>
              <a:t>HOW WE SCORED, THE MECHANICS</a:t>
            </a:r>
            <a:endParaRPr lang="en-US" sz="1100" dirty="0">
              <a:latin typeface="IBM Plex Sans" panose="020B0503050203000203" pitchFamily="34" charset="0"/>
            </a:endParaRPr>
          </a:p>
        </p:txBody>
      </p:sp>
      <p:sp>
        <p:nvSpPr>
          <p:cNvPr id="3" name="Text 1"/>
          <p:cNvSpPr/>
          <p:nvPr/>
        </p:nvSpPr>
        <p:spPr>
          <a:xfrm>
            <a:off x="548640" y="640080"/>
            <a:ext cx="11064240" cy="640080"/>
          </a:xfrm>
          <a:prstGeom prst="rect">
            <a:avLst/>
          </a:prstGeom>
          <a:noFill/>
          <a:ln/>
        </p:spPr>
        <p:txBody>
          <a:bodyPr wrap="square" rtlCol="0" anchor="ctr"/>
          <a:lstStyle/>
          <a:p>
            <a:pPr marL="0" indent="0">
              <a:buNone/>
            </a:pPr>
            <a:r>
              <a:rPr lang="en-US" sz="2400" b="1" dirty="0">
                <a:solidFill>
                  <a:srgbClr val="161616"/>
                </a:solidFill>
                <a:latin typeface="IBM Plex Sans" panose="020B0503050203000203" pitchFamily="34" charset="0"/>
                <a:ea typeface="Arial" pitchFamily="34" charset="-122"/>
                <a:cs typeface="Arial" pitchFamily="34" charset="-120"/>
              </a:rPr>
              <a:t>Six inputs, scored, then combined</a:t>
            </a:r>
            <a:endParaRPr lang="en-US" sz="2400" dirty="0">
              <a:latin typeface="IBM Plex Sans" panose="020B0503050203000203" pitchFamily="34" charset="0"/>
            </a:endParaRPr>
          </a:p>
        </p:txBody>
      </p:sp>
      <p:sp>
        <p:nvSpPr>
          <p:cNvPr id="4" name="Shape 2"/>
          <p:cNvSpPr/>
          <p:nvPr/>
        </p:nvSpPr>
        <p:spPr>
          <a:xfrm>
            <a:off x="548640" y="1371600"/>
            <a:ext cx="11064240" cy="0"/>
          </a:xfrm>
          <a:prstGeom prst="line">
            <a:avLst/>
          </a:prstGeom>
          <a:noFill/>
          <a:ln w="12700">
            <a:solidFill>
              <a:srgbClr val="C6C6C6"/>
            </a:solidFill>
            <a:prstDash val="solid"/>
          </a:ln>
        </p:spPr>
        <p:txBody>
          <a:bodyPr/>
          <a:lstStyle/>
          <a:p>
            <a:endParaRPr lang="en-US">
              <a:latin typeface="IBM Plex Sans" panose="020B0503050203000203" pitchFamily="34" charset="0"/>
            </a:endParaRPr>
          </a:p>
        </p:txBody>
      </p:sp>
      <p:sp>
        <p:nvSpPr>
          <p:cNvPr id="5" name="Text 3"/>
          <p:cNvSpPr/>
          <p:nvPr/>
        </p:nvSpPr>
        <p:spPr>
          <a:xfrm>
            <a:off x="548640" y="1444752"/>
            <a:ext cx="11064240" cy="274320"/>
          </a:xfrm>
          <a:prstGeom prst="rect">
            <a:avLst/>
          </a:prstGeom>
          <a:noFill/>
          <a:ln/>
        </p:spPr>
        <p:txBody>
          <a:bodyPr wrap="square" rtlCol="0" anchor="ctr"/>
          <a:lstStyle/>
          <a:p>
            <a:pPr marL="0" indent="0">
              <a:buNone/>
            </a:pPr>
            <a:r>
              <a:rPr lang="en-US" sz="1200" dirty="0">
                <a:solidFill>
                  <a:srgbClr val="525252"/>
                </a:solidFill>
                <a:latin typeface="IBM Plex Sans" panose="020B0503050203000203" pitchFamily="34" charset="0"/>
                <a:ea typeface="Arial" pitchFamily="34" charset="-122"/>
                <a:cs typeface="Arial" pitchFamily="34" charset="-120"/>
              </a:rPr>
              <a:t>Each input is rated High, Medium, or Low, then combined into a Value score and a Feasibility score, each 1 to 5. Efficiency impact carries the most weight in Value.</a:t>
            </a:r>
            <a:endParaRPr lang="en-US" sz="1200" dirty="0">
              <a:latin typeface="IBM Plex Sans" panose="020B0503050203000203" pitchFamily="34" charset="0"/>
            </a:endParaRPr>
          </a:p>
        </p:txBody>
      </p:sp>
      <p:sp>
        <p:nvSpPr>
          <p:cNvPr id="6" name="Shape 4"/>
          <p:cNvSpPr/>
          <p:nvPr/>
        </p:nvSpPr>
        <p:spPr>
          <a:xfrm>
            <a:off x="548640" y="1810512"/>
            <a:ext cx="2697480" cy="301752"/>
          </a:xfrm>
          <a:prstGeom prst="rect">
            <a:avLst/>
          </a:prstGeom>
          <a:solidFill>
            <a:srgbClr val="0F62FE"/>
          </a:solidFill>
          <a:ln w="9525">
            <a:solidFill>
              <a:srgbClr val="C6C6C6"/>
            </a:solidFill>
            <a:prstDash val="solid"/>
          </a:ln>
        </p:spPr>
        <p:txBody>
          <a:bodyPr/>
          <a:lstStyle/>
          <a:p>
            <a:endParaRPr lang="en-US">
              <a:latin typeface="IBM Plex Sans" panose="020B0503050203000203" pitchFamily="34" charset="0"/>
            </a:endParaRPr>
          </a:p>
        </p:txBody>
      </p:sp>
      <p:sp>
        <p:nvSpPr>
          <p:cNvPr id="7" name="Text 5"/>
          <p:cNvSpPr/>
          <p:nvPr/>
        </p:nvSpPr>
        <p:spPr>
          <a:xfrm>
            <a:off x="621792" y="1810512"/>
            <a:ext cx="2587752" cy="301752"/>
          </a:xfrm>
          <a:prstGeom prst="rect">
            <a:avLst/>
          </a:prstGeom>
          <a:noFill/>
          <a:ln/>
        </p:spPr>
        <p:txBody>
          <a:bodyPr wrap="square" rtlCol="0" anchor="ctr"/>
          <a:lstStyle/>
          <a:p>
            <a:pPr marL="0" indent="0">
              <a:buNone/>
            </a:pPr>
            <a:r>
              <a:rPr lang="en-US" sz="1000" b="1" dirty="0">
                <a:solidFill>
                  <a:srgbClr val="FFFFFF"/>
                </a:solidFill>
                <a:latin typeface="IBM Plex Sans" panose="020B0503050203000203" pitchFamily="34" charset="0"/>
                <a:ea typeface="Arial" pitchFamily="34" charset="-122"/>
                <a:cs typeface="Arial" pitchFamily="34" charset="-120"/>
              </a:rPr>
              <a:t>Input</a:t>
            </a:r>
            <a:endParaRPr lang="en-US" sz="1000" dirty="0">
              <a:latin typeface="IBM Plex Sans" panose="020B0503050203000203" pitchFamily="34" charset="0"/>
            </a:endParaRPr>
          </a:p>
        </p:txBody>
      </p:sp>
      <p:sp>
        <p:nvSpPr>
          <p:cNvPr id="8" name="Shape 6"/>
          <p:cNvSpPr/>
          <p:nvPr/>
        </p:nvSpPr>
        <p:spPr>
          <a:xfrm>
            <a:off x="3291840" y="1810512"/>
            <a:ext cx="1920240" cy="301752"/>
          </a:xfrm>
          <a:prstGeom prst="rect">
            <a:avLst/>
          </a:prstGeom>
          <a:solidFill>
            <a:srgbClr val="0F62FE"/>
          </a:solidFill>
          <a:ln w="9525">
            <a:solidFill>
              <a:srgbClr val="C6C6C6"/>
            </a:solidFill>
            <a:prstDash val="solid"/>
          </a:ln>
        </p:spPr>
        <p:txBody>
          <a:bodyPr/>
          <a:lstStyle/>
          <a:p>
            <a:endParaRPr lang="en-US">
              <a:latin typeface="IBM Plex Sans" panose="020B0503050203000203" pitchFamily="34" charset="0"/>
            </a:endParaRPr>
          </a:p>
        </p:txBody>
      </p:sp>
      <p:sp>
        <p:nvSpPr>
          <p:cNvPr id="9" name="Text 7"/>
          <p:cNvSpPr/>
          <p:nvPr/>
        </p:nvSpPr>
        <p:spPr>
          <a:xfrm>
            <a:off x="3364992" y="1810512"/>
            <a:ext cx="1810512" cy="301752"/>
          </a:xfrm>
          <a:prstGeom prst="rect">
            <a:avLst/>
          </a:prstGeom>
          <a:noFill/>
          <a:ln/>
        </p:spPr>
        <p:txBody>
          <a:bodyPr wrap="square" rtlCol="0" anchor="ctr"/>
          <a:lstStyle/>
          <a:p>
            <a:pPr marL="0" indent="0">
              <a:buNone/>
            </a:pPr>
            <a:r>
              <a:rPr lang="en-US" sz="1000" b="1" dirty="0">
                <a:solidFill>
                  <a:srgbClr val="FFFFFF"/>
                </a:solidFill>
                <a:latin typeface="IBM Plex Sans" panose="020B0503050203000203" pitchFamily="34" charset="0"/>
                <a:ea typeface="Arial" pitchFamily="34" charset="-122"/>
                <a:cs typeface="Arial" pitchFamily="34" charset="-120"/>
              </a:rPr>
              <a:t>High</a:t>
            </a:r>
            <a:endParaRPr lang="en-US" sz="1000" dirty="0">
              <a:latin typeface="IBM Plex Sans" panose="020B0503050203000203" pitchFamily="34" charset="0"/>
            </a:endParaRPr>
          </a:p>
        </p:txBody>
      </p:sp>
      <p:sp>
        <p:nvSpPr>
          <p:cNvPr id="10" name="Shape 8"/>
          <p:cNvSpPr/>
          <p:nvPr/>
        </p:nvSpPr>
        <p:spPr>
          <a:xfrm>
            <a:off x="5257800" y="1810512"/>
            <a:ext cx="1645920" cy="301752"/>
          </a:xfrm>
          <a:prstGeom prst="rect">
            <a:avLst/>
          </a:prstGeom>
          <a:solidFill>
            <a:srgbClr val="0F62FE"/>
          </a:solidFill>
          <a:ln w="9525">
            <a:solidFill>
              <a:srgbClr val="C6C6C6"/>
            </a:solidFill>
            <a:prstDash val="solid"/>
          </a:ln>
        </p:spPr>
        <p:txBody>
          <a:bodyPr/>
          <a:lstStyle/>
          <a:p>
            <a:endParaRPr lang="en-US">
              <a:latin typeface="IBM Plex Sans" panose="020B0503050203000203" pitchFamily="34" charset="0"/>
            </a:endParaRPr>
          </a:p>
        </p:txBody>
      </p:sp>
      <p:sp>
        <p:nvSpPr>
          <p:cNvPr id="11" name="Text 9"/>
          <p:cNvSpPr/>
          <p:nvPr/>
        </p:nvSpPr>
        <p:spPr>
          <a:xfrm>
            <a:off x="5330952" y="1810512"/>
            <a:ext cx="1536192" cy="301752"/>
          </a:xfrm>
          <a:prstGeom prst="rect">
            <a:avLst/>
          </a:prstGeom>
          <a:noFill/>
          <a:ln/>
        </p:spPr>
        <p:txBody>
          <a:bodyPr wrap="square" rtlCol="0" anchor="ctr"/>
          <a:lstStyle/>
          <a:p>
            <a:pPr marL="0" indent="0">
              <a:buNone/>
            </a:pPr>
            <a:r>
              <a:rPr lang="en-US" sz="1000" b="1" dirty="0">
                <a:solidFill>
                  <a:srgbClr val="FFFFFF"/>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12" name="Shape 10"/>
          <p:cNvSpPr/>
          <p:nvPr/>
        </p:nvSpPr>
        <p:spPr>
          <a:xfrm>
            <a:off x="6949440" y="1810512"/>
            <a:ext cx="2011680" cy="301752"/>
          </a:xfrm>
          <a:prstGeom prst="rect">
            <a:avLst/>
          </a:prstGeom>
          <a:solidFill>
            <a:srgbClr val="0F62FE"/>
          </a:solidFill>
          <a:ln w="9525">
            <a:solidFill>
              <a:srgbClr val="C6C6C6"/>
            </a:solidFill>
            <a:prstDash val="solid"/>
          </a:ln>
        </p:spPr>
        <p:txBody>
          <a:bodyPr/>
          <a:lstStyle/>
          <a:p>
            <a:endParaRPr lang="en-US">
              <a:latin typeface="IBM Plex Sans" panose="020B0503050203000203" pitchFamily="34" charset="0"/>
            </a:endParaRPr>
          </a:p>
        </p:txBody>
      </p:sp>
      <p:sp>
        <p:nvSpPr>
          <p:cNvPr id="13" name="Text 11"/>
          <p:cNvSpPr/>
          <p:nvPr/>
        </p:nvSpPr>
        <p:spPr>
          <a:xfrm>
            <a:off x="7022592" y="1810512"/>
            <a:ext cx="1901952" cy="301752"/>
          </a:xfrm>
          <a:prstGeom prst="rect">
            <a:avLst/>
          </a:prstGeom>
          <a:noFill/>
          <a:ln/>
        </p:spPr>
        <p:txBody>
          <a:bodyPr wrap="square" rtlCol="0" anchor="ctr"/>
          <a:lstStyle/>
          <a:p>
            <a:pPr marL="0" indent="0">
              <a:buNone/>
            </a:pPr>
            <a:r>
              <a:rPr lang="en-US" sz="1000" b="1" dirty="0">
                <a:solidFill>
                  <a:srgbClr val="FFFFFF"/>
                </a:solidFill>
                <a:latin typeface="IBM Plex Sans" panose="020B0503050203000203" pitchFamily="34" charset="0"/>
                <a:ea typeface="Arial" pitchFamily="34" charset="-122"/>
                <a:cs typeface="Arial" pitchFamily="34" charset="-120"/>
              </a:rPr>
              <a:t>Low</a:t>
            </a:r>
            <a:endParaRPr lang="en-US" sz="1000" dirty="0">
              <a:latin typeface="IBM Plex Sans" panose="020B0503050203000203" pitchFamily="34" charset="0"/>
            </a:endParaRPr>
          </a:p>
        </p:txBody>
      </p:sp>
      <p:sp>
        <p:nvSpPr>
          <p:cNvPr id="14" name="Shape 12"/>
          <p:cNvSpPr/>
          <p:nvPr/>
        </p:nvSpPr>
        <p:spPr>
          <a:xfrm>
            <a:off x="9006840" y="1810512"/>
            <a:ext cx="2606040" cy="301752"/>
          </a:xfrm>
          <a:prstGeom prst="rect">
            <a:avLst/>
          </a:prstGeom>
          <a:solidFill>
            <a:srgbClr val="0F62FE"/>
          </a:solidFill>
          <a:ln w="9525">
            <a:solidFill>
              <a:srgbClr val="C6C6C6"/>
            </a:solidFill>
            <a:prstDash val="solid"/>
          </a:ln>
        </p:spPr>
        <p:txBody>
          <a:bodyPr/>
          <a:lstStyle/>
          <a:p>
            <a:endParaRPr lang="en-US">
              <a:latin typeface="IBM Plex Sans" panose="020B0503050203000203" pitchFamily="34" charset="0"/>
            </a:endParaRPr>
          </a:p>
        </p:txBody>
      </p:sp>
      <p:sp>
        <p:nvSpPr>
          <p:cNvPr id="15" name="Text 13"/>
          <p:cNvSpPr/>
          <p:nvPr/>
        </p:nvSpPr>
        <p:spPr>
          <a:xfrm>
            <a:off x="9079992" y="1810512"/>
            <a:ext cx="2496312" cy="301752"/>
          </a:xfrm>
          <a:prstGeom prst="rect">
            <a:avLst/>
          </a:prstGeom>
          <a:noFill/>
          <a:ln/>
        </p:spPr>
        <p:txBody>
          <a:bodyPr wrap="square" rtlCol="0" anchor="ctr"/>
          <a:lstStyle/>
          <a:p>
            <a:pPr marL="0" indent="0">
              <a:buNone/>
            </a:pPr>
            <a:r>
              <a:rPr lang="en-US" sz="1000" b="1" dirty="0">
                <a:solidFill>
                  <a:srgbClr val="FFFFFF"/>
                </a:solidFill>
                <a:latin typeface="IBM Plex Sans" panose="020B0503050203000203" pitchFamily="34" charset="0"/>
                <a:ea typeface="Arial" pitchFamily="34" charset="-122"/>
                <a:cs typeface="Arial" pitchFamily="34" charset="-120"/>
              </a:rPr>
              <a:t>Feeds</a:t>
            </a:r>
            <a:endParaRPr lang="en-US" sz="1000" dirty="0">
              <a:latin typeface="IBM Plex Sans" panose="020B0503050203000203" pitchFamily="34" charset="0"/>
            </a:endParaRPr>
          </a:p>
        </p:txBody>
      </p:sp>
      <p:sp>
        <p:nvSpPr>
          <p:cNvPr id="16" name="Shape 14"/>
          <p:cNvSpPr/>
          <p:nvPr/>
        </p:nvSpPr>
        <p:spPr>
          <a:xfrm>
            <a:off x="548640" y="2112264"/>
            <a:ext cx="26974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17" name="Text 15"/>
          <p:cNvSpPr/>
          <p:nvPr/>
        </p:nvSpPr>
        <p:spPr>
          <a:xfrm>
            <a:off x="621792" y="2112264"/>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Relative efficiency impact</a:t>
            </a:r>
            <a:endParaRPr lang="en-US" sz="1000" dirty="0">
              <a:latin typeface="IBM Plex Sans" panose="020B0503050203000203" pitchFamily="34" charset="0"/>
            </a:endParaRPr>
          </a:p>
        </p:txBody>
      </p:sp>
      <p:sp>
        <p:nvSpPr>
          <p:cNvPr id="18" name="Shape 16"/>
          <p:cNvSpPr/>
          <p:nvPr/>
        </p:nvSpPr>
        <p:spPr>
          <a:xfrm>
            <a:off x="3291840" y="2112264"/>
            <a:ext cx="19202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19" name="Text 17"/>
          <p:cNvSpPr/>
          <p:nvPr/>
        </p:nvSpPr>
        <p:spPr>
          <a:xfrm>
            <a:off x="3364992" y="2112264"/>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High</a:t>
            </a:r>
            <a:endParaRPr lang="en-US" sz="1000" dirty="0">
              <a:latin typeface="IBM Plex Sans" panose="020B0503050203000203" pitchFamily="34" charset="0"/>
            </a:endParaRPr>
          </a:p>
        </p:txBody>
      </p:sp>
      <p:sp>
        <p:nvSpPr>
          <p:cNvPr id="20" name="Shape 18"/>
          <p:cNvSpPr/>
          <p:nvPr/>
        </p:nvSpPr>
        <p:spPr>
          <a:xfrm>
            <a:off x="5257800" y="2112264"/>
            <a:ext cx="164592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21" name="Text 19"/>
          <p:cNvSpPr/>
          <p:nvPr/>
        </p:nvSpPr>
        <p:spPr>
          <a:xfrm>
            <a:off x="5330952" y="2112264"/>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22" name="Shape 20"/>
          <p:cNvSpPr/>
          <p:nvPr/>
        </p:nvSpPr>
        <p:spPr>
          <a:xfrm>
            <a:off x="6949440" y="2112264"/>
            <a:ext cx="20116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23" name="Text 21"/>
          <p:cNvSpPr/>
          <p:nvPr/>
        </p:nvSpPr>
        <p:spPr>
          <a:xfrm>
            <a:off x="7022592" y="2112264"/>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Low</a:t>
            </a:r>
            <a:endParaRPr lang="en-US" sz="1000" dirty="0">
              <a:latin typeface="IBM Plex Sans" panose="020B0503050203000203" pitchFamily="34" charset="0"/>
            </a:endParaRPr>
          </a:p>
        </p:txBody>
      </p:sp>
      <p:sp>
        <p:nvSpPr>
          <p:cNvPr id="24" name="Shape 22"/>
          <p:cNvSpPr/>
          <p:nvPr/>
        </p:nvSpPr>
        <p:spPr>
          <a:xfrm>
            <a:off x="9006840" y="2112264"/>
            <a:ext cx="26060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25" name="Text 23"/>
          <p:cNvSpPr/>
          <p:nvPr/>
        </p:nvSpPr>
        <p:spPr>
          <a:xfrm>
            <a:off x="9079992" y="2112264"/>
            <a:ext cx="2496312" cy="301752"/>
          </a:xfrm>
          <a:prstGeom prst="rect">
            <a:avLst/>
          </a:prstGeom>
          <a:noFill/>
          <a:ln/>
        </p:spPr>
        <p:txBody>
          <a:bodyPr wrap="square" rtlCol="0" anchor="ctr"/>
          <a:lstStyle/>
          <a:p>
            <a:pPr marL="0" indent="0">
              <a:buNone/>
            </a:pPr>
            <a:r>
              <a:rPr lang="en-US" sz="1000" b="1" dirty="0">
                <a:solidFill>
                  <a:srgbClr val="0F62FE"/>
                </a:solidFill>
                <a:latin typeface="IBM Plex Sans" panose="020B0503050203000203" pitchFamily="34" charset="0"/>
                <a:ea typeface="Arial" pitchFamily="34" charset="-122"/>
                <a:cs typeface="Arial" pitchFamily="34" charset="-120"/>
              </a:rPr>
              <a:t>Value (50%)</a:t>
            </a:r>
            <a:endParaRPr lang="en-US" sz="1000" dirty="0">
              <a:latin typeface="IBM Plex Sans" panose="020B0503050203000203" pitchFamily="34" charset="0"/>
            </a:endParaRPr>
          </a:p>
        </p:txBody>
      </p:sp>
      <p:sp>
        <p:nvSpPr>
          <p:cNvPr id="26" name="Shape 24"/>
          <p:cNvSpPr/>
          <p:nvPr/>
        </p:nvSpPr>
        <p:spPr>
          <a:xfrm>
            <a:off x="548640" y="2414016"/>
            <a:ext cx="26974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27" name="Text 25"/>
          <p:cNvSpPr/>
          <p:nvPr/>
        </p:nvSpPr>
        <p:spPr>
          <a:xfrm>
            <a:off x="621792" y="2414016"/>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Business priority</a:t>
            </a:r>
            <a:endParaRPr lang="en-US" sz="1000" dirty="0">
              <a:latin typeface="IBM Plex Sans" panose="020B0503050203000203" pitchFamily="34" charset="0"/>
            </a:endParaRPr>
          </a:p>
        </p:txBody>
      </p:sp>
      <p:sp>
        <p:nvSpPr>
          <p:cNvPr id="28" name="Shape 26"/>
          <p:cNvSpPr/>
          <p:nvPr/>
        </p:nvSpPr>
        <p:spPr>
          <a:xfrm>
            <a:off x="3291840" y="2414016"/>
            <a:ext cx="19202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29" name="Text 27"/>
          <p:cNvSpPr/>
          <p:nvPr/>
        </p:nvSpPr>
        <p:spPr>
          <a:xfrm>
            <a:off x="3364992" y="2414016"/>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High</a:t>
            </a:r>
            <a:endParaRPr lang="en-US" sz="1000" dirty="0">
              <a:latin typeface="IBM Plex Sans" panose="020B0503050203000203" pitchFamily="34" charset="0"/>
            </a:endParaRPr>
          </a:p>
        </p:txBody>
      </p:sp>
      <p:sp>
        <p:nvSpPr>
          <p:cNvPr id="30" name="Shape 28"/>
          <p:cNvSpPr/>
          <p:nvPr/>
        </p:nvSpPr>
        <p:spPr>
          <a:xfrm>
            <a:off x="5257800" y="2414016"/>
            <a:ext cx="164592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31" name="Text 29"/>
          <p:cNvSpPr/>
          <p:nvPr/>
        </p:nvSpPr>
        <p:spPr>
          <a:xfrm>
            <a:off x="5330952" y="2414016"/>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32" name="Shape 30"/>
          <p:cNvSpPr/>
          <p:nvPr/>
        </p:nvSpPr>
        <p:spPr>
          <a:xfrm>
            <a:off x="6949440" y="2414016"/>
            <a:ext cx="20116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33" name="Text 31"/>
          <p:cNvSpPr/>
          <p:nvPr/>
        </p:nvSpPr>
        <p:spPr>
          <a:xfrm>
            <a:off x="7022592" y="2414016"/>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Low</a:t>
            </a:r>
            <a:endParaRPr lang="en-US" sz="1000" dirty="0">
              <a:latin typeface="IBM Plex Sans" panose="020B0503050203000203" pitchFamily="34" charset="0"/>
            </a:endParaRPr>
          </a:p>
        </p:txBody>
      </p:sp>
      <p:sp>
        <p:nvSpPr>
          <p:cNvPr id="34" name="Shape 32"/>
          <p:cNvSpPr/>
          <p:nvPr/>
        </p:nvSpPr>
        <p:spPr>
          <a:xfrm>
            <a:off x="9006840" y="2414016"/>
            <a:ext cx="26060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35" name="Text 33"/>
          <p:cNvSpPr/>
          <p:nvPr/>
        </p:nvSpPr>
        <p:spPr>
          <a:xfrm>
            <a:off x="9079992" y="2414016"/>
            <a:ext cx="2496312" cy="301752"/>
          </a:xfrm>
          <a:prstGeom prst="rect">
            <a:avLst/>
          </a:prstGeom>
          <a:noFill/>
          <a:ln/>
        </p:spPr>
        <p:txBody>
          <a:bodyPr wrap="square" rtlCol="0" anchor="ctr"/>
          <a:lstStyle/>
          <a:p>
            <a:pPr marL="0" indent="0">
              <a:buNone/>
            </a:pPr>
            <a:r>
              <a:rPr lang="en-US" sz="1000" b="1" dirty="0">
                <a:solidFill>
                  <a:srgbClr val="0F62FE"/>
                </a:solidFill>
                <a:latin typeface="IBM Plex Sans" panose="020B0503050203000203" pitchFamily="34" charset="0"/>
                <a:ea typeface="Arial" pitchFamily="34" charset="-122"/>
                <a:cs typeface="Arial" pitchFamily="34" charset="-120"/>
              </a:rPr>
              <a:t>Value (25%)</a:t>
            </a:r>
            <a:endParaRPr lang="en-US" sz="1000" dirty="0">
              <a:latin typeface="IBM Plex Sans" panose="020B0503050203000203" pitchFamily="34" charset="0"/>
            </a:endParaRPr>
          </a:p>
        </p:txBody>
      </p:sp>
      <p:sp>
        <p:nvSpPr>
          <p:cNvPr id="36" name="Shape 34"/>
          <p:cNvSpPr/>
          <p:nvPr/>
        </p:nvSpPr>
        <p:spPr>
          <a:xfrm>
            <a:off x="548640" y="2715768"/>
            <a:ext cx="26974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37" name="Text 35"/>
          <p:cNvSpPr/>
          <p:nvPr/>
        </p:nvSpPr>
        <p:spPr>
          <a:xfrm>
            <a:off x="621792" y="2715768"/>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Productivity (efficiency gain)</a:t>
            </a:r>
            <a:endParaRPr lang="en-US" sz="1000" dirty="0">
              <a:latin typeface="IBM Plex Sans" panose="020B0503050203000203" pitchFamily="34" charset="0"/>
            </a:endParaRPr>
          </a:p>
        </p:txBody>
      </p:sp>
      <p:sp>
        <p:nvSpPr>
          <p:cNvPr id="38" name="Shape 36"/>
          <p:cNvSpPr/>
          <p:nvPr/>
        </p:nvSpPr>
        <p:spPr>
          <a:xfrm>
            <a:off x="3291840" y="2715768"/>
            <a:ext cx="19202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39" name="Text 37"/>
          <p:cNvSpPr/>
          <p:nvPr/>
        </p:nvSpPr>
        <p:spPr>
          <a:xfrm>
            <a:off x="3364992" y="2715768"/>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75 to 100%</a:t>
            </a:r>
            <a:endParaRPr lang="en-US" sz="1000" dirty="0">
              <a:latin typeface="IBM Plex Sans" panose="020B0503050203000203" pitchFamily="34" charset="0"/>
            </a:endParaRPr>
          </a:p>
        </p:txBody>
      </p:sp>
      <p:sp>
        <p:nvSpPr>
          <p:cNvPr id="40" name="Shape 38"/>
          <p:cNvSpPr/>
          <p:nvPr/>
        </p:nvSpPr>
        <p:spPr>
          <a:xfrm>
            <a:off x="5257800" y="2715768"/>
            <a:ext cx="164592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41" name="Text 39"/>
          <p:cNvSpPr/>
          <p:nvPr/>
        </p:nvSpPr>
        <p:spPr>
          <a:xfrm>
            <a:off x="5330952" y="2715768"/>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50%</a:t>
            </a:r>
            <a:endParaRPr lang="en-US" sz="1000" dirty="0">
              <a:latin typeface="IBM Plex Sans" panose="020B0503050203000203" pitchFamily="34" charset="0"/>
            </a:endParaRPr>
          </a:p>
        </p:txBody>
      </p:sp>
      <p:sp>
        <p:nvSpPr>
          <p:cNvPr id="42" name="Shape 40"/>
          <p:cNvSpPr/>
          <p:nvPr/>
        </p:nvSpPr>
        <p:spPr>
          <a:xfrm>
            <a:off x="6949440" y="2715768"/>
            <a:ext cx="20116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43" name="Text 41"/>
          <p:cNvSpPr/>
          <p:nvPr/>
        </p:nvSpPr>
        <p:spPr>
          <a:xfrm>
            <a:off x="7022592" y="2715768"/>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25%</a:t>
            </a:r>
            <a:endParaRPr lang="en-US" sz="1000" dirty="0">
              <a:latin typeface="IBM Plex Sans" panose="020B0503050203000203" pitchFamily="34" charset="0"/>
            </a:endParaRPr>
          </a:p>
        </p:txBody>
      </p:sp>
      <p:sp>
        <p:nvSpPr>
          <p:cNvPr id="44" name="Shape 42"/>
          <p:cNvSpPr/>
          <p:nvPr/>
        </p:nvSpPr>
        <p:spPr>
          <a:xfrm>
            <a:off x="9006840" y="2715768"/>
            <a:ext cx="26060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45" name="Text 43"/>
          <p:cNvSpPr/>
          <p:nvPr/>
        </p:nvSpPr>
        <p:spPr>
          <a:xfrm>
            <a:off x="9079992" y="2715768"/>
            <a:ext cx="2496312" cy="301752"/>
          </a:xfrm>
          <a:prstGeom prst="rect">
            <a:avLst/>
          </a:prstGeom>
          <a:noFill/>
          <a:ln/>
        </p:spPr>
        <p:txBody>
          <a:bodyPr wrap="square" rtlCol="0" anchor="ctr"/>
          <a:lstStyle/>
          <a:p>
            <a:pPr marL="0" indent="0">
              <a:buNone/>
            </a:pPr>
            <a:r>
              <a:rPr lang="en-US" sz="1000" b="1" dirty="0">
                <a:solidFill>
                  <a:srgbClr val="0F62FE"/>
                </a:solidFill>
                <a:latin typeface="IBM Plex Sans" panose="020B0503050203000203" pitchFamily="34" charset="0"/>
                <a:ea typeface="Arial" pitchFamily="34" charset="-122"/>
                <a:cs typeface="Arial" pitchFamily="34" charset="-120"/>
              </a:rPr>
              <a:t>Value (25%)</a:t>
            </a:r>
            <a:endParaRPr lang="en-US" sz="1000" dirty="0">
              <a:latin typeface="IBM Plex Sans" panose="020B0503050203000203" pitchFamily="34" charset="0"/>
            </a:endParaRPr>
          </a:p>
        </p:txBody>
      </p:sp>
      <p:sp>
        <p:nvSpPr>
          <p:cNvPr id="46" name="Shape 44"/>
          <p:cNvSpPr/>
          <p:nvPr/>
        </p:nvSpPr>
        <p:spPr>
          <a:xfrm>
            <a:off x="548640" y="3017520"/>
            <a:ext cx="26974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47" name="Text 45"/>
          <p:cNvSpPr/>
          <p:nvPr/>
        </p:nvSpPr>
        <p:spPr>
          <a:xfrm>
            <a:off x="621792" y="3017520"/>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Feasibility</a:t>
            </a:r>
            <a:endParaRPr lang="en-US" sz="1000" dirty="0">
              <a:latin typeface="IBM Plex Sans" panose="020B0503050203000203" pitchFamily="34" charset="0"/>
            </a:endParaRPr>
          </a:p>
        </p:txBody>
      </p:sp>
      <p:sp>
        <p:nvSpPr>
          <p:cNvPr id="48" name="Shape 46"/>
          <p:cNvSpPr/>
          <p:nvPr/>
        </p:nvSpPr>
        <p:spPr>
          <a:xfrm>
            <a:off x="3291840" y="3017520"/>
            <a:ext cx="19202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49" name="Text 47"/>
          <p:cNvSpPr/>
          <p:nvPr/>
        </p:nvSpPr>
        <p:spPr>
          <a:xfrm>
            <a:off x="3364992" y="3017520"/>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High</a:t>
            </a:r>
            <a:endParaRPr lang="en-US" sz="1000" dirty="0">
              <a:latin typeface="IBM Plex Sans" panose="020B0503050203000203" pitchFamily="34" charset="0"/>
            </a:endParaRPr>
          </a:p>
        </p:txBody>
      </p:sp>
      <p:sp>
        <p:nvSpPr>
          <p:cNvPr id="50" name="Shape 48"/>
          <p:cNvSpPr/>
          <p:nvPr/>
        </p:nvSpPr>
        <p:spPr>
          <a:xfrm>
            <a:off x="5257800" y="3017520"/>
            <a:ext cx="164592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51" name="Text 49"/>
          <p:cNvSpPr/>
          <p:nvPr/>
        </p:nvSpPr>
        <p:spPr>
          <a:xfrm>
            <a:off x="5330952" y="3017520"/>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52" name="Shape 50"/>
          <p:cNvSpPr/>
          <p:nvPr/>
        </p:nvSpPr>
        <p:spPr>
          <a:xfrm>
            <a:off x="6949440" y="3017520"/>
            <a:ext cx="20116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53" name="Text 51"/>
          <p:cNvSpPr/>
          <p:nvPr/>
        </p:nvSpPr>
        <p:spPr>
          <a:xfrm>
            <a:off x="7022592" y="3017520"/>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Low</a:t>
            </a:r>
            <a:endParaRPr lang="en-US" sz="1000" dirty="0">
              <a:latin typeface="IBM Plex Sans" panose="020B0503050203000203" pitchFamily="34" charset="0"/>
            </a:endParaRPr>
          </a:p>
        </p:txBody>
      </p:sp>
      <p:sp>
        <p:nvSpPr>
          <p:cNvPr id="54" name="Shape 52"/>
          <p:cNvSpPr/>
          <p:nvPr/>
        </p:nvSpPr>
        <p:spPr>
          <a:xfrm>
            <a:off x="9006840" y="3017520"/>
            <a:ext cx="26060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55" name="Text 53"/>
          <p:cNvSpPr/>
          <p:nvPr/>
        </p:nvSpPr>
        <p:spPr>
          <a:xfrm>
            <a:off x="9079992" y="3017520"/>
            <a:ext cx="2496312" cy="301752"/>
          </a:xfrm>
          <a:prstGeom prst="rect">
            <a:avLst/>
          </a:prstGeom>
          <a:noFill/>
          <a:ln/>
        </p:spPr>
        <p:txBody>
          <a:bodyPr wrap="square" rtlCol="0" anchor="ctr"/>
          <a:lstStyle/>
          <a:p>
            <a:pPr marL="0" indent="0">
              <a:buNone/>
            </a:pPr>
            <a:r>
              <a:rPr lang="en-US" sz="1000" b="1" dirty="0">
                <a:solidFill>
                  <a:srgbClr val="24A148"/>
                </a:solidFill>
                <a:latin typeface="IBM Plex Sans" panose="020B0503050203000203" pitchFamily="34" charset="0"/>
                <a:ea typeface="Arial" pitchFamily="34" charset="-122"/>
                <a:cs typeface="Arial" pitchFamily="34" charset="-120"/>
              </a:rPr>
              <a:t>Feasibility (33%)</a:t>
            </a:r>
            <a:endParaRPr lang="en-US" sz="1000" dirty="0">
              <a:latin typeface="IBM Plex Sans" panose="020B0503050203000203" pitchFamily="34" charset="0"/>
            </a:endParaRPr>
          </a:p>
        </p:txBody>
      </p:sp>
      <p:sp>
        <p:nvSpPr>
          <p:cNvPr id="56" name="Shape 54"/>
          <p:cNvSpPr/>
          <p:nvPr/>
        </p:nvSpPr>
        <p:spPr>
          <a:xfrm>
            <a:off x="548640" y="3319272"/>
            <a:ext cx="26974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57" name="Text 55"/>
          <p:cNvSpPr/>
          <p:nvPr/>
        </p:nvSpPr>
        <p:spPr>
          <a:xfrm>
            <a:off x="621792" y="3319272"/>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Complexity (inverted)</a:t>
            </a:r>
            <a:endParaRPr lang="en-US" sz="1000" dirty="0">
              <a:latin typeface="IBM Plex Sans" panose="020B0503050203000203" pitchFamily="34" charset="0"/>
            </a:endParaRPr>
          </a:p>
        </p:txBody>
      </p:sp>
      <p:sp>
        <p:nvSpPr>
          <p:cNvPr id="58" name="Shape 56"/>
          <p:cNvSpPr/>
          <p:nvPr/>
        </p:nvSpPr>
        <p:spPr>
          <a:xfrm>
            <a:off x="3291840" y="3319272"/>
            <a:ext cx="19202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59" name="Text 57"/>
          <p:cNvSpPr/>
          <p:nvPr/>
        </p:nvSpPr>
        <p:spPr>
          <a:xfrm>
            <a:off x="3364992" y="3319272"/>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Low complexity</a:t>
            </a:r>
            <a:endParaRPr lang="en-US" sz="1000" dirty="0">
              <a:latin typeface="IBM Plex Sans" panose="020B0503050203000203" pitchFamily="34" charset="0"/>
            </a:endParaRPr>
          </a:p>
        </p:txBody>
      </p:sp>
      <p:sp>
        <p:nvSpPr>
          <p:cNvPr id="60" name="Shape 58"/>
          <p:cNvSpPr/>
          <p:nvPr/>
        </p:nvSpPr>
        <p:spPr>
          <a:xfrm>
            <a:off x="5257800" y="3319272"/>
            <a:ext cx="164592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61" name="Text 59"/>
          <p:cNvSpPr/>
          <p:nvPr/>
        </p:nvSpPr>
        <p:spPr>
          <a:xfrm>
            <a:off x="5330952" y="3319272"/>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62" name="Shape 60"/>
          <p:cNvSpPr/>
          <p:nvPr/>
        </p:nvSpPr>
        <p:spPr>
          <a:xfrm>
            <a:off x="6949440" y="3319272"/>
            <a:ext cx="201168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63" name="Text 61"/>
          <p:cNvSpPr/>
          <p:nvPr/>
        </p:nvSpPr>
        <p:spPr>
          <a:xfrm>
            <a:off x="7022592" y="3319272"/>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High complexity</a:t>
            </a:r>
            <a:endParaRPr lang="en-US" sz="1000" dirty="0">
              <a:latin typeface="IBM Plex Sans" panose="020B0503050203000203" pitchFamily="34" charset="0"/>
            </a:endParaRPr>
          </a:p>
        </p:txBody>
      </p:sp>
      <p:sp>
        <p:nvSpPr>
          <p:cNvPr id="64" name="Shape 62"/>
          <p:cNvSpPr/>
          <p:nvPr/>
        </p:nvSpPr>
        <p:spPr>
          <a:xfrm>
            <a:off x="9006840" y="3319272"/>
            <a:ext cx="2606040" cy="301752"/>
          </a:xfrm>
          <a:prstGeom prst="rect">
            <a:avLst/>
          </a:prstGeom>
          <a:solidFill>
            <a:srgbClr val="FFFFFF"/>
          </a:solidFill>
          <a:ln w="9525">
            <a:solidFill>
              <a:srgbClr val="C6C6C6"/>
            </a:solidFill>
            <a:prstDash val="solid"/>
          </a:ln>
        </p:spPr>
        <p:txBody>
          <a:bodyPr/>
          <a:lstStyle/>
          <a:p>
            <a:endParaRPr lang="en-US">
              <a:latin typeface="IBM Plex Sans" panose="020B0503050203000203" pitchFamily="34" charset="0"/>
            </a:endParaRPr>
          </a:p>
        </p:txBody>
      </p:sp>
      <p:sp>
        <p:nvSpPr>
          <p:cNvPr id="65" name="Text 63"/>
          <p:cNvSpPr/>
          <p:nvPr/>
        </p:nvSpPr>
        <p:spPr>
          <a:xfrm>
            <a:off x="9079992" y="3319272"/>
            <a:ext cx="2496312" cy="301752"/>
          </a:xfrm>
          <a:prstGeom prst="rect">
            <a:avLst/>
          </a:prstGeom>
          <a:noFill/>
          <a:ln/>
        </p:spPr>
        <p:txBody>
          <a:bodyPr wrap="square" rtlCol="0" anchor="ctr"/>
          <a:lstStyle/>
          <a:p>
            <a:r>
              <a:rPr lang="en-US" sz="1000" b="1" dirty="0">
                <a:solidFill>
                  <a:srgbClr val="24A148"/>
                </a:solidFill>
                <a:latin typeface="IBM Plex Sans" panose="020B0503050203000203" pitchFamily="34" charset="0"/>
                <a:ea typeface="Arial" pitchFamily="34" charset="-122"/>
                <a:cs typeface="Arial" pitchFamily="34" charset="-120"/>
              </a:rPr>
              <a:t>Feasibility (33%)</a:t>
            </a:r>
            <a:endParaRPr lang="en-US" sz="1000" dirty="0">
              <a:latin typeface="IBM Plex Sans" panose="020B0503050203000203" pitchFamily="34" charset="0"/>
            </a:endParaRPr>
          </a:p>
        </p:txBody>
      </p:sp>
      <p:sp>
        <p:nvSpPr>
          <p:cNvPr id="66" name="Shape 64"/>
          <p:cNvSpPr/>
          <p:nvPr/>
        </p:nvSpPr>
        <p:spPr>
          <a:xfrm>
            <a:off x="548640" y="3621024"/>
            <a:ext cx="26974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67" name="Text 65"/>
          <p:cNvSpPr/>
          <p:nvPr/>
        </p:nvSpPr>
        <p:spPr>
          <a:xfrm>
            <a:off x="621792" y="3621024"/>
            <a:ext cx="2587752" cy="301752"/>
          </a:xfrm>
          <a:prstGeom prst="rect">
            <a:avLst/>
          </a:prstGeom>
          <a:noFill/>
          <a:ln/>
        </p:spPr>
        <p:txBody>
          <a:bodyPr wrap="square" rtlCol="0" anchor="ctr"/>
          <a:lstStyle/>
          <a:p>
            <a:pPr marL="0" indent="0">
              <a:buNone/>
            </a:pPr>
            <a:r>
              <a:rPr lang="en-US" sz="1000" b="1" dirty="0">
                <a:solidFill>
                  <a:srgbClr val="161616"/>
                </a:solidFill>
                <a:latin typeface="IBM Plex Sans" panose="020B0503050203000203" pitchFamily="34" charset="0"/>
                <a:ea typeface="Arial" pitchFamily="34" charset="-122"/>
                <a:cs typeface="Arial" pitchFamily="34" charset="-120"/>
              </a:rPr>
              <a:t>Data readiness</a:t>
            </a:r>
            <a:endParaRPr lang="en-US" sz="1000" dirty="0">
              <a:latin typeface="IBM Plex Sans" panose="020B0503050203000203" pitchFamily="34" charset="0"/>
            </a:endParaRPr>
          </a:p>
        </p:txBody>
      </p:sp>
      <p:sp>
        <p:nvSpPr>
          <p:cNvPr id="68" name="Shape 66"/>
          <p:cNvSpPr/>
          <p:nvPr/>
        </p:nvSpPr>
        <p:spPr>
          <a:xfrm>
            <a:off x="3291840" y="3621024"/>
            <a:ext cx="19202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69" name="Text 67"/>
          <p:cNvSpPr/>
          <p:nvPr/>
        </p:nvSpPr>
        <p:spPr>
          <a:xfrm>
            <a:off x="3364992" y="3621024"/>
            <a:ext cx="181051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High</a:t>
            </a:r>
            <a:endParaRPr lang="en-US" sz="1000" dirty="0">
              <a:latin typeface="IBM Plex Sans" panose="020B0503050203000203" pitchFamily="34" charset="0"/>
            </a:endParaRPr>
          </a:p>
        </p:txBody>
      </p:sp>
      <p:sp>
        <p:nvSpPr>
          <p:cNvPr id="70" name="Shape 68"/>
          <p:cNvSpPr/>
          <p:nvPr/>
        </p:nvSpPr>
        <p:spPr>
          <a:xfrm>
            <a:off x="5257800" y="3621024"/>
            <a:ext cx="164592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71" name="Text 69"/>
          <p:cNvSpPr/>
          <p:nvPr/>
        </p:nvSpPr>
        <p:spPr>
          <a:xfrm>
            <a:off x="5330952" y="3621024"/>
            <a:ext cx="153619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Medium</a:t>
            </a:r>
            <a:endParaRPr lang="en-US" sz="1000" dirty="0">
              <a:latin typeface="IBM Plex Sans" panose="020B0503050203000203" pitchFamily="34" charset="0"/>
            </a:endParaRPr>
          </a:p>
        </p:txBody>
      </p:sp>
      <p:sp>
        <p:nvSpPr>
          <p:cNvPr id="72" name="Shape 70"/>
          <p:cNvSpPr/>
          <p:nvPr/>
        </p:nvSpPr>
        <p:spPr>
          <a:xfrm>
            <a:off x="6949440" y="3621024"/>
            <a:ext cx="201168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73" name="Text 71"/>
          <p:cNvSpPr/>
          <p:nvPr/>
        </p:nvSpPr>
        <p:spPr>
          <a:xfrm>
            <a:off x="7022592" y="3621024"/>
            <a:ext cx="1901952" cy="301752"/>
          </a:xfrm>
          <a:prstGeom prst="rect">
            <a:avLst/>
          </a:prstGeom>
          <a:noFill/>
          <a:ln/>
        </p:spPr>
        <p:txBody>
          <a:bodyPr wrap="square" rtlCol="0" anchor="ctr"/>
          <a:lstStyle/>
          <a:p>
            <a:pPr marL="0" indent="0">
              <a:buNone/>
            </a:pPr>
            <a:r>
              <a:rPr lang="en-US" sz="1000" dirty="0">
                <a:solidFill>
                  <a:srgbClr val="161616"/>
                </a:solidFill>
                <a:latin typeface="IBM Plex Sans" panose="020B0503050203000203" pitchFamily="34" charset="0"/>
                <a:ea typeface="Arial" pitchFamily="34" charset="-122"/>
                <a:cs typeface="Arial" pitchFamily="34" charset="-120"/>
              </a:rPr>
              <a:t>Low</a:t>
            </a:r>
            <a:endParaRPr lang="en-US" sz="1000" dirty="0">
              <a:latin typeface="IBM Plex Sans" panose="020B0503050203000203" pitchFamily="34" charset="0"/>
            </a:endParaRPr>
          </a:p>
        </p:txBody>
      </p:sp>
      <p:sp>
        <p:nvSpPr>
          <p:cNvPr id="74" name="Shape 72"/>
          <p:cNvSpPr/>
          <p:nvPr/>
        </p:nvSpPr>
        <p:spPr>
          <a:xfrm>
            <a:off x="9006840" y="3621024"/>
            <a:ext cx="2606040" cy="301752"/>
          </a:xfrm>
          <a:prstGeom prst="rect">
            <a:avLst/>
          </a:prstGeom>
          <a:solidFill>
            <a:srgbClr val="F4F4F4"/>
          </a:solidFill>
          <a:ln w="9525">
            <a:solidFill>
              <a:srgbClr val="C6C6C6"/>
            </a:solidFill>
            <a:prstDash val="solid"/>
          </a:ln>
        </p:spPr>
        <p:txBody>
          <a:bodyPr/>
          <a:lstStyle/>
          <a:p>
            <a:endParaRPr lang="en-US">
              <a:latin typeface="IBM Plex Sans" panose="020B0503050203000203" pitchFamily="34" charset="0"/>
            </a:endParaRPr>
          </a:p>
        </p:txBody>
      </p:sp>
      <p:sp>
        <p:nvSpPr>
          <p:cNvPr id="75" name="Text 73"/>
          <p:cNvSpPr/>
          <p:nvPr/>
        </p:nvSpPr>
        <p:spPr>
          <a:xfrm>
            <a:off x="9079992" y="3621024"/>
            <a:ext cx="2496312" cy="301752"/>
          </a:xfrm>
          <a:prstGeom prst="rect">
            <a:avLst/>
          </a:prstGeom>
          <a:noFill/>
          <a:ln/>
        </p:spPr>
        <p:txBody>
          <a:bodyPr wrap="square" rtlCol="0" anchor="ctr"/>
          <a:lstStyle/>
          <a:p>
            <a:r>
              <a:rPr lang="en-US" sz="1000" b="1" dirty="0">
                <a:solidFill>
                  <a:srgbClr val="24A148"/>
                </a:solidFill>
                <a:latin typeface="IBM Plex Sans" panose="020B0503050203000203" pitchFamily="34" charset="0"/>
                <a:ea typeface="Arial" pitchFamily="34" charset="-122"/>
                <a:cs typeface="Arial" pitchFamily="34" charset="-120"/>
              </a:rPr>
              <a:t>Feasibility (33%)</a:t>
            </a:r>
            <a:endParaRPr lang="en-US" sz="1000" dirty="0">
              <a:latin typeface="IBM Plex Sans" panose="020B0503050203000203" pitchFamily="34" charset="0"/>
            </a:endParaRPr>
          </a:p>
        </p:txBody>
      </p:sp>
      <p:sp>
        <p:nvSpPr>
          <p:cNvPr id="76" name="Text 74"/>
          <p:cNvSpPr/>
          <p:nvPr/>
        </p:nvSpPr>
        <p:spPr>
          <a:xfrm>
            <a:off x="548640" y="3968496"/>
            <a:ext cx="11064240" cy="457200"/>
          </a:xfrm>
          <a:prstGeom prst="rect">
            <a:avLst/>
          </a:prstGeom>
          <a:noFill/>
          <a:ln/>
        </p:spPr>
        <p:txBody>
          <a:bodyPr wrap="square" rtlCol="0" anchor="t"/>
          <a:lstStyle/>
          <a:p>
            <a:pPr marL="0" indent="0">
              <a:lnSpc>
                <a:spcPct val="100000"/>
              </a:lnSpc>
              <a:buNone/>
            </a:pPr>
            <a:r>
              <a:rPr lang="en-US" sz="950" i="1" dirty="0">
                <a:solidFill>
                  <a:srgbClr val="525252"/>
                </a:solidFill>
                <a:latin typeface="IBM Plex Sans" panose="020B0503050203000203" pitchFamily="34" charset="0"/>
                <a:ea typeface="Arial" pitchFamily="34" charset="-122"/>
                <a:cs typeface="Arial" pitchFamily="34" charset="-120"/>
              </a:rPr>
              <a:t>Efficiency impact (size of the effort) and productivity (the share AI removes) are distinct; their product is the savings. Efficiency impact was estimated from workflow information and validated with LT members.</a:t>
            </a:r>
            <a:endParaRPr lang="en-US" sz="950" dirty="0">
              <a:latin typeface="IBM Plex Sans" panose="020B0503050203000203" pitchFamily="34" charset="0"/>
            </a:endParaRPr>
          </a:p>
        </p:txBody>
      </p:sp>
      <p:sp>
        <p:nvSpPr>
          <p:cNvPr id="77" name="Shape 75"/>
          <p:cNvSpPr/>
          <p:nvPr/>
        </p:nvSpPr>
        <p:spPr>
          <a:xfrm>
            <a:off x="548640" y="4434840"/>
            <a:ext cx="11064240" cy="1417320"/>
          </a:xfrm>
          <a:prstGeom prst="roundRect">
            <a:avLst>
              <a:gd name="adj" fmla="val 3226"/>
            </a:avLst>
          </a:prstGeom>
          <a:solidFill>
            <a:srgbClr val="001141"/>
          </a:solidFill>
          <a:ln/>
        </p:spPr>
        <p:txBody>
          <a:bodyPr/>
          <a:lstStyle/>
          <a:p>
            <a:endParaRPr lang="en-US">
              <a:latin typeface="IBM Plex Sans" panose="020B0503050203000203" pitchFamily="34" charset="0"/>
            </a:endParaRPr>
          </a:p>
        </p:txBody>
      </p:sp>
      <p:sp>
        <p:nvSpPr>
          <p:cNvPr id="78" name="Text 76"/>
          <p:cNvSpPr/>
          <p:nvPr/>
        </p:nvSpPr>
        <p:spPr>
          <a:xfrm>
            <a:off x="777240" y="4526280"/>
            <a:ext cx="10058400" cy="274320"/>
          </a:xfrm>
          <a:prstGeom prst="rect">
            <a:avLst/>
          </a:prstGeom>
          <a:noFill/>
          <a:ln/>
        </p:spPr>
        <p:txBody>
          <a:bodyPr wrap="square" rtlCol="0" anchor="ctr"/>
          <a:lstStyle/>
          <a:p>
            <a:pPr marL="0" indent="0">
              <a:buNone/>
            </a:pPr>
            <a:r>
              <a:rPr lang="en-US" sz="1200" b="1" dirty="0">
                <a:solidFill>
                  <a:srgbClr val="A6C8FF"/>
                </a:solidFill>
                <a:latin typeface="IBM Plex Sans" panose="020B0503050203000203" pitchFamily="34" charset="0"/>
                <a:ea typeface="Arial" pitchFamily="34" charset="-122"/>
                <a:cs typeface="Arial" pitchFamily="34" charset="-120"/>
              </a:rPr>
              <a:t>How the composites are built</a:t>
            </a:r>
            <a:endParaRPr lang="en-US" sz="1200" dirty="0">
              <a:latin typeface="IBM Plex Sans" panose="020B0503050203000203" pitchFamily="34" charset="0"/>
            </a:endParaRPr>
          </a:p>
        </p:txBody>
      </p:sp>
      <p:sp>
        <p:nvSpPr>
          <p:cNvPr id="79" name="Text 77"/>
          <p:cNvSpPr/>
          <p:nvPr/>
        </p:nvSpPr>
        <p:spPr>
          <a:xfrm>
            <a:off x="777240" y="4800600"/>
            <a:ext cx="10607040" cy="1005840"/>
          </a:xfrm>
          <a:prstGeom prst="rect">
            <a:avLst/>
          </a:prstGeom>
          <a:noFill/>
          <a:ln/>
        </p:spPr>
        <p:txBody>
          <a:bodyPr wrap="square" rtlCol="0" anchor="t"/>
          <a:lstStyle/>
          <a:p>
            <a:pPr marL="0" indent="0">
              <a:lnSpc>
                <a:spcPct val="115000"/>
              </a:lnSpc>
              <a:buNone/>
            </a:pPr>
            <a:r>
              <a:rPr lang="en-US" sz="1250" b="1" dirty="0">
                <a:solidFill>
                  <a:srgbClr val="FFFFFF"/>
                </a:solidFill>
                <a:latin typeface="IBM Plex Sans" panose="020B0503050203000203" pitchFamily="34" charset="0"/>
                <a:ea typeface="Arial" pitchFamily="34" charset="-122"/>
                <a:cs typeface="Arial" pitchFamily="34" charset="-120"/>
              </a:rPr>
              <a:t>Value</a:t>
            </a:r>
            <a:r>
              <a:rPr lang="en-US" sz="1250" dirty="0">
                <a:solidFill>
                  <a:srgbClr val="E0E0E0"/>
                </a:solidFill>
                <a:latin typeface="IBM Plex Sans" panose="020B0503050203000203" pitchFamily="34" charset="0"/>
                <a:ea typeface="Arial" pitchFamily="34" charset="-122"/>
                <a:cs typeface="Arial" pitchFamily="34" charset="-120"/>
              </a:rPr>
              <a:t> (1 to 5) = relative efficiency impact as the primary driver, with business priority and productivity
</a:t>
            </a:r>
            <a:r>
              <a:rPr lang="en-US" sz="1250" b="1" dirty="0">
                <a:solidFill>
                  <a:srgbClr val="FFFFFF"/>
                </a:solidFill>
                <a:latin typeface="IBM Plex Sans" panose="020B0503050203000203" pitchFamily="34" charset="0"/>
                <a:ea typeface="Arial" pitchFamily="34" charset="-122"/>
                <a:cs typeface="Arial" pitchFamily="34" charset="-120"/>
              </a:rPr>
              <a:t>Feasibility</a:t>
            </a:r>
            <a:r>
              <a:rPr lang="en-US" sz="1250" dirty="0">
                <a:solidFill>
                  <a:srgbClr val="E0E0E0"/>
                </a:solidFill>
                <a:latin typeface="IBM Plex Sans" panose="020B0503050203000203" pitchFamily="34" charset="0"/>
                <a:ea typeface="Arial" pitchFamily="34" charset="-122"/>
                <a:cs typeface="Arial" pitchFamily="34" charset="-120"/>
              </a:rPr>
              <a:t> (1 to 5) = feasibility, complexity (inverted), and data readiness
</a:t>
            </a:r>
            <a:r>
              <a:rPr lang="en-US" sz="1250" b="1" dirty="0">
                <a:solidFill>
                  <a:srgbClr val="FFFFFF"/>
                </a:solidFill>
                <a:latin typeface="IBM Plex Sans" panose="020B0503050203000203" pitchFamily="34" charset="0"/>
                <a:ea typeface="Arial" pitchFamily="34" charset="-122"/>
                <a:cs typeface="Arial" pitchFamily="34" charset="-120"/>
              </a:rPr>
              <a:t>Composite ranking</a:t>
            </a:r>
            <a:r>
              <a:rPr lang="en-US" sz="1250" dirty="0">
                <a:solidFill>
                  <a:srgbClr val="E0E0E0"/>
                </a:solidFill>
                <a:latin typeface="IBM Plex Sans" panose="020B0503050203000203" pitchFamily="34" charset="0"/>
                <a:ea typeface="Arial" pitchFamily="34" charset="-122"/>
                <a:cs typeface="Arial" pitchFamily="34" charset="-120"/>
              </a:rPr>
              <a:t> = Value x Feasibility</a:t>
            </a:r>
            <a:endParaRPr lang="en-US" sz="1250" dirty="0">
              <a:latin typeface="IBM Plex Sans" panose="020B0503050203000203" pitchFamily="34" charset="0"/>
            </a:endParaRPr>
          </a:p>
        </p:txBody>
      </p:sp>
      <p:sp>
        <p:nvSpPr>
          <p:cNvPr id="80" name="Text 78"/>
          <p:cNvSpPr/>
          <p:nvPr/>
        </p:nvSpPr>
        <p:spPr>
          <a:xfrm>
            <a:off x="548640" y="6473952"/>
            <a:ext cx="8229600" cy="274320"/>
          </a:xfrm>
          <a:prstGeom prst="rect">
            <a:avLst/>
          </a:prstGeom>
          <a:noFill/>
          <a:ln/>
        </p:spPr>
        <p:txBody>
          <a:bodyPr wrap="square" rtlCol="0" anchor="ctr"/>
          <a:lstStyle/>
          <a:p>
            <a:pPr marL="0" indent="0">
              <a:buNone/>
            </a:pPr>
            <a:r>
              <a:rPr lang="en-US" sz="900" dirty="0">
                <a:solidFill>
                  <a:srgbClr val="525252"/>
                </a:solidFill>
                <a:latin typeface="IBM Plex Sans" panose="020B0503050203000203" pitchFamily="34" charset="0"/>
                <a:ea typeface="Arial" pitchFamily="34" charset="-122"/>
                <a:cs typeface="Arial" pitchFamily="34" charset="-120"/>
              </a:rPr>
              <a:t>How We Prioritized  |  MCC AI Transformation</a:t>
            </a:r>
            <a:endParaRPr lang="en-US" sz="900" dirty="0">
              <a:latin typeface="IBM Plex Sans" panose="020B0503050203000203" pitchFamily="34" charset="0"/>
            </a:endParaRPr>
          </a:p>
        </p:txBody>
      </p:sp>
      <p:sp>
        <p:nvSpPr>
          <p:cNvPr id="81" name="Text 79"/>
          <p:cNvSpPr/>
          <p:nvPr/>
        </p:nvSpPr>
        <p:spPr>
          <a:xfrm>
            <a:off x="11430000" y="6473952"/>
            <a:ext cx="274320" cy="274320"/>
          </a:xfrm>
          <a:prstGeom prst="rect">
            <a:avLst/>
          </a:prstGeom>
          <a:noFill/>
          <a:ln/>
        </p:spPr>
        <p:txBody>
          <a:bodyPr wrap="square" rtlCol="0" anchor="ctr"/>
          <a:lstStyle/>
          <a:p>
            <a:pPr marL="0" indent="0" algn="r">
              <a:buNone/>
            </a:pPr>
            <a:r>
              <a:rPr lang="en-US" sz="900" dirty="0">
                <a:solidFill>
                  <a:srgbClr val="525252"/>
                </a:solidFill>
                <a:latin typeface="IBM Plex Sans" panose="020B0503050203000203" pitchFamily="34" charset="0"/>
                <a:ea typeface="Arial" pitchFamily="34" charset="-122"/>
                <a:cs typeface="Arial" pitchFamily="34" charset="-120"/>
              </a:rPr>
              <a:t>5</a:t>
            </a:r>
            <a:endParaRPr lang="en-US" sz="900" dirty="0">
              <a:latin typeface="IBM Plex Sans" panose="020B050305020300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61610"/>
          </a:xfrm>
          <a:prstGeom prst="rect">
            <a:avLst/>
          </a:prstGeom>
          <a:noFill/>
        </p:spPr>
        <p:txBody>
          <a:bodyPr wrap="square">
            <a:spAutoFit/>
          </a:bodyPr>
          <a:lstStyle/>
          <a:p>
            <a:r>
              <a:rPr sz="1100" b="1" i="0">
                <a:solidFill>
                  <a:srgbClr val="0F62FE"/>
                </a:solidFill>
                <a:latin typeface="IBM Plex Sans" panose="020B0503050203000203" pitchFamily="34" charset="0"/>
              </a:rPr>
              <a:t>DATA SOURCES AND METHOD</a:t>
            </a:r>
          </a:p>
        </p:txBody>
      </p:sp>
      <p:sp>
        <p:nvSpPr>
          <p:cNvPr id="3" name="TextBox 2"/>
          <p:cNvSpPr txBox="1"/>
          <p:nvPr/>
        </p:nvSpPr>
        <p:spPr>
          <a:xfrm>
            <a:off x="548640" y="640080"/>
            <a:ext cx="11064240" cy="461665"/>
          </a:xfrm>
          <a:prstGeom prst="rect">
            <a:avLst/>
          </a:prstGeom>
          <a:noFill/>
        </p:spPr>
        <p:txBody>
          <a:bodyPr wrap="square">
            <a:spAutoFit/>
          </a:bodyPr>
          <a:lstStyle/>
          <a:p>
            <a:r>
              <a:rPr sz="2400" b="1" i="0">
                <a:solidFill>
                  <a:srgbClr val="161616"/>
                </a:solidFill>
                <a:latin typeface="IBM Plex Sans" panose="020B0503050203000203" pitchFamily="34" charset="0"/>
              </a:rPr>
              <a:t>Where each input came from, and how we scored it</a:t>
            </a:r>
          </a:p>
        </p:txBody>
      </p:sp>
      <p:cxnSp>
        <p:nvCxnSpPr>
          <p:cNvPr id="4" name="Connector 3"/>
          <p:cNvCxnSpPr/>
          <p:nvPr/>
        </p:nvCxnSpPr>
        <p:spPr>
          <a:xfrm>
            <a:off x="548640" y="1371600"/>
            <a:ext cx="11064240" cy="0"/>
          </a:xfrm>
          <a:prstGeom prst="line">
            <a:avLst/>
          </a:prstGeom>
          <a:ln w="12700">
            <a:solidFill>
              <a:srgbClr val="C6C6C6"/>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2230500836"/>
              </p:ext>
            </p:extLst>
          </p:nvPr>
        </p:nvGraphicFramePr>
        <p:xfrm>
          <a:off x="548640" y="1600200"/>
          <a:ext cx="11064240" cy="384048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548640">
                <a:tc>
                  <a:txBody>
                    <a:bodyPr/>
                    <a:lstStyle/>
                    <a:p>
                      <a:r>
                        <a:rPr sz="1050" b="1" i="0" dirty="0">
                          <a:solidFill>
                            <a:srgbClr val="FFFFFF"/>
                          </a:solidFill>
                          <a:latin typeface="IBM Plex Sans" panose="020B0503050203000203" pitchFamily="34" charset="0"/>
                        </a:rPr>
                        <a:t>Metric</a:t>
                      </a:r>
                    </a:p>
                  </a:txBody>
                  <a:tcPr marL="73152" marR="73152" marT="36576" marB="36576">
                    <a:solidFill>
                      <a:srgbClr val="0F62FE"/>
                    </a:solidFill>
                  </a:tcPr>
                </a:tc>
                <a:tc>
                  <a:txBody>
                    <a:bodyPr/>
                    <a:lstStyle/>
                    <a:p>
                      <a:r>
                        <a:rPr sz="1050" b="1" i="0">
                          <a:solidFill>
                            <a:srgbClr val="FFFFFF"/>
                          </a:solidFill>
                          <a:latin typeface="IBM Plex Sans" panose="020B0503050203000203" pitchFamily="34" charset="0"/>
                        </a:rPr>
                        <a:t>Data source</a:t>
                      </a:r>
                    </a:p>
                  </a:txBody>
                  <a:tcPr marL="73152" marR="73152" marT="36576" marB="36576">
                    <a:solidFill>
                      <a:srgbClr val="0F62FE"/>
                    </a:solidFill>
                  </a:tcPr>
                </a:tc>
                <a:tc>
                  <a:txBody>
                    <a:bodyPr/>
                    <a:lstStyle/>
                    <a:p>
                      <a:r>
                        <a:rPr sz="1050" b="1" i="0">
                          <a:solidFill>
                            <a:srgbClr val="FFFFFF"/>
                          </a:solidFill>
                          <a:latin typeface="IBM Plex Sans" panose="020B0503050203000203" pitchFamily="34" charset="0"/>
                        </a:rPr>
                        <a:t>From data to score</a:t>
                      </a:r>
                    </a:p>
                  </a:txBody>
                  <a:tcPr marL="73152" marR="73152" marT="36576" marB="36576">
                    <a:solidFill>
                      <a:srgbClr val="0F62FE"/>
                    </a:solidFill>
                  </a:tcPr>
                </a:tc>
                <a:extLst>
                  <a:ext uri="{0D108BD9-81ED-4DB2-BD59-A6C34878D82A}">
                    <a16:rowId xmlns:a16="http://schemas.microsoft.com/office/drawing/2014/main" val="10000"/>
                  </a:ext>
                </a:extLst>
              </a:tr>
              <a:tr h="548640">
                <a:tc>
                  <a:txBody>
                    <a:bodyPr/>
                    <a:lstStyle/>
                    <a:p>
                      <a:r>
                        <a:rPr sz="950" b="1" i="0" dirty="0">
                          <a:solidFill>
                            <a:srgbClr val="161616"/>
                          </a:solidFill>
                          <a:latin typeface="IBM Plex Sans" panose="020B0503050203000203" pitchFamily="34" charset="0"/>
                        </a:rPr>
                        <a:t>Relative </a:t>
                      </a:r>
                      <a:r>
                        <a:rPr lang="en-US" sz="950" b="1" i="0" dirty="0">
                          <a:solidFill>
                            <a:srgbClr val="161616"/>
                          </a:solidFill>
                          <a:latin typeface="IBM Plex Sans" panose="020B0503050203000203" pitchFamily="34" charset="0"/>
                        </a:rPr>
                        <a:t>efficiency</a:t>
                      </a:r>
                      <a:r>
                        <a:rPr sz="950" b="1" i="0" dirty="0">
                          <a:solidFill>
                            <a:srgbClr val="161616"/>
                          </a:solidFill>
                          <a:latin typeface="IBM Plex Sans" panose="020B0503050203000203" pitchFamily="34" charset="0"/>
                        </a:rPr>
                        <a:t> impact  (Value, ~50%)</a:t>
                      </a:r>
                    </a:p>
                  </a:txBody>
                  <a:tcPr marL="73152" marR="73152" marT="36576" marB="36576">
                    <a:solidFill>
                      <a:srgbClr val="FFFFFF"/>
                    </a:solidFill>
                  </a:tcPr>
                </a:tc>
                <a:tc>
                  <a:txBody>
                    <a:bodyPr/>
                    <a:lstStyle/>
                    <a:p>
                      <a:r>
                        <a:rPr sz="900" b="0" i="0">
                          <a:solidFill>
                            <a:srgbClr val="525252"/>
                          </a:solidFill>
                          <a:latin typeface="IBM Plex Sans" panose="020B0503050203000203" pitchFamily="34" charset="0"/>
                        </a:rPr>
                        <a:t>Org and role data (headcount by role) plus the 41 initiative definitions. AI first pass, validated with LT members.</a:t>
                      </a:r>
                    </a:p>
                  </a:txBody>
                  <a:tcPr marL="73152" marR="73152" marT="36576" marB="36576">
                    <a:solidFill>
                      <a:srgbClr val="FFFFFF"/>
                    </a:solidFill>
                  </a:tcPr>
                </a:tc>
                <a:tc>
                  <a:txBody>
                    <a:bodyPr/>
                    <a:lstStyle/>
                    <a:p>
                      <a:r>
                        <a:rPr sz="900" b="0" i="0" dirty="0">
                          <a:solidFill>
                            <a:srgbClr val="525252"/>
                          </a:solidFill>
                          <a:latin typeface="IBM Plex Sans" panose="020B0503050203000203" pitchFamily="34" charset="0"/>
                        </a:rPr>
                        <a:t>AI estimated headcount touched, share of their time on the activity, and efficiency gain per initiative; ranked relative across the 41, then bucketed High / Med / Low. A detailed </a:t>
                      </a:r>
                      <a:r>
                        <a:rPr lang="en-US" sz="900" b="0" i="0" dirty="0">
                          <a:solidFill>
                            <a:srgbClr val="525252"/>
                          </a:solidFill>
                          <a:latin typeface="IBM Plex Sans" panose="020B0503050203000203" pitchFamily="34" charset="0"/>
                        </a:rPr>
                        <a:t>efficiency</a:t>
                      </a:r>
                      <a:r>
                        <a:rPr sz="900" b="0" i="0" dirty="0">
                          <a:solidFill>
                            <a:srgbClr val="525252"/>
                          </a:solidFill>
                          <a:latin typeface="IBM Plex Sans" panose="020B0503050203000203" pitchFamily="34" charset="0"/>
                        </a:rPr>
                        <a:t> workbook sits behind it.</a:t>
                      </a:r>
                    </a:p>
                  </a:txBody>
                  <a:tcPr marL="73152" marR="73152" marT="36576" marB="36576">
                    <a:solidFill>
                      <a:srgbClr val="FFFFFF"/>
                    </a:solidFill>
                  </a:tcPr>
                </a:tc>
                <a:extLst>
                  <a:ext uri="{0D108BD9-81ED-4DB2-BD59-A6C34878D82A}">
                    <a16:rowId xmlns:a16="http://schemas.microsoft.com/office/drawing/2014/main" val="10001"/>
                  </a:ext>
                </a:extLst>
              </a:tr>
              <a:tr h="548640">
                <a:tc>
                  <a:txBody>
                    <a:bodyPr/>
                    <a:lstStyle/>
                    <a:p>
                      <a:r>
                        <a:rPr sz="950" b="1" i="0">
                          <a:solidFill>
                            <a:srgbClr val="161616"/>
                          </a:solidFill>
                          <a:latin typeface="IBM Plex Sans" panose="020B0503050203000203" pitchFamily="34" charset="0"/>
                        </a:rPr>
                        <a:t>Business priority</a:t>
                      </a:r>
                    </a:p>
                  </a:txBody>
                  <a:tcPr marL="73152" marR="73152" marT="36576" marB="36576">
                    <a:solidFill>
                      <a:srgbClr val="F4F4F4"/>
                    </a:solidFill>
                  </a:tcPr>
                </a:tc>
                <a:tc>
                  <a:txBody>
                    <a:bodyPr/>
                    <a:lstStyle/>
                    <a:p>
                      <a:r>
                        <a:rPr sz="900" b="0" i="0" dirty="0">
                          <a:solidFill>
                            <a:srgbClr val="525252"/>
                          </a:solidFill>
                          <a:latin typeface="IBM Plex Sans" panose="020B0503050203000203" pitchFamily="34" charset="0"/>
                        </a:rPr>
                        <a:t>Domain-lead interviews, leadership mandates, and the KPIs mapped to each initiative.</a:t>
                      </a:r>
                    </a:p>
                  </a:txBody>
                  <a:tcPr marL="73152" marR="73152" marT="36576" marB="36576">
                    <a:solidFill>
                      <a:srgbClr val="F4F4F4"/>
                    </a:solidFill>
                  </a:tcPr>
                </a:tc>
                <a:tc>
                  <a:txBody>
                    <a:bodyPr/>
                    <a:lstStyle/>
                    <a:p>
                      <a:r>
                        <a:rPr sz="900" b="0" i="0" dirty="0">
                          <a:solidFill>
                            <a:srgbClr val="525252"/>
                          </a:solidFill>
                          <a:latin typeface="IBM Plex Sans" panose="020B0503050203000203" pitchFamily="34" charset="0"/>
                        </a:rPr>
                        <a:t>Identified the KPIs each initiative moves (identification, </a:t>
                      </a:r>
                      <a:r>
                        <a:rPr lang="en-US" sz="900" b="0" i="0" dirty="0">
                          <a:solidFill>
                            <a:srgbClr val="525252"/>
                          </a:solidFill>
                          <a:latin typeface="IBM Plex Sans" panose="020B0503050203000203" pitchFamily="34" charset="0"/>
                        </a:rPr>
                        <a:t>efficiency</a:t>
                      </a:r>
                      <a:r>
                        <a:rPr sz="900" b="0" i="0" dirty="0">
                          <a:solidFill>
                            <a:srgbClr val="525252"/>
                          </a:solidFill>
                          <a:latin typeface="IBM Plex Sans" panose="020B0503050203000203" pitchFamily="34" charset="0"/>
                        </a:rPr>
                        <a:t>, and revenue or business impact); T-shirt sized the strength and any leadership mandate to High / Med / Low. This is where top-line enters.</a:t>
                      </a:r>
                    </a:p>
                  </a:txBody>
                  <a:tcPr marL="73152" marR="73152" marT="36576" marB="36576">
                    <a:solidFill>
                      <a:srgbClr val="F4F4F4"/>
                    </a:solidFill>
                  </a:tcPr>
                </a:tc>
                <a:extLst>
                  <a:ext uri="{0D108BD9-81ED-4DB2-BD59-A6C34878D82A}">
                    <a16:rowId xmlns:a16="http://schemas.microsoft.com/office/drawing/2014/main" val="10002"/>
                  </a:ext>
                </a:extLst>
              </a:tr>
              <a:tr h="548640">
                <a:tc>
                  <a:txBody>
                    <a:bodyPr/>
                    <a:lstStyle/>
                    <a:p>
                      <a:r>
                        <a:rPr sz="950" b="1" i="0">
                          <a:solidFill>
                            <a:srgbClr val="161616"/>
                          </a:solidFill>
                          <a:latin typeface="IBM Plex Sans" panose="020B0503050203000203" pitchFamily="34" charset="0"/>
                        </a:rPr>
                        <a:t>Productivity (efficiency gain)</a:t>
                      </a:r>
                    </a:p>
                  </a:txBody>
                  <a:tcPr marL="73152" marR="73152" marT="36576" marB="36576">
                    <a:solidFill>
                      <a:srgbClr val="FFFFFF"/>
                    </a:solidFill>
                  </a:tcPr>
                </a:tc>
                <a:tc>
                  <a:txBody>
                    <a:bodyPr/>
                    <a:lstStyle/>
                    <a:p>
                      <a:r>
                        <a:rPr sz="900" b="0" i="0" dirty="0">
                          <a:solidFill>
                            <a:srgbClr val="525252"/>
                          </a:solidFill>
                          <a:latin typeface="IBM Plex Sans" panose="020B0503050203000203" pitchFamily="34" charset="0"/>
                        </a:rPr>
                        <a:t>Domain workshops and interviews, plus the same AI model used for </a:t>
                      </a:r>
                      <a:r>
                        <a:rPr lang="en-US" sz="900" b="0" i="0" dirty="0">
                          <a:solidFill>
                            <a:srgbClr val="525252"/>
                          </a:solidFill>
                          <a:latin typeface="IBM Plex Sans" panose="020B0503050203000203" pitchFamily="34" charset="0"/>
                        </a:rPr>
                        <a:t>efficiency</a:t>
                      </a:r>
                      <a:r>
                        <a:rPr sz="900" b="0" i="0" dirty="0">
                          <a:solidFill>
                            <a:srgbClr val="525252"/>
                          </a:solidFill>
                          <a:latin typeface="IBM Plex Sans" panose="020B0503050203000203" pitchFamily="34" charset="0"/>
                        </a:rPr>
                        <a:t>.</a:t>
                      </a:r>
                    </a:p>
                  </a:txBody>
                  <a:tcPr marL="73152" marR="73152" marT="36576" marB="36576">
                    <a:solidFill>
                      <a:srgbClr val="FFFFFF"/>
                    </a:solidFill>
                  </a:tcPr>
                </a:tc>
                <a:tc>
                  <a:txBody>
                    <a:bodyPr/>
                    <a:lstStyle/>
                    <a:p>
                      <a:r>
                        <a:rPr sz="900" b="0" i="0">
                          <a:solidFill>
                            <a:srgbClr val="525252"/>
                          </a:solidFill>
                          <a:latin typeface="IBM Plex Sans" panose="020B0503050203000203" pitchFamily="34" charset="0"/>
                        </a:rPr>
                        <a:t>Estimated the share of in-scope time AI can remove: about 25% Low, 50% Medium, 75 to 100% High.</a:t>
                      </a:r>
                    </a:p>
                  </a:txBody>
                  <a:tcPr marL="73152" marR="73152" marT="36576" marB="36576">
                    <a:solidFill>
                      <a:srgbClr val="FFFFFF"/>
                    </a:solidFill>
                  </a:tcPr>
                </a:tc>
                <a:extLst>
                  <a:ext uri="{0D108BD9-81ED-4DB2-BD59-A6C34878D82A}">
                    <a16:rowId xmlns:a16="http://schemas.microsoft.com/office/drawing/2014/main" val="10003"/>
                  </a:ext>
                </a:extLst>
              </a:tr>
              <a:tr h="548640">
                <a:tc>
                  <a:txBody>
                    <a:bodyPr/>
                    <a:lstStyle/>
                    <a:p>
                      <a:r>
                        <a:rPr sz="950" b="1" i="0">
                          <a:solidFill>
                            <a:srgbClr val="161616"/>
                          </a:solidFill>
                          <a:latin typeface="IBM Plex Sans" panose="020B0503050203000203" pitchFamily="34" charset="0"/>
                        </a:rPr>
                        <a:t>Feasibility</a:t>
                      </a:r>
                    </a:p>
                  </a:txBody>
                  <a:tcPr marL="73152" marR="73152" marT="36576" marB="36576">
                    <a:solidFill>
                      <a:srgbClr val="F4F4F4"/>
                    </a:solidFill>
                  </a:tcPr>
                </a:tc>
                <a:tc>
                  <a:txBody>
                    <a:bodyPr/>
                    <a:lstStyle/>
                    <a:p>
                      <a:r>
                        <a:rPr sz="900" b="0" i="0">
                          <a:solidFill>
                            <a:srgbClr val="525252"/>
                          </a:solidFill>
                          <a:latin typeface="IBM Plex Sans" panose="020B0503050203000203" pitchFamily="34" charset="0"/>
                        </a:rPr>
                        <a:t>Joint CIO and IBMC delivery-team workshops.</a:t>
                      </a:r>
                    </a:p>
                  </a:txBody>
                  <a:tcPr marL="73152" marR="73152" marT="36576" marB="36576">
                    <a:solidFill>
                      <a:srgbClr val="F4F4F4"/>
                    </a:solidFill>
                  </a:tcPr>
                </a:tc>
                <a:tc>
                  <a:txBody>
                    <a:bodyPr/>
                    <a:lstStyle/>
                    <a:p>
                      <a:r>
                        <a:rPr sz="900" b="0" i="0">
                          <a:solidFill>
                            <a:srgbClr val="525252"/>
                          </a:solidFill>
                          <a:latin typeface="IBM Plex Sans" panose="020B0503050203000203" pitchFamily="34" charset="0"/>
                        </a:rPr>
                        <a:t>Judged whether the data and capability exist to build it now; rated overall buildability High / Med / Low.</a:t>
                      </a:r>
                    </a:p>
                  </a:txBody>
                  <a:tcPr marL="73152" marR="73152" marT="36576" marB="36576">
                    <a:solidFill>
                      <a:srgbClr val="F4F4F4"/>
                    </a:solidFill>
                  </a:tcPr>
                </a:tc>
                <a:extLst>
                  <a:ext uri="{0D108BD9-81ED-4DB2-BD59-A6C34878D82A}">
                    <a16:rowId xmlns:a16="http://schemas.microsoft.com/office/drawing/2014/main" val="10004"/>
                  </a:ext>
                </a:extLst>
              </a:tr>
              <a:tr h="548640">
                <a:tc>
                  <a:txBody>
                    <a:bodyPr/>
                    <a:lstStyle/>
                    <a:p>
                      <a:r>
                        <a:rPr sz="950" b="1" i="0" dirty="0">
                          <a:solidFill>
                            <a:srgbClr val="161616"/>
                          </a:solidFill>
                          <a:latin typeface="IBM Plex Sans" panose="020B0503050203000203" pitchFamily="34" charset="0"/>
                        </a:rPr>
                        <a:t>Complexity (inverted)</a:t>
                      </a:r>
                    </a:p>
                  </a:txBody>
                  <a:tcPr marL="73152" marR="73152" marT="36576" marB="36576">
                    <a:solidFill>
                      <a:srgbClr val="FFFFFF"/>
                    </a:solidFill>
                  </a:tcPr>
                </a:tc>
                <a:tc>
                  <a:txBody>
                    <a:bodyPr/>
                    <a:lstStyle/>
                    <a:p>
                      <a:r>
                        <a:rPr sz="900" b="0" i="0">
                          <a:solidFill>
                            <a:srgbClr val="525252"/>
                          </a:solidFill>
                          <a:latin typeface="IBM Plex Sans" panose="020B0503050203000203" pitchFamily="34" charset="0"/>
                        </a:rPr>
                        <a:t>CIO and delivery workshops.</a:t>
                      </a:r>
                    </a:p>
                  </a:txBody>
                  <a:tcPr marL="73152" marR="73152" marT="36576" marB="36576">
                    <a:solidFill>
                      <a:srgbClr val="FFFFFF"/>
                    </a:solidFill>
                  </a:tcPr>
                </a:tc>
                <a:tc>
                  <a:txBody>
                    <a:bodyPr/>
                    <a:lstStyle/>
                    <a:p>
                      <a:r>
                        <a:rPr sz="900" b="0" i="0">
                          <a:solidFill>
                            <a:srgbClr val="525252"/>
                          </a:solidFill>
                          <a:latin typeface="IBM Plex Sans" panose="020B0503050203000203" pitchFamily="34" charset="0"/>
                        </a:rPr>
                        <a:t>Scored implementation complexity (agent outcome, identity, organizational change), then inverted so low complexity raises feasibility.</a:t>
                      </a:r>
                    </a:p>
                  </a:txBody>
                  <a:tcPr marL="73152" marR="73152" marT="36576" marB="36576">
                    <a:solidFill>
                      <a:srgbClr val="FFFFFF"/>
                    </a:solidFill>
                  </a:tcPr>
                </a:tc>
                <a:extLst>
                  <a:ext uri="{0D108BD9-81ED-4DB2-BD59-A6C34878D82A}">
                    <a16:rowId xmlns:a16="http://schemas.microsoft.com/office/drawing/2014/main" val="10005"/>
                  </a:ext>
                </a:extLst>
              </a:tr>
              <a:tr h="548640">
                <a:tc>
                  <a:txBody>
                    <a:bodyPr/>
                    <a:lstStyle/>
                    <a:p>
                      <a:r>
                        <a:rPr sz="950" b="1" i="0">
                          <a:solidFill>
                            <a:srgbClr val="161616"/>
                          </a:solidFill>
                          <a:latin typeface="IBM Plex Sans" panose="020B0503050203000203" pitchFamily="34" charset="0"/>
                        </a:rPr>
                        <a:t>Data readiness</a:t>
                      </a:r>
                    </a:p>
                  </a:txBody>
                  <a:tcPr marL="73152" marR="73152" marT="36576" marB="36576">
                    <a:solidFill>
                      <a:srgbClr val="F4F4F4"/>
                    </a:solidFill>
                  </a:tcPr>
                </a:tc>
                <a:tc>
                  <a:txBody>
                    <a:bodyPr/>
                    <a:lstStyle/>
                    <a:p>
                      <a:r>
                        <a:rPr sz="900" b="0" i="0">
                          <a:solidFill>
                            <a:srgbClr val="525252"/>
                          </a:solidFill>
                          <a:latin typeface="IBM Plex Sans" panose="020B0503050203000203" pitchFamily="34" charset="0"/>
                        </a:rPr>
                        <a:t>CIO workshops and data / CDP audits.</a:t>
                      </a:r>
                    </a:p>
                  </a:txBody>
                  <a:tcPr marL="73152" marR="73152" marT="36576" marB="36576">
                    <a:solidFill>
                      <a:srgbClr val="F4F4F4"/>
                    </a:solidFill>
                  </a:tcPr>
                </a:tc>
                <a:tc>
                  <a:txBody>
                    <a:bodyPr/>
                    <a:lstStyle/>
                    <a:p>
                      <a:r>
                        <a:rPr sz="900" b="0" i="0" dirty="0">
                          <a:solidFill>
                            <a:srgbClr val="525252"/>
                          </a:solidFill>
                          <a:latin typeface="IBM Plex Sans" panose="020B0503050203000203" pitchFamily="34" charset="0"/>
                        </a:rPr>
                        <a:t>Assessed data availability and quality (sensitivity, semantic readiness, security); rated High / Med / Low.</a:t>
                      </a:r>
                    </a:p>
                  </a:txBody>
                  <a:tcPr marL="73152" marR="73152" marT="36576" marB="36576">
                    <a:solidFill>
                      <a:srgbClr val="F4F4F4"/>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48640" y="5577840"/>
            <a:ext cx="11064240" cy="384721"/>
          </a:xfrm>
          <a:prstGeom prst="rect">
            <a:avLst/>
          </a:prstGeom>
          <a:noFill/>
        </p:spPr>
        <p:txBody>
          <a:bodyPr wrap="square">
            <a:spAutoFit/>
          </a:bodyPr>
          <a:lstStyle/>
          <a:p>
            <a:r>
              <a:rPr sz="950" b="0" i="1" dirty="0">
                <a:solidFill>
                  <a:srgbClr val="525252"/>
                </a:solidFill>
                <a:latin typeface="IBM Plex Sans" panose="020B0503050203000203" pitchFamily="34" charset="0"/>
              </a:rPr>
              <a:t>Inputs were scored High, Medium or Low, then combined: Value (</a:t>
            </a:r>
            <a:r>
              <a:rPr lang="en-US" sz="950" b="0" i="1" dirty="0">
                <a:solidFill>
                  <a:srgbClr val="525252"/>
                </a:solidFill>
                <a:latin typeface="IBM Plex Sans" panose="020B0503050203000203" pitchFamily="34" charset="0"/>
              </a:rPr>
              <a:t>efficiency</a:t>
            </a:r>
            <a:r>
              <a:rPr sz="950" b="0" i="1" dirty="0">
                <a:solidFill>
                  <a:srgbClr val="525252"/>
                </a:solidFill>
                <a:latin typeface="IBM Plex Sans" panose="020B0503050203000203" pitchFamily="34" charset="0"/>
              </a:rPr>
              <a:t>-impact weighted) and Feasibility each 1 to 5, Composite = Value x Feasibility. Sources were interviews, the IX process maps, AI modeling on org and role data, CIO and delivery workshops, and LT validation. EBM was not used as a scoring input.</a:t>
            </a:r>
          </a:p>
        </p:txBody>
      </p:sp>
      <p:sp>
        <p:nvSpPr>
          <p:cNvPr id="7" name="TextBox 6"/>
          <p:cNvSpPr txBox="1"/>
          <p:nvPr/>
        </p:nvSpPr>
        <p:spPr>
          <a:xfrm>
            <a:off x="548640" y="6473952"/>
            <a:ext cx="2520242" cy="230832"/>
          </a:xfrm>
          <a:prstGeom prst="rect">
            <a:avLst/>
          </a:prstGeom>
          <a:noFill/>
        </p:spPr>
        <p:txBody>
          <a:bodyPr wrap="none">
            <a:spAutoFit/>
          </a:bodyPr>
          <a:lstStyle/>
          <a:p>
            <a:r>
              <a:rPr sz="900" b="0" i="0">
                <a:solidFill>
                  <a:srgbClr val="525252"/>
                </a:solidFill>
                <a:latin typeface="IBM Plex Sans" panose="020B0503050203000203" pitchFamily="34" charset="0"/>
              </a:rPr>
              <a:t>How We Prioritized  |  MCC AI Transformation</a:t>
            </a:r>
          </a:p>
        </p:txBody>
      </p:sp>
      <p:sp>
        <p:nvSpPr>
          <p:cNvPr id="8" name="TextBox 7"/>
          <p:cNvSpPr txBox="1"/>
          <p:nvPr/>
        </p:nvSpPr>
        <p:spPr>
          <a:xfrm>
            <a:off x="11450724" y="6473952"/>
            <a:ext cx="253596" cy="230832"/>
          </a:xfrm>
          <a:prstGeom prst="rect">
            <a:avLst/>
          </a:prstGeom>
          <a:noFill/>
        </p:spPr>
        <p:txBody>
          <a:bodyPr wrap="none">
            <a:spAutoFit/>
          </a:bodyPr>
          <a:lstStyle/>
          <a:p>
            <a:pPr algn="r"/>
            <a:r>
              <a:rPr sz="900" b="0" i="0">
                <a:solidFill>
                  <a:srgbClr val="525252"/>
                </a:solidFill>
                <a:latin typeface="IBM Plex Sans" panose="020B0503050203000203" pitchFamily="34" charset="0"/>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61610"/>
          </a:xfrm>
          <a:prstGeom prst="rect">
            <a:avLst/>
          </a:prstGeom>
          <a:noFill/>
        </p:spPr>
        <p:txBody>
          <a:bodyPr wrap="square">
            <a:spAutoFit/>
          </a:bodyPr>
          <a:lstStyle/>
          <a:p>
            <a:r>
              <a:rPr sz="1100" b="1" i="0">
                <a:solidFill>
                  <a:srgbClr val="0F62FE"/>
                </a:solidFill>
                <a:latin typeface="IBM Plex Sans" panose="020B0503050203000203" pitchFamily="34" charset="0"/>
              </a:rPr>
              <a:t>A WORKED EXAMPLE</a:t>
            </a:r>
          </a:p>
        </p:txBody>
      </p:sp>
      <p:sp>
        <p:nvSpPr>
          <p:cNvPr id="3" name="TextBox 2"/>
          <p:cNvSpPr txBox="1"/>
          <p:nvPr/>
        </p:nvSpPr>
        <p:spPr>
          <a:xfrm>
            <a:off x="548640" y="640080"/>
            <a:ext cx="11064240" cy="461665"/>
          </a:xfrm>
          <a:prstGeom prst="rect">
            <a:avLst/>
          </a:prstGeom>
          <a:noFill/>
        </p:spPr>
        <p:txBody>
          <a:bodyPr wrap="square">
            <a:spAutoFit/>
          </a:bodyPr>
          <a:lstStyle/>
          <a:p>
            <a:r>
              <a:rPr sz="2400" b="1" i="0">
                <a:solidFill>
                  <a:srgbClr val="161616"/>
                </a:solidFill>
                <a:latin typeface="IBM Plex Sans" panose="020B0503050203000203" pitchFamily="34" charset="0"/>
              </a:rPr>
              <a:t>Content Creation: the evidence behind each score</a:t>
            </a:r>
          </a:p>
        </p:txBody>
      </p:sp>
      <p:cxnSp>
        <p:nvCxnSpPr>
          <p:cNvPr id="4" name="Connector 3"/>
          <p:cNvCxnSpPr/>
          <p:nvPr/>
        </p:nvCxnSpPr>
        <p:spPr>
          <a:xfrm>
            <a:off x="548640" y="1371600"/>
            <a:ext cx="11064240" cy="0"/>
          </a:xfrm>
          <a:prstGeom prst="line">
            <a:avLst/>
          </a:prstGeom>
          <a:ln w="12700">
            <a:solidFill>
              <a:srgbClr val="C6C6C6"/>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584188624"/>
              </p:ext>
            </p:extLst>
          </p:nvPr>
        </p:nvGraphicFramePr>
        <p:xfrm>
          <a:off x="548640" y="1600200"/>
          <a:ext cx="8092440" cy="3657600"/>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22514">
                <a:tc>
                  <a:txBody>
                    <a:bodyPr/>
                    <a:lstStyle/>
                    <a:p>
                      <a:r>
                        <a:rPr sz="1000" b="1" i="0" dirty="0">
                          <a:solidFill>
                            <a:srgbClr val="FFFFFF"/>
                          </a:solidFill>
                          <a:latin typeface="IBM Plex Sans" panose="020B0503050203000203" pitchFamily="34" charset="0"/>
                        </a:rPr>
                        <a:t>Category</a:t>
                      </a:r>
                    </a:p>
                  </a:txBody>
                  <a:tcPr marL="73152" marR="73152" marT="36576" marB="36576" anchor="ctr">
                    <a:solidFill>
                      <a:srgbClr val="0F62FE"/>
                    </a:solidFill>
                  </a:tcPr>
                </a:tc>
                <a:tc>
                  <a:txBody>
                    <a:bodyPr/>
                    <a:lstStyle/>
                    <a:p>
                      <a:r>
                        <a:rPr sz="1000" b="1" i="0">
                          <a:solidFill>
                            <a:srgbClr val="FFFFFF"/>
                          </a:solidFill>
                          <a:latin typeface="IBM Plex Sans" panose="020B0503050203000203" pitchFamily="34" charset="0"/>
                        </a:rPr>
                        <a:t>Rating</a:t>
                      </a:r>
                    </a:p>
                  </a:txBody>
                  <a:tcPr marL="73152" marR="73152" marT="36576" marB="36576" anchor="ctr">
                    <a:solidFill>
                      <a:srgbClr val="0F62FE"/>
                    </a:solidFill>
                  </a:tcPr>
                </a:tc>
                <a:tc>
                  <a:txBody>
                    <a:bodyPr/>
                    <a:lstStyle/>
                    <a:p>
                      <a:r>
                        <a:rPr sz="1000" b="1" i="0">
                          <a:solidFill>
                            <a:srgbClr val="FFFFFF"/>
                          </a:solidFill>
                          <a:latin typeface="IBM Plex Sans" panose="020B0503050203000203" pitchFamily="34" charset="0"/>
                        </a:rPr>
                        <a:t>What we collected to size it</a:t>
                      </a:r>
                    </a:p>
                  </a:txBody>
                  <a:tcPr marL="73152" marR="73152" marT="36576" marB="36576" anchor="ctr">
                    <a:solidFill>
                      <a:srgbClr val="0F62FE"/>
                    </a:solidFill>
                  </a:tcPr>
                </a:tc>
                <a:extLst>
                  <a:ext uri="{0D108BD9-81ED-4DB2-BD59-A6C34878D82A}">
                    <a16:rowId xmlns:a16="http://schemas.microsoft.com/office/drawing/2014/main" val="10000"/>
                  </a:ext>
                </a:extLst>
              </a:tr>
              <a:tr h="522514">
                <a:tc>
                  <a:txBody>
                    <a:bodyPr/>
                    <a:lstStyle/>
                    <a:p>
                      <a:r>
                        <a:rPr sz="950" b="1" i="0" dirty="0">
                          <a:solidFill>
                            <a:srgbClr val="161616"/>
                          </a:solidFill>
                          <a:latin typeface="IBM Plex Sans" panose="020B0503050203000203" pitchFamily="34" charset="0"/>
                        </a:rPr>
                        <a:t>Relative </a:t>
                      </a:r>
                      <a:r>
                        <a:rPr lang="en-US" sz="950" b="1" i="0" dirty="0">
                          <a:solidFill>
                            <a:srgbClr val="161616"/>
                          </a:solidFill>
                          <a:latin typeface="IBM Plex Sans" panose="020B0503050203000203" pitchFamily="34" charset="0"/>
                        </a:rPr>
                        <a:t>efficiency</a:t>
                      </a:r>
                      <a:r>
                        <a:rPr sz="950" b="1" i="0" dirty="0">
                          <a:solidFill>
                            <a:srgbClr val="161616"/>
                          </a:solidFill>
                          <a:latin typeface="IBM Plex Sans" panose="020B0503050203000203" pitchFamily="34" charset="0"/>
                        </a:rPr>
                        <a:t> impact</a:t>
                      </a:r>
                    </a:p>
                  </a:txBody>
                  <a:tcPr marL="73152" marR="73152" marT="36576" marB="36576" anchor="ctr">
                    <a:solidFill>
                      <a:srgbClr val="FFFFFF"/>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FFFFF"/>
                    </a:solidFill>
                  </a:tcPr>
                </a:tc>
                <a:tc>
                  <a:txBody>
                    <a:bodyPr/>
                    <a:lstStyle/>
                    <a:p>
                      <a:r>
                        <a:rPr sz="900" b="0" i="0" dirty="0">
                          <a:solidFill>
                            <a:srgbClr val="525252"/>
                          </a:solidFill>
                          <a:latin typeface="IBM Plex Sans" panose="020B0503050203000203" pitchFamily="34" charset="0"/>
                        </a:rPr>
                        <a:t>The single largest time sink in MCC: </a:t>
                      </a:r>
                      <a:r>
                        <a:rPr lang="en-US" sz="900" b="0" i="0" dirty="0">
                          <a:solidFill>
                            <a:srgbClr val="525252"/>
                          </a:solidFill>
                          <a:latin typeface="IBM Plex Sans" panose="020B0503050203000203" pitchFamily="34" charset="0"/>
                        </a:rPr>
                        <a:t>resources</a:t>
                      </a:r>
                      <a:r>
                        <a:rPr sz="900" b="0" i="0" dirty="0">
                          <a:solidFill>
                            <a:srgbClr val="525252"/>
                          </a:solidFill>
                          <a:latin typeface="IBM Plex Sans" panose="020B0503050203000203" pitchFamily="34" charset="0"/>
                        </a:rPr>
                        <a:t> across content creation, localization and QA in every domain. Tops the relative scale (5 / 5).</a:t>
                      </a:r>
                    </a:p>
                  </a:txBody>
                  <a:tcPr marL="73152" marR="73152" marT="36576" marB="36576" anchor="ctr">
                    <a:solidFill>
                      <a:srgbClr val="FFFFFF"/>
                    </a:solidFill>
                  </a:tcPr>
                </a:tc>
                <a:extLst>
                  <a:ext uri="{0D108BD9-81ED-4DB2-BD59-A6C34878D82A}">
                    <a16:rowId xmlns:a16="http://schemas.microsoft.com/office/drawing/2014/main" val="10001"/>
                  </a:ext>
                </a:extLst>
              </a:tr>
              <a:tr h="522514">
                <a:tc>
                  <a:txBody>
                    <a:bodyPr/>
                    <a:lstStyle/>
                    <a:p>
                      <a:r>
                        <a:rPr sz="950" b="1" i="0">
                          <a:solidFill>
                            <a:srgbClr val="161616"/>
                          </a:solidFill>
                          <a:latin typeface="IBM Plex Sans" panose="020B0503050203000203" pitchFamily="34" charset="0"/>
                        </a:rPr>
                        <a:t>Business priority</a:t>
                      </a:r>
                    </a:p>
                  </a:txBody>
                  <a:tcPr marL="73152" marR="73152" marT="36576" marB="36576" anchor="ctr">
                    <a:solidFill>
                      <a:srgbClr val="F4F4F4"/>
                    </a:solidFill>
                  </a:tcPr>
                </a:tc>
                <a:tc>
                  <a:txBody>
                    <a:bodyPr/>
                    <a:lstStyle/>
                    <a:p>
                      <a:r>
                        <a:rPr sz="950" b="1" i="0" dirty="0">
                          <a:solidFill>
                            <a:srgbClr val="525252"/>
                          </a:solidFill>
                          <a:latin typeface="IBM Plex Sans" panose="020B0503050203000203" pitchFamily="34" charset="0"/>
                        </a:rPr>
                        <a:t>Medium</a:t>
                      </a:r>
                    </a:p>
                  </a:txBody>
                  <a:tcPr marL="73152" marR="73152" marT="36576" marB="36576" anchor="ctr">
                    <a:solidFill>
                      <a:srgbClr val="F4F4F4"/>
                    </a:solidFill>
                  </a:tcPr>
                </a:tc>
                <a:tc>
                  <a:txBody>
                    <a:bodyPr/>
                    <a:lstStyle/>
                    <a:p>
                      <a:r>
                        <a:rPr sz="900" b="0" i="0">
                          <a:solidFill>
                            <a:srgbClr val="525252"/>
                          </a:solidFill>
                          <a:latin typeface="IBM Plex Sans" panose="020B0503050203000203" pitchFamily="34" charset="0"/>
                        </a:rPr>
                        <a:t>A broad enabler behind many campaigns rather than a single headline KPI, so rated medium.</a:t>
                      </a:r>
                    </a:p>
                  </a:txBody>
                  <a:tcPr marL="73152" marR="73152" marT="36576" marB="36576" anchor="ctr">
                    <a:solidFill>
                      <a:srgbClr val="F4F4F4"/>
                    </a:solidFill>
                  </a:tcPr>
                </a:tc>
                <a:extLst>
                  <a:ext uri="{0D108BD9-81ED-4DB2-BD59-A6C34878D82A}">
                    <a16:rowId xmlns:a16="http://schemas.microsoft.com/office/drawing/2014/main" val="10002"/>
                  </a:ext>
                </a:extLst>
              </a:tr>
              <a:tr h="522514">
                <a:tc>
                  <a:txBody>
                    <a:bodyPr/>
                    <a:lstStyle/>
                    <a:p>
                      <a:r>
                        <a:rPr sz="950" b="1" i="0">
                          <a:solidFill>
                            <a:srgbClr val="161616"/>
                          </a:solidFill>
                          <a:latin typeface="IBM Plex Sans" panose="020B0503050203000203" pitchFamily="34" charset="0"/>
                        </a:rPr>
                        <a:t>Productivity</a:t>
                      </a:r>
                    </a:p>
                  </a:txBody>
                  <a:tcPr marL="73152" marR="73152" marT="36576" marB="36576" anchor="ctr">
                    <a:solidFill>
                      <a:srgbClr val="FFFFFF"/>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FFFFF"/>
                    </a:solidFill>
                  </a:tcPr>
                </a:tc>
                <a:tc>
                  <a:txBody>
                    <a:bodyPr/>
                    <a:lstStyle/>
                    <a:p>
                      <a:r>
                        <a:rPr sz="900" b="0" i="0">
                          <a:solidFill>
                            <a:srgbClr val="525252"/>
                          </a:solidFill>
                          <a:latin typeface="IBM Plex Sans" panose="020B0503050203000203" pitchFamily="34" charset="0"/>
                        </a:rPr>
                        <a:t>Much of the work is repeatable generation, adaptation and first-pass QA that AI can take on.</a:t>
                      </a:r>
                    </a:p>
                  </a:txBody>
                  <a:tcPr marL="73152" marR="73152" marT="36576" marB="36576" anchor="ctr">
                    <a:solidFill>
                      <a:srgbClr val="FFFFFF"/>
                    </a:solidFill>
                  </a:tcPr>
                </a:tc>
                <a:extLst>
                  <a:ext uri="{0D108BD9-81ED-4DB2-BD59-A6C34878D82A}">
                    <a16:rowId xmlns:a16="http://schemas.microsoft.com/office/drawing/2014/main" val="10003"/>
                  </a:ext>
                </a:extLst>
              </a:tr>
              <a:tr h="522514">
                <a:tc>
                  <a:txBody>
                    <a:bodyPr/>
                    <a:lstStyle/>
                    <a:p>
                      <a:r>
                        <a:rPr sz="950" b="1" i="0">
                          <a:solidFill>
                            <a:srgbClr val="161616"/>
                          </a:solidFill>
                          <a:latin typeface="IBM Plex Sans" panose="020B0503050203000203" pitchFamily="34" charset="0"/>
                        </a:rPr>
                        <a:t>Feasibility</a:t>
                      </a:r>
                    </a:p>
                  </a:txBody>
                  <a:tcPr marL="73152" marR="73152" marT="36576" marB="36576" anchor="ctr">
                    <a:solidFill>
                      <a:srgbClr val="F4F4F4"/>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4F4F4"/>
                    </a:solidFill>
                  </a:tcPr>
                </a:tc>
                <a:tc>
                  <a:txBody>
                    <a:bodyPr/>
                    <a:lstStyle/>
                    <a:p>
                      <a:r>
                        <a:rPr sz="900" b="0" i="0">
                          <a:solidFill>
                            <a:srgbClr val="525252"/>
                          </a:solidFill>
                          <a:latin typeface="IBM Plex Sans" panose="020B0503050203000203" pitchFamily="34" charset="0"/>
                        </a:rPr>
                        <a:t>Builds on the established GenStudio content workflow from Wave 2; a proven pattern.</a:t>
                      </a:r>
                    </a:p>
                  </a:txBody>
                  <a:tcPr marL="73152" marR="73152" marT="36576" marB="36576" anchor="ctr">
                    <a:solidFill>
                      <a:srgbClr val="F4F4F4"/>
                    </a:solidFill>
                  </a:tcPr>
                </a:tc>
                <a:extLst>
                  <a:ext uri="{0D108BD9-81ED-4DB2-BD59-A6C34878D82A}">
                    <a16:rowId xmlns:a16="http://schemas.microsoft.com/office/drawing/2014/main" val="10004"/>
                  </a:ext>
                </a:extLst>
              </a:tr>
              <a:tr h="522514">
                <a:tc>
                  <a:txBody>
                    <a:bodyPr/>
                    <a:lstStyle/>
                    <a:p>
                      <a:r>
                        <a:rPr lang="en-US" sz="950" b="1" i="0" dirty="0">
                          <a:solidFill>
                            <a:srgbClr val="161616"/>
                          </a:solidFill>
                          <a:latin typeface="IBM Plex Sans" panose="020B0503050203000203" pitchFamily="34" charset="0"/>
                        </a:rPr>
                        <a:t>Complexity (inverted)</a:t>
                      </a:r>
                    </a:p>
                  </a:txBody>
                  <a:tcPr marL="73152" marR="73152" marT="36576" marB="36576" anchor="ctr">
                    <a:solidFill>
                      <a:srgbClr val="FFFFFF"/>
                    </a:solidFill>
                  </a:tcPr>
                </a:tc>
                <a:tc>
                  <a:txBody>
                    <a:bodyPr/>
                    <a:lstStyle/>
                    <a:p>
                      <a:r>
                        <a:rPr sz="950" b="1" i="0" dirty="0">
                          <a:solidFill>
                            <a:srgbClr val="FF0000"/>
                          </a:solidFill>
                          <a:latin typeface="IBM Plex Sans" panose="020B0503050203000203" pitchFamily="34" charset="0"/>
                        </a:rPr>
                        <a:t>High</a:t>
                      </a:r>
                    </a:p>
                  </a:txBody>
                  <a:tcPr marL="73152" marR="73152" marT="36576" marB="36576" anchor="ctr">
                    <a:solidFill>
                      <a:srgbClr val="FFFFFF"/>
                    </a:solidFill>
                  </a:tcPr>
                </a:tc>
                <a:tc>
                  <a:txBody>
                    <a:bodyPr/>
                    <a:lstStyle/>
                    <a:p>
                      <a:r>
                        <a:rPr sz="900" b="0" i="0">
                          <a:solidFill>
                            <a:srgbClr val="525252"/>
                          </a:solidFill>
                          <a:latin typeface="IBM Plex Sans" panose="020B0503050203000203" pitchFamily="34" charset="0"/>
                        </a:rPr>
                        <a:t>Spans every domain, channel and locale, with brand and legal governance at scale. High complexity tempers feasibility.</a:t>
                      </a:r>
                    </a:p>
                  </a:txBody>
                  <a:tcPr marL="73152" marR="73152" marT="36576" marB="36576" anchor="ctr">
                    <a:solidFill>
                      <a:srgbClr val="FFFFFF"/>
                    </a:solidFill>
                  </a:tcPr>
                </a:tc>
                <a:extLst>
                  <a:ext uri="{0D108BD9-81ED-4DB2-BD59-A6C34878D82A}">
                    <a16:rowId xmlns:a16="http://schemas.microsoft.com/office/drawing/2014/main" val="10005"/>
                  </a:ext>
                </a:extLst>
              </a:tr>
              <a:tr h="522516">
                <a:tc>
                  <a:txBody>
                    <a:bodyPr/>
                    <a:lstStyle/>
                    <a:p>
                      <a:r>
                        <a:rPr sz="950" b="1" i="0">
                          <a:solidFill>
                            <a:srgbClr val="161616"/>
                          </a:solidFill>
                          <a:latin typeface="IBM Plex Sans" panose="020B0503050203000203" pitchFamily="34" charset="0"/>
                        </a:rPr>
                        <a:t>Data readiness</a:t>
                      </a:r>
                    </a:p>
                  </a:txBody>
                  <a:tcPr marL="73152" marR="73152" marT="36576" marB="36576" anchor="ctr">
                    <a:solidFill>
                      <a:srgbClr val="F4F4F4"/>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4F4F4"/>
                    </a:solidFill>
                  </a:tcPr>
                </a:tc>
                <a:tc>
                  <a:txBody>
                    <a:bodyPr/>
                    <a:lstStyle/>
                    <a:p>
                      <a:r>
                        <a:rPr sz="900" b="0" i="0" dirty="0">
                          <a:solidFill>
                            <a:srgbClr val="525252"/>
                          </a:solidFill>
                          <a:latin typeface="IBM Plex Sans" panose="020B0503050203000203" pitchFamily="34" charset="0"/>
                        </a:rPr>
                        <a:t>Content, brand and localization assets are largely available across the domains.</a:t>
                      </a:r>
                    </a:p>
                  </a:txBody>
                  <a:tcPr marL="73152" marR="73152" marT="36576" marB="36576" anchor="ctr">
                    <a:solidFill>
                      <a:srgbClr val="F4F4F4"/>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8869680" y="1600200"/>
            <a:ext cx="2743200" cy="3657600"/>
          </a:xfrm>
          <a:prstGeom prst="rect">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7" name="TextBox 6"/>
          <p:cNvSpPr txBox="1"/>
          <p:nvPr/>
        </p:nvSpPr>
        <p:spPr>
          <a:xfrm>
            <a:off x="9098280" y="1755648"/>
            <a:ext cx="2377440" cy="246221"/>
          </a:xfrm>
          <a:prstGeom prst="rect">
            <a:avLst/>
          </a:prstGeom>
          <a:noFill/>
        </p:spPr>
        <p:txBody>
          <a:bodyPr wrap="square">
            <a:spAutoFit/>
          </a:bodyPr>
          <a:lstStyle/>
          <a:p>
            <a:r>
              <a:rPr sz="1000" b="1" i="0">
                <a:solidFill>
                  <a:srgbClr val="A6C8FF"/>
                </a:solidFill>
                <a:latin typeface="IBM Plex Sans" panose="020B0503050203000203" pitchFamily="34" charset="0"/>
              </a:rPr>
              <a:t>RESULT</a:t>
            </a:r>
          </a:p>
        </p:txBody>
      </p:sp>
      <p:sp>
        <p:nvSpPr>
          <p:cNvPr id="8" name="TextBox 7"/>
          <p:cNvSpPr txBox="1"/>
          <p:nvPr/>
        </p:nvSpPr>
        <p:spPr>
          <a:xfrm>
            <a:off x="9098280" y="2121408"/>
            <a:ext cx="2377440" cy="569387"/>
          </a:xfrm>
          <a:prstGeom prst="rect">
            <a:avLst/>
          </a:prstGeom>
          <a:noFill/>
        </p:spPr>
        <p:txBody>
          <a:bodyPr wrap="square">
            <a:spAutoFit/>
          </a:bodyPr>
          <a:lstStyle/>
          <a:p>
            <a:r>
              <a:rPr sz="1100" b="0" i="0">
                <a:solidFill>
                  <a:srgbClr val="A6C8FF"/>
                </a:solidFill>
                <a:latin typeface="IBM Plex Sans" panose="020B0503050203000203" pitchFamily="34" charset="0"/>
              </a:rPr>
              <a:t>Value</a:t>
            </a:r>
          </a:p>
          <a:p>
            <a:r>
              <a:rPr sz="2000" b="1" i="0">
                <a:solidFill>
                  <a:srgbClr val="FFFFFF"/>
                </a:solidFill>
                <a:latin typeface="IBM Plex Sans" panose="020B0503050203000203" pitchFamily="34" charset="0"/>
              </a:rPr>
              <a:t>5 / 5</a:t>
            </a:r>
          </a:p>
        </p:txBody>
      </p:sp>
      <p:sp>
        <p:nvSpPr>
          <p:cNvPr id="9" name="TextBox 8"/>
          <p:cNvSpPr txBox="1"/>
          <p:nvPr/>
        </p:nvSpPr>
        <p:spPr>
          <a:xfrm>
            <a:off x="9098280" y="2926080"/>
            <a:ext cx="2377440" cy="569387"/>
          </a:xfrm>
          <a:prstGeom prst="rect">
            <a:avLst/>
          </a:prstGeom>
          <a:noFill/>
        </p:spPr>
        <p:txBody>
          <a:bodyPr wrap="square">
            <a:spAutoFit/>
          </a:bodyPr>
          <a:lstStyle/>
          <a:p>
            <a:r>
              <a:rPr sz="1100" b="0" i="0">
                <a:solidFill>
                  <a:srgbClr val="A6C8FF"/>
                </a:solidFill>
                <a:latin typeface="IBM Plex Sans" panose="020B0503050203000203" pitchFamily="34" charset="0"/>
              </a:rPr>
              <a:t>Feasibility (complexity-tempered)</a:t>
            </a:r>
          </a:p>
          <a:p>
            <a:r>
              <a:rPr sz="2000" b="1" i="0">
                <a:solidFill>
                  <a:srgbClr val="FFFFFF"/>
                </a:solidFill>
                <a:latin typeface="IBM Plex Sans" panose="020B0503050203000203" pitchFamily="34" charset="0"/>
              </a:rPr>
              <a:t>3.5 / 5</a:t>
            </a:r>
          </a:p>
        </p:txBody>
      </p:sp>
      <p:cxnSp>
        <p:nvCxnSpPr>
          <p:cNvPr id="10" name="Connector 9"/>
          <p:cNvCxnSpPr/>
          <p:nvPr/>
        </p:nvCxnSpPr>
        <p:spPr>
          <a:xfrm>
            <a:off x="9098280" y="4023360"/>
            <a:ext cx="2286000" cy="0"/>
          </a:xfrm>
          <a:prstGeom prst="line">
            <a:avLst/>
          </a:prstGeom>
          <a:ln w="9525">
            <a:solidFill>
              <a:srgbClr val="3A4D7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98280" y="4114800"/>
            <a:ext cx="2377440" cy="892552"/>
          </a:xfrm>
          <a:prstGeom prst="rect">
            <a:avLst/>
          </a:prstGeom>
          <a:noFill/>
        </p:spPr>
        <p:txBody>
          <a:bodyPr wrap="square">
            <a:spAutoFit/>
          </a:bodyPr>
          <a:lstStyle/>
          <a:p>
            <a:r>
              <a:rPr sz="1100" b="0" i="0">
                <a:solidFill>
                  <a:srgbClr val="A6C8FF"/>
                </a:solidFill>
                <a:latin typeface="IBM Plex Sans" panose="020B0503050203000203" pitchFamily="34" charset="0"/>
              </a:rPr>
              <a:t>Composite (V x F)</a:t>
            </a:r>
          </a:p>
          <a:p>
            <a:r>
              <a:rPr sz="3000" b="1" i="0">
                <a:solidFill>
                  <a:srgbClr val="FFFFFF"/>
                </a:solidFill>
                <a:latin typeface="IBM Plex Sans" panose="020B0503050203000203" pitchFamily="34" charset="0"/>
              </a:rPr>
              <a:t>17.4</a:t>
            </a:r>
          </a:p>
          <a:p>
            <a:r>
              <a:rPr sz="1100" b="0" i="0">
                <a:solidFill>
                  <a:srgbClr val="A6C8FF"/>
                </a:solidFill>
                <a:latin typeface="IBM Plex Sans" panose="020B0503050203000203" pitchFamily="34" charset="0"/>
              </a:rPr>
              <a:t>Highest in the portfolio</a:t>
            </a:r>
          </a:p>
        </p:txBody>
      </p:sp>
      <p:sp>
        <p:nvSpPr>
          <p:cNvPr id="12" name="TextBox 11"/>
          <p:cNvSpPr txBox="1"/>
          <p:nvPr/>
        </p:nvSpPr>
        <p:spPr>
          <a:xfrm>
            <a:off x="548640" y="5486400"/>
            <a:ext cx="11064240" cy="461665"/>
          </a:xfrm>
          <a:prstGeom prst="rect">
            <a:avLst/>
          </a:prstGeom>
          <a:noFill/>
        </p:spPr>
        <p:txBody>
          <a:bodyPr wrap="square">
            <a:spAutoFit/>
          </a:bodyPr>
          <a:lstStyle/>
          <a:p>
            <a:r>
              <a:rPr lang="en-US" sz="1200" b="0" i="1" dirty="0">
                <a:solidFill>
                  <a:srgbClr val="525252"/>
                </a:solidFill>
                <a:latin typeface="IBM Plex Sans" panose="020B0503050203000203" pitchFamily="34" charset="0"/>
              </a:rPr>
              <a:t>Efficiency</a:t>
            </a:r>
            <a:r>
              <a:rPr sz="1200" b="0" i="1" dirty="0">
                <a:solidFill>
                  <a:srgbClr val="525252"/>
                </a:solidFill>
                <a:latin typeface="IBM Plex Sans" panose="020B0503050203000203" pitchFamily="34" charset="0"/>
              </a:rPr>
              <a:t> impact is the heaviest input, about 50%. Content Creation tops the </a:t>
            </a:r>
            <a:r>
              <a:rPr lang="en-US" sz="1200" b="0" i="1" dirty="0">
                <a:solidFill>
                  <a:srgbClr val="525252"/>
                </a:solidFill>
                <a:latin typeface="IBM Plex Sans" panose="020B0503050203000203" pitchFamily="34" charset="0"/>
              </a:rPr>
              <a:t>efficiency</a:t>
            </a:r>
            <a:r>
              <a:rPr sz="1200" b="0" i="1" dirty="0">
                <a:solidFill>
                  <a:srgbClr val="525252"/>
                </a:solidFill>
                <a:latin typeface="IBM Plex Sans" panose="020B0503050203000203" pitchFamily="34" charset="0"/>
              </a:rPr>
              <a:t> scale, which carries Value to 5 even with business priority only medium. High complexity then tempers feasibility to 3.5, and the two combine to the highest composite in the set.</a:t>
            </a:r>
          </a:p>
        </p:txBody>
      </p:sp>
      <p:sp>
        <p:nvSpPr>
          <p:cNvPr id="13" name="TextBox 12"/>
          <p:cNvSpPr txBox="1"/>
          <p:nvPr/>
        </p:nvSpPr>
        <p:spPr>
          <a:xfrm>
            <a:off x="548640" y="6473952"/>
            <a:ext cx="8229600" cy="230832"/>
          </a:xfrm>
          <a:prstGeom prst="rect">
            <a:avLst/>
          </a:prstGeom>
          <a:noFill/>
        </p:spPr>
        <p:txBody>
          <a:bodyPr wrap="square">
            <a:spAutoFit/>
          </a:bodyPr>
          <a:lstStyle/>
          <a:p>
            <a:r>
              <a:rPr sz="900" b="0" i="0">
                <a:solidFill>
                  <a:srgbClr val="525252"/>
                </a:solidFill>
                <a:latin typeface="IBM Plex Sans" panose="020B0503050203000203" pitchFamily="34" charset="0"/>
              </a:rPr>
              <a:t>How We Prioritized  |  MCC AI Transformation</a:t>
            </a:r>
          </a:p>
        </p:txBody>
      </p:sp>
      <p:sp>
        <p:nvSpPr>
          <p:cNvPr id="14" name="TextBox 13"/>
          <p:cNvSpPr txBox="1"/>
          <p:nvPr/>
        </p:nvSpPr>
        <p:spPr>
          <a:xfrm>
            <a:off x="11247120" y="6473952"/>
            <a:ext cx="457200" cy="230832"/>
          </a:xfrm>
          <a:prstGeom prst="rect">
            <a:avLst/>
          </a:prstGeom>
          <a:noFill/>
        </p:spPr>
        <p:txBody>
          <a:bodyPr wrap="square">
            <a:spAutoFit/>
          </a:bodyPr>
          <a:lstStyle/>
          <a:p>
            <a:pPr algn="r"/>
            <a:r>
              <a:rPr sz="900" b="0" i="0">
                <a:solidFill>
                  <a:srgbClr val="525252"/>
                </a:solidFill>
                <a:latin typeface="IBM Plex Sans" panose="020B0503050203000203" pitchFamily="34" charset="0"/>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100" b="1" kern="0" spc="100" dirty="0">
                <a:solidFill>
                  <a:srgbClr val="0F62FE"/>
                </a:solidFill>
                <a:latin typeface="IBM Plex Sans" panose="020B0503050203000203" pitchFamily="34" charset="0"/>
                <a:ea typeface="Arial" pitchFamily="34" charset="-122"/>
                <a:cs typeface="Arial" pitchFamily="34" charset="-120"/>
              </a:rPr>
              <a:t>HOW PLACEMENT MAPS TO PRIORITY</a:t>
            </a:r>
            <a:endParaRPr lang="en-US" sz="1100" dirty="0">
              <a:latin typeface="IBM Plex Sans" panose="020B0503050203000203" pitchFamily="34" charset="0"/>
            </a:endParaRPr>
          </a:p>
        </p:txBody>
      </p:sp>
      <p:sp>
        <p:nvSpPr>
          <p:cNvPr id="3" name="Text 1"/>
          <p:cNvSpPr/>
          <p:nvPr/>
        </p:nvSpPr>
        <p:spPr>
          <a:xfrm>
            <a:off x="548640" y="640080"/>
            <a:ext cx="11064240" cy="640080"/>
          </a:xfrm>
          <a:prstGeom prst="rect">
            <a:avLst/>
          </a:prstGeom>
          <a:noFill/>
          <a:ln/>
        </p:spPr>
        <p:txBody>
          <a:bodyPr wrap="square" rtlCol="0" anchor="ctr"/>
          <a:lstStyle/>
          <a:p>
            <a:pPr marL="0" indent="0">
              <a:buNone/>
            </a:pPr>
            <a:r>
              <a:rPr lang="en-US" sz="2400" b="1" dirty="0">
                <a:solidFill>
                  <a:srgbClr val="161616"/>
                </a:solidFill>
                <a:latin typeface="IBM Plex Sans" panose="020B0503050203000203" pitchFamily="34" charset="0"/>
                <a:ea typeface="Arial" pitchFamily="34" charset="-122"/>
                <a:cs typeface="Arial" pitchFamily="34" charset="-120"/>
              </a:rPr>
              <a:t>Value and feasibility scored independently; composite is their product</a:t>
            </a:r>
            <a:endParaRPr lang="en-US" sz="2400" dirty="0">
              <a:latin typeface="IBM Plex Sans" panose="020B0503050203000203" pitchFamily="34" charset="0"/>
            </a:endParaRPr>
          </a:p>
        </p:txBody>
      </p:sp>
      <p:sp>
        <p:nvSpPr>
          <p:cNvPr id="4" name="Shape 2"/>
          <p:cNvSpPr/>
          <p:nvPr/>
        </p:nvSpPr>
        <p:spPr>
          <a:xfrm>
            <a:off x="548640" y="1371600"/>
            <a:ext cx="11064240" cy="0"/>
          </a:xfrm>
          <a:prstGeom prst="line">
            <a:avLst/>
          </a:prstGeom>
          <a:noFill/>
          <a:ln w="12700">
            <a:solidFill>
              <a:srgbClr val="C6C6C6"/>
            </a:solidFill>
            <a:prstDash val="solid"/>
          </a:ln>
        </p:spPr>
        <p:txBody>
          <a:bodyPr/>
          <a:lstStyle/>
          <a:p>
            <a:endParaRPr lang="en-US">
              <a:latin typeface="IBM Plex Sans" panose="020B0503050203000203" pitchFamily="34" charset="0"/>
            </a:endParaRPr>
          </a:p>
        </p:txBody>
      </p:sp>
      <p:sp>
        <p:nvSpPr>
          <p:cNvPr id="5" name="Text 3"/>
          <p:cNvSpPr/>
          <p:nvPr/>
        </p:nvSpPr>
        <p:spPr>
          <a:xfrm>
            <a:off x="365760" y="1481328"/>
            <a:ext cx="3108960" cy="365760"/>
          </a:xfrm>
          <a:prstGeom prst="rect">
            <a:avLst/>
          </a:prstGeom>
          <a:noFill/>
          <a:ln/>
        </p:spPr>
        <p:txBody>
          <a:bodyPr wrap="square" rtlCol="0" anchor="ctr"/>
          <a:lstStyle/>
          <a:p>
            <a:pPr marL="0" indent="0">
              <a:buNone/>
            </a:pPr>
            <a:r>
              <a:rPr lang="en-US" sz="1000" b="1" dirty="0">
                <a:solidFill>
                  <a:srgbClr val="001141"/>
                </a:solidFill>
                <a:latin typeface="IBM Plex Sans" panose="020B0503050203000203" pitchFamily="34" charset="0"/>
                <a:ea typeface="Arial" pitchFamily="34" charset="-122"/>
                <a:cs typeface="Arial" pitchFamily="34" charset="-120"/>
              </a:rPr>
              <a:t>Highest composite scorers (Value x Feasibility)</a:t>
            </a:r>
            <a:endParaRPr lang="en-US" sz="1000" dirty="0">
              <a:latin typeface="IBM Plex Sans" panose="020B0503050203000203" pitchFamily="34" charset="0"/>
            </a:endParaRPr>
          </a:p>
        </p:txBody>
      </p:sp>
      <p:sp>
        <p:nvSpPr>
          <p:cNvPr id="6" name="Shape 4"/>
          <p:cNvSpPr/>
          <p:nvPr/>
        </p:nvSpPr>
        <p:spPr>
          <a:xfrm>
            <a:off x="365760" y="1874520"/>
            <a:ext cx="1600200" cy="365760"/>
          </a:xfrm>
          <a:prstGeom prst="rect">
            <a:avLst/>
          </a:prstGeom>
          <a:solidFill>
            <a:srgbClr val="0F62FE"/>
          </a:solidFill>
          <a:ln w="6350">
            <a:solidFill>
              <a:srgbClr val="C6C6C6"/>
            </a:solidFill>
            <a:prstDash val="solid"/>
          </a:ln>
        </p:spPr>
        <p:txBody>
          <a:bodyPr/>
          <a:lstStyle/>
          <a:p>
            <a:endParaRPr lang="en-US">
              <a:latin typeface="IBM Plex Sans" panose="020B0503050203000203" pitchFamily="34" charset="0"/>
            </a:endParaRPr>
          </a:p>
        </p:txBody>
      </p:sp>
      <p:sp>
        <p:nvSpPr>
          <p:cNvPr id="7" name="Text 5"/>
          <p:cNvSpPr/>
          <p:nvPr/>
        </p:nvSpPr>
        <p:spPr>
          <a:xfrm>
            <a:off x="402336" y="1874520"/>
            <a:ext cx="1536192" cy="365760"/>
          </a:xfrm>
          <a:prstGeom prst="rect">
            <a:avLst/>
          </a:prstGeom>
          <a:noFill/>
          <a:ln/>
        </p:spPr>
        <p:txBody>
          <a:bodyPr wrap="square" rtlCol="0" anchor="ctr"/>
          <a:lstStyle/>
          <a:p>
            <a:pPr marL="0" indent="0" algn="l">
              <a:buNone/>
            </a:pPr>
            <a:r>
              <a:rPr lang="en-US" sz="750" b="1" dirty="0">
                <a:solidFill>
                  <a:srgbClr val="FFFFFF"/>
                </a:solidFill>
                <a:latin typeface="IBM Plex Sans" panose="020B0503050203000203" pitchFamily="34" charset="0"/>
                <a:ea typeface="Arial" pitchFamily="34" charset="-122"/>
                <a:cs typeface="Arial" pitchFamily="34" charset="-120"/>
              </a:rPr>
              <a:t>Initiative</a:t>
            </a:r>
            <a:endParaRPr lang="en-US" sz="750" dirty="0">
              <a:latin typeface="IBM Plex Sans" panose="020B0503050203000203" pitchFamily="34" charset="0"/>
            </a:endParaRPr>
          </a:p>
        </p:txBody>
      </p:sp>
      <p:sp>
        <p:nvSpPr>
          <p:cNvPr id="8" name="Shape 6"/>
          <p:cNvSpPr/>
          <p:nvPr/>
        </p:nvSpPr>
        <p:spPr>
          <a:xfrm>
            <a:off x="1965960" y="1874520"/>
            <a:ext cx="457200" cy="365760"/>
          </a:xfrm>
          <a:prstGeom prst="rect">
            <a:avLst/>
          </a:prstGeom>
          <a:solidFill>
            <a:srgbClr val="0F62FE"/>
          </a:solidFill>
          <a:ln w="6350">
            <a:solidFill>
              <a:srgbClr val="C6C6C6"/>
            </a:solidFill>
            <a:prstDash val="solid"/>
          </a:ln>
        </p:spPr>
        <p:txBody>
          <a:bodyPr/>
          <a:lstStyle/>
          <a:p>
            <a:endParaRPr lang="en-US">
              <a:latin typeface="IBM Plex Sans" panose="020B0503050203000203" pitchFamily="34" charset="0"/>
            </a:endParaRPr>
          </a:p>
        </p:txBody>
      </p:sp>
      <p:sp>
        <p:nvSpPr>
          <p:cNvPr id="9" name="Text 7"/>
          <p:cNvSpPr/>
          <p:nvPr/>
        </p:nvSpPr>
        <p:spPr>
          <a:xfrm>
            <a:off x="2002536" y="1874520"/>
            <a:ext cx="393192" cy="365760"/>
          </a:xfrm>
          <a:prstGeom prst="rect">
            <a:avLst/>
          </a:prstGeom>
          <a:noFill/>
          <a:ln/>
        </p:spPr>
        <p:txBody>
          <a:bodyPr wrap="square" rtlCol="0" anchor="ctr"/>
          <a:lstStyle/>
          <a:p>
            <a:pPr marL="0" indent="0" algn="ctr">
              <a:buNone/>
            </a:pPr>
            <a:r>
              <a:rPr lang="en-US" sz="800" b="1" dirty="0">
                <a:solidFill>
                  <a:srgbClr val="FFFFFF"/>
                </a:solidFill>
                <a:latin typeface="IBM Plex Sans" panose="020B0503050203000203" pitchFamily="34" charset="0"/>
                <a:ea typeface="Arial" pitchFamily="34" charset="-122"/>
                <a:cs typeface="Arial" pitchFamily="34" charset="-120"/>
              </a:rPr>
              <a:t>V</a:t>
            </a:r>
            <a:endParaRPr lang="en-US" sz="800" dirty="0">
              <a:latin typeface="IBM Plex Sans" panose="020B0503050203000203" pitchFamily="34" charset="0"/>
            </a:endParaRPr>
          </a:p>
        </p:txBody>
      </p:sp>
      <p:sp>
        <p:nvSpPr>
          <p:cNvPr id="10" name="Shape 8"/>
          <p:cNvSpPr/>
          <p:nvPr/>
        </p:nvSpPr>
        <p:spPr>
          <a:xfrm>
            <a:off x="2423160" y="1874520"/>
            <a:ext cx="457200" cy="365760"/>
          </a:xfrm>
          <a:prstGeom prst="rect">
            <a:avLst/>
          </a:prstGeom>
          <a:solidFill>
            <a:srgbClr val="0F62FE"/>
          </a:solidFill>
          <a:ln w="6350">
            <a:solidFill>
              <a:srgbClr val="C6C6C6"/>
            </a:solidFill>
            <a:prstDash val="solid"/>
          </a:ln>
        </p:spPr>
        <p:txBody>
          <a:bodyPr/>
          <a:lstStyle/>
          <a:p>
            <a:endParaRPr lang="en-US">
              <a:latin typeface="IBM Plex Sans" panose="020B0503050203000203" pitchFamily="34" charset="0"/>
            </a:endParaRPr>
          </a:p>
        </p:txBody>
      </p:sp>
      <p:sp>
        <p:nvSpPr>
          <p:cNvPr id="11" name="Text 9"/>
          <p:cNvSpPr/>
          <p:nvPr/>
        </p:nvSpPr>
        <p:spPr>
          <a:xfrm>
            <a:off x="2459736" y="1874520"/>
            <a:ext cx="393192" cy="365760"/>
          </a:xfrm>
          <a:prstGeom prst="rect">
            <a:avLst/>
          </a:prstGeom>
          <a:noFill/>
          <a:ln/>
        </p:spPr>
        <p:txBody>
          <a:bodyPr wrap="square" rtlCol="0" anchor="ctr"/>
          <a:lstStyle/>
          <a:p>
            <a:pPr marL="0" indent="0" algn="ctr">
              <a:buNone/>
            </a:pPr>
            <a:r>
              <a:rPr lang="en-US" sz="800" b="1" dirty="0">
                <a:solidFill>
                  <a:srgbClr val="FFFFFF"/>
                </a:solidFill>
                <a:latin typeface="IBM Plex Sans" panose="020B0503050203000203" pitchFamily="34" charset="0"/>
                <a:ea typeface="Arial" pitchFamily="34" charset="-122"/>
                <a:cs typeface="Arial" pitchFamily="34" charset="-120"/>
              </a:rPr>
              <a:t>F</a:t>
            </a:r>
            <a:endParaRPr lang="en-US" sz="800" dirty="0">
              <a:latin typeface="IBM Plex Sans" panose="020B0503050203000203" pitchFamily="34" charset="0"/>
            </a:endParaRPr>
          </a:p>
        </p:txBody>
      </p:sp>
      <p:sp>
        <p:nvSpPr>
          <p:cNvPr id="12" name="Shape 10"/>
          <p:cNvSpPr/>
          <p:nvPr/>
        </p:nvSpPr>
        <p:spPr>
          <a:xfrm>
            <a:off x="2880360" y="1874520"/>
            <a:ext cx="548640" cy="365760"/>
          </a:xfrm>
          <a:prstGeom prst="rect">
            <a:avLst/>
          </a:prstGeom>
          <a:solidFill>
            <a:srgbClr val="0F62FE"/>
          </a:solidFill>
          <a:ln w="6350">
            <a:solidFill>
              <a:srgbClr val="C6C6C6"/>
            </a:solidFill>
            <a:prstDash val="solid"/>
          </a:ln>
        </p:spPr>
        <p:txBody>
          <a:bodyPr/>
          <a:lstStyle/>
          <a:p>
            <a:endParaRPr lang="en-US">
              <a:latin typeface="IBM Plex Sans" panose="020B0503050203000203" pitchFamily="34" charset="0"/>
            </a:endParaRPr>
          </a:p>
        </p:txBody>
      </p:sp>
      <p:sp>
        <p:nvSpPr>
          <p:cNvPr id="13" name="Text 11"/>
          <p:cNvSpPr/>
          <p:nvPr/>
        </p:nvSpPr>
        <p:spPr>
          <a:xfrm>
            <a:off x="2916936" y="1874520"/>
            <a:ext cx="484632" cy="365760"/>
          </a:xfrm>
          <a:prstGeom prst="rect">
            <a:avLst/>
          </a:prstGeom>
          <a:noFill/>
          <a:ln/>
        </p:spPr>
        <p:txBody>
          <a:bodyPr wrap="square" rtlCol="0" anchor="ctr"/>
          <a:lstStyle/>
          <a:p>
            <a:pPr marL="0" indent="0" algn="ctr">
              <a:buNone/>
            </a:pPr>
            <a:r>
              <a:rPr lang="en-US" sz="800" b="1" dirty="0">
                <a:solidFill>
                  <a:srgbClr val="FFFFFF"/>
                </a:solidFill>
                <a:latin typeface="IBM Plex Sans" panose="020B0503050203000203" pitchFamily="34" charset="0"/>
                <a:ea typeface="Arial" pitchFamily="34" charset="-122"/>
                <a:cs typeface="Arial" pitchFamily="34" charset="-120"/>
              </a:rPr>
              <a:t>V×F</a:t>
            </a:r>
            <a:endParaRPr lang="en-US" sz="800" dirty="0">
              <a:latin typeface="IBM Plex Sans" panose="020B0503050203000203" pitchFamily="34" charset="0"/>
            </a:endParaRPr>
          </a:p>
        </p:txBody>
      </p:sp>
      <p:sp>
        <p:nvSpPr>
          <p:cNvPr id="14" name="Shape 12"/>
          <p:cNvSpPr/>
          <p:nvPr/>
        </p:nvSpPr>
        <p:spPr>
          <a:xfrm>
            <a:off x="365760" y="2240280"/>
            <a:ext cx="1600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15" name="Text 13"/>
          <p:cNvSpPr/>
          <p:nvPr/>
        </p:nvSpPr>
        <p:spPr>
          <a:xfrm>
            <a:off x="402336" y="224028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Content Creation</a:t>
            </a:r>
            <a:endParaRPr lang="en-US" sz="750" dirty="0">
              <a:latin typeface="IBM Plex Sans" panose="020B0503050203000203" pitchFamily="34" charset="0"/>
            </a:endParaRPr>
          </a:p>
        </p:txBody>
      </p:sp>
      <p:sp>
        <p:nvSpPr>
          <p:cNvPr id="16" name="Shape 14"/>
          <p:cNvSpPr/>
          <p:nvPr/>
        </p:nvSpPr>
        <p:spPr>
          <a:xfrm>
            <a:off x="1965960" y="224028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17" name="Text 15"/>
          <p:cNvSpPr/>
          <p:nvPr/>
        </p:nvSpPr>
        <p:spPr>
          <a:xfrm>
            <a:off x="2002536" y="224028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5</a:t>
            </a:r>
            <a:endParaRPr lang="en-US" sz="800" dirty="0">
              <a:latin typeface="IBM Plex Sans" panose="020B0503050203000203" pitchFamily="34" charset="0"/>
            </a:endParaRPr>
          </a:p>
        </p:txBody>
      </p:sp>
      <p:sp>
        <p:nvSpPr>
          <p:cNvPr id="18" name="Shape 16"/>
          <p:cNvSpPr/>
          <p:nvPr/>
        </p:nvSpPr>
        <p:spPr>
          <a:xfrm>
            <a:off x="2423160" y="224028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19" name="Text 17"/>
          <p:cNvSpPr/>
          <p:nvPr/>
        </p:nvSpPr>
        <p:spPr>
          <a:xfrm>
            <a:off x="2459736" y="224028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3.5</a:t>
            </a:r>
            <a:endParaRPr lang="en-US" sz="800" dirty="0">
              <a:latin typeface="IBM Plex Sans" panose="020B0503050203000203" pitchFamily="34" charset="0"/>
            </a:endParaRPr>
          </a:p>
        </p:txBody>
      </p:sp>
      <p:sp>
        <p:nvSpPr>
          <p:cNvPr id="20" name="Shape 18"/>
          <p:cNvSpPr/>
          <p:nvPr/>
        </p:nvSpPr>
        <p:spPr>
          <a:xfrm>
            <a:off x="2880360" y="2240280"/>
            <a:ext cx="54864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21" name="Text 19"/>
          <p:cNvSpPr/>
          <p:nvPr/>
        </p:nvSpPr>
        <p:spPr>
          <a:xfrm>
            <a:off x="2916936" y="224028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17.4</a:t>
            </a:r>
            <a:endParaRPr lang="en-US" sz="800" dirty="0">
              <a:latin typeface="IBM Plex Sans" panose="020B0503050203000203" pitchFamily="34" charset="0"/>
            </a:endParaRPr>
          </a:p>
        </p:txBody>
      </p:sp>
      <p:sp>
        <p:nvSpPr>
          <p:cNvPr id="22" name="Shape 20"/>
          <p:cNvSpPr/>
          <p:nvPr/>
        </p:nvSpPr>
        <p:spPr>
          <a:xfrm>
            <a:off x="365760" y="2606040"/>
            <a:ext cx="1600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23" name="Text 21"/>
          <p:cNvSpPr/>
          <p:nvPr/>
        </p:nvSpPr>
        <p:spPr>
          <a:xfrm>
            <a:off x="402336" y="260604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GenStudio Creative</a:t>
            </a:r>
            <a:endParaRPr lang="en-US" sz="750" dirty="0">
              <a:latin typeface="IBM Plex Sans" panose="020B0503050203000203" pitchFamily="34" charset="0"/>
            </a:endParaRPr>
          </a:p>
        </p:txBody>
      </p:sp>
      <p:sp>
        <p:nvSpPr>
          <p:cNvPr id="24" name="Shape 22"/>
          <p:cNvSpPr/>
          <p:nvPr/>
        </p:nvSpPr>
        <p:spPr>
          <a:xfrm>
            <a:off x="1965960" y="260604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25" name="Text 23"/>
          <p:cNvSpPr/>
          <p:nvPr/>
        </p:nvSpPr>
        <p:spPr>
          <a:xfrm>
            <a:off x="2002536" y="260604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a:t>
            </a:r>
            <a:endParaRPr lang="en-US" sz="800" dirty="0">
              <a:latin typeface="IBM Plex Sans" panose="020B0503050203000203" pitchFamily="34" charset="0"/>
            </a:endParaRPr>
          </a:p>
        </p:txBody>
      </p:sp>
      <p:sp>
        <p:nvSpPr>
          <p:cNvPr id="26" name="Shape 24"/>
          <p:cNvSpPr/>
          <p:nvPr/>
        </p:nvSpPr>
        <p:spPr>
          <a:xfrm>
            <a:off x="2423160" y="260604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27" name="Text 25"/>
          <p:cNvSpPr/>
          <p:nvPr/>
        </p:nvSpPr>
        <p:spPr>
          <a:xfrm>
            <a:off x="2459736" y="260604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4.0</a:t>
            </a:r>
            <a:endParaRPr lang="en-US" sz="800" dirty="0">
              <a:latin typeface="IBM Plex Sans" panose="020B0503050203000203" pitchFamily="34" charset="0"/>
            </a:endParaRPr>
          </a:p>
        </p:txBody>
      </p:sp>
      <p:sp>
        <p:nvSpPr>
          <p:cNvPr id="28" name="Shape 26"/>
          <p:cNvSpPr/>
          <p:nvPr/>
        </p:nvSpPr>
        <p:spPr>
          <a:xfrm>
            <a:off x="2880360" y="2606040"/>
            <a:ext cx="54864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29" name="Text 27"/>
          <p:cNvSpPr/>
          <p:nvPr/>
        </p:nvSpPr>
        <p:spPr>
          <a:xfrm>
            <a:off x="2916936" y="260604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16.0</a:t>
            </a:r>
            <a:endParaRPr lang="en-US" sz="800" dirty="0">
              <a:latin typeface="IBM Plex Sans" panose="020B0503050203000203" pitchFamily="34" charset="0"/>
            </a:endParaRPr>
          </a:p>
        </p:txBody>
      </p:sp>
      <p:sp>
        <p:nvSpPr>
          <p:cNvPr id="30" name="Shape 28"/>
          <p:cNvSpPr/>
          <p:nvPr/>
        </p:nvSpPr>
        <p:spPr>
          <a:xfrm>
            <a:off x="365760" y="2971800"/>
            <a:ext cx="1600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31" name="Text 29"/>
          <p:cNvSpPr/>
          <p:nvPr/>
        </p:nvSpPr>
        <p:spPr>
          <a:xfrm>
            <a:off x="402336" y="297180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End-to-End Gap ID &amp; NBA</a:t>
            </a:r>
            <a:endParaRPr lang="en-US" sz="750" dirty="0">
              <a:latin typeface="IBM Plex Sans" panose="020B0503050203000203" pitchFamily="34" charset="0"/>
            </a:endParaRPr>
          </a:p>
        </p:txBody>
      </p:sp>
      <p:sp>
        <p:nvSpPr>
          <p:cNvPr id="32" name="Shape 30"/>
          <p:cNvSpPr/>
          <p:nvPr/>
        </p:nvSpPr>
        <p:spPr>
          <a:xfrm>
            <a:off x="1965960" y="297180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33" name="Text 31"/>
          <p:cNvSpPr/>
          <p:nvPr/>
        </p:nvSpPr>
        <p:spPr>
          <a:xfrm>
            <a:off x="2002536" y="297180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5</a:t>
            </a:r>
            <a:endParaRPr lang="en-US" sz="800" dirty="0">
              <a:latin typeface="IBM Plex Sans" panose="020B0503050203000203" pitchFamily="34" charset="0"/>
            </a:endParaRPr>
          </a:p>
        </p:txBody>
      </p:sp>
      <p:sp>
        <p:nvSpPr>
          <p:cNvPr id="34" name="Shape 32"/>
          <p:cNvSpPr/>
          <p:nvPr/>
        </p:nvSpPr>
        <p:spPr>
          <a:xfrm>
            <a:off x="2423160" y="297180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35" name="Text 33"/>
          <p:cNvSpPr/>
          <p:nvPr/>
        </p:nvSpPr>
        <p:spPr>
          <a:xfrm>
            <a:off x="2459736" y="297180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3.2</a:t>
            </a:r>
            <a:endParaRPr lang="en-US" sz="800" dirty="0">
              <a:latin typeface="IBM Plex Sans" panose="020B0503050203000203" pitchFamily="34" charset="0"/>
            </a:endParaRPr>
          </a:p>
        </p:txBody>
      </p:sp>
      <p:sp>
        <p:nvSpPr>
          <p:cNvPr id="36" name="Shape 34"/>
          <p:cNvSpPr/>
          <p:nvPr/>
        </p:nvSpPr>
        <p:spPr>
          <a:xfrm>
            <a:off x="2880360" y="2971800"/>
            <a:ext cx="54864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37" name="Text 35"/>
          <p:cNvSpPr/>
          <p:nvPr/>
        </p:nvSpPr>
        <p:spPr>
          <a:xfrm>
            <a:off x="2916936" y="297180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15.8</a:t>
            </a:r>
            <a:endParaRPr lang="en-US" sz="800" dirty="0">
              <a:latin typeface="IBM Plex Sans" panose="020B0503050203000203" pitchFamily="34" charset="0"/>
            </a:endParaRPr>
          </a:p>
        </p:txBody>
      </p:sp>
      <p:sp>
        <p:nvSpPr>
          <p:cNvPr id="38" name="Shape 36"/>
          <p:cNvSpPr/>
          <p:nvPr/>
        </p:nvSpPr>
        <p:spPr>
          <a:xfrm>
            <a:off x="365760" y="3337560"/>
            <a:ext cx="1600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39" name="Text 37"/>
          <p:cNvSpPr/>
          <p:nvPr/>
        </p:nvSpPr>
        <p:spPr>
          <a:xfrm>
            <a:off x="402336" y="333756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Content &amp; Speaker Narrative</a:t>
            </a:r>
            <a:endParaRPr lang="en-US" sz="750" dirty="0">
              <a:latin typeface="IBM Plex Sans" panose="020B0503050203000203" pitchFamily="34" charset="0"/>
            </a:endParaRPr>
          </a:p>
        </p:txBody>
      </p:sp>
      <p:sp>
        <p:nvSpPr>
          <p:cNvPr id="40" name="Shape 38"/>
          <p:cNvSpPr/>
          <p:nvPr/>
        </p:nvSpPr>
        <p:spPr>
          <a:xfrm>
            <a:off x="1965960" y="333756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41" name="Text 39"/>
          <p:cNvSpPr/>
          <p:nvPr/>
        </p:nvSpPr>
        <p:spPr>
          <a:xfrm>
            <a:off x="2002536" y="333756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a:t>
            </a:r>
            <a:endParaRPr lang="en-US" sz="800" dirty="0">
              <a:latin typeface="IBM Plex Sans" panose="020B0503050203000203" pitchFamily="34" charset="0"/>
            </a:endParaRPr>
          </a:p>
        </p:txBody>
      </p:sp>
      <p:sp>
        <p:nvSpPr>
          <p:cNvPr id="42" name="Shape 40"/>
          <p:cNvSpPr/>
          <p:nvPr/>
        </p:nvSpPr>
        <p:spPr>
          <a:xfrm>
            <a:off x="2423160" y="333756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43" name="Text 41"/>
          <p:cNvSpPr/>
          <p:nvPr/>
        </p:nvSpPr>
        <p:spPr>
          <a:xfrm>
            <a:off x="2459736" y="333756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3.9</a:t>
            </a:r>
            <a:endParaRPr lang="en-US" sz="800" dirty="0">
              <a:latin typeface="IBM Plex Sans" panose="020B0503050203000203" pitchFamily="34" charset="0"/>
            </a:endParaRPr>
          </a:p>
        </p:txBody>
      </p:sp>
      <p:sp>
        <p:nvSpPr>
          <p:cNvPr id="44" name="Shape 42"/>
          <p:cNvSpPr/>
          <p:nvPr/>
        </p:nvSpPr>
        <p:spPr>
          <a:xfrm>
            <a:off x="2880360" y="3337560"/>
            <a:ext cx="54864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45" name="Text 43"/>
          <p:cNvSpPr/>
          <p:nvPr/>
        </p:nvSpPr>
        <p:spPr>
          <a:xfrm>
            <a:off x="2916936" y="333756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15.6</a:t>
            </a:r>
            <a:endParaRPr lang="en-US" sz="800" dirty="0">
              <a:latin typeface="IBM Plex Sans" panose="020B0503050203000203" pitchFamily="34" charset="0"/>
            </a:endParaRPr>
          </a:p>
        </p:txBody>
      </p:sp>
      <p:sp>
        <p:nvSpPr>
          <p:cNvPr id="46" name="Shape 44"/>
          <p:cNvSpPr/>
          <p:nvPr/>
        </p:nvSpPr>
        <p:spPr>
          <a:xfrm>
            <a:off x="365760" y="3703320"/>
            <a:ext cx="1600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47" name="Text 45"/>
          <p:cNvSpPr/>
          <p:nvPr/>
        </p:nvSpPr>
        <p:spPr>
          <a:xfrm>
            <a:off x="402336" y="370332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Client Engagement Playbook</a:t>
            </a:r>
            <a:endParaRPr lang="en-US" sz="750" dirty="0">
              <a:latin typeface="IBM Plex Sans" panose="020B0503050203000203" pitchFamily="34" charset="0"/>
            </a:endParaRPr>
          </a:p>
        </p:txBody>
      </p:sp>
      <p:sp>
        <p:nvSpPr>
          <p:cNvPr id="48" name="Shape 46"/>
          <p:cNvSpPr/>
          <p:nvPr/>
        </p:nvSpPr>
        <p:spPr>
          <a:xfrm>
            <a:off x="1965960" y="370332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49" name="Text 47"/>
          <p:cNvSpPr/>
          <p:nvPr/>
        </p:nvSpPr>
        <p:spPr>
          <a:xfrm>
            <a:off x="2002536" y="370332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a:t>
            </a:r>
            <a:endParaRPr lang="en-US" sz="800" dirty="0">
              <a:latin typeface="IBM Plex Sans" panose="020B0503050203000203" pitchFamily="34" charset="0"/>
            </a:endParaRPr>
          </a:p>
        </p:txBody>
      </p:sp>
      <p:sp>
        <p:nvSpPr>
          <p:cNvPr id="50" name="Shape 48"/>
          <p:cNvSpPr/>
          <p:nvPr/>
        </p:nvSpPr>
        <p:spPr>
          <a:xfrm>
            <a:off x="2423160" y="370332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51" name="Text 49"/>
          <p:cNvSpPr/>
          <p:nvPr/>
        </p:nvSpPr>
        <p:spPr>
          <a:xfrm>
            <a:off x="2459736" y="370332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3.8</a:t>
            </a:r>
            <a:endParaRPr lang="en-US" sz="800" dirty="0">
              <a:latin typeface="IBM Plex Sans" panose="020B0503050203000203" pitchFamily="34" charset="0"/>
            </a:endParaRPr>
          </a:p>
        </p:txBody>
      </p:sp>
      <p:sp>
        <p:nvSpPr>
          <p:cNvPr id="52" name="Shape 50"/>
          <p:cNvSpPr/>
          <p:nvPr/>
        </p:nvSpPr>
        <p:spPr>
          <a:xfrm>
            <a:off x="2880360" y="3703320"/>
            <a:ext cx="54864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53" name="Text 51"/>
          <p:cNvSpPr/>
          <p:nvPr/>
        </p:nvSpPr>
        <p:spPr>
          <a:xfrm>
            <a:off x="2916936" y="370332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15.2</a:t>
            </a:r>
            <a:endParaRPr lang="en-US" sz="800" dirty="0">
              <a:latin typeface="IBM Plex Sans" panose="020B0503050203000203" pitchFamily="34" charset="0"/>
            </a:endParaRPr>
          </a:p>
        </p:txBody>
      </p:sp>
      <p:sp>
        <p:nvSpPr>
          <p:cNvPr id="54" name="Shape 52"/>
          <p:cNvSpPr/>
          <p:nvPr/>
        </p:nvSpPr>
        <p:spPr>
          <a:xfrm>
            <a:off x="365760" y="4069080"/>
            <a:ext cx="1600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55" name="Text 53"/>
          <p:cNvSpPr/>
          <p:nvPr/>
        </p:nvSpPr>
        <p:spPr>
          <a:xfrm>
            <a:off x="402336" y="406908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Resource &amp; Capacity Planning</a:t>
            </a:r>
            <a:endParaRPr lang="en-US" sz="750" dirty="0">
              <a:latin typeface="IBM Plex Sans" panose="020B0503050203000203" pitchFamily="34" charset="0"/>
            </a:endParaRPr>
          </a:p>
        </p:txBody>
      </p:sp>
      <p:sp>
        <p:nvSpPr>
          <p:cNvPr id="56" name="Shape 54"/>
          <p:cNvSpPr/>
          <p:nvPr/>
        </p:nvSpPr>
        <p:spPr>
          <a:xfrm>
            <a:off x="1965960" y="406908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57" name="Text 55"/>
          <p:cNvSpPr/>
          <p:nvPr/>
        </p:nvSpPr>
        <p:spPr>
          <a:xfrm>
            <a:off x="2002536" y="406908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a:t>
            </a:r>
            <a:endParaRPr lang="en-US" sz="800" dirty="0">
              <a:latin typeface="IBM Plex Sans" panose="020B0503050203000203" pitchFamily="34" charset="0"/>
            </a:endParaRPr>
          </a:p>
        </p:txBody>
      </p:sp>
      <p:sp>
        <p:nvSpPr>
          <p:cNvPr id="58" name="Shape 56"/>
          <p:cNvSpPr/>
          <p:nvPr/>
        </p:nvSpPr>
        <p:spPr>
          <a:xfrm>
            <a:off x="2423160" y="406908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59" name="Text 57"/>
          <p:cNvSpPr/>
          <p:nvPr/>
        </p:nvSpPr>
        <p:spPr>
          <a:xfrm>
            <a:off x="2459736" y="406908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4.9</a:t>
            </a:r>
            <a:endParaRPr lang="en-US" sz="800" dirty="0">
              <a:latin typeface="IBM Plex Sans" panose="020B0503050203000203" pitchFamily="34" charset="0"/>
            </a:endParaRPr>
          </a:p>
        </p:txBody>
      </p:sp>
      <p:sp>
        <p:nvSpPr>
          <p:cNvPr id="60" name="Shape 58"/>
          <p:cNvSpPr/>
          <p:nvPr/>
        </p:nvSpPr>
        <p:spPr>
          <a:xfrm>
            <a:off x="2880360" y="4069080"/>
            <a:ext cx="54864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61" name="Text 59"/>
          <p:cNvSpPr/>
          <p:nvPr/>
        </p:nvSpPr>
        <p:spPr>
          <a:xfrm>
            <a:off x="2916936" y="406908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14.6</a:t>
            </a:r>
            <a:endParaRPr lang="en-US" sz="800" dirty="0">
              <a:latin typeface="IBM Plex Sans" panose="020B0503050203000203" pitchFamily="34" charset="0"/>
            </a:endParaRPr>
          </a:p>
        </p:txBody>
      </p:sp>
      <p:sp>
        <p:nvSpPr>
          <p:cNvPr id="62" name="Shape 60"/>
          <p:cNvSpPr/>
          <p:nvPr/>
        </p:nvSpPr>
        <p:spPr>
          <a:xfrm>
            <a:off x="365760" y="4434840"/>
            <a:ext cx="1600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63" name="Text 61"/>
          <p:cNvSpPr/>
          <p:nvPr/>
        </p:nvSpPr>
        <p:spPr>
          <a:xfrm>
            <a:off x="402336" y="443484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Growth Cohort &amp; Buying-Group</a:t>
            </a:r>
            <a:endParaRPr lang="en-US" sz="750" dirty="0">
              <a:latin typeface="IBM Plex Sans" panose="020B0503050203000203" pitchFamily="34" charset="0"/>
            </a:endParaRPr>
          </a:p>
        </p:txBody>
      </p:sp>
      <p:sp>
        <p:nvSpPr>
          <p:cNvPr id="64" name="Shape 62"/>
          <p:cNvSpPr/>
          <p:nvPr/>
        </p:nvSpPr>
        <p:spPr>
          <a:xfrm>
            <a:off x="1965960" y="443484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65" name="Text 63"/>
          <p:cNvSpPr/>
          <p:nvPr/>
        </p:nvSpPr>
        <p:spPr>
          <a:xfrm>
            <a:off x="2002536" y="443484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4</a:t>
            </a:r>
            <a:endParaRPr lang="en-US" sz="800" dirty="0">
              <a:latin typeface="IBM Plex Sans" panose="020B0503050203000203" pitchFamily="34" charset="0"/>
            </a:endParaRPr>
          </a:p>
        </p:txBody>
      </p:sp>
      <p:sp>
        <p:nvSpPr>
          <p:cNvPr id="66" name="Shape 64"/>
          <p:cNvSpPr/>
          <p:nvPr/>
        </p:nvSpPr>
        <p:spPr>
          <a:xfrm>
            <a:off x="2423160" y="4434840"/>
            <a:ext cx="45720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67" name="Text 65"/>
          <p:cNvSpPr/>
          <p:nvPr/>
        </p:nvSpPr>
        <p:spPr>
          <a:xfrm>
            <a:off x="2459736" y="443484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3.4</a:t>
            </a:r>
            <a:endParaRPr lang="en-US" sz="800" dirty="0">
              <a:latin typeface="IBM Plex Sans" panose="020B0503050203000203" pitchFamily="34" charset="0"/>
            </a:endParaRPr>
          </a:p>
        </p:txBody>
      </p:sp>
      <p:sp>
        <p:nvSpPr>
          <p:cNvPr id="68" name="Shape 66"/>
          <p:cNvSpPr/>
          <p:nvPr/>
        </p:nvSpPr>
        <p:spPr>
          <a:xfrm>
            <a:off x="2880360" y="4434840"/>
            <a:ext cx="548640" cy="365760"/>
          </a:xfrm>
          <a:prstGeom prst="rect">
            <a:avLst/>
          </a:prstGeom>
          <a:solidFill>
            <a:srgbClr val="FFFFFF"/>
          </a:solidFill>
          <a:ln w="6350">
            <a:solidFill>
              <a:srgbClr val="C6C6C6"/>
            </a:solidFill>
            <a:prstDash val="solid"/>
          </a:ln>
        </p:spPr>
        <p:txBody>
          <a:bodyPr/>
          <a:lstStyle/>
          <a:p>
            <a:endParaRPr lang="en-US">
              <a:latin typeface="IBM Plex Sans" panose="020B0503050203000203" pitchFamily="34" charset="0"/>
            </a:endParaRPr>
          </a:p>
        </p:txBody>
      </p:sp>
      <p:sp>
        <p:nvSpPr>
          <p:cNvPr id="69" name="Text 67"/>
          <p:cNvSpPr/>
          <p:nvPr/>
        </p:nvSpPr>
        <p:spPr>
          <a:xfrm>
            <a:off x="2916936" y="443484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13.5</a:t>
            </a:r>
            <a:endParaRPr lang="en-US" sz="800" dirty="0">
              <a:latin typeface="IBM Plex Sans" panose="020B0503050203000203" pitchFamily="34" charset="0"/>
            </a:endParaRPr>
          </a:p>
        </p:txBody>
      </p:sp>
      <p:sp>
        <p:nvSpPr>
          <p:cNvPr id="70" name="Shape 68"/>
          <p:cNvSpPr/>
          <p:nvPr/>
        </p:nvSpPr>
        <p:spPr>
          <a:xfrm>
            <a:off x="365760" y="4800600"/>
            <a:ext cx="1600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71" name="Text 69"/>
          <p:cNvSpPr/>
          <p:nvPr/>
        </p:nvSpPr>
        <p:spPr>
          <a:xfrm>
            <a:off x="402336" y="4800600"/>
            <a:ext cx="1536192" cy="365760"/>
          </a:xfrm>
          <a:prstGeom prst="rect">
            <a:avLst/>
          </a:prstGeom>
          <a:noFill/>
          <a:ln/>
        </p:spPr>
        <p:txBody>
          <a:bodyPr wrap="square" rtlCol="0" anchor="ctr"/>
          <a:lstStyle/>
          <a:p>
            <a:pPr marL="0" indent="0" algn="l">
              <a:buNone/>
            </a:pPr>
            <a:r>
              <a:rPr lang="en-US" sz="750" dirty="0">
                <a:solidFill>
                  <a:srgbClr val="161616"/>
                </a:solidFill>
                <a:latin typeface="IBM Plex Sans" panose="020B0503050203000203" pitchFamily="34" charset="0"/>
                <a:ea typeface="Arial" pitchFamily="34" charset="-122"/>
                <a:cs typeface="Arial" pitchFamily="34" charset="-120"/>
              </a:rPr>
              <a:t>AdHoc Reporting</a:t>
            </a:r>
            <a:endParaRPr lang="en-US" sz="750" dirty="0">
              <a:latin typeface="IBM Plex Sans" panose="020B0503050203000203" pitchFamily="34" charset="0"/>
            </a:endParaRPr>
          </a:p>
        </p:txBody>
      </p:sp>
      <p:sp>
        <p:nvSpPr>
          <p:cNvPr id="72" name="Shape 70"/>
          <p:cNvSpPr/>
          <p:nvPr/>
        </p:nvSpPr>
        <p:spPr>
          <a:xfrm>
            <a:off x="1965960" y="480060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73" name="Text 71"/>
          <p:cNvSpPr/>
          <p:nvPr/>
        </p:nvSpPr>
        <p:spPr>
          <a:xfrm>
            <a:off x="2002536" y="480060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5</a:t>
            </a:r>
            <a:endParaRPr lang="en-US" sz="800" dirty="0">
              <a:latin typeface="IBM Plex Sans" panose="020B0503050203000203" pitchFamily="34" charset="0"/>
            </a:endParaRPr>
          </a:p>
        </p:txBody>
      </p:sp>
      <p:sp>
        <p:nvSpPr>
          <p:cNvPr id="74" name="Shape 72"/>
          <p:cNvSpPr/>
          <p:nvPr/>
        </p:nvSpPr>
        <p:spPr>
          <a:xfrm>
            <a:off x="2423160" y="4800600"/>
            <a:ext cx="45720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75" name="Text 73"/>
          <p:cNvSpPr/>
          <p:nvPr/>
        </p:nvSpPr>
        <p:spPr>
          <a:xfrm>
            <a:off x="2459736" y="4800600"/>
            <a:ext cx="39319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2.5</a:t>
            </a:r>
            <a:endParaRPr lang="en-US" sz="800" dirty="0">
              <a:latin typeface="IBM Plex Sans" panose="020B0503050203000203" pitchFamily="34" charset="0"/>
            </a:endParaRPr>
          </a:p>
        </p:txBody>
      </p:sp>
      <p:sp>
        <p:nvSpPr>
          <p:cNvPr id="76" name="Shape 74"/>
          <p:cNvSpPr/>
          <p:nvPr/>
        </p:nvSpPr>
        <p:spPr>
          <a:xfrm>
            <a:off x="2880360" y="4800600"/>
            <a:ext cx="548640" cy="365760"/>
          </a:xfrm>
          <a:prstGeom prst="rect">
            <a:avLst/>
          </a:prstGeom>
          <a:solidFill>
            <a:srgbClr val="F4F4F4"/>
          </a:solidFill>
          <a:ln w="6350">
            <a:solidFill>
              <a:srgbClr val="C6C6C6"/>
            </a:solidFill>
            <a:prstDash val="solid"/>
          </a:ln>
        </p:spPr>
        <p:txBody>
          <a:bodyPr/>
          <a:lstStyle/>
          <a:p>
            <a:endParaRPr lang="en-US">
              <a:latin typeface="IBM Plex Sans" panose="020B0503050203000203" pitchFamily="34" charset="0"/>
            </a:endParaRPr>
          </a:p>
        </p:txBody>
      </p:sp>
      <p:sp>
        <p:nvSpPr>
          <p:cNvPr id="77" name="Text 75"/>
          <p:cNvSpPr/>
          <p:nvPr/>
        </p:nvSpPr>
        <p:spPr>
          <a:xfrm>
            <a:off x="2916936" y="4800600"/>
            <a:ext cx="484632" cy="365760"/>
          </a:xfrm>
          <a:prstGeom prst="rect">
            <a:avLst/>
          </a:prstGeom>
          <a:noFill/>
          <a:ln/>
        </p:spPr>
        <p:txBody>
          <a:bodyPr wrap="square" rtlCol="0" anchor="ctr"/>
          <a:lstStyle/>
          <a:p>
            <a:pPr marL="0" indent="0" algn="ctr">
              <a:buNone/>
            </a:pPr>
            <a:r>
              <a:rPr lang="en-US" sz="800" dirty="0">
                <a:solidFill>
                  <a:srgbClr val="161616"/>
                </a:solidFill>
                <a:latin typeface="IBM Plex Sans" panose="020B0503050203000203" pitchFamily="34" charset="0"/>
                <a:ea typeface="Arial" pitchFamily="34" charset="-122"/>
                <a:cs typeface="Arial" pitchFamily="34" charset="-120"/>
              </a:rPr>
              <a:t>12.3</a:t>
            </a:r>
            <a:endParaRPr lang="en-US" sz="800" dirty="0">
              <a:latin typeface="IBM Plex Sans" panose="020B0503050203000203" pitchFamily="34" charset="0"/>
            </a:endParaRPr>
          </a:p>
        </p:txBody>
      </p:sp>
      <p:sp>
        <p:nvSpPr>
          <p:cNvPr id="78" name="Text 76"/>
          <p:cNvSpPr/>
          <p:nvPr/>
        </p:nvSpPr>
        <p:spPr>
          <a:xfrm>
            <a:off x="365760" y="5212080"/>
            <a:ext cx="3200400" cy="548640"/>
          </a:xfrm>
          <a:prstGeom prst="rect">
            <a:avLst/>
          </a:prstGeom>
          <a:noFill/>
          <a:ln/>
        </p:spPr>
        <p:txBody>
          <a:bodyPr wrap="square" rtlCol="0" anchor="t"/>
          <a:lstStyle/>
          <a:p>
            <a:pPr marL="0" indent="0">
              <a:buNone/>
            </a:pPr>
            <a:r>
              <a:rPr lang="en-US" sz="800" i="1" dirty="0">
                <a:solidFill>
                  <a:srgbClr val="525252"/>
                </a:solidFill>
                <a:latin typeface="IBM Plex Sans" panose="020B0503050203000203" pitchFamily="34" charset="0"/>
                <a:ea typeface="Arial" pitchFamily="34" charset="-122"/>
                <a:cs typeface="Arial" pitchFamily="34" charset="-120"/>
              </a:rPr>
              <a:t>V = value (business impact, 1 to 5).  F = feasibility (1 to 5).  Composite = V x F, used only for ranking.</a:t>
            </a:r>
            <a:endParaRPr lang="en-US" sz="800" dirty="0">
              <a:latin typeface="IBM Plex Sans" panose="020B0503050203000203" pitchFamily="34" charset="0"/>
            </a:endParaRPr>
          </a:p>
        </p:txBody>
      </p:sp>
      <p:sp>
        <p:nvSpPr>
          <p:cNvPr id="79" name="Text 77"/>
          <p:cNvSpPr/>
          <p:nvPr/>
        </p:nvSpPr>
        <p:spPr>
          <a:xfrm>
            <a:off x="365760" y="5806440"/>
            <a:ext cx="3200400" cy="822960"/>
          </a:xfrm>
          <a:prstGeom prst="rect">
            <a:avLst/>
          </a:prstGeom>
          <a:noFill/>
          <a:ln/>
        </p:spPr>
        <p:txBody>
          <a:bodyPr wrap="square" rtlCol="0" anchor="t"/>
          <a:lstStyle/>
          <a:p>
            <a:pPr marL="0" indent="0">
              <a:lnSpc>
                <a:spcPct val="105000"/>
              </a:lnSpc>
              <a:buNone/>
            </a:pPr>
            <a:r>
              <a:rPr lang="en-US" sz="950" dirty="0">
                <a:solidFill>
                  <a:srgbClr val="161616"/>
                </a:solidFill>
                <a:latin typeface="IBM Plex Sans" panose="020B0503050203000203" pitchFamily="34" charset="0"/>
                <a:ea typeface="Arial" pitchFamily="34" charset="-122"/>
                <a:cs typeface="Arial" pitchFamily="34" charset="-120"/>
              </a:rPr>
              <a:t>Highest value is not the same as highest priority. Crossing it with feasibility is what surfaces the build-now set.</a:t>
            </a:r>
            <a:endParaRPr lang="en-US" sz="950" dirty="0">
              <a:latin typeface="IBM Plex Sans" panose="020B0503050203000203" pitchFamily="34" charset="0"/>
            </a:endParaRPr>
          </a:p>
        </p:txBody>
      </p:sp>
      <p:sp>
        <p:nvSpPr>
          <p:cNvPr id="80" name="Shape 78"/>
          <p:cNvSpPr/>
          <p:nvPr/>
        </p:nvSpPr>
        <p:spPr>
          <a:xfrm>
            <a:off x="4251960" y="1508760"/>
            <a:ext cx="2468880" cy="1874520"/>
          </a:xfrm>
          <a:prstGeom prst="rect">
            <a:avLst/>
          </a:prstGeom>
          <a:solidFill>
            <a:srgbClr val="FFF1F1"/>
          </a:solidFill>
          <a:ln w="19050">
            <a:solidFill>
              <a:srgbClr val="FFFFFF"/>
            </a:solidFill>
            <a:prstDash val="solid"/>
          </a:ln>
        </p:spPr>
        <p:txBody>
          <a:bodyPr/>
          <a:lstStyle/>
          <a:p>
            <a:endParaRPr lang="en-US">
              <a:latin typeface="IBM Plex Sans" panose="020B0503050203000203" pitchFamily="34" charset="0"/>
            </a:endParaRPr>
          </a:p>
        </p:txBody>
      </p:sp>
      <p:sp>
        <p:nvSpPr>
          <p:cNvPr id="81" name="Text 79"/>
          <p:cNvSpPr/>
          <p:nvPr/>
        </p:nvSpPr>
        <p:spPr>
          <a:xfrm>
            <a:off x="4343400" y="1691640"/>
            <a:ext cx="2304288" cy="16550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Strategic Planning &amp; SoT
• Content &amp; Forms QA
• Audience, Content &amp; Journey Orch
• AdHoc Reporting
• Workflow Auto: TL to Marketo
• Client Engagement Insights
• Trigger-Based Activation
• Client Engagement Playbook
• Response Optimization
</a:t>
            </a:r>
            <a:endParaRPr lang="en-US" sz="680" dirty="0">
              <a:latin typeface="IBM Plex Sans" panose="020B0503050203000203" pitchFamily="34" charset="0"/>
            </a:endParaRPr>
          </a:p>
        </p:txBody>
      </p:sp>
      <p:sp>
        <p:nvSpPr>
          <p:cNvPr id="82" name="Text 80"/>
          <p:cNvSpPr/>
          <p:nvPr/>
        </p:nvSpPr>
        <p:spPr>
          <a:xfrm>
            <a:off x="4325112" y="1527048"/>
            <a:ext cx="2322576" cy="182880"/>
          </a:xfrm>
          <a:prstGeom prst="rect">
            <a:avLst/>
          </a:prstGeom>
          <a:noFill/>
          <a:ln/>
        </p:spPr>
        <p:txBody>
          <a:bodyPr wrap="square" rtlCol="0" anchor="ctr"/>
          <a:lstStyle/>
          <a:p>
            <a:pPr marL="0" indent="0" algn="r">
              <a:buNone/>
            </a:pPr>
            <a:r>
              <a:rPr lang="en-US" sz="800" b="1" i="1" dirty="0">
                <a:solidFill>
                  <a:srgbClr val="525252"/>
                </a:solidFill>
                <a:latin typeface="IBM Plex Sans" panose="020B0503050203000203" pitchFamily="34" charset="0"/>
                <a:ea typeface="Arial" pitchFamily="34" charset="-122"/>
                <a:cs typeface="Arial" pitchFamily="34" charset="-120"/>
              </a:rPr>
              <a:t>Aspirational</a:t>
            </a:r>
            <a:endParaRPr lang="en-US" sz="800" dirty="0">
              <a:latin typeface="IBM Plex Sans" panose="020B0503050203000203" pitchFamily="34" charset="0"/>
            </a:endParaRPr>
          </a:p>
        </p:txBody>
      </p:sp>
      <p:sp>
        <p:nvSpPr>
          <p:cNvPr id="83" name="Shape 81"/>
          <p:cNvSpPr/>
          <p:nvPr/>
        </p:nvSpPr>
        <p:spPr>
          <a:xfrm>
            <a:off x="6720840" y="1508760"/>
            <a:ext cx="2468880" cy="1874520"/>
          </a:xfrm>
          <a:prstGeom prst="rect">
            <a:avLst/>
          </a:prstGeom>
          <a:solidFill>
            <a:srgbClr val="FCF4D6"/>
          </a:solidFill>
          <a:ln w="19050">
            <a:solidFill>
              <a:srgbClr val="FFFFFF"/>
            </a:solidFill>
            <a:prstDash val="solid"/>
          </a:ln>
        </p:spPr>
        <p:txBody>
          <a:bodyPr/>
          <a:lstStyle/>
          <a:p>
            <a:endParaRPr lang="en-US">
              <a:latin typeface="IBM Plex Sans" panose="020B0503050203000203" pitchFamily="34" charset="0"/>
            </a:endParaRPr>
          </a:p>
        </p:txBody>
      </p:sp>
      <p:sp>
        <p:nvSpPr>
          <p:cNvPr id="84" name="Text 82"/>
          <p:cNvSpPr/>
          <p:nvPr/>
        </p:nvSpPr>
        <p:spPr>
          <a:xfrm>
            <a:off x="6812280" y="1691640"/>
            <a:ext cx="2304288" cy="16550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Content Creation (incl Loc.)
• End-to-End Gap ID &amp; NBA
• Growth Cohort &amp; Buying-Group
• Event Strategy &amp; Workflow Orch
• Demand Intelligence &amp; Planning
• Spend &amp; Performance Data Fdn
• Content Expansion (NEW)
</a:t>
            </a:r>
            <a:endParaRPr lang="en-US" sz="680" dirty="0">
              <a:latin typeface="IBM Plex Sans" panose="020B0503050203000203" pitchFamily="34" charset="0"/>
            </a:endParaRPr>
          </a:p>
        </p:txBody>
      </p:sp>
      <p:sp>
        <p:nvSpPr>
          <p:cNvPr id="85" name="Shape 83"/>
          <p:cNvSpPr/>
          <p:nvPr/>
        </p:nvSpPr>
        <p:spPr>
          <a:xfrm>
            <a:off x="9189720" y="1508760"/>
            <a:ext cx="2468880" cy="1874520"/>
          </a:xfrm>
          <a:prstGeom prst="rect">
            <a:avLst/>
          </a:prstGeom>
          <a:solidFill>
            <a:srgbClr val="DEFBE6"/>
          </a:solidFill>
          <a:ln w="19050">
            <a:solidFill>
              <a:srgbClr val="FFFFFF"/>
            </a:solidFill>
            <a:prstDash val="solid"/>
          </a:ln>
        </p:spPr>
        <p:txBody>
          <a:bodyPr/>
          <a:lstStyle/>
          <a:p>
            <a:endParaRPr lang="en-US">
              <a:latin typeface="IBM Plex Sans" panose="020B0503050203000203" pitchFamily="34" charset="0"/>
            </a:endParaRPr>
          </a:p>
        </p:txBody>
      </p:sp>
      <p:sp>
        <p:nvSpPr>
          <p:cNvPr id="86" name="Text 84"/>
          <p:cNvSpPr/>
          <p:nvPr/>
        </p:nvSpPr>
        <p:spPr>
          <a:xfrm>
            <a:off x="9281160" y="1691640"/>
            <a:ext cx="2304288" cy="16550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GenStudio Creative Expansion
• Content &amp; Speaker Narrative
• AI Taxonomy Tagging &amp; Meta Gen
</a:t>
            </a:r>
            <a:endParaRPr lang="en-US" sz="680" dirty="0">
              <a:latin typeface="IBM Plex Sans" panose="020B0503050203000203" pitchFamily="34" charset="0"/>
            </a:endParaRPr>
          </a:p>
        </p:txBody>
      </p:sp>
      <p:sp>
        <p:nvSpPr>
          <p:cNvPr id="87" name="Text 85"/>
          <p:cNvSpPr/>
          <p:nvPr/>
        </p:nvSpPr>
        <p:spPr>
          <a:xfrm>
            <a:off x="9262872" y="1527048"/>
            <a:ext cx="2322576" cy="182880"/>
          </a:xfrm>
          <a:prstGeom prst="rect">
            <a:avLst/>
          </a:prstGeom>
          <a:noFill/>
          <a:ln/>
        </p:spPr>
        <p:txBody>
          <a:bodyPr wrap="square" rtlCol="0" anchor="ctr"/>
          <a:lstStyle/>
          <a:p>
            <a:pPr marL="0" indent="0" algn="r">
              <a:buNone/>
            </a:pPr>
            <a:r>
              <a:rPr lang="en-US" sz="800" b="1" i="1" dirty="0">
                <a:solidFill>
                  <a:srgbClr val="525252"/>
                </a:solidFill>
                <a:latin typeface="IBM Plex Sans" panose="020B0503050203000203" pitchFamily="34" charset="0"/>
                <a:ea typeface="Arial" pitchFamily="34" charset="-122"/>
                <a:cs typeface="Arial" pitchFamily="34" charset="-120"/>
              </a:rPr>
              <a:t>Build now</a:t>
            </a:r>
            <a:endParaRPr lang="en-US" sz="800" dirty="0">
              <a:latin typeface="IBM Plex Sans" panose="020B0503050203000203" pitchFamily="34" charset="0"/>
            </a:endParaRPr>
          </a:p>
        </p:txBody>
      </p:sp>
      <p:sp>
        <p:nvSpPr>
          <p:cNvPr id="88" name="Shape 86"/>
          <p:cNvSpPr/>
          <p:nvPr/>
        </p:nvSpPr>
        <p:spPr>
          <a:xfrm>
            <a:off x="4251960" y="3383280"/>
            <a:ext cx="2468880" cy="1645920"/>
          </a:xfrm>
          <a:prstGeom prst="rect">
            <a:avLst/>
          </a:prstGeom>
          <a:solidFill>
            <a:srgbClr val="FFF1F1"/>
          </a:solidFill>
          <a:ln w="19050">
            <a:solidFill>
              <a:srgbClr val="FFFFFF"/>
            </a:solidFill>
            <a:prstDash val="solid"/>
          </a:ln>
        </p:spPr>
        <p:txBody>
          <a:bodyPr/>
          <a:lstStyle/>
          <a:p>
            <a:endParaRPr lang="en-US">
              <a:latin typeface="IBM Plex Sans" panose="020B0503050203000203" pitchFamily="34" charset="0"/>
            </a:endParaRPr>
          </a:p>
        </p:txBody>
      </p:sp>
      <p:sp>
        <p:nvSpPr>
          <p:cNvPr id="89" name="Text 87"/>
          <p:cNvSpPr/>
          <p:nvPr/>
        </p:nvSpPr>
        <p:spPr>
          <a:xfrm>
            <a:off x="4343400" y="3566160"/>
            <a:ext cx="2304288" cy="14264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Anomaly Investigation &amp; DQ
</a:t>
            </a:r>
            <a:endParaRPr lang="en-US" sz="680" dirty="0">
              <a:latin typeface="IBM Plex Sans" panose="020B0503050203000203" pitchFamily="34" charset="0"/>
            </a:endParaRPr>
          </a:p>
        </p:txBody>
      </p:sp>
      <p:sp>
        <p:nvSpPr>
          <p:cNvPr id="90" name="Shape 88"/>
          <p:cNvSpPr/>
          <p:nvPr/>
        </p:nvSpPr>
        <p:spPr>
          <a:xfrm>
            <a:off x="6720840" y="3383280"/>
            <a:ext cx="2468880" cy="1645920"/>
          </a:xfrm>
          <a:prstGeom prst="rect">
            <a:avLst/>
          </a:prstGeom>
          <a:solidFill>
            <a:srgbClr val="FCF4D6"/>
          </a:solidFill>
          <a:ln w="19050">
            <a:solidFill>
              <a:srgbClr val="FFFFFF"/>
            </a:solidFill>
            <a:prstDash val="solid"/>
          </a:ln>
        </p:spPr>
        <p:txBody>
          <a:bodyPr/>
          <a:lstStyle/>
          <a:p>
            <a:endParaRPr lang="en-US">
              <a:latin typeface="IBM Plex Sans" panose="020B0503050203000203" pitchFamily="34" charset="0"/>
            </a:endParaRPr>
          </a:p>
        </p:txBody>
      </p:sp>
      <p:sp>
        <p:nvSpPr>
          <p:cNvPr id="91" name="Text 89"/>
          <p:cNvSpPr/>
          <p:nvPr/>
        </p:nvSpPr>
        <p:spPr>
          <a:xfrm>
            <a:off x="6812280" y="3566160"/>
            <a:ext cx="2304288" cy="14264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Unified Agent (Innovation Studio)
• Event Briefer (v2+)
• Grant Lifecycle Orchestrator
• Ad Ops &amp; Content Trafficking
• Thought Leadership Engine
• Partner Performance Intelligence
• Co-Marketing Process Automation
• Tech Capability Intake
• RFI Ninja
• Scenario Planning
</a:t>
            </a:r>
            <a:endParaRPr lang="en-US" sz="680" dirty="0">
              <a:latin typeface="IBM Plex Sans" panose="020B0503050203000203" pitchFamily="34" charset="0"/>
            </a:endParaRPr>
          </a:p>
        </p:txBody>
      </p:sp>
      <p:sp>
        <p:nvSpPr>
          <p:cNvPr id="92" name="Shape 90"/>
          <p:cNvSpPr/>
          <p:nvPr/>
        </p:nvSpPr>
        <p:spPr>
          <a:xfrm>
            <a:off x="9189720" y="3383280"/>
            <a:ext cx="2468880" cy="1645920"/>
          </a:xfrm>
          <a:prstGeom prst="rect">
            <a:avLst/>
          </a:prstGeom>
          <a:solidFill>
            <a:srgbClr val="DEFBE6"/>
          </a:solidFill>
          <a:ln w="19050">
            <a:solidFill>
              <a:srgbClr val="FFFFFF"/>
            </a:solidFill>
            <a:prstDash val="solid"/>
          </a:ln>
        </p:spPr>
        <p:txBody>
          <a:bodyPr/>
          <a:lstStyle/>
          <a:p>
            <a:endParaRPr lang="en-US">
              <a:latin typeface="IBM Plex Sans" panose="020B0503050203000203" pitchFamily="34" charset="0"/>
            </a:endParaRPr>
          </a:p>
        </p:txBody>
      </p:sp>
      <p:sp>
        <p:nvSpPr>
          <p:cNvPr id="93" name="Text 91"/>
          <p:cNvSpPr/>
          <p:nvPr/>
        </p:nvSpPr>
        <p:spPr>
          <a:xfrm>
            <a:off x="9281160" y="3566160"/>
            <a:ext cx="2304288" cy="14264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Resource &amp; Capacity Planning
• Budgeting and Planning
• Foundation for PMM Research
</a:t>
            </a:r>
            <a:endParaRPr lang="en-US" sz="680" dirty="0">
              <a:latin typeface="IBM Plex Sans" panose="020B0503050203000203" pitchFamily="34" charset="0"/>
            </a:endParaRPr>
          </a:p>
        </p:txBody>
      </p:sp>
      <p:sp>
        <p:nvSpPr>
          <p:cNvPr id="94" name="Shape 92"/>
          <p:cNvSpPr/>
          <p:nvPr/>
        </p:nvSpPr>
        <p:spPr>
          <a:xfrm>
            <a:off x="4251960" y="5029200"/>
            <a:ext cx="2468880" cy="1188720"/>
          </a:xfrm>
          <a:prstGeom prst="rect">
            <a:avLst/>
          </a:prstGeom>
          <a:solidFill>
            <a:srgbClr val="FFF1F1"/>
          </a:solidFill>
          <a:ln w="19050">
            <a:solidFill>
              <a:srgbClr val="FFFFFF"/>
            </a:solidFill>
            <a:prstDash val="solid"/>
          </a:ln>
        </p:spPr>
        <p:txBody>
          <a:bodyPr/>
          <a:lstStyle/>
          <a:p>
            <a:endParaRPr lang="en-US">
              <a:latin typeface="IBM Plex Sans" panose="020B0503050203000203" pitchFamily="34" charset="0"/>
            </a:endParaRPr>
          </a:p>
        </p:txBody>
      </p:sp>
      <p:sp>
        <p:nvSpPr>
          <p:cNvPr id="95" name="Text 93"/>
          <p:cNvSpPr/>
          <p:nvPr/>
        </p:nvSpPr>
        <p:spPr>
          <a:xfrm>
            <a:off x="4343400" y="5212080"/>
            <a:ext cx="2304288" cy="9692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Press Release Orchestration
• HC Optimization &amp; Workforce
</a:t>
            </a:r>
            <a:endParaRPr lang="en-US" sz="680" dirty="0">
              <a:latin typeface="IBM Plex Sans" panose="020B0503050203000203" pitchFamily="34" charset="0"/>
            </a:endParaRPr>
          </a:p>
        </p:txBody>
      </p:sp>
      <p:sp>
        <p:nvSpPr>
          <p:cNvPr id="96" name="Text 94"/>
          <p:cNvSpPr/>
          <p:nvPr/>
        </p:nvSpPr>
        <p:spPr>
          <a:xfrm>
            <a:off x="4325112" y="5047488"/>
            <a:ext cx="2322576" cy="182880"/>
          </a:xfrm>
          <a:prstGeom prst="rect">
            <a:avLst/>
          </a:prstGeom>
          <a:noFill/>
          <a:ln/>
        </p:spPr>
        <p:txBody>
          <a:bodyPr wrap="square" rtlCol="0" anchor="ctr"/>
          <a:lstStyle/>
          <a:p>
            <a:pPr marL="0" indent="0" algn="r">
              <a:buNone/>
            </a:pPr>
            <a:r>
              <a:rPr lang="en-US" sz="800" b="1" i="1" dirty="0">
                <a:solidFill>
                  <a:srgbClr val="525252"/>
                </a:solidFill>
                <a:latin typeface="IBM Plex Sans" panose="020B0503050203000203" pitchFamily="34" charset="0"/>
                <a:ea typeface="Arial" pitchFamily="34" charset="-122"/>
                <a:cs typeface="Arial" pitchFamily="34" charset="-120"/>
              </a:rPr>
              <a:t>Reconsider</a:t>
            </a:r>
            <a:endParaRPr lang="en-US" sz="800" dirty="0">
              <a:latin typeface="IBM Plex Sans" panose="020B0503050203000203" pitchFamily="34" charset="0"/>
            </a:endParaRPr>
          </a:p>
        </p:txBody>
      </p:sp>
      <p:sp>
        <p:nvSpPr>
          <p:cNvPr id="97" name="Shape 95"/>
          <p:cNvSpPr/>
          <p:nvPr/>
        </p:nvSpPr>
        <p:spPr>
          <a:xfrm>
            <a:off x="6720840" y="5029200"/>
            <a:ext cx="2468880" cy="1188720"/>
          </a:xfrm>
          <a:prstGeom prst="rect">
            <a:avLst/>
          </a:prstGeom>
          <a:solidFill>
            <a:srgbClr val="FCF4D6"/>
          </a:solidFill>
          <a:ln w="19050">
            <a:solidFill>
              <a:srgbClr val="FFFFFF"/>
            </a:solidFill>
            <a:prstDash val="solid"/>
          </a:ln>
        </p:spPr>
        <p:txBody>
          <a:bodyPr/>
          <a:lstStyle/>
          <a:p>
            <a:endParaRPr lang="en-US">
              <a:latin typeface="IBM Plex Sans" panose="020B0503050203000203" pitchFamily="34" charset="0"/>
            </a:endParaRPr>
          </a:p>
        </p:txBody>
      </p:sp>
      <p:sp>
        <p:nvSpPr>
          <p:cNvPr id="98" name="Text 96"/>
          <p:cNvSpPr/>
          <p:nvPr/>
        </p:nvSpPr>
        <p:spPr>
          <a:xfrm>
            <a:off x="6812280" y="5212080"/>
            <a:ext cx="2304288" cy="9692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Buying Group Contact Accuracy
• Media Monitoring &amp; Activation
• Executive &amp; Account Leader Briefer
</a:t>
            </a:r>
            <a:endParaRPr lang="en-US" sz="680" dirty="0">
              <a:latin typeface="IBM Plex Sans" panose="020B0503050203000203" pitchFamily="34" charset="0"/>
            </a:endParaRPr>
          </a:p>
        </p:txBody>
      </p:sp>
      <p:sp>
        <p:nvSpPr>
          <p:cNvPr id="99" name="Shape 97"/>
          <p:cNvSpPr/>
          <p:nvPr/>
        </p:nvSpPr>
        <p:spPr>
          <a:xfrm>
            <a:off x="9189720" y="5029200"/>
            <a:ext cx="2468880" cy="1188720"/>
          </a:xfrm>
          <a:prstGeom prst="rect">
            <a:avLst/>
          </a:prstGeom>
          <a:solidFill>
            <a:srgbClr val="DEFBE6"/>
          </a:solidFill>
          <a:ln w="19050">
            <a:solidFill>
              <a:srgbClr val="FFFFFF"/>
            </a:solidFill>
            <a:prstDash val="solid"/>
          </a:ln>
        </p:spPr>
        <p:txBody>
          <a:bodyPr/>
          <a:lstStyle/>
          <a:p>
            <a:endParaRPr lang="en-US">
              <a:latin typeface="IBM Plex Sans" panose="020B0503050203000203" pitchFamily="34" charset="0"/>
            </a:endParaRPr>
          </a:p>
        </p:txBody>
      </p:sp>
      <p:sp>
        <p:nvSpPr>
          <p:cNvPr id="100" name="Text 98"/>
          <p:cNvSpPr/>
          <p:nvPr/>
        </p:nvSpPr>
        <p:spPr>
          <a:xfrm>
            <a:off x="9281160" y="5212080"/>
            <a:ext cx="2304288" cy="969264"/>
          </a:xfrm>
          <a:prstGeom prst="rect">
            <a:avLst/>
          </a:prstGeom>
          <a:noFill/>
          <a:ln/>
        </p:spPr>
        <p:txBody>
          <a:bodyPr wrap="square" rtlCol="0" anchor="t"/>
          <a:lstStyle/>
          <a:p>
            <a:pPr marL="0" indent="0">
              <a:lnSpc>
                <a:spcPct val="90000"/>
              </a:lnSpc>
              <a:buNone/>
            </a:pPr>
            <a:r>
              <a:rPr lang="en-US" sz="680" dirty="0">
                <a:solidFill>
                  <a:srgbClr val="161616"/>
                </a:solidFill>
                <a:latin typeface="IBM Plex Sans" panose="020B0503050203000203" pitchFamily="34" charset="0"/>
                <a:ea typeface="Arial" pitchFamily="34" charset="-122"/>
                <a:cs typeface="Arial" pitchFamily="34" charset="-120"/>
              </a:rPr>
              <a:t>• Exec Narrative Intelligence
• Social Media Advocacy
• CEO Office Hours Reporting
• Chatbot Expansion
</a:t>
            </a:r>
            <a:endParaRPr lang="en-US" sz="680" dirty="0">
              <a:latin typeface="IBM Plex Sans" panose="020B0503050203000203" pitchFamily="34" charset="0"/>
            </a:endParaRPr>
          </a:p>
        </p:txBody>
      </p:sp>
      <p:sp>
        <p:nvSpPr>
          <p:cNvPr id="101" name="Text 99"/>
          <p:cNvSpPr/>
          <p:nvPr/>
        </p:nvSpPr>
        <p:spPr>
          <a:xfrm rot="16200000">
            <a:off x="3001575" y="3429000"/>
            <a:ext cx="1371600" cy="274320"/>
          </a:xfrm>
          <a:prstGeom prst="rect">
            <a:avLst/>
          </a:prstGeom>
          <a:noFill/>
          <a:ln/>
        </p:spPr>
        <p:txBody>
          <a:bodyPr wrap="square" rtlCol="0" anchor="ctr"/>
          <a:lstStyle/>
          <a:p>
            <a:pPr marL="0" indent="0" algn="ctr">
              <a:buNone/>
            </a:pPr>
            <a:r>
              <a:rPr lang="en-US" sz="900" b="1" dirty="0">
                <a:solidFill>
                  <a:srgbClr val="0F62FE"/>
                </a:solidFill>
                <a:latin typeface="IBM Plex Sans" panose="020B0503050203000203" pitchFamily="34" charset="0"/>
                <a:ea typeface="Arial" pitchFamily="34" charset="-122"/>
                <a:cs typeface="Arial" pitchFamily="34" charset="-120"/>
              </a:rPr>
              <a:t>VALUE</a:t>
            </a:r>
            <a:endParaRPr lang="en-US" sz="900" dirty="0">
              <a:latin typeface="IBM Plex Sans" panose="020B0503050203000203" pitchFamily="34" charset="0"/>
            </a:endParaRPr>
          </a:p>
        </p:txBody>
      </p:sp>
      <p:sp>
        <p:nvSpPr>
          <p:cNvPr id="102" name="Text 100"/>
          <p:cNvSpPr/>
          <p:nvPr/>
        </p:nvSpPr>
        <p:spPr>
          <a:xfrm>
            <a:off x="3776472" y="1508760"/>
            <a:ext cx="438912" cy="1874520"/>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High</a:t>
            </a:r>
            <a:endParaRPr lang="en-US" sz="800" dirty="0">
              <a:latin typeface="IBM Plex Sans" panose="020B0503050203000203" pitchFamily="34" charset="0"/>
            </a:endParaRPr>
          </a:p>
        </p:txBody>
      </p:sp>
      <p:sp>
        <p:nvSpPr>
          <p:cNvPr id="103" name="Text 101"/>
          <p:cNvSpPr/>
          <p:nvPr/>
        </p:nvSpPr>
        <p:spPr>
          <a:xfrm>
            <a:off x="3776472" y="3383280"/>
            <a:ext cx="438912" cy="1645920"/>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Med</a:t>
            </a:r>
            <a:endParaRPr lang="en-US" sz="800" dirty="0">
              <a:latin typeface="IBM Plex Sans" panose="020B0503050203000203" pitchFamily="34" charset="0"/>
            </a:endParaRPr>
          </a:p>
        </p:txBody>
      </p:sp>
      <p:sp>
        <p:nvSpPr>
          <p:cNvPr id="104" name="Text 102"/>
          <p:cNvSpPr/>
          <p:nvPr/>
        </p:nvSpPr>
        <p:spPr>
          <a:xfrm>
            <a:off x="3776472" y="5029200"/>
            <a:ext cx="438912" cy="1188720"/>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Low</a:t>
            </a:r>
            <a:endParaRPr lang="en-US" sz="800" dirty="0">
              <a:latin typeface="IBM Plex Sans" panose="020B0503050203000203" pitchFamily="34" charset="0"/>
            </a:endParaRPr>
          </a:p>
        </p:txBody>
      </p:sp>
      <p:sp>
        <p:nvSpPr>
          <p:cNvPr id="105" name="Text 103"/>
          <p:cNvSpPr/>
          <p:nvPr/>
        </p:nvSpPr>
        <p:spPr>
          <a:xfrm>
            <a:off x="4251960" y="6236208"/>
            <a:ext cx="7406640" cy="228600"/>
          </a:xfrm>
          <a:prstGeom prst="rect">
            <a:avLst/>
          </a:prstGeom>
          <a:noFill/>
          <a:ln/>
        </p:spPr>
        <p:txBody>
          <a:bodyPr wrap="square" rtlCol="0" anchor="ctr"/>
          <a:lstStyle/>
          <a:p>
            <a:pPr marL="0" indent="0" algn="ctr">
              <a:buNone/>
            </a:pPr>
            <a:r>
              <a:rPr lang="en-US" sz="1000" b="1" dirty="0">
                <a:solidFill>
                  <a:srgbClr val="0F62FE"/>
                </a:solidFill>
                <a:latin typeface="IBM Plex Sans" panose="020B0503050203000203" pitchFamily="34" charset="0"/>
                <a:ea typeface="Arial" pitchFamily="34" charset="-122"/>
                <a:cs typeface="Arial" pitchFamily="34" charset="-120"/>
              </a:rPr>
              <a:t>Feasibility</a:t>
            </a:r>
            <a:endParaRPr lang="en-US" sz="1000" dirty="0">
              <a:latin typeface="IBM Plex Sans" panose="020B0503050203000203" pitchFamily="34" charset="0"/>
            </a:endParaRPr>
          </a:p>
        </p:txBody>
      </p:sp>
      <p:sp>
        <p:nvSpPr>
          <p:cNvPr id="106" name="Text 104"/>
          <p:cNvSpPr/>
          <p:nvPr/>
        </p:nvSpPr>
        <p:spPr>
          <a:xfrm>
            <a:off x="4251960" y="6464808"/>
            <a:ext cx="2468880" cy="201168"/>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Low</a:t>
            </a:r>
            <a:endParaRPr lang="en-US" sz="800" dirty="0">
              <a:latin typeface="IBM Plex Sans" panose="020B0503050203000203" pitchFamily="34" charset="0"/>
            </a:endParaRPr>
          </a:p>
        </p:txBody>
      </p:sp>
      <p:sp>
        <p:nvSpPr>
          <p:cNvPr id="107" name="Text 105"/>
          <p:cNvSpPr/>
          <p:nvPr/>
        </p:nvSpPr>
        <p:spPr>
          <a:xfrm>
            <a:off x="6720840" y="6464808"/>
            <a:ext cx="2468880" cy="201168"/>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Med</a:t>
            </a:r>
            <a:endParaRPr lang="en-US" sz="800" dirty="0">
              <a:latin typeface="IBM Plex Sans" panose="020B0503050203000203" pitchFamily="34" charset="0"/>
            </a:endParaRPr>
          </a:p>
        </p:txBody>
      </p:sp>
      <p:sp>
        <p:nvSpPr>
          <p:cNvPr id="108" name="Text 106"/>
          <p:cNvSpPr/>
          <p:nvPr/>
        </p:nvSpPr>
        <p:spPr>
          <a:xfrm>
            <a:off x="9189720" y="6464808"/>
            <a:ext cx="2468880" cy="201168"/>
          </a:xfrm>
          <a:prstGeom prst="rect">
            <a:avLst/>
          </a:prstGeom>
          <a:noFill/>
          <a:ln/>
        </p:spPr>
        <p:txBody>
          <a:bodyPr wrap="square" rtlCol="0" anchor="ctr"/>
          <a:lstStyle/>
          <a:p>
            <a:pPr marL="0" indent="0" algn="ctr">
              <a:buNone/>
            </a:pPr>
            <a:r>
              <a:rPr lang="en-US" sz="800" dirty="0">
                <a:solidFill>
                  <a:srgbClr val="525252"/>
                </a:solidFill>
                <a:latin typeface="IBM Plex Sans" panose="020B0503050203000203" pitchFamily="34" charset="0"/>
                <a:ea typeface="Arial" pitchFamily="34" charset="-122"/>
                <a:cs typeface="Arial" pitchFamily="34" charset="-120"/>
              </a:rPr>
              <a:t>High</a:t>
            </a:r>
            <a:endParaRPr lang="en-US" sz="800" dirty="0">
              <a:latin typeface="IBM Plex Sans" panose="020B0503050203000203" pitchFamily="34" charset="0"/>
            </a:endParaRPr>
          </a:p>
        </p:txBody>
      </p:sp>
      <p:sp>
        <p:nvSpPr>
          <p:cNvPr id="109" name="Text 107"/>
          <p:cNvSpPr/>
          <p:nvPr/>
        </p:nvSpPr>
        <p:spPr>
          <a:xfrm>
            <a:off x="548640" y="6473952"/>
            <a:ext cx="8229600" cy="274320"/>
          </a:xfrm>
          <a:prstGeom prst="rect">
            <a:avLst/>
          </a:prstGeom>
          <a:noFill/>
          <a:ln/>
        </p:spPr>
        <p:txBody>
          <a:bodyPr wrap="square" rtlCol="0" anchor="ctr"/>
          <a:lstStyle/>
          <a:p>
            <a:pPr marL="0" indent="0">
              <a:buNone/>
            </a:pPr>
            <a:r>
              <a:rPr lang="en-US" sz="900" dirty="0">
                <a:solidFill>
                  <a:srgbClr val="525252"/>
                </a:solidFill>
                <a:latin typeface="IBM Plex Sans" panose="020B0503050203000203" pitchFamily="34" charset="0"/>
                <a:ea typeface="Arial" pitchFamily="34" charset="-122"/>
                <a:cs typeface="Arial" pitchFamily="34" charset="-120"/>
              </a:rPr>
              <a:t>How We Prioritized  |  MCC AI Transformation</a:t>
            </a:r>
            <a:endParaRPr lang="en-US" sz="900" dirty="0">
              <a:latin typeface="IBM Plex Sans" panose="020B0503050203000203" pitchFamily="34" charset="0"/>
            </a:endParaRPr>
          </a:p>
        </p:txBody>
      </p:sp>
      <p:sp>
        <p:nvSpPr>
          <p:cNvPr id="110" name="Text 108"/>
          <p:cNvSpPr/>
          <p:nvPr/>
        </p:nvSpPr>
        <p:spPr>
          <a:xfrm>
            <a:off x="11430000" y="6473952"/>
            <a:ext cx="274320" cy="274320"/>
          </a:xfrm>
          <a:prstGeom prst="rect">
            <a:avLst/>
          </a:prstGeom>
          <a:noFill/>
          <a:ln/>
        </p:spPr>
        <p:txBody>
          <a:bodyPr wrap="square" rtlCol="0" anchor="ctr"/>
          <a:lstStyle/>
          <a:p>
            <a:pPr marL="0" indent="0" algn="r">
              <a:buNone/>
            </a:pPr>
            <a:r>
              <a:rPr lang="en-US" sz="900" dirty="0">
                <a:solidFill>
                  <a:srgbClr val="525252"/>
                </a:solidFill>
                <a:latin typeface="IBM Plex Sans" panose="020B0503050203000203" pitchFamily="34" charset="0"/>
                <a:ea typeface="Arial" pitchFamily="34" charset="-122"/>
                <a:cs typeface="Arial" pitchFamily="34" charset="-120"/>
              </a:rPr>
              <a:t>8</a:t>
            </a:r>
            <a:endParaRPr lang="en-US" sz="900" dirty="0">
              <a:latin typeface="IBM Plex Sans" panose="020B050305020300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1100" b="1" kern="0" spc="100" dirty="0">
                <a:solidFill>
                  <a:srgbClr val="0F62FE"/>
                </a:solidFill>
                <a:latin typeface="IBM Plex Sans" panose="020B0503050203000203" pitchFamily="34" charset="0"/>
                <a:ea typeface="Arial" pitchFamily="34" charset="-122"/>
                <a:cs typeface="Arial" pitchFamily="34" charset="-120"/>
              </a:rPr>
              <a:t>HOW THE CAPABILITY LENS SHAPED THE PORTFOLIO</a:t>
            </a:r>
            <a:endParaRPr lang="en-US" sz="1100" dirty="0">
              <a:latin typeface="IBM Plex Sans" panose="020B0503050203000203" pitchFamily="34" charset="0"/>
            </a:endParaRPr>
          </a:p>
        </p:txBody>
      </p:sp>
      <p:sp>
        <p:nvSpPr>
          <p:cNvPr id="3" name="Text 1"/>
          <p:cNvSpPr/>
          <p:nvPr/>
        </p:nvSpPr>
        <p:spPr>
          <a:xfrm>
            <a:off x="548640" y="640080"/>
            <a:ext cx="11064240" cy="640080"/>
          </a:xfrm>
          <a:prstGeom prst="rect">
            <a:avLst/>
          </a:prstGeom>
          <a:noFill/>
          <a:ln/>
        </p:spPr>
        <p:txBody>
          <a:bodyPr wrap="square" rtlCol="0" anchor="ctr"/>
          <a:lstStyle/>
          <a:p>
            <a:pPr marL="0" indent="0">
              <a:buNone/>
            </a:pPr>
            <a:r>
              <a:rPr lang="en-US" sz="2400" b="1" dirty="0">
                <a:solidFill>
                  <a:srgbClr val="161616"/>
                </a:solidFill>
                <a:latin typeface="IBM Plex Sans" panose="020B0503050203000203" pitchFamily="34" charset="0"/>
                <a:ea typeface="Arial" pitchFamily="34" charset="-122"/>
                <a:cs typeface="Arial" pitchFamily="34" charset="-120"/>
              </a:rPr>
              <a:t>Grouping Initiatives Against Core Marketing Capabilities</a:t>
            </a:r>
            <a:endParaRPr lang="en-US" sz="2400" dirty="0">
              <a:latin typeface="IBM Plex Sans" panose="020B0503050203000203" pitchFamily="34" charset="0"/>
            </a:endParaRPr>
          </a:p>
        </p:txBody>
      </p:sp>
      <p:sp>
        <p:nvSpPr>
          <p:cNvPr id="4" name="Shape 2"/>
          <p:cNvSpPr/>
          <p:nvPr/>
        </p:nvSpPr>
        <p:spPr>
          <a:xfrm>
            <a:off x="548640" y="1371600"/>
            <a:ext cx="11064240" cy="0"/>
          </a:xfrm>
          <a:prstGeom prst="line">
            <a:avLst/>
          </a:prstGeom>
          <a:noFill/>
          <a:ln w="12700">
            <a:solidFill>
              <a:srgbClr val="C6C6C6"/>
            </a:solidFill>
            <a:prstDash val="solid"/>
          </a:ln>
        </p:spPr>
        <p:txBody>
          <a:bodyPr/>
          <a:lstStyle/>
          <a:p>
            <a:endParaRPr lang="en-US">
              <a:latin typeface="IBM Plex Sans" panose="020B0503050203000203" pitchFamily="34" charset="0"/>
            </a:endParaRPr>
          </a:p>
        </p:txBody>
      </p:sp>
      <p:sp>
        <p:nvSpPr>
          <p:cNvPr id="5" name="Text 3"/>
          <p:cNvSpPr/>
          <p:nvPr/>
        </p:nvSpPr>
        <p:spPr>
          <a:xfrm>
            <a:off x="548640" y="1554480"/>
            <a:ext cx="10972800" cy="640080"/>
          </a:xfrm>
          <a:prstGeom prst="rect">
            <a:avLst/>
          </a:prstGeom>
          <a:noFill/>
          <a:ln/>
        </p:spPr>
        <p:txBody>
          <a:bodyPr wrap="square" rtlCol="0" anchor="t"/>
          <a:lstStyle/>
          <a:p>
            <a:pPr marL="0" indent="0">
              <a:lnSpc>
                <a:spcPct val="105000"/>
              </a:lnSpc>
              <a:buNone/>
            </a:pPr>
            <a:r>
              <a:rPr lang="en-US" sz="1300" dirty="0">
                <a:solidFill>
                  <a:srgbClr val="525252"/>
                </a:solidFill>
                <a:latin typeface="IBM Plex Sans" panose="020B0503050203000203" pitchFamily="34" charset="0"/>
                <a:ea typeface="Arial" pitchFamily="34" charset="-122"/>
                <a:cs typeface="Arial" pitchFamily="34" charset="-120"/>
              </a:rPr>
              <a:t>We grouped the placed initiatives into four capability clusters. We did not use them as a 1-2-3 build order. We used the lens to make sure the portfolio was balanced and reinforcing.</a:t>
            </a:r>
            <a:endParaRPr lang="en-US" sz="1300" dirty="0">
              <a:latin typeface="IBM Plex Sans" panose="020B0503050203000203" pitchFamily="34" charset="0"/>
            </a:endParaRPr>
          </a:p>
        </p:txBody>
      </p:sp>
      <p:sp>
        <p:nvSpPr>
          <p:cNvPr id="6" name="Shape 4"/>
          <p:cNvSpPr/>
          <p:nvPr/>
        </p:nvSpPr>
        <p:spPr>
          <a:xfrm>
            <a:off x="548640" y="2423160"/>
            <a:ext cx="2606040" cy="1371600"/>
          </a:xfrm>
          <a:prstGeom prst="roundRect">
            <a:avLst>
              <a:gd name="adj" fmla="val 4000"/>
            </a:avLst>
          </a:prstGeom>
          <a:solidFill>
            <a:srgbClr val="001141"/>
          </a:solidFill>
          <a:ln w="12700">
            <a:solidFill>
              <a:srgbClr val="0F62FE"/>
            </a:solidFill>
            <a:prstDash val="solid"/>
          </a:ln>
        </p:spPr>
        <p:txBody>
          <a:bodyPr/>
          <a:lstStyle/>
          <a:p>
            <a:endParaRPr lang="en-US">
              <a:latin typeface="IBM Plex Sans" panose="020B0503050203000203" pitchFamily="34" charset="0"/>
            </a:endParaRPr>
          </a:p>
        </p:txBody>
      </p:sp>
      <p:sp>
        <p:nvSpPr>
          <p:cNvPr id="7" name="Text 5"/>
          <p:cNvSpPr/>
          <p:nvPr/>
        </p:nvSpPr>
        <p:spPr>
          <a:xfrm>
            <a:off x="685800" y="2542032"/>
            <a:ext cx="2331720" cy="365760"/>
          </a:xfrm>
          <a:prstGeom prst="rect">
            <a:avLst/>
          </a:prstGeom>
          <a:noFill/>
          <a:ln/>
        </p:spPr>
        <p:txBody>
          <a:bodyPr wrap="square" rtlCol="0" anchor="ctr"/>
          <a:lstStyle/>
          <a:p>
            <a:pPr marL="0" indent="0">
              <a:buNone/>
            </a:pPr>
            <a:r>
              <a:rPr lang="en-US" sz="1400" b="1" dirty="0">
                <a:solidFill>
                  <a:srgbClr val="FFFFFF"/>
                </a:solidFill>
                <a:latin typeface="IBM Plex Sans" panose="020B0503050203000203" pitchFamily="34" charset="0"/>
                <a:ea typeface="Arial" pitchFamily="34" charset="-122"/>
                <a:cs typeface="Arial" pitchFamily="34" charset="-120"/>
              </a:rPr>
              <a:t>Foundations</a:t>
            </a:r>
            <a:endParaRPr lang="en-US" sz="1400" dirty="0">
              <a:latin typeface="IBM Plex Sans" panose="020B0503050203000203" pitchFamily="34" charset="0"/>
            </a:endParaRPr>
          </a:p>
        </p:txBody>
      </p:sp>
      <p:sp>
        <p:nvSpPr>
          <p:cNvPr id="8" name="Text 6"/>
          <p:cNvSpPr/>
          <p:nvPr/>
        </p:nvSpPr>
        <p:spPr>
          <a:xfrm>
            <a:off x="685800" y="2926080"/>
            <a:ext cx="2331720" cy="777240"/>
          </a:xfrm>
          <a:prstGeom prst="rect">
            <a:avLst/>
          </a:prstGeom>
          <a:noFill/>
          <a:ln/>
        </p:spPr>
        <p:txBody>
          <a:bodyPr wrap="square" rtlCol="0" anchor="t"/>
          <a:lstStyle/>
          <a:p>
            <a:pPr marL="0" indent="0">
              <a:buNone/>
            </a:pPr>
            <a:r>
              <a:rPr lang="en-US" sz="1050" dirty="0">
                <a:solidFill>
                  <a:srgbClr val="E0E0E0"/>
                </a:solidFill>
                <a:latin typeface="IBM Plex Sans" panose="020B0503050203000203" pitchFamily="34" charset="0"/>
                <a:ea typeface="Arial" pitchFamily="34" charset="-122"/>
                <a:cs typeface="Arial" pitchFamily="34" charset="-120"/>
              </a:rPr>
              <a:t>Clean, unified data and measurement everything else relies on</a:t>
            </a:r>
            <a:endParaRPr lang="en-US" sz="1050" dirty="0">
              <a:latin typeface="IBM Plex Sans" panose="020B0503050203000203" pitchFamily="34" charset="0"/>
            </a:endParaRPr>
          </a:p>
        </p:txBody>
      </p:sp>
      <p:sp>
        <p:nvSpPr>
          <p:cNvPr id="9" name="Text 7"/>
          <p:cNvSpPr/>
          <p:nvPr/>
        </p:nvSpPr>
        <p:spPr>
          <a:xfrm>
            <a:off x="3118104" y="2880360"/>
            <a:ext cx="301752" cy="365760"/>
          </a:xfrm>
          <a:prstGeom prst="rect">
            <a:avLst/>
          </a:prstGeom>
          <a:noFill/>
          <a:ln/>
        </p:spPr>
        <p:txBody>
          <a:bodyPr wrap="square" rtlCol="0" anchor="ctr"/>
          <a:lstStyle/>
          <a:p>
            <a:pPr marL="0" indent="0" algn="ctr">
              <a:buNone/>
            </a:pPr>
            <a:r>
              <a:rPr lang="en-US" sz="1800" b="1" dirty="0">
                <a:solidFill>
                  <a:srgbClr val="0F62FE"/>
                </a:solidFill>
                <a:latin typeface="IBM Plex Sans" panose="020B0503050203000203" pitchFamily="34" charset="0"/>
                <a:ea typeface="Arial" pitchFamily="34" charset="-122"/>
                <a:cs typeface="Arial" pitchFamily="34" charset="-120"/>
              </a:rPr>
              <a:t>+</a:t>
            </a:r>
            <a:endParaRPr lang="en-US" sz="1800" dirty="0">
              <a:latin typeface="IBM Plex Sans" panose="020B0503050203000203" pitchFamily="34" charset="0"/>
            </a:endParaRPr>
          </a:p>
        </p:txBody>
      </p:sp>
      <p:sp>
        <p:nvSpPr>
          <p:cNvPr id="10" name="Shape 8"/>
          <p:cNvSpPr/>
          <p:nvPr/>
        </p:nvSpPr>
        <p:spPr>
          <a:xfrm>
            <a:off x="3401568" y="2423160"/>
            <a:ext cx="2606040" cy="1371600"/>
          </a:xfrm>
          <a:prstGeom prst="roundRect">
            <a:avLst>
              <a:gd name="adj" fmla="val 4000"/>
            </a:avLst>
          </a:prstGeom>
          <a:solidFill>
            <a:srgbClr val="EDF5FF"/>
          </a:solidFill>
          <a:ln w="12700">
            <a:solidFill>
              <a:srgbClr val="0F62FE"/>
            </a:solidFill>
            <a:prstDash val="solid"/>
          </a:ln>
        </p:spPr>
        <p:txBody>
          <a:bodyPr/>
          <a:lstStyle/>
          <a:p>
            <a:endParaRPr lang="en-US">
              <a:latin typeface="IBM Plex Sans" panose="020B0503050203000203" pitchFamily="34" charset="0"/>
            </a:endParaRPr>
          </a:p>
        </p:txBody>
      </p:sp>
      <p:sp>
        <p:nvSpPr>
          <p:cNvPr id="11" name="Text 9"/>
          <p:cNvSpPr/>
          <p:nvPr/>
        </p:nvSpPr>
        <p:spPr>
          <a:xfrm>
            <a:off x="3538728" y="2542032"/>
            <a:ext cx="2331720" cy="365760"/>
          </a:xfrm>
          <a:prstGeom prst="rect">
            <a:avLst/>
          </a:prstGeom>
          <a:noFill/>
          <a:ln/>
        </p:spPr>
        <p:txBody>
          <a:bodyPr wrap="square" rtlCol="0" anchor="ctr"/>
          <a:lstStyle/>
          <a:p>
            <a:pPr marL="0" indent="0">
              <a:buNone/>
            </a:pPr>
            <a:r>
              <a:rPr lang="en-US" sz="1400" b="1" dirty="0">
                <a:solidFill>
                  <a:srgbClr val="001141"/>
                </a:solidFill>
                <a:latin typeface="IBM Plex Sans" panose="020B0503050203000203" pitchFamily="34" charset="0"/>
                <a:ea typeface="Arial" pitchFamily="34" charset="-122"/>
                <a:cs typeface="Arial" pitchFamily="34" charset="-120"/>
              </a:rPr>
              <a:t>Insights</a:t>
            </a:r>
            <a:endParaRPr lang="en-US" sz="1400" dirty="0">
              <a:latin typeface="IBM Plex Sans" panose="020B0503050203000203" pitchFamily="34" charset="0"/>
            </a:endParaRPr>
          </a:p>
        </p:txBody>
      </p:sp>
      <p:sp>
        <p:nvSpPr>
          <p:cNvPr id="12" name="Text 10"/>
          <p:cNvSpPr/>
          <p:nvPr/>
        </p:nvSpPr>
        <p:spPr>
          <a:xfrm>
            <a:off x="3538728" y="2926080"/>
            <a:ext cx="2331720" cy="777240"/>
          </a:xfrm>
          <a:prstGeom prst="rect">
            <a:avLst/>
          </a:prstGeom>
          <a:noFill/>
          <a:ln/>
        </p:spPr>
        <p:txBody>
          <a:bodyPr wrap="square" rtlCol="0" anchor="t"/>
          <a:lstStyle/>
          <a:p>
            <a:pPr marL="0" indent="0">
              <a:buNone/>
            </a:pPr>
            <a:r>
              <a:rPr lang="en-US" sz="1050" dirty="0">
                <a:solidFill>
                  <a:srgbClr val="525252"/>
                </a:solidFill>
                <a:latin typeface="IBM Plex Sans" panose="020B0503050203000203" pitchFamily="34" charset="0"/>
                <a:ea typeface="Arial" pitchFamily="34" charset="-122"/>
                <a:cs typeface="Arial" pitchFamily="34" charset="-120"/>
              </a:rPr>
              <a:t>Intelligence on who to reach and where the gaps are</a:t>
            </a:r>
            <a:endParaRPr lang="en-US" sz="1050" dirty="0">
              <a:latin typeface="IBM Plex Sans" panose="020B0503050203000203" pitchFamily="34" charset="0"/>
            </a:endParaRPr>
          </a:p>
        </p:txBody>
      </p:sp>
      <p:sp>
        <p:nvSpPr>
          <p:cNvPr id="13" name="Text 11"/>
          <p:cNvSpPr/>
          <p:nvPr/>
        </p:nvSpPr>
        <p:spPr>
          <a:xfrm>
            <a:off x="5971032" y="2880360"/>
            <a:ext cx="301752" cy="365760"/>
          </a:xfrm>
          <a:prstGeom prst="rect">
            <a:avLst/>
          </a:prstGeom>
          <a:noFill/>
          <a:ln/>
        </p:spPr>
        <p:txBody>
          <a:bodyPr wrap="square" rtlCol="0" anchor="ctr"/>
          <a:lstStyle/>
          <a:p>
            <a:pPr marL="0" indent="0" algn="ctr">
              <a:buNone/>
            </a:pPr>
            <a:r>
              <a:rPr lang="en-US" sz="1800" b="1" dirty="0">
                <a:solidFill>
                  <a:srgbClr val="0F62FE"/>
                </a:solidFill>
                <a:latin typeface="IBM Plex Sans" panose="020B0503050203000203" pitchFamily="34" charset="0"/>
                <a:ea typeface="Arial" pitchFamily="34" charset="-122"/>
                <a:cs typeface="Arial" pitchFamily="34" charset="-120"/>
              </a:rPr>
              <a:t>+</a:t>
            </a:r>
            <a:endParaRPr lang="en-US" sz="1800" dirty="0">
              <a:latin typeface="IBM Plex Sans" panose="020B0503050203000203" pitchFamily="34" charset="0"/>
            </a:endParaRPr>
          </a:p>
        </p:txBody>
      </p:sp>
      <p:sp>
        <p:nvSpPr>
          <p:cNvPr id="14" name="Shape 12"/>
          <p:cNvSpPr/>
          <p:nvPr/>
        </p:nvSpPr>
        <p:spPr>
          <a:xfrm>
            <a:off x="6254496" y="2423160"/>
            <a:ext cx="2606040" cy="1371600"/>
          </a:xfrm>
          <a:prstGeom prst="roundRect">
            <a:avLst>
              <a:gd name="adj" fmla="val 4000"/>
            </a:avLst>
          </a:prstGeom>
          <a:solidFill>
            <a:srgbClr val="EDF5FF"/>
          </a:solidFill>
          <a:ln w="12700">
            <a:solidFill>
              <a:srgbClr val="0F62FE"/>
            </a:solidFill>
            <a:prstDash val="solid"/>
          </a:ln>
        </p:spPr>
        <p:txBody>
          <a:bodyPr/>
          <a:lstStyle/>
          <a:p>
            <a:endParaRPr lang="en-US">
              <a:latin typeface="IBM Plex Sans" panose="020B0503050203000203" pitchFamily="34" charset="0"/>
            </a:endParaRPr>
          </a:p>
        </p:txBody>
      </p:sp>
      <p:sp>
        <p:nvSpPr>
          <p:cNvPr id="15" name="Text 13"/>
          <p:cNvSpPr/>
          <p:nvPr/>
        </p:nvSpPr>
        <p:spPr>
          <a:xfrm>
            <a:off x="6391656" y="2542032"/>
            <a:ext cx="2331720" cy="365760"/>
          </a:xfrm>
          <a:prstGeom prst="rect">
            <a:avLst/>
          </a:prstGeom>
          <a:noFill/>
          <a:ln/>
        </p:spPr>
        <p:txBody>
          <a:bodyPr wrap="square" rtlCol="0" anchor="ctr"/>
          <a:lstStyle/>
          <a:p>
            <a:pPr marL="0" indent="0">
              <a:buNone/>
            </a:pPr>
            <a:r>
              <a:rPr lang="en-US" sz="1400" b="1" dirty="0">
                <a:solidFill>
                  <a:srgbClr val="001141"/>
                </a:solidFill>
                <a:latin typeface="IBM Plex Sans" panose="020B0503050203000203" pitchFamily="34" charset="0"/>
                <a:ea typeface="Arial" pitchFamily="34" charset="-122"/>
                <a:cs typeface="Arial" pitchFamily="34" charset="-120"/>
              </a:rPr>
              <a:t>Content</a:t>
            </a:r>
            <a:endParaRPr lang="en-US" sz="1400" dirty="0">
              <a:latin typeface="IBM Plex Sans" panose="020B0503050203000203" pitchFamily="34" charset="0"/>
            </a:endParaRPr>
          </a:p>
        </p:txBody>
      </p:sp>
      <p:sp>
        <p:nvSpPr>
          <p:cNvPr id="16" name="Text 14"/>
          <p:cNvSpPr/>
          <p:nvPr/>
        </p:nvSpPr>
        <p:spPr>
          <a:xfrm>
            <a:off x="6391656" y="2926080"/>
            <a:ext cx="2331720" cy="777240"/>
          </a:xfrm>
          <a:prstGeom prst="rect">
            <a:avLst/>
          </a:prstGeom>
          <a:noFill/>
          <a:ln/>
        </p:spPr>
        <p:txBody>
          <a:bodyPr wrap="square" rtlCol="0" anchor="t"/>
          <a:lstStyle/>
          <a:p>
            <a:pPr marL="0" indent="0">
              <a:buNone/>
            </a:pPr>
            <a:r>
              <a:rPr lang="en-US" sz="1050" dirty="0">
                <a:solidFill>
                  <a:srgbClr val="525252"/>
                </a:solidFill>
                <a:latin typeface="IBM Plex Sans" panose="020B0503050203000203" pitchFamily="34" charset="0"/>
                <a:ea typeface="Arial" pitchFamily="34" charset="-122"/>
                <a:cs typeface="Arial" pitchFamily="34" charset="-120"/>
              </a:rPr>
              <a:t>Create and govern assets at scale</a:t>
            </a:r>
            <a:endParaRPr lang="en-US" sz="1050" dirty="0">
              <a:latin typeface="IBM Plex Sans" panose="020B0503050203000203" pitchFamily="34" charset="0"/>
            </a:endParaRPr>
          </a:p>
        </p:txBody>
      </p:sp>
      <p:sp>
        <p:nvSpPr>
          <p:cNvPr id="17" name="Text 15"/>
          <p:cNvSpPr/>
          <p:nvPr/>
        </p:nvSpPr>
        <p:spPr>
          <a:xfrm>
            <a:off x="8823960" y="2880360"/>
            <a:ext cx="301752" cy="365760"/>
          </a:xfrm>
          <a:prstGeom prst="rect">
            <a:avLst/>
          </a:prstGeom>
          <a:noFill/>
          <a:ln/>
        </p:spPr>
        <p:txBody>
          <a:bodyPr wrap="square" rtlCol="0" anchor="ctr"/>
          <a:lstStyle/>
          <a:p>
            <a:pPr marL="0" indent="0" algn="ctr">
              <a:buNone/>
            </a:pPr>
            <a:r>
              <a:rPr lang="en-US" sz="1800" b="1" dirty="0">
                <a:solidFill>
                  <a:srgbClr val="0F62FE"/>
                </a:solidFill>
                <a:latin typeface="IBM Plex Sans" panose="020B0503050203000203" pitchFamily="34" charset="0"/>
                <a:ea typeface="Arial" pitchFamily="34" charset="-122"/>
                <a:cs typeface="Arial" pitchFamily="34" charset="-120"/>
              </a:rPr>
              <a:t>+</a:t>
            </a:r>
            <a:endParaRPr lang="en-US" sz="1800" dirty="0">
              <a:latin typeface="IBM Plex Sans" panose="020B0503050203000203" pitchFamily="34" charset="0"/>
            </a:endParaRPr>
          </a:p>
        </p:txBody>
      </p:sp>
      <p:sp>
        <p:nvSpPr>
          <p:cNvPr id="18" name="Shape 16"/>
          <p:cNvSpPr/>
          <p:nvPr/>
        </p:nvSpPr>
        <p:spPr>
          <a:xfrm>
            <a:off x="9107424" y="2423160"/>
            <a:ext cx="2606040" cy="1371600"/>
          </a:xfrm>
          <a:prstGeom prst="roundRect">
            <a:avLst>
              <a:gd name="adj" fmla="val 4000"/>
            </a:avLst>
          </a:prstGeom>
          <a:solidFill>
            <a:srgbClr val="EDF5FF"/>
          </a:solidFill>
          <a:ln w="12700">
            <a:solidFill>
              <a:srgbClr val="0F62FE"/>
            </a:solidFill>
            <a:prstDash val="solid"/>
          </a:ln>
        </p:spPr>
        <p:txBody>
          <a:bodyPr/>
          <a:lstStyle/>
          <a:p>
            <a:endParaRPr lang="en-US">
              <a:latin typeface="IBM Plex Sans" panose="020B0503050203000203" pitchFamily="34" charset="0"/>
            </a:endParaRPr>
          </a:p>
        </p:txBody>
      </p:sp>
      <p:sp>
        <p:nvSpPr>
          <p:cNvPr id="19" name="Text 17"/>
          <p:cNvSpPr/>
          <p:nvPr/>
        </p:nvSpPr>
        <p:spPr>
          <a:xfrm>
            <a:off x="9244584" y="2542032"/>
            <a:ext cx="2331720" cy="365760"/>
          </a:xfrm>
          <a:prstGeom prst="rect">
            <a:avLst/>
          </a:prstGeom>
          <a:noFill/>
          <a:ln/>
        </p:spPr>
        <p:txBody>
          <a:bodyPr wrap="square" rtlCol="0" anchor="ctr"/>
          <a:lstStyle/>
          <a:p>
            <a:pPr marL="0" indent="0">
              <a:buNone/>
            </a:pPr>
            <a:r>
              <a:rPr lang="en-US" sz="1400" b="1" dirty="0">
                <a:solidFill>
                  <a:srgbClr val="001141"/>
                </a:solidFill>
                <a:latin typeface="IBM Plex Sans" panose="020B0503050203000203" pitchFamily="34" charset="0"/>
                <a:ea typeface="Arial" pitchFamily="34" charset="-122"/>
                <a:cs typeface="Arial" pitchFamily="34" charset="-120"/>
              </a:rPr>
              <a:t>Activation</a:t>
            </a:r>
            <a:endParaRPr lang="en-US" sz="1400" dirty="0">
              <a:latin typeface="IBM Plex Sans" panose="020B0503050203000203" pitchFamily="34" charset="0"/>
            </a:endParaRPr>
          </a:p>
        </p:txBody>
      </p:sp>
      <p:sp>
        <p:nvSpPr>
          <p:cNvPr id="20" name="Text 18"/>
          <p:cNvSpPr/>
          <p:nvPr/>
        </p:nvSpPr>
        <p:spPr>
          <a:xfrm>
            <a:off x="9244584" y="2926080"/>
            <a:ext cx="2331720" cy="777240"/>
          </a:xfrm>
          <a:prstGeom prst="rect">
            <a:avLst/>
          </a:prstGeom>
          <a:noFill/>
          <a:ln/>
        </p:spPr>
        <p:txBody>
          <a:bodyPr wrap="square" rtlCol="0" anchor="t"/>
          <a:lstStyle/>
          <a:p>
            <a:pPr marL="0" indent="0">
              <a:buNone/>
            </a:pPr>
            <a:r>
              <a:rPr lang="en-US" sz="1050" dirty="0">
                <a:solidFill>
                  <a:srgbClr val="525252"/>
                </a:solidFill>
                <a:latin typeface="IBM Plex Sans" panose="020B0503050203000203" pitchFamily="34" charset="0"/>
                <a:ea typeface="Arial" pitchFamily="34" charset="-122"/>
                <a:cs typeface="Arial" pitchFamily="34" charset="-120"/>
              </a:rPr>
              <a:t>Orchestrate the right content to the right audience</a:t>
            </a:r>
            <a:endParaRPr lang="en-US" sz="1050" dirty="0">
              <a:latin typeface="IBM Plex Sans" panose="020B0503050203000203" pitchFamily="34" charset="0"/>
            </a:endParaRPr>
          </a:p>
        </p:txBody>
      </p:sp>
      <p:sp>
        <p:nvSpPr>
          <p:cNvPr id="21" name="Text 19"/>
          <p:cNvSpPr/>
          <p:nvPr/>
        </p:nvSpPr>
        <p:spPr>
          <a:xfrm>
            <a:off x="548640" y="4160520"/>
            <a:ext cx="10972800" cy="320040"/>
          </a:xfrm>
          <a:prstGeom prst="rect">
            <a:avLst/>
          </a:prstGeom>
          <a:noFill/>
          <a:ln/>
        </p:spPr>
        <p:txBody>
          <a:bodyPr wrap="square" rtlCol="0" anchor="ctr"/>
          <a:lstStyle/>
          <a:p>
            <a:pPr marL="0" indent="0">
              <a:buNone/>
            </a:pPr>
            <a:r>
              <a:rPr lang="en-US" sz="1400" b="1" dirty="0">
                <a:solidFill>
                  <a:srgbClr val="001141"/>
                </a:solidFill>
                <a:latin typeface="IBM Plex Sans" panose="020B0503050203000203" pitchFamily="34" charset="0"/>
                <a:ea typeface="Arial" pitchFamily="34" charset="-122"/>
                <a:cs typeface="Arial" pitchFamily="34" charset="-120"/>
              </a:rPr>
              <a:t>What the lens did for selection</a:t>
            </a:r>
            <a:endParaRPr lang="en-US" sz="1400" dirty="0">
              <a:latin typeface="IBM Plex Sans" panose="020B0503050203000203" pitchFamily="34" charset="0"/>
            </a:endParaRPr>
          </a:p>
        </p:txBody>
      </p:sp>
      <p:sp>
        <p:nvSpPr>
          <p:cNvPr id="22" name="Shape 20"/>
          <p:cNvSpPr/>
          <p:nvPr/>
        </p:nvSpPr>
        <p:spPr>
          <a:xfrm>
            <a:off x="640080" y="4572000"/>
            <a:ext cx="109728" cy="109728"/>
          </a:xfrm>
          <a:prstGeom prst="ellipse">
            <a:avLst/>
          </a:prstGeom>
          <a:solidFill>
            <a:srgbClr val="0F62FE"/>
          </a:solidFill>
          <a:ln/>
        </p:spPr>
        <p:txBody>
          <a:bodyPr/>
          <a:lstStyle/>
          <a:p>
            <a:endParaRPr lang="en-US">
              <a:latin typeface="IBM Plex Sans" panose="020B0503050203000203" pitchFamily="34" charset="0"/>
            </a:endParaRPr>
          </a:p>
        </p:txBody>
      </p:sp>
      <p:sp>
        <p:nvSpPr>
          <p:cNvPr id="23" name="Text 21"/>
          <p:cNvSpPr/>
          <p:nvPr/>
        </p:nvSpPr>
        <p:spPr>
          <a:xfrm>
            <a:off x="914400" y="4480560"/>
            <a:ext cx="10607040" cy="457200"/>
          </a:xfrm>
          <a:prstGeom prst="rect">
            <a:avLst/>
          </a:prstGeom>
          <a:noFill/>
          <a:ln/>
        </p:spPr>
        <p:txBody>
          <a:bodyPr wrap="square" rtlCol="0" anchor="t"/>
          <a:lstStyle/>
          <a:p>
            <a:pPr marL="0" indent="0">
              <a:buNone/>
            </a:pPr>
            <a:r>
              <a:rPr lang="en-US" sz="1200" b="1" dirty="0">
                <a:solidFill>
                  <a:srgbClr val="161616"/>
                </a:solidFill>
                <a:latin typeface="IBM Plex Sans" panose="020B0503050203000203" pitchFamily="34" charset="0"/>
                <a:ea typeface="Arial" pitchFamily="34" charset="-122"/>
                <a:cs typeface="Arial" pitchFamily="34" charset="-120"/>
              </a:rPr>
              <a:t>Foundations first.  </a:t>
            </a:r>
            <a:r>
              <a:rPr lang="en-US" sz="1200" dirty="0">
                <a:solidFill>
                  <a:srgbClr val="525252"/>
                </a:solidFill>
                <a:latin typeface="IBM Plex Sans" panose="020B0503050203000203" pitchFamily="34" charset="0"/>
                <a:ea typeface="Arial" pitchFamily="34" charset="-122"/>
                <a:cs typeface="Arial" pitchFamily="34" charset="-120"/>
              </a:rPr>
              <a:t>We front-loaded the first wave with Foundations, since the most downstream work depends on them.</a:t>
            </a:r>
            <a:endParaRPr lang="en-US" sz="1200" dirty="0">
              <a:latin typeface="IBM Plex Sans" panose="020B0503050203000203" pitchFamily="34" charset="0"/>
            </a:endParaRPr>
          </a:p>
        </p:txBody>
      </p:sp>
      <p:sp>
        <p:nvSpPr>
          <p:cNvPr id="24" name="Shape 22"/>
          <p:cNvSpPr/>
          <p:nvPr/>
        </p:nvSpPr>
        <p:spPr>
          <a:xfrm>
            <a:off x="640080" y="5029200"/>
            <a:ext cx="109728" cy="109728"/>
          </a:xfrm>
          <a:prstGeom prst="ellipse">
            <a:avLst/>
          </a:prstGeom>
          <a:solidFill>
            <a:srgbClr val="0F62FE"/>
          </a:solidFill>
          <a:ln/>
        </p:spPr>
        <p:txBody>
          <a:bodyPr/>
          <a:lstStyle/>
          <a:p>
            <a:endParaRPr lang="en-US">
              <a:latin typeface="IBM Plex Sans" panose="020B0503050203000203" pitchFamily="34" charset="0"/>
            </a:endParaRPr>
          </a:p>
        </p:txBody>
      </p:sp>
      <p:sp>
        <p:nvSpPr>
          <p:cNvPr id="25" name="Text 23"/>
          <p:cNvSpPr/>
          <p:nvPr/>
        </p:nvSpPr>
        <p:spPr>
          <a:xfrm>
            <a:off x="914400" y="4937760"/>
            <a:ext cx="10607040" cy="457200"/>
          </a:xfrm>
          <a:prstGeom prst="rect">
            <a:avLst/>
          </a:prstGeom>
          <a:noFill/>
          <a:ln/>
        </p:spPr>
        <p:txBody>
          <a:bodyPr wrap="square" rtlCol="0" anchor="t"/>
          <a:lstStyle/>
          <a:p>
            <a:pPr marL="0" indent="0">
              <a:buNone/>
            </a:pPr>
            <a:r>
              <a:rPr lang="en-US" sz="1200" b="1" dirty="0">
                <a:solidFill>
                  <a:srgbClr val="161616"/>
                </a:solidFill>
                <a:latin typeface="IBM Plex Sans" panose="020B0503050203000203" pitchFamily="34" charset="0"/>
                <a:ea typeface="Arial" pitchFamily="34" charset="-122"/>
                <a:cs typeface="Arial" pitchFamily="34" charset="-120"/>
              </a:rPr>
              <a:t>One from every pillar.  </a:t>
            </a:r>
            <a:r>
              <a:rPr lang="en-US" sz="1200" dirty="0">
                <a:solidFill>
                  <a:srgbClr val="525252"/>
                </a:solidFill>
                <a:latin typeface="IBM Plex Sans" panose="020B0503050203000203" pitchFamily="34" charset="0"/>
                <a:ea typeface="Arial" pitchFamily="34" charset="-122"/>
                <a:cs typeface="Arial" pitchFamily="34" charset="-120"/>
              </a:rPr>
              <a:t>We deliberately advanced at least one initiative in each of the four pillars. They are the enduring core of marketing, regardless of how workflows change in the future.</a:t>
            </a:r>
            <a:endParaRPr lang="en-US" sz="1200" dirty="0">
              <a:latin typeface="IBM Plex Sans" panose="020B0503050203000203" pitchFamily="34" charset="0"/>
            </a:endParaRPr>
          </a:p>
        </p:txBody>
      </p:sp>
      <p:sp>
        <p:nvSpPr>
          <p:cNvPr id="26" name="Shape 24"/>
          <p:cNvSpPr/>
          <p:nvPr/>
        </p:nvSpPr>
        <p:spPr>
          <a:xfrm>
            <a:off x="640080" y="5486400"/>
            <a:ext cx="109728" cy="109728"/>
          </a:xfrm>
          <a:prstGeom prst="ellipse">
            <a:avLst/>
          </a:prstGeom>
          <a:solidFill>
            <a:srgbClr val="0F62FE"/>
          </a:solidFill>
          <a:ln/>
        </p:spPr>
        <p:txBody>
          <a:bodyPr/>
          <a:lstStyle/>
          <a:p>
            <a:endParaRPr lang="en-US">
              <a:latin typeface="IBM Plex Sans" panose="020B0503050203000203" pitchFamily="34" charset="0"/>
            </a:endParaRPr>
          </a:p>
        </p:txBody>
      </p:sp>
      <p:sp>
        <p:nvSpPr>
          <p:cNvPr id="27" name="Text 25"/>
          <p:cNvSpPr/>
          <p:nvPr/>
        </p:nvSpPr>
        <p:spPr>
          <a:xfrm>
            <a:off x="914400" y="5394960"/>
            <a:ext cx="10607040" cy="457200"/>
          </a:xfrm>
          <a:prstGeom prst="rect">
            <a:avLst/>
          </a:prstGeom>
          <a:noFill/>
          <a:ln/>
        </p:spPr>
        <p:txBody>
          <a:bodyPr wrap="square" rtlCol="0" anchor="t"/>
          <a:lstStyle/>
          <a:p>
            <a:pPr marL="0" indent="0">
              <a:buNone/>
            </a:pPr>
            <a:r>
              <a:rPr lang="en-US" sz="1200" b="1" dirty="0">
                <a:solidFill>
                  <a:srgbClr val="161616"/>
                </a:solidFill>
                <a:latin typeface="IBM Plex Sans" panose="020B0503050203000203" pitchFamily="34" charset="0"/>
                <a:ea typeface="Arial" pitchFamily="34" charset="-122"/>
                <a:cs typeface="Arial" pitchFamily="34" charset="-120"/>
              </a:rPr>
              <a:t>Gap-spotting.  </a:t>
            </a:r>
            <a:r>
              <a:rPr lang="en-US" sz="1200" dirty="0">
                <a:solidFill>
                  <a:srgbClr val="525252"/>
                </a:solidFill>
                <a:latin typeface="IBM Plex Sans" panose="020B0503050203000203" pitchFamily="34" charset="0"/>
                <a:ea typeface="Arial" pitchFamily="34" charset="-122"/>
                <a:cs typeface="Arial" pitchFamily="34" charset="-120"/>
              </a:rPr>
              <a:t>Where a pillar had no strong candidate, that is where net-new initiatives were added.</a:t>
            </a:r>
            <a:endParaRPr lang="en-US" sz="1200" dirty="0">
              <a:latin typeface="IBM Plex Sans" panose="020B0503050203000203" pitchFamily="34" charset="0"/>
            </a:endParaRPr>
          </a:p>
        </p:txBody>
      </p:sp>
      <p:sp>
        <p:nvSpPr>
          <p:cNvPr id="28" name="Shape 26"/>
          <p:cNvSpPr/>
          <p:nvPr/>
        </p:nvSpPr>
        <p:spPr>
          <a:xfrm>
            <a:off x="640080" y="5943600"/>
            <a:ext cx="109728" cy="109728"/>
          </a:xfrm>
          <a:prstGeom prst="ellipse">
            <a:avLst/>
          </a:prstGeom>
          <a:solidFill>
            <a:srgbClr val="0F62FE"/>
          </a:solidFill>
          <a:ln/>
        </p:spPr>
        <p:txBody>
          <a:bodyPr/>
          <a:lstStyle/>
          <a:p>
            <a:endParaRPr lang="en-US">
              <a:latin typeface="IBM Plex Sans" panose="020B0503050203000203" pitchFamily="34" charset="0"/>
            </a:endParaRPr>
          </a:p>
        </p:txBody>
      </p:sp>
      <p:sp>
        <p:nvSpPr>
          <p:cNvPr id="29" name="Text 27"/>
          <p:cNvSpPr/>
          <p:nvPr/>
        </p:nvSpPr>
        <p:spPr>
          <a:xfrm>
            <a:off x="914400" y="5852160"/>
            <a:ext cx="10607040" cy="457200"/>
          </a:xfrm>
          <a:prstGeom prst="rect">
            <a:avLst/>
          </a:prstGeom>
          <a:noFill/>
          <a:ln/>
        </p:spPr>
        <p:txBody>
          <a:bodyPr wrap="square" rtlCol="0" anchor="t"/>
          <a:lstStyle/>
          <a:p>
            <a:pPr marL="0" indent="0">
              <a:buNone/>
            </a:pPr>
            <a:r>
              <a:rPr lang="en-US" sz="1200" b="1" dirty="0">
                <a:solidFill>
                  <a:srgbClr val="161616"/>
                </a:solidFill>
                <a:latin typeface="IBM Plex Sans" panose="020B0503050203000203" pitchFamily="34" charset="0"/>
                <a:ea typeface="Arial" pitchFamily="34" charset="-122"/>
                <a:cs typeface="Arial" pitchFamily="34" charset="-120"/>
              </a:rPr>
              <a:t>Living portfolio.  </a:t>
            </a:r>
            <a:r>
              <a:rPr lang="en-US" sz="1200" dirty="0">
                <a:solidFill>
                  <a:srgbClr val="525252"/>
                </a:solidFill>
                <a:latin typeface="IBM Plex Sans" panose="020B0503050203000203" pitchFamily="34" charset="0"/>
                <a:ea typeface="Arial" pitchFamily="34" charset="-122"/>
                <a:cs typeface="Arial" pitchFamily="34" charset="-120"/>
              </a:rPr>
              <a:t>Lower-scoring items are revisited through governance and quarterly reassessment, not dropped.</a:t>
            </a:r>
            <a:endParaRPr lang="en-US" sz="1200" dirty="0">
              <a:latin typeface="IBM Plex Sans" panose="020B0503050203000203" pitchFamily="34" charset="0"/>
            </a:endParaRPr>
          </a:p>
        </p:txBody>
      </p:sp>
      <p:sp>
        <p:nvSpPr>
          <p:cNvPr id="30" name="Text 28"/>
          <p:cNvSpPr/>
          <p:nvPr/>
        </p:nvSpPr>
        <p:spPr>
          <a:xfrm>
            <a:off x="548640" y="6473952"/>
            <a:ext cx="8229600" cy="274320"/>
          </a:xfrm>
          <a:prstGeom prst="rect">
            <a:avLst/>
          </a:prstGeom>
          <a:noFill/>
          <a:ln/>
        </p:spPr>
        <p:txBody>
          <a:bodyPr wrap="square" rtlCol="0" anchor="ctr"/>
          <a:lstStyle/>
          <a:p>
            <a:pPr marL="0" indent="0">
              <a:buNone/>
            </a:pPr>
            <a:r>
              <a:rPr lang="en-US" sz="900" dirty="0">
                <a:solidFill>
                  <a:srgbClr val="525252"/>
                </a:solidFill>
                <a:latin typeface="IBM Plex Sans" panose="020B0503050203000203" pitchFamily="34" charset="0"/>
                <a:ea typeface="Arial" pitchFamily="34" charset="-122"/>
                <a:cs typeface="Arial" pitchFamily="34" charset="-120"/>
              </a:rPr>
              <a:t>How We Prioritized  |  MCC AI Transformation</a:t>
            </a:r>
            <a:endParaRPr lang="en-US" sz="900" dirty="0">
              <a:latin typeface="IBM Plex Sans" panose="020B0503050203000203" pitchFamily="34" charset="0"/>
            </a:endParaRPr>
          </a:p>
        </p:txBody>
      </p:sp>
      <p:sp>
        <p:nvSpPr>
          <p:cNvPr id="31" name="Text 29"/>
          <p:cNvSpPr/>
          <p:nvPr/>
        </p:nvSpPr>
        <p:spPr>
          <a:xfrm>
            <a:off x="11430000" y="6473952"/>
            <a:ext cx="274320" cy="274320"/>
          </a:xfrm>
          <a:prstGeom prst="rect">
            <a:avLst/>
          </a:prstGeom>
          <a:noFill/>
          <a:ln/>
        </p:spPr>
        <p:txBody>
          <a:bodyPr wrap="square" rtlCol="0" anchor="ctr"/>
          <a:lstStyle/>
          <a:p>
            <a:pPr marL="0" indent="0" algn="r">
              <a:buNone/>
            </a:pPr>
            <a:r>
              <a:rPr lang="en-US" sz="900" dirty="0">
                <a:solidFill>
                  <a:srgbClr val="525252"/>
                </a:solidFill>
                <a:latin typeface="IBM Plex Sans" panose="020B0503050203000203" pitchFamily="34" charset="0"/>
                <a:ea typeface="Arial" pitchFamily="34" charset="-122"/>
                <a:cs typeface="Arial" pitchFamily="34" charset="-120"/>
              </a:rPr>
              <a:t>9</a:t>
            </a:r>
            <a:endParaRPr lang="en-US" sz="900" dirty="0">
              <a:latin typeface="IBM Plex Sans" panose="020B05030502030002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59305-F424-35A5-CFB0-1A0867056A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EC3B627-5B12-6B50-231A-D9D13D3E853E}"/>
              </a:ext>
            </a:extLst>
          </p:cNvPr>
          <p:cNvSpPr/>
          <p:nvPr/>
        </p:nvSpPr>
        <p:spPr>
          <a:xfrm>
            <a:off x="0" y="0"/>
            <a:ext cx="4062984" cy="256032"/>
          </a:xfrm>
          <a:prstGeom prst="rect">
            <a:avLst/>
          </a:prstGeom>
          <a:solidFill>
            <a:srgbClr val="0F62FE"/>
          </a:solidFill>
          <a:ln/>
        </p:spPr>
        <p:txBody>
          <a:bodyPr/>
          <a:lstStyle/>
          <a:p>
            <a:endParaRPr lang="en-US">
              <a:latin typeface="IBM Plex Sans" panose="020B0503050203000203" pitchFamily="34" charset="0"/>
            </a:endParaRPr>
          </a:p>
        </p:txBody>
      </p:sp>
      <p:sp>
        <p:nvSpPr>
          <p:cNvPr id="3" name="Text 1">
            <a:extLst>
              <a:ext uri="{FF2B5EF4-FFF2-40B4-BE49-F238E27FC236}">
                <a16:creationId xmlns:a16="http://schemas.microsoft.com/office/drawing/2014/main" id="{483665A1-298E-D44A-DE44-A3516D11E258}"/>
              </a:ext>
            </a:extLst>
          </p:cNvPr>
          <p:cNvSpPr/>
          <p:nvPr/>
        </p:nvSpPr>
        <p:spPr>
          <a:xfrm>
            <a:off x="0" y="0"/>
            <a:ext cx="4062984" cy="256032"/>
          </a:xfrm>
          <a:prstGeom prst="rect">
            <a:avLst/>
          </a:prstGeom>
          <a:noFill/>
          <a:ln/>
        </p:spPr>
        <p:txBody>
          <a:bodyPr wrap="square" lIns="0" tIns="0" rIns="0" bIns="0" rtlCol="0" anchor="ctr"/>
          <a:lstStyle/>
          <a:p>
            <a:pPr marL="0" indent="0" algn="ctr">
              <a:buNone/>
            </a:pPr>
            <a:r>
              <a:rPr lang="en-US" sz="700" b="1" kern="0" spc="300" dirty="0">
                <a:solidFill>
                  <a:srgbClr val="FFFFFF"/>
                </a:solidFill>
                <a:latin typeface="IBM Plex Sans" panose="020B0503050203000203" pitchFamily="34" charset="0"/>
                <a:ea typeface="Arial" pitchFamily="34" charset="-122"/>
                <a:cs typeface="Arial" pitchFamily="34" charset="-120"/>
              </a:rPr>
              <a:t>AI FOUNDATIONS</a:t>
            </a:r>
            <a:endParaRPr lang="en-US" sz="700" dirty="0">
              <a:latin typeface="IBM Plex Sans" panose="020B0503050203000203" pitchFamily="34" charset="0"/>
            </a:endParaRPr>
          </a:p>
        </p:txBody>
      </p:sp>
      <p:sp>
        <p:nvSpPr>
          <p:cNvPr id="4" name="Shape 2">
            <a:extLst>
              <a:ext uri="{FF2B5EF4-FFF2-40B4-BE49-F238E27FC236}">
                <a16:creationId xmlns:a16="http://schemas.microsoft.com/office/drawing/2014/main" id="{5204BE9D-9E6F-8836-9888-1B4AED984F4D}"/>
              </a:ext>
            </a:extLst>
          </p:cNvPr>
          <p:cNvSpPr/>
          <p:nvPr/>
        </p:nvSpPr>
        <p:spPr>
          <a:xfrm>
            <a:off x="4062984" y="0"/>
            <a:ext cx="4062984" cy="256032"/>
          </a:xfrm>
          <a:prstGeom prst="rect">
            <a:avLst/>
          </a:prstGeom>
          <a:solidFill>
            <a:srgbClr val="E0E0E0"/>
          </a:solidFill>
          <a:ln/>
        </p:spPr>
        <p:txBody>
          <a:bodyPr/>
          <a:lstStyle/>
          <a:p>
            <a:endParaRPr lang="en-US">
              <a:latin typeface="IBM Plex Sans" panose="020B0503050203000203" pitchFamily="34" charset="0"/>
            </a:endParaRPr>
          </a:p>
        </p:txBody>
      </p:sp>
      <p:sp>
        <p:nvSpPr>
          <p:cNvPr id="5" name="Text 3">
            <a:extLst>
              <a:ext uri="{FF2B5EF4-FFF2-40B4-BE49-F238E27FC236}">
                <a16:creationId xmlns:a16="http://schemas.microsoft.com/office/drawing/2014/main" id="{EAB6490F-3FD1-BE5B-171F-150C29E1C80B}"/>
              </a:ext>
            </a:extLst>
          </p:cNvPr>
          <p:cNvSpPr/>
          <p:nvPr/>
        </p:nvSpPr>
        <p:spPr>
          <a:xfrm>
            <a:off x="4062984" y="0"/>
            <a:ext cx="4062984" cy="256032"/>
          </a:xfrm>
          <a:prstGeom prst="rect">
            <a:avLst/>
          </a:prstGeom>
          <a:noFill/>
          <a:ln/>
        </p:spPr>
        <p:txBody>
          <a:bodyPr wrap="square" lIns="0" tIns="0" rIns="0" bIns="0" rtlCol="0" anchor="ctr"/>
          <a:lstStyle/>
          <a:p>
            <a:pPr marL="0" indent="0" algn="ctr">
              <a:buNone/>
            </a:pPr>
            <a:r>
              <a:rPr lang="en-US" sz="700" b="1" kern="0" spc="300" dirty="0">
                <a:solidFill>
                  <a:srgbClr val="A8A8A8"/>
                </a:solidFill>
                <a:latin typeface="IBM Plex Sans" panose="020B0503050203000203" pitchFamily="34" charset="0"/>
                <a:ea typeface="Arial" pitchFamily="34" charset="-122"/>
                <a:cs typeface="Arial" pitchFamily="34" charset="-120"/>
              </a:rPr>
              <a:t>WORKFLOW ALIGNMENT</a:t>
            </a:r>
            <a:endParaRPr lang="en-US" sz="700" dirty="0">
              <a:latin typeface="IBM Plex Sans" panose="020B0503050203000203" pitchFamily="34" charset="0"/>
            </a:endParaRPr>
          </a:p>
        </p:txBody>
      </p:sp>
      <p:sp>
        <p:nvSpPr>
          <p:cNvPr id="6" name="Shape 4">
            <a:extLst>
              <a:ext uri="{FF2B5EF4-FFF2-40B4-BE49-F238E27FC236}">
                <a16:creationId xmlns:a16="http://schemas.microsoft.com/office/drawing/2014/main" id="{C515E8CB-0F18-85B8-C4B1-5CB7AA6CAAD4}"/>
              </a:ext>
            </a:extLst>
          </p:cNvPr>
          <p:cNvSpPr/>
          <p:nvPr/>
        </p:nvSpPr>
        <p:spPr>
          <a:xfrm>
            <a:off x="8125968" y="0"/>
            <a:ext cx="4062984" cy="256032"/>
          </a:xfrm>
          <a:prstGeom prst="rect">
            <a:avLst/>
          </a:prstGeom>
          <a:solidFill>
            <a:srgbClr val="E0E0E0"/>
          </a:solidFill>
          <a:ln/>
        </p:spPr>
        <p:txBody>
          <a:bodyPr/>
          <a:lstStyle/>
          <a:p>
            <a:endParaRPr lang="en-US">
              <a:latin typeface="IBM Plex Sans" panose="020B0503050203000203" pitchFamily="34" charset="0"/>
            </a:endParaRPr>
          </a:p>
        </p:txBody>
      </p:sp>
      <p:sp>
        <p:nvSpPr>
          <p:cNvPr id="7" name="Text 5">
            <a:extLst>
              <a:ext uri="{FF2B5EF4-FFF2-40B4-BE49-F238E27FC236}">
                <a16:creationId xmlns:a16="http://schemas.microsoft.com/office/drawing/2014/main" id="{8039C576-D280-C24B-9597-B0BD87B61B99}"/>
              </a:ext>
            </a:extLst>
          </p:cNvPr>
          <p:cNvSpPr/>
          <p:nvPr/>
        </p:nvSpPr>
        <p:spPr>
          <a:xfrm>
            <a:off x="8125968" y="0"/>
            <a:ext cx="4062984" cy="256032"/>
          </a:xfrm>
          <a:prstGeom prst="rect">
            <a:avLst/>
          </a:prstGeom>
          <a:noFill/>
          <a:ln/>
        </p:spPr>
        <p:txBody>
          <a:bodyPr wrap="square" lIns="0" tIns="0" rIns="0" bIns="0" rtlCol="0" anchor="ctr"/>
          <a:lstStyle/>
          <a:p>
            <a:pPr marL="0" indent="0" algn="ctr">
              <a:buNone/>
            </a:pPr>
            <a:r>
              <a:rPr lang="en-US" sz="700" b="1" kern="0" spc="300">
                <a:solidFill>
                  <a:srgbClr val="A8A8A8"/>
                </a:solidFill>
                <a:latin typeface="IBM Plex Sans" panose="020B0503050203000203" pitchFamily="34" charset="0"/>
                <a:ea typeface="Arial" pitchFamily="34" charset="-122"/>
                <a:cs typeface="Arial" pitchFamily="34" charset="-120"/>
              </a:rPr>
              <a:t>FULL TRANSFORMATION</a:t>
            </a:r>
            <a:endParaRPr lang="en-US" sz="700">
              <a:latin typeface="IBM Plex Sans" panose="020B0503050203000203" pitchFamily="34" charset="0"/>
            </a:endParaRPr>
          </a:p>
        </p:txBody>
      </p:sp>
      <p:sp>
        <p:nvSpPr>
          <p:cNvPr id="8" name="Text 6">
            <a:extLst>
              <a:ext uri="{FF2B5EF4-FFF2-40B4-BE49-F238E27FC236}">
                <a16:creationId xmlns:a16="http://schemas.microsoft.com/office/drawing/2014/main" id="{469D292F-6DFD-0CFB-D11E-37E0D956DB0A}"/>
              </a:ext>
            </a:extLst>
          </p:cNvPr>
          <p:cNvSpPr/>
          <p:nvPr/>
        </p:nvSpPr>
        <p:spPr>
          <a:xfrm>
            <a:off x="457200" y="347472"/>
            <a:ext cx="8686800" cy="411480"/>
          </a:xfrm>
          <a:prstGeom prst="rect">
            <a:avLst/>
          </a:prstGeom>
          <a:noFill/>
          <a:ln/>
        </p:spPr>
        <p:txBody>
          <a:bodyPr wrap="square" lIns="0" tIns="0" rIns="0" bIns="0" rtlCol="0" anchor="ctr"/>
          <a:lstStyle/>
          <a:p>
            <a:pPr marL="0" indent="0">
              <a:buNone/>
            </a:pPr>
            <a:r>
              <a:rPr lang="en-US" sz="2100" b="1">
                <a:solidFill>
                  <a:srgbClr val="0F62FE"/>
                </a:solidFill>
                <a:latin typeface="IBM Plex Sans" panose="020B0503050203000203" pitchFamily="34" charset="0"/>
                <a:ea typeface="Georgia" pitchFamily="34" charset="-122"/>
                <a:cs typeface="Georgia" pitchFamily="34" charset="-120"/>
              </a:rPr>
              <a:t>MCC AI Transformation - Initiative Portfolio</a:t>
            </a:r>
            <a:endParaRPr lang="en-US" sz="2100">
              <a:latin typeface="IBM Plex Sans" panose="020B0503050203000203" pitchFamily="34" charset="0"/>
            </a:endParaRPr>
          </a:p>
        </p:txBody>
      </p:sp>
      <p:sp>
        <p:nvSpPr>
          <p:cNvPr id="9" name="Text 7">
            <a:extLst>
              <a:ext uri="{FF2B5EF4-FFF2-40B4-BE49-F238E27FC236}">
                <a16:creationId xmlns:a16="http://schemas.microsoft.com/office/drawing/2014/main" id="{F93CE0FD-BAB8-3162-7507-8DE921058470}"/>
              </a:ext>
            </a:extLst>
          </p:cNvPr>
          <p:cNvSpPr/>
          <p:nvPr/>
        </p:nvSpPr>
        <p:spPr>
          <a:xfrm>
            <a:off x="457200" y="758952"/>
            <a:ext cx="10972800" cy="201168"/>
          </a:xfrm>
          <a:prstGeom prst="rect">
            <a:avLst/>
          </a:prstGeom>
          <a:noFill/>
          <a:ln/>
        </p:spPr>
        <p:txBody>
          <a:bodyPr wrap="square" lIns="0" tIns="0" rIns="0" bIns="0" rtlCol="0" anchor="ctr"/>
          <a:lstStyle/>
          <a:p>
            <a:pPr marL="0" indent="0">
              <a:buNone/>
            </a:pPr>
            <a:r>
              <a:rPr lang="en-US" sz="1000">
                <a:solidFill>
                  <a:srgbClr val="697077"/>
                </a:solidFill>
                <a:latin typeface="IBM Plex Sans" panose="020B0503050203000203" pitchFamily="34" charset="0"/>
                <a:ea typeface="Arial" pitchFamily="34" charset="-122"/>
                <a:cs typeface="Arial" pitchFamily="34" charset="-120"/>
              </a:rPr>
              <a:t>Phased rollout of initiatives aligned to foundational capabilities. Each initiative is assigned to the wave in which delivery begins. Waves accelerate as foundations are established.</a:t>
            </a:r>
            <a:endParaRPr lang="en-US" sz="1000">
              <a:latin typeface="IBM Plex Sans" panose="020B0503050203000203" pitchFamily="34" charset="0"/>
            </a:endParaRPr>
          </a:p>
        </p:txBody>
      </p:sp>
      <p:sp>
        <p:nvSpPr>
          <p:cNvPr id="10" name="Shape 8">
            <a:extLst>
              <a:ext uri="{FF2B5EF4-FFF2-40B4-BE49-F238E27FC236}">
                <a16:creationId xmlns:a16="http://schemas.microsoft.com/office/drawing/2014/main" id="{B4797868-C793-BEFB-2904-EC7FF1723BEB}"/>
              </a:ext>
            </a:extLst>
          </p:cNvPr>
          <p:cNvSpPr/>
          <p:nvPr/>
        </p:nvSpPr>
        <p:spPr>
          <a:xfrm>
            <a:off x="457200" y="1005840"/>
            <a:ext cx="11247120" cy="0"/>
          </a:xfrm>
          <a:prstGeom prst="line">
            <a:avLst/>
          </a:prstGeom>
          <a:noFill/>
          <a:ln w="25400">
            <a:solidFill>
              <a:srgbClr val="0F62FE"/>
            </a:solidFill>
            <a:prstDash val="solid"/>
          </a:ln>
        </p:spPr>
        <p:txBody>
          <a:bodyPr/>
          <a:lstStyle/>
          <a:p>
            <a:endParaRPr lang="en-US">
              <a:latin typeface="IBM Plex Sans" panose="020B0503050203000203" pitchFamily="34" charset="0"/>
            </a:endParaRPr>
          </a:p>
        </p:txBody>
      </p:sp>
      <p:sp>
        <p:nvSpPr>
          <p:cNvPr id="11" name="Shape 9">
            <a:extLst>
              <a:ext uri="{FF2B5EF4-FFF2-40B4-BE49-F238E27FC236}">
                <a16:creationId xmlns:a16="http://schemas.microsoft.com/office/drawing/2014/main" id="{B5AA2E5D-315E-281F-41BB-478843B96086}"/>
              </a:ext>
            </a:extLst>
          </p:cNvPr>
          <p:cNvSpPr/>
          <p:nvPr/>
        </p:nvSpPr>
        <p:spPr>
          <a:xfrm>
            <a:off x="457200" y="1115568"/>
            <a:ext cx="1965960" cy="457200"/>
          </a:xfrm>
          <a:prstGeom prst="rect">
            <a:avLst/>
          </a:prstGeom>
          <a:solidFill>
            <a:srgbClr val="4589FF"/>
          </a:solidFill>
          <a:ln/>
        </p:spPr>
        <p:txBody>
          <a:bodyPr/>
          <a:lstStyle/>
          <a:p>
            <a:endParaRPr lang="en-US">
              <a:latin typeface="IBM Plex Sans" panose="020B0503050203000203" pitchFamily="34" charset="0"/>
            </a:endParaRPr>
          </a:p>
        </p:txBody>
      </p:sp>
      <p:sp>
        <p:nvSpPr>
          <p:cNvPr id="12" name="Text 10">
            <a:extLst>
              <a:ext uri="{FF2B5EF4-FFF2-40B4-BE49-F238E27FC236}">
                <a16:creationId xmlns:a16="http://schemas.microsoft.com/office/drawing/2014/main" id="{75110C11-1B2B-2B57-4539-62143BCCF1CA}"/>
              </a:ext>
            </a:extLst>
          </p:cNvPr>
          <p:cNvSpPr/>
          <p:nvPr/>
        </p:nvSpPr>
        <p:spPr>
          <a:xfrm>
            <a:off x="457200" y="1115568"/>
            <a:ext cx="1965960" cy="457200"/>
          </a:xfrm>
          <a:prstGeom prst="rect">
            <a:avLst/>
          </a:prstGeom>
          <a:noFill/>
          <a:ln/>
        </p:spPr>
        <p:txBody>
          <a:bodyPr wrap="square" lIns="0" tIns="0" rIns="0" bIns="0" rtlCol="0" anchor="ctr"/>
          <a:lstStyle/>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Data + Measurement</a:t>
            </a:r>
            <a:endParaRPr lang="en-US" sz="1100">
              <a:latin typeface="IBM Plex Sans" panose="020B0503050203000203" pitchFamily="34" charset="0"/>
            </a:endParaRPr>
          </a:p>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Foundations</a:t>
            </a:r>
            <a:endParaRPr lang="en-US" sz="1100">
              <a:latin typeface="IBM Plex Sans" panose="020B0503050203000203" pitchFamily="34" charset="0"/>
            </a:endParaRPr>
          </a:p>
        </p:txBody>
      </p:sp>
      <p:sp>
        <p:nvSpPr>
          <p:cNvPr id="13" name="Shape 11">
            <a:extLst>
              <a:ext uri="{FF2B5EF4-FFF2-40B4-BE49-F238E27FC236}">
                <a16:creationId xmlns:a16="http://schemas.microsoft.com/office/drawing/2014/main" id="{8A08D46A-C072-0291-00B6-C3A41651E4D5}"/>
              </a:ext>
            </a:extLst>
          </p:cNvPr>
          <p:cNvSpPr/>
          <p:nvPr/>
        </p:nvSpPr>
        <p:spPr>
          <a:xfrm>
            <a:off x="457200" y="166420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14" name="Shape 12">
            <a:extLst>
              <a:ext uri="{FF2B5EF4-FFF2-40B4-BE49-F238E27FC236}">
                <a16:creationId xmlns:a16="http://schemas.microsoft.com/office/drawing/2014/main" id="{EDFE9ECF-DBA5-ABA9-AF78-CDE2F51C90C1}"/>
              </a:ext>
            </a:extLst>
          </p:cNvPr>
          <p:cNvSpPr/>
          <p:nvPr/>
        </p:nvSpPr>
        <p:spPr>
          <a:xfrm>
            <a:off x="457200" y="166420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15" name="Text 13">
            <a:extLst>
              <a:ext uri="{FF2B5EF4-FFF2-40B4-BE49-F238E27FC236}">
                <a16:creationId xmlns:a16="http://schemas.microsoft.com/office/drawing/2014/main" id="{C30B85D6-F05A-A396-E9D8-C646FC98B318}"/>
              </a:ext>
            </a:extLst>
          </p:cNvPr>
          <p:cNvSpPr/>
          <p:nvPr/>
        </p:nvSpPr>
        <p:spPr>
          <a:xfrm>
            <a:off x="530352" y="1682496"/>
            <a:ext cx="320040" cy="137160"/>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#1</a:t>
            </a:r>
            <a:endParaRPr lang="en-US" sz="800">
              <a:latin typeface="IBM Plex Sans" panose="020B0503050203000203" pitchFamily="34" charset="0"/>
            </a:endParaRPr>
          </a:p>
        </p:txBody>
      </p:sp>
      <p:sp>
        <p:nvSpPr>
          <p:cNvPr id="16" name="Shape 14">
            <a:extLst>
              <a:ext uri="{FF2B5EF4-FFF2-40B4-BE49-F238E27FC236}">
                <a16:creationId xmlns:a16="http://schemas.microsoft.com/office/drawing/2014/main" id="{3B4948F4-2FFD-8E24-DED4-D6FF193437A4}"/>
              </a:ext>
            </a:extLst>
          </p:cNvPr>
          <p:cNvSpPr/>
          <p:nvPr/>
        </p:nvSpPr>
        <p:spPr>
          <a:xfrm>
            <a:off x="2075688" y="168249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17" name="Text 15">
            <a:extLst>
              <a:ext uri="{FF2B5EF4-FFF2-40B4-BE49-F238E27FC236}">
                <a16:creationId xmlns:a16="http://schemas.microsoft.com/office/drawing/2014/main" id="{6D2664C2-71BD-D5A6-69D9-5E12E6555346}"/>
              </a:ext>
            </a:extLst>
          </p:cNvPr>
          <p:cNvSpPr/>
          <p:nvPr/>
        </p:nvSpPr>
        <p:spPr>
          <a:xfrm>
            <a:off x="2075688" y="16824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18" name="Text 16">
            <a:extLst>
              <a:ext uri="{FF2B5EF4-FFF2-40B4-BE49-F238E27FC236}">
                <a16:creationId xmlns:a16="http://schemas.microsoft.com/office/drawing/2014/main" id="{45D6B28F-47B4-B258-0A53-08BB8B98EF1E}"/>
              </a:ext>
            </a:extLst>
          </p:cNvPr>
          <p:cNvSpPr/>
          <p:nvPr/>
        </p:nvSpPr>
        <p:spPr>
          <a:xfrm>
            <a:off x="530352" y="18196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Spend &amp; Performance Data Fdn</a:t>
            </a:r>
            <a:endParaRPr lang="en-US" sz="800">
              <a:latin typeface="IBM Plex Sans" panose="020B0503050203000203" pitchFamily="34" charset="0"/>
            </a:endParaRPr>
          </a:p>
        </p:txBody>
      </p:sp>
      <p:sp>
        <p:nvSpPr>
          <p:cNvPr id="19" name="Shape 17">
            <a:extLst>
              <a:ext uri="{FF2B5EF4-FFF2-40B4-BE49-F238E27FC236}">
                <a16:creationId xmlns:a16="http://schemas.microsoft.com/office/drawing/2014/main" id="{57EE6292-5659-3D62-BBB7-CE82D46894D0}"/>
              </a:ext>
            </a:extLst>
          </p:cNvPr>
          <p:cNvSpPr/>
          <p:nvPr/>
        </p:nvSpPr>
        <p:spPr>
          <a:xfrm>
            <a:off x="457200" y="207568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20" name="Shape 18">
            <a:extLst>
              <a:ext uri="{FF2B5EF4-FFF2-40B4-BE49-F238E27FC236}">
                <a16:creationId xmlns:a16="http://schemas.microsoft.com/office/drawing/2014/main" id="{411615B7-4AFD-1996-8F29-9C63BCAD7D6E}"/>
              </a:ext>
            </a:extLst>
          </p:cNvPr>
          <p:cNvSpPr/>
          <p:nvPr/>
        </p:nvSpPr>
        <p:spPr>
          <a:xfrm>
            <a:off x="457200" y="207568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21" name="Text 19">
            <a:extLst>
              <a:ext uri="{FF2B5EF4-FFF2-40B4-BE49-F238E27FC236}">
                <a16:creationId xmlns:a16="http://schemas.microsoft.com/office/drawing/2014/main" id="{F1D9B693-56A1-4E08-E05B-50F79109E86F}"/>
              </a:ext>
            </a:extLst>
          </p:cNvPr>
          <p:cNvSpPr/>
          <p:nvPr/>
        </p:nvSpPr>
        <p:spPr>
          <a:xfrm>
            <a:off x="530352" y="2093976"/>
            <a:ext cx="320040" cy="137160"/>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#2</a:t>
            </a:r>
            <a:endParaRPr lang="en-US" sz="800">
              <a:latin typeface="IBM Plex Sans" panose="020B0503050203000203" pitchFamily="34" charset="0"/>
            </a:endParaRPr>
          </a:p>
        </p:txBody>
      </p:sp>
      <p:sp>
        <p:nvSpPr>
          <p:cNvPr id="22" name="Shape 20">
            <a:extLst>
              <a:ext uri="{FF2B5EF4-FFF2-40B4-BE49-F238E27FC236}">
                <a16:creationId xmlns:a16="http://schemas.microsoft.com/office/drawing/2014/main" id="{779B2313-65BC-DE2E-5E50-8B1B1984C586}"/>
              </a:ext>
            </a:extLst>
          </p:cNvPr>
          <p:cNvSpPr/>
          <p:nvPr/>
        </p:nvSpPr>
        <p:spPr>
          <a:xfrm>
            <a:off x="2075688" y="209397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23" name="Text 21">
            <a:extLst>
              <a:ext uri="{FF2B5EF4-FFF2-40B4-BE49-F238E27FC236}">
                <a16:creationId xmlns:a16="http://schemas.microsoft.com/office/drawing/2014/main" id="{50D2CE0E-AD77-3407-E1AE-B700BD1F826C}"/>
              </a:ext>
            </a:extLst>
          </p:cNvPr>
          <p:cNvSpPr/>
          <p:nvPr/>
        </p:nvSpPr>
        <p:spPr>
          <a:xfrm>
            <a:off x="2075688" y="209397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24" name="Text 22">
            <a:extLst>
              <a:ext uri="{FF2B5EF4-FFF2-40B4-BE49-F238E27FC236}">
                <a16:creationId xmlns:a16="http://schemas.microsoft.com/office/drawing/2014/main" id="{AFA23056-D36D-2D30-89FA-661E6E86FEAD}"/>
              </a:ext>
            </a:extLst>
          </p:cNvPr>
          <p:cNvSpPr/>
          <p:nvPr/>
        </p:nvSpPr>
        <p:spPr>
          <a:xfrm>
            <a:off x="530352" y="22311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AI Taxonomy Tagging &amp; Meta Gen</a:t>
            </a:r>
            <a:endParaRPr lang="en-US" sz="800">
              <a:latin typeface="IBM Plex Sans" panose="020B0503050203000203" pitchFamily="34" charset="0"/>
            </a:endParaRPr>
          </a:p>
        </p:txBody>
      </p:sp>
      <p:sp>
        <p:nvSpPr>
          <p:cNvPr id="25" name="Shape 23">
            <a:extLst>
              <a:ext uri="{FF2B5EF4-FFF2-40B4-BE49-F238E27FC236}">
                <a16:creationId xmlns:a16="http://schemas.microsoft.com/office/drawing/2014/main" id="{27FDF5F9-D1A7-5573-06FA-F6223B0FE924}"/>
              </a:ext>
            </a:extLst>
          </p:cNvPr>
          <p:cNvSpPr/>
          <p:nvPr/>
        </p:nvSpPr>
        <p:spPr>
          <a:xfrm>
            <a:off x="457200" y="248716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26" name="Shape 24">
            <a:extLst>
              <a:ext uri="{FF2B5EF4-FFF2-40B4-BE49-F238E27FC236}">
                <a16:creationId xmlns:a16="http://schemas.microsoft.com/office/drawing/2014/main" id="{ECB685C3-A397-96F5-8CEC-78BD3D03AB9E}"/>
              </a:ext>
            </a:extLst>
          </p:cNvPr>
          <p:cNvSpPr/>
          <p:nvPr/>
        </p:nvSpPr>
        <p:spPr>
          <a:xfrm>
            <a:off x="457200" y="248716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27" name="Text 25">
            <a:extLst>
              <a:ext uri="{FF2B5EF4-FFF2-40B4-BE49-F238E27FC236}">
                <a16:creationId xmlns:a16="http://schemas.microsoft.com/office/drawing/2014/main" id="{567CBABF-148F-47D3-21D5-D57ACDE6ACC6}"/>
              </a:ext>
            </a:extLst>
          </p:cNvPr>
          <p:cNvSpPr/>
          <p:nvPr/>
        </p:nvSpPr>
        <p:spPr>
          <a:xfrm>
            <a:off x="530352" y="2505456"/>
            <a:ext cx="320040" cy="137160"/>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#4</a:t>
            </a:r>
            <a:endParaRPr lang="en-US" sz="800">
              <a:latin typeface="IBM Plex Sans" panose="020B0503050203000203" pitchFamily="34" charset="0"/>
            </a:endParaRPr>
          </a:p>
        </p:txBody>
      </p:sp>
      <p:sp>
        <p:nvSpPr>
          <p:cNvPr id="28" name="Shape 26">
            <a:extLst>
              <a:ext uri="{FF2B5EF4-FFF2-40B4-BE49-F238E27FC236}">
                <a16:creationId xmlns:a16="http://schemas.microsoft.com/office/drawing/2014/main" id="{D5CE3CE3-A2F1-29C2-0484-38484DD2C0C4}"/>
              </a:ext>
            </a:extLst>
          </p:cNvPr>
          <p:cNvSpPr/>
          <p:nvPr/>
        </p:nvSpPr>
        <p:spPr>
          <a:xfrm>
            <a:off x="2075688" y="250545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29" name="Text 27">
            <a:extLst>
              <a:ext uri="{FF2B5EF4-FFF2-40B4-BE49-F238E27FC236}">
                <a16:creationId xmlns:a16="http://schemas.microsoft.com/office/drawing/2014/main" id="{EE15830D-338F-C1A8-6199-67E613B7B187}"/>
              </a:ext>
            </a:extLst>
          </p:cNvPr>
          <p:cNvSpPr/>
          <p:nvPr/>
        </p:nvSpPr>
        <p:spPr>
          <a:xfrm>
            <a:off x="2075688" y="250545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30" name="Text 28">
            <a:extLst>
              <a:ext uri="{FF2B5EF4-FFF2-40B4-BE49-F238E27FC236}">
                <a16:creationId xmlns:a16="http://schemas.microsoft.com/office/drawing/2014/main" id="{3934A6F9-87F8-FA7C-B38B-E69F0D26BAE3}"/>
              </a:ext>
            </a:extLst>
          </p:cNvPr>
          <p:cNvSpPr/>
          <p:nvPr/>
        </p:nvSpPr>
        <p:spPr>
          <a:xfrm>
            <a:off x="530352" y="264261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Data </a:t>
            </a:r>
            <a:r>
              <a:rPr lang="en-US" sz="800" err="1">
                <a:solidFill>
                  <a:srgbClr val="001D6C"/>
                </a:solidFill>
                <a:latin typeface="IBM Plex Sans" panose="020B0503050203000203" pitchFamily="34" charset="0"/>
                <a:ea typeface="Arial" pitchFamily="34" charset="-122"/>
                <a:cs typeface="Arial" pitchFamily="34" charset="-120"/>
              </a:rPr>
              <a:t>Fdn</a:t>
            </a:r>
            <a:r>
              <a:rPr lang="en-US" sz="800">
                <a:solidFill>
                  <a:srgbClr val="001D6C"/>
                </a:solidFill>
                <a:latin typeface="IBM Plex Sans" panose="020B0503050203000203" pitchFamily="34" charset="0"/>
                <a:ea typeface="Arial" pitchFamily="34" charset="-122"/>
                <a:cs typeface="Arial" pitchFamily="34" charset="-120"/>
              </a:rPr>
              <a:t> for Research</a:t>
            </a:r>
            <a:endParaRPr lang="en-US" sz="800">
              <a:latin typeface="IBM Plex Sans" panose="020B0503050203000203" pitchFamily="34" charset="0"/>
            </a:endParaRPr>
          </a:p>
        </p:txBody>
      </p:sp>
      <p:sp>
        <p:nvSpPr>
          <p:cNvPr id="31" name="Shape 29">
            <a:extLst>
              <a:ext uri="{FF2B5EF4-FFF2-40B4-BE49-F238E27FC236}">
                <a16:creationId xmlns:a16="http://schemas.microsoft.com/office/drawing/2014/main" id="{704DBBF9-7251-3BB7-4D56-82908E1636C4}"/>
              </a:ext>
            </a:extLst>
          </p:cNvPr>
          <p:cNvSpPr/>
          <p:nvPr/>
        </p:nvSpPr>
        <p:spPr>
          <a:xfrm>
            <a:off x="457200" y="289864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32" name="Shape 30">
            <a:extLst>
              <a:ext uri="{FF2B5EF4-FFF2-40B4-BE49-F238E27FC236}">
                <a16:creationId xmlns:a16="http://schemas.microsoft.com/office/drawing/2014/main" id="{D93D1036-7147-2AD0-59DE-E7C0E13830D1}"/>
              </a:ext>
            </a:extLst>
          </p:cNvPr>
          <p:cNvSpPr/>
          <p:nvPr/>
        </p:nvSpPr>
        <p:spPr>
          <a:xfrm>
            <a:off x="457200" y="289864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33" name="Text 31">
            <a:extLst>
              <a:ext uri="{FF2B5EF4-FFF2-40B4-BE49-F238E27FC236}">
                <a16:creationId xmlns:a16="http://schemas.microsoft.com/office/drawing/2014/main" id="{FE9F8573-AC0F-7C77-249C-62C1B89F4771}"/>
              </a:ext>
            </a:extLst>
          </p:cNvPr>
          <p:cNvSpPr/>
          <p:nvPr/>
        </p:nvSpPr>
        <p:spPr>
          <a:xfrm>
            <a:off x="530352" y="2916936"/>
            <a:ext cx="320040" cy="137160"/>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#5</a:t>
            </a:r>
            <a:endParaRPr lang="en-US" sz="800">
              <a:latin typeface="IBM Plex Sans" panose="020B0503050203000203" pitchFamily="34" charset="0"/>
            </a:endParaRPr>
          </a:p>
        </p:txBody>
      </p:sp>
      <p:sp>
        <p:nvSpPr>
          <p:cNvPr id="34" name="Shape 32">
            <a:extLst>
              <a:ext uri="{FF2B5EF4-FFF2-40B4-BE49-F238E27FC236}">
                <a16:creationId xmlns:a16="http://schemas.microsoft.com/office/drawing/2014/main" id="{94E16B33-9E09-28C8-53B7-E8011DF38DAF}"/>
              </a:ext>
            </a:extLst>
          </p:cNvPr>
          <p:cNvSpPr/>
          <p:nvPr/>
        </p:nvSpPr>
        <p:spPr>
          <a:xfrm>
            <a:off x="2075688" y="291693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35" name="Text 33">
            <a:extLst>
              <a:ext uri="{FF2B5EF4-FFF2-40B4-BE49-F238E27FC236}">
                <a16:creationId xmlns:a16="http://schemas.microsoft.com/office/drawing/2014/main" id="{7CEB0415-4478-6FB1-4614-C2CC296D46D2}"/>
              </a:ext>
            </a:extLst>
          </p:cNvPr>
          <p:cNvSpPr/>
          <p:nvPr/>
        </p:nvSpPr>
        <p:spPr>
          <a:xfrm>
            <a:off x="2075688" y="291693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36" name="Text 34">
            <a:extLst>
              <a:ext uri="{FF2B5EF4-FFF2-40B4-BE49-F238E27FC236}">
                <a16:creationId xmlns:a16="http://schemas.microsoft.com/office/drawing/2014/main" id="{0BACE965-4A3C-BBE7-C36E-469BA0ACD58A}"/>
              </a:ext>
            </a:extLst>
          </p:cNvPr>
          <p:cNvSpPr/>
          <p:nvPr/>
        </p:nvSpPr>
        <p:spPr>
          <a:xfrm>
            <a:off x="530352" y="305409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Buying Group Contact (CDO)</a:t>
            </a:r>
            <a:endParaRPr lang="en-US" sz="800">
              <a:latin typeface="IBM Plex Sans" panose="020B0503050203000203" pitchFamily="34" charset="0"/>
            </a:endParaRPr>
          </a:p>
        </p:txBody>
      </p:sp>
      <p:sp>
        <p:nvSpPr>
          <p:cNvPr id="37" name="Shape 35">
            <a:extLst>
              <a:ext uri="{FF2B5EF4-FFF2-40B4-BE49-F238E27FC236}">
                <a16:creationId xmlns:a16="http://schemas.microsoft.com/office/drawing/2014/main" id="{19787D4B-6EE2-8BE3-DF1D-B6B6A1515523}"/>
              </a:ext>
            </a:extLst>
          </p:cNvPr>
          <p:cNvSpPr/>
          <p:nvPr/>
        </p:nvSpPr>
        <p:spPr>
          <a:xfrm>
            <a:off x="457200" y="331012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38" name="Shape 36">
            <a:extLst>
              <a:ext uri="{FF2B5EF4-FFF2-40B4-BE49-F238E27FC236}">
                <a16:creationId xmlns:a16="http://schemas.microsoft.com/office/drawing/2014/main" id="{49B0D125-8588-0F68-B1D2-DE106C426434}"/>
              </a:ext>
            </a:extLst>
          </p:cNvPr>
          <p:cNvSpPr/>
          <p:nvPr/>
        </p:nvSpPr>
        <p:spPr>
          <a:xfrm>
            <a:off x="457200" y="331012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39" name="Text 37">
            <a:extLst>
              <a:ext uri="{FF2B5EF4-FFF2-40B4-BE49-F238E27FC236}">
                <a16:creationId xmlns:a16="http://schemas.microsoft.com/office/drawing/2014/main" id="{60A369CF-8DAC-D5B5-E0F8-04911B02705C}"/>
              </a:ext>
            </a:extLst>
          </p:cNvPr>
          <p:cNvSpPr/>
          <p:nvPr/>
        </p:nvSpPr>
        <p:spPr>
          <a:xfrm>
            <a:off x="530352" y="3328416"/>
            <a:ext cx="320040" cy="137160"/>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#27</a:t>
            </a:r>
            <a:endParaRPr lang="en-US" sz="800">
              <a:latin typeface="IBM Plex Sans" panose="020B0503050203000203" pitchFamily="34" charset="0"/>
            </a:endParaRPr>
          </a:p>
        </p:txBody>
      </p:sp>
      <p:sp>
        <p:nvSpPr>
          <p:cNvPr id="42" name="Text 40">
            <a:extLst>
              <a:ext uri="{FF2B5EF4-FFF2-40B4-BE49-F238E27FC236}">
                <a16:creationId xmlns:a16="http://schemas.microsoft.com/office/drawing/2014/main" id="{511AA224-B200-A637-8C30-E7DBB1923294}"/>
              </a:ext>
            </a:extLst>
          </p:cNvPr>
          <p:cNvSpPr/>
          <p:nvPr/>
        </p:nvSpPr>
        <p:spPr>
          <a:xfrm>
            <a:off x="530352" y="346557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Data Anomaly &amp; DQ (CDO)</a:t>
            </a:r>
            <a:endParaRPr lang="en-US" sz="800">
              <a:latin typeface="IBM Plex Sans" panose="020B0503050203000203" pitchFamily="34" charset="0"/>
            </a:endParaRPr>
          </a:p>
        </p:txBody>
      </p:sp>
      <p:sp>
        <p:nvSpPr>
          <p:cNvPr id="43" name="Shape 41">
            <a:extLst>
              <a:ext uri="{FF2B5EF4-FFF2-40B4-BE49-F238E27FC236}">
                <a16:creationId xmlns:a16="http://schemas.microsoft.com/office/drawing/2014/main" id="{A505C2AF-5E9C-E273-CFC5-DFDCD6E65F1C}"/>
              </a:ext>
            </a:extLst>
          </p:cNvPr>
          <p:cNvSpPr/>
          <p:nvPr/>
        </p:nvSpPr>
        <p:spPr>
          <a:xfrm>
            <a:off x="2587752" y="1115568"/>
            <a:ext cx="1965960" cy="457200"/>
          </a:xfrm>
          <a:prstGeom prst="rect">
            <a:avLst/>
          </a:prstGeom>
          <a:solidFill>
            <a:srgbClr val="8A3FFC"/>
          </a:solidFill>
          <a:ln/>
        </p:spPr>
        <p:txBody>
          <a:bodyPr/>
          <a:lstStyle/>
          <a:p>
            <a:endParaRPr lang="en-US">
              <a:latin typeface="IBM Plex Sans" panose="020B0503050203000203" pitchFamily="34" charset="0"/>
            </a:endParaRPr>
          </a:p>
        </p:txBody>
      </p:sp>
      <p:sp>
        <p:nvSpPr>
          <p:cNvPr id="44" name="Text 42">
            <a:extLst>
              <a:ext uri="{FF2B5EF4-FFF2-40B4-BE49-F238E27FC236}">
                <a16:creationId xmlns:a16="http://schemas.microsoft.com/office/drawing/2014/main" id="{292BF7D9-164D-E840-92FF-AA9D21A7FD3B}"/>
              </a:ext>
            </a:extLst>
          </p:cNvPr>
          <p:cNvSpPr/>
          <p:nvPr/>
        </p:nvSpPr>
        <p:spPr>
          <a:xfrm>
            <a:off x="2587752" y="1115568"/>
            <a:ext cx="1965960" cy="457200"/>
          </a:xfrm>
          <a:prstGeom prst="rect">
            <a:avLst/>
          </a:prstGeom>
          <a:noFill/>
          <a:ln/>
        </p:spPr>
        <p:txBody>
          <a:bodyPr wrap="square" lIns="0" tIns="0" rIns="0" bIns="0" rtlCol="0" anchor="ctr"/>
          <a:lstStyle/>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Insights</a:t>
            </a:r>
            <a:endParaRPr lang="en-US" sz="1100">
              <a:latin typeface="IBM Plex Sans" panose="020B0503050203000203" pitchFamily="34" charset="0"/>
            </a:endParaRPr>
          </a:p>
        </p:txBody>
      </p:sp>
      <p:sp>
        <p:nvSpPr>
          <p:cNvPr id="45" name="Shape 43">
            <a:extLst>
              <a:ext uri="{FF2B5EF4-FFF2-40B4-BE49-F238E27FC236}">
                <a16:creationId xmlns:a16="http://schemas.microsoft.com/office/drawing/2014/main" id="{CA06872F-EDA7-CCEF-D8B1-EC8D21A10767}"/>
              </a:ext>
            </a:extLst>
          </p:cNvPr>
          <p:cNvSpPr/>
          <p:nvPr/>
        </p:nvSpPr>
        <p:spPr>
          <a:xfrm>
            <a:off x="2587752" y="166420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46" name="Shape 44">
            <a:extLst>
              <a:ext uri="{FF2B5EF4-FFF2-40B4-BE49-F238E27FC236}">
                <a16:creationId xmlns:a16="http://schemas.microsoft.com/office/drawing/2014/main" id="{C4F31E53-F99F-5DF1-276A-E26B6B355450}"/>
              </a:ext>
            </a:extLst>
          </p:cNvPr>
          <p:cNvSpPr/>
          <p:nvPr/>
        </p:nvSpPr>
        <p:spPr>
          <a:xfrm>
            <a:off x="2587752" y="166420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47" name="Text 45">
            <a:extLst>
              <a:ext uri="{FF2B5EF4-FFF2-40B4-BE49-F238E27FC236}">
                <a16:creationId xmlns:a16="http://schemas.microsoft.com/office/drawing/2014/main" id="{38194C41-ED21-39B0-0C49-914A3A8D0D5A}"/>
              </a:ext>
            </a:extLst>
          </p:cNvPr>
          <p:cNvSpPr/>
          <p:nvPr/>
        </p:nvSpPr>
        <p:spPr>
          <a:xfrm>
            <a:off x="2660904" y="168249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#10</a:t>
            </a:r>
            <a:endParaRPr lang="en-US" sz="800">
              <a:latin typeface="IBM Plex Sans" panose="020B0503050203000203" pitchFamily="34" charset="0"/>
            </a:endParaRPr>
          </a:p>
        </p:txBody>
      </p:sp>
      <p:sp>
        <p:nvSpPr>
          <p:cNvPr id="48" name="Shape 46">
            <a:extLst>
              <a:ext uri="{FF2B5EF4-FFF2-40B4-BE49-F238E27FC236}">
                <a16:creationId xmlns:a16="http://schemas.microsoft.com/office/drawing/2014/main" id="{789E6CAF-B4B2-B460-4559-9400963EB245}"/>
              </a:ext>
            </a:extLst>
          </p:cNvPr>
          <p:cNvSpPr/>
          <p:nvPr/>
        </p:nvSpPr>
        <p:spPr>
          <a:xfrm>
            <a:off x="4206240" y="168249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49" name="Text 47">
            <a:extLst>
              <a:ext uri="{FF2B5EF4-FFF2-40B4-BE49-F238E27FC236}">
                <a16:creationId xmlns:a16="http://schemas.microsoft.com/office/drawing/2014/main" id="{C7E6095E-6C1F-C903-1FA2-C84EAFA355CE}"/>
              </a:ext>
            </a:extLst>
          </p:cNvPr>
          <p:cNvSpPr/>
          <p:nvPr/>
        </p:nvSpPr>
        <p:spPr>
          <a:xfrm>
            <a:off x="4206240" y="16824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50" name="Text 48">
            <a:extLst>
              <a:ext uri="{FF2B5EF4-FFF2-40B4-BE49-F238E27FC236}">
                <a16:creationId xmlns:a16="http://schemas.microsoft.com/office/drawing/2014/main" id="{65E3C4AD-1DE8-75E4-FEFD-7BE5AD86503E}"/>
              </a:ext>
            </a:extLst>
          </p:cNvPr>
          <p:cNvSpPr/>
          <p:nvPr/>
        </p:nvSpPr>
        <p:spPr>
          <a:xfrm>
            <a:off x="2660904" y="18196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Client Engagement Playbook</a:t>
            </a:r>
            <a:endParaRPr lang="en-US" sz="800">
              <a:latin typeface="IBM Plex Sans" panose="020B0503050203000203" pitchFamily="34" charset="0"/>
            </a:endParaRPr>
          </a:p>
        </p:txBody>
      </p:sp>
      <p:sp>
        <p:nvSpPr>
          <p:cNvPr id="51" name="Shape 49">
            <a:extLst>
              <a:ext uri="{FF2B5EF4-FFF2-40B4-BE49-F238E27FC236}">
                <a16:creationId xmlns:a16="http://schemas.microsoft.com/office/drawing/2014/main" id="{95EC8EFE-0F63-32F8-C8F0-FA1BE9E68020}"/>
              </a:ext>
            </a:extLst>
          </p:cNvPr>
          <p:cNvSpPr/>
          <p:nvPr/>
        </p:nvSpPr>
        <p:spPr>
          <a:xfrm>
            <a:off x="2587752" y="207568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52" name="Shape 50">
            <a:extLst>
              <a:ext uri="{FF2B5EF4-FFF2-40B4-BE49-F238E27FC236}">
                <a16:creationId xmlns:a16="http://schemas.microsoft.com/office/drawing/2014/main" id="{708CE348-A61D-7B2E-C115-028C8A0A01FE}"/>
              </a:ext>
            </a:extLst>
          </p:cNvPr>
          <p:cNvSpPr/>
          <p:nvPr/>
        </p:nvSpPr>
        <p:spPr>
          <a:xfrm>
            <a:off x="2587752" y="207568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53" name="Text 51">
            <a:extLst>
              <a:ext uri="{FF2B5EF4-FFF2-40B4-BE49-F238E27FC236}">
                <a16:creationId xmlns:a16="http://schemas.microsoft.com/office/drawing/2014/main" id="{C8B2BF55-2006-B6FD-EAC0-F0542B828436}"/>
              </a:ext>
            </a:extLst>
          </p:cNvPr>
          <p:cNvSpPr/>
          <p:nvPr/>
        </p:nvSpPr>
        <p:spPr>
          <a:xfrm>
            <a:off x="2660904" y="209397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#16</a:t>
            </a:r>
            <a:endParaRPr lang="en-US" sz="800">
              <a:latin typeface="IBM Plex Sans" panose="020B0503050203000203" pitchFamily="34" charset="0"/>
            </a:endParaRPr>
          </a:p>
        </p:txBody>
      </p:sp>
      <p:sp>
        <p:nvSpPr>
          <p:cNvPr id="54" name="Shape 52">
            <a:extLst>
              <a:ext uri="{FF2B5EF4-FFF2-40B4-BE49-F238E27FC236}">
                <a16:creationId xmlns:a16="http://schemas.microsoft.com/office/drawing/2014/main" id="{153DACE4-614E-93A4-ED0C-F853804AA663}"/>
              </a:ext>
            </a:extLst>
          </p:cNvPr>
          <p:cNvSpPr/>
          <p:nvPr/>
        </p:nvSpPr>
        <p:spPr>
          <a:xfrm>
            <a:off x="4206240" y="209397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55" name="Text 53">
            <a:extLst>
              <a:ext uri="{FF2B5EF4-FFF2-40B4-BE49-F238E27FC236}">
                <a16:creationId xmlns:a16="http://schemas.microsoft.com/office/drawing/2014/main" id="{DFF02AC5-8C65-4CB8-F1C6-5477AD0911BB}"/>
              </a:ext>
            </a:extLst>
          </p:cNvPr>
          <p:cNvSpPr/>
          <p:nvPr/>
        </p:nvSpPr>
        <p:spPr>
          <a:xfrm>
            <a:off x="4206240" y="209397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56" name="Text 54">
            <a:extLst>
              <a:ext uri="{FF2B5EF4-FFF2-40B4-BE49-F238E27FC236}">
                <a16:creationId xmlns:a16="http://schemas.microsoft.com/office/drawing/2014/main" id="{37339F27-8CAB-BB41-4208-ED59BF20519A}"/>
              </a:ext>
            </a:extLst>
          </p:cNvPr>
          <p:cNvSpPr/>
          <p:nvPr/>
        </p:nvSpPr>
        <p:spPr>
          <a:xfrm>
            <a:off x="2660904" y="22311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Demand Intelligence &amp; Planning</a:t>
            </a:r>
            <a:endParaRPr lang="en-US" sz="800">
              <a:latin typeface="IBM Plex Sans" panose="020B0503050203000203" pitchFamily="34" charset="0"/>
            </a:endParaRPr>
          </a:p>
        </p:txBody>
      </p:sp>
      <p:sp>
        <p:nvSpPr>
          <p:cNvPr id="57" name="Shape 55">
            <a:extLst>
              <a:ext uri="{FF2B5EF4-FFF2-40B4-BE49-F238E27FC236}">
                <a16:creationId xmlns:a16="http://schemas.microsoft.com/office/drawing/2014/main" id="{7F105F7C-AC57-B4D9-9B1E-E0B362669273}"/>
              </a:ext>
            </a:extLst>
          </p:cNvPr>
          <p:cNvSpPr/>
          <p:nvPr/>
        </p:nvSpPr>
        <p:spPr>
          <a:xfrm>
            <a:off x="2587752" y="248716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58" name="Shape 56">
            <a:extLst>
              <a:ext uri="{FF2B5EF4-FFF2-40B4-BE49-F238E27FC236}">
                <a16:creationId xmlns:a16="http://schemas.microsoft.com/office/drawing/2014/main" id="{2FC8C5A1-BD01-CD08-A3A3-F29650E78F2E}"/>
              </a:ext>
            </a:extLst>
          </p:cNvPr>
          <p:cNvSpPr/>
          <p:nvPr/>
        </p:nvSpPr>
        <p:spPr>
          <a:xfrm>
            <a:off x="2587752" y="248716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59" name="Text 57">
            <a:extLst>
              <a:ext uri="{FF2B5EF4-FFF2-40B4-BE49-F238E27FC236}">
                <a16:creationId xmlns:a16="http://schemas.microsoft.com/office/drawing/2014/main" id="{4EEA2CD8-1D53-8FF0-6309-50CF6E5FCA03}"/>
              </a:ext>
            </a:extLst>
          </p:cNvPr>
          <p:cNvSpPr/>
          <p:nvPr/>
        </p:nvSpPr>
        <p:spPr>
          <a:xfrm>
            <a:off x="2660904" y="250545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#12</a:t>
            </a:r>
            <a:endParaRPr lang="en-US" sz="800">
              <a:latin typeface="IBM Plex Sans" panose="020B0503050203000203" pitchFamily="34" charset="0"/>
            </a:endParaRPr>
          </a:p>
        </p:txBody>
      </p:sp>
      <p:sp>
        <p:nvSpPr>
          <p:cNvPr id="61" name="Text 59">
            <a:extLst>
              <a:ext uri="{FF2B5EF4-FFF2-40B4-BE49-F238E27FC236}">
                <a16:creationId xmlns:a16="http://schemas.microsoft.com/office/drawing/2014/main" id="{0CD5178E-DF32-2A57-3033-6F5BD3FBF5E1}"/>
              </a:ext>
            </a:extLst>
          </p:cNvPr>
          <p:cNvSpPr/>
          <p:nvPr/>
        </p:nvSpPr>
        <p:spPr>
          <a:xfrm>
            <a:off x="4206240" y="250545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W4</a:t>
            </a:r>
            <a:endParaRPr lang="en-US" sz="700">
              <a:latin typeface="IBM Plex Sans" panose="020B0503050203000203" pitchFamily="34" charset="0"/>
            </a:endParaRPr>
          </a:p>
        </p:txBody>
      </p:sp>
      <p:sp>
        <p:nvSpPr>
          <p:cNvPr id="62" name="Text 60">
            <a:extLst>
              <a:ext uri="{FF2B5EF4-FFF2-40B4-BE49-F238E27FC236}">
                <a16:creationId xmlns:a16="http://schemas.microsoft.com/office/drawing/2014/main" id="{B7C69179-8FF4-C0C4-E0C5-F122B98EB578}"/>
              </a:ext>
            </a:extLst>
          </p:cNvPr>
          <p:cNvSpPr/>
          <p:nvPr/>
        </p:nvSpPr>
        <p:spPr>
          <a:xfrm>
            <a:off x="2660904" y="264261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End-to-End Gap ID, RCA &amp; NBA</a:t>
            </a:r>
            <a:endParaRPr lang="en-US" sz="800">
              <a:latin typeface="IBM Plex Sans" panose="020B0503050203000203" pitchFamily="34" charset="0"/>
            </a:endParaRPr>
          </a:p>
        </p:txBody>
      </p:sp>
      <p:sp>
        <p:nvSpPr>
          <p:cNvPr id="63" name="Shape 61">
            <a:extLst>
              <a:ext uri="{FF2B5EF4-FFF2-40B4-BE49-F238E27FC236}">
                <a16:creationId xmlns:a16="http://schemas.microsoft.com/office/drawing/2014/main" id="{8ED8DCF9-95C0-8A82-AA1E-B4B081C333D3}"/>
              </a:ext>
            </a:extLst>
          </p:cNvPr>
          <p:cNvSpPr/>
          <p:nvPr/>
        </p:nvSpPr>
        <p:spPr>
          <a:xfrm>
            <a:off x="2587752" y="289864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64" name="Shape 62">
            <a:extLst>
              <a:ext uri="{FF2B5EF4-FFF2-40B4-BE49-F238E27FC236}">
                <a16:creationId xmlns:a16="http://schemas.microsoft.com/office/drawing/2014/main" id="{825093E5-6175-77C2-9FC5-DF48776467F5}"/>
              </a:ext>
            </a:extLst>
          </p:cNvPr>
          <p:cNvSpPr/>
          <p:nvPr/>
        </p:nvSpPr>
        <p:spPr>
          <a:xfrm>
            <a:off x="2587752" y="289864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65" name="Text 63">
            <a:extLst>
              <a:ext uri="{FF2B5EF4-FFF2-40B4-BE49-F238E27FC236}">
                <a16:creationId xmlns:a16="http://schemas.microsoft.com/office/drawing/2014/main" id="{736B508D-5A51-EE85-0600-6F8743908936}"/>
              </a:ext>
            </a:extLst>
          </p:cNvPr>
          <p:cNvSpPr/>
          <p:nvPr/>
        </p:nvSpPr>
        <p:spPr>
          <a:xfrm>
            <a:off x="2660904" y="291693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#15</a:t>
            </a:r>
            <a:endParaRPr lang="en-US" sz="800">
              <a:latin typeface="IBM Plex Sans" panose="020B0503050203000203" pitchFamily="34" charset="0"/>
            </a:endParaRPr>
          </a:p>
        </p:txBody>
      </p:sp>
      <p:sp>
        <p:nvSpPr>
          <p:cNvPr id="68" name="Text 66">
            <a:extLst>
              <a:ext uri="{FF2B5EF4-FFF2-40B4-BE49-F238E27FC236}">
                <a16:creationId xmlns:a16="http://schemas.microsoft.com/office/drawing/2014/main" id="{D95F3390-1379-0C39-AF39-771A3DB30AB3}"/>
              </a:ext>
            </a:extLst>
          </p:cNvPr>
          <p:cNvSpPr/>
          <p:nvPr/>
        </p:nvSpPr>
        <p:spPr>
          <a:xfrm>
            <a:off x="2660904" y="305409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AdHoc Reporting &amp; Data Interrog</a:t>
            </a:r>
            <a:endParaRPr lang="en-US" sz="800">
              <a:latin typeface="IBM Plex Sans" panose="020B0503050203000203" pitchFamily="34" charset="0"/>
            </a:endParaRPr>
          </a:p>
        </p:txBody>
      </p:sp>
      <p:sp>
        <p:nvSpPr>
          <p:cNvPr id="69" name="Shape 67">
            <a:extLst>
              <a:ext uri="{FF2B5EF4-FFF2-40B4-BE49-F238E27FC236}">
                <a16:creationId xmlns:a16="http://schemas.microsoft.com/office/drawing/2014/main" id="{C2652449-8F31-0BB1-154A-CF78C6E11332}"/>
              </a:ext>
            </a:extLst>
          </p:cNvPr>
          <p:cNvSpPr/>
          <p:nvPr/>
        </p:nvSpPr>
        <p:spPr>
          <a:xfrm>
            <a:off x="2587752" y="331012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70" name="Shape 68">
            <a:extLst>
              <a:ext uri="{FF2B5EF4-FFF2-40B4-BE49-F238E27FC236}">
                <a16:creationId xmlns:a16="http://schemas.microsoft.com/office/drawing/2014/main" id="{25F726C8-7E2D-E023-F0A3-08B15354A320}"/>
              </a:ext>
            </a:extLst>
          </p:cNvPr>
          <p:cNvSpPr/>
          <p:nvPr/>
        </p:nvSpPr>
        <p:spPr>
          <a:xfrm>
            <a:off x="2587752" y="331012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71" name="Text 69">
            <a:extLst>
              <a:ext uri="{FF2B5EF4-FFF2-40B4-BE49-F238E27FC236}">
                <a16:creationId xmlns:a16="http://schemas.microsoft.com/office/drawing/2014/main" id="{1DA9FFA6-3D2C-271D-4D10-A13912FA7120}"/>
              </a:ext>
            </a:extLst>
          </p:cNvPr>
          <p:cNvSpPr/>
          <p:nvPr/>
        </p:nvSpPr>
        <p:spPr>
          <a:xfrm>
            <a:off x="2660904" y="332841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#17</a:t>
            </a:r>
            <a:endParaRPr lang="en-US" sz="800">
              <a:latin typeface="IBM Plex Sans" panose="020B0503050203000203" pitchFamily="34" charset="0"/>
            </a:endParaRPr>
          </a:p>
        </p:txBody>
      </p:sp>
      <p:sp>
        <p:nvSpPr>
          <p:cNvPr id="73" name="Text 71">
            <a:extLst>
              <a:ext uri="{FF2B5EF4-FFF2-40B4-BE49-F238E27FC236}">
                <a16:creationId xmlns:a16="http://schemas.microsoft.com/office/drawing/2014/main" id="{B47BBBF3-0B72-A5A4-B72D-AF34E6CEC4D5}"/>
              </a:ext>
            </a:extLst>
          </p:cNvPr>
          <p:cNvSpPr/>
          <p:nvPr/>
        </p:nvSpPr>
        <p:spPr>
          <a:xfrm>
            <a:off x="4206240" y="332841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W5</a:t>
            </a:r>
            <a:endParaRPr lang="en-US" sz="700">
              <a:latin typeface="IBM Plex Sans" panose="020B0503050203000203" pitchFamily="34" charset="0"/>
            </a:endParaRPr>
          </a:p>
        </p:txBody>
      </p:sp>
      <p:sp>
        <p:nvSpPr>
          <p:cNvPr id="74" name="Text 72">
            <a:extLst>
              <a:ext uri="{FF2B5EF4-FFF2-40B4-BE49-F238E27FC236}">
                <a16:creationId xmlns:a16="http://schemas.microsoft.com/office/drawing/2014/main" id="{1081C68A-44CD-6802-E6E1-FB5A173DB3A6}"/>
              </a:ext>
            </a:extLst>
          </p:cNvPr>
          <p:cNvSpPr/>
          <p:nvPr/>
        </p:nvSpPr>
        <p:spPr>
          <a:xfrm>
            <a:off x="2660904" y="346557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Partner Performance Intel</a:t>
            </a:r>
            <a:endParaRPr lang="en-US" sz="800">
              <a:latin typeface="IBM Plex Sans" panose="020B0503050203000203" pitchFamily="34" charset="0"/>
            </a:endParaRPr>
          </a:p>
        </p:txBody>
      </p:sp>
      <p:sp>
        <p:nvSpPr>
          <p:cNvPr id="75" name="Shape 73">
            <a:extLst>
              <a:ext uri="{FF2B5EF4-FFF2-40B4-BE49-F238E27FC236}">
                <a16:creationId xmlns:a16="http://schemas.microsoft.com/office/drawing/2014/main" id="{C18F03B9-F19A-AB00-4A42-DA8BC2427C9C}"/>
              </a:ext>
            </a:extLst>
          </p:cNvPr>
          <p:cNvSpPr/>
          <p:nvPr/>
        </p:nvSpPr>
        <p:spPr>
          <a:xfrm>
            <a:off x="2587752" y="372160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76" name="Shape 74">
            <a:extLst>
              <a:ext uri="{FF2B5EF4-FFF2-40B4-BE49-F238E27FC236}">
                <a16:creationId xmlns:a16="http://schemas.microsoft.com/office/drawing/2014/main" id="{55E0ADB3-B61C-5A9D-EFEF-C7981A64E4F5}"/>
              </a:ext>
            </a:extLst>
          </p:cNvPr>
          <p:cNvSpPr/>
          <p:nvPr/>
        </p:nvSpPr>
        <p:spPr>
          <a:xfrm>
            <a:off x="2587752" y="372160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77" name="Text 75">
            <a:extLst>
              <a:ext uri="{FF2B5EF4-FFF2-40B4-BE49-F238E27FC236}">
                <a16:creationId xmlns:a16="http://schemas.microsoft.com/office/drawing/2014/main" id="{A47CFD6B-A87D-E884-74C7-FCE53630448C}"/>
              </a:ext>
            </a:extLst>
          </p:cNvPr>
          <p:cNvSpPr/>
          <p:nvPr/>
        </p:nvSpPr>
        <p:spPr>
          <a:xfrm>
            <a:off x="2660904" y="373989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#18</a:t>
            </a:r>
            <a:endParaRPr lang="en-US" sz="800">
              <a:latin typeface="IBM Plex Sans" panose="020B0503050203000203" pitchFamily="34" charset="0"/>
            </a:endParaRPr>
          </a:p>
        </p:txBody>
      </p:sp>
      <p:sp>
        <p:nvSpPr>
          <p:cNvPr id="80" name="Text 78">
            <a:extLst>
              <a:ext uri="{FF2B5EF4-FFF2-40B4-BE49-F238E27FC236}">
                <a16:creationId xmlns:a16="http://schemas.microsoft.com/office/drawing/2014/main" id="{5D97F95C-FFFF-D979-F80D-1A27CC4DA035}"/>
              </a:ext>
            </a:extLst>
          </p:cNvPr>
          <p:cNvSpPr/>
          <p:nvPr/>
        </p:nvSpPr>
        <p:spPr>
          <a:xfrm>
            <a:off x="2660904" y="38770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Client Engagement Insights</a:t>
            </a:r>
            <a:endParaRPr lang="en-US" sz="800">
              <a:latin typeface="IBM Plex Sans" panose="020B0503050203000203" pitchFamily="34" charset="0"/>
            </a:endParaRPr>
          </a:p>
        </p:txBody>
      </p:sp>
      <p:sp>
        <p:nvSpPr>
          <p:cNvPr id="81" name="Shape 79">
            <a:extLst>
              <a:ext uri="{FF2B5EF4-FFF2-40B4-BE49-F238E27FC236}">
                <a16:creationId xmlns:a16="http://schemas.microsoft.com/office/drawing/2014/main" id="{7352F486-F6A3-5DFE-96DD-247FD51F8119}"/>
              </a:ext>
            </a:extLst>
          </p:cNvPr>
          <p:cNvSpPr/>
          <p:nvPr/>
        </p:nvSpPr>
        <p:spPr>
          <a:xfrm>
            <a:off x="2587752" y="413308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82" name="Shape 80">
            <a:extLst>
              <a:ext uri="{FF2B5EF4-FFF2-40B4-BE49-F238E27FC236}">
                <a16:creationId xmlns:a16="http://schemas.microsoft.com/office/drawing/2014/main" id="{3822C5EB-F5AC-A6FE-6102-DF342F1DB21F}"/>
              </a:ext>
            </a:extLst>
          </p:cNvPr>
          <p:cNvSpPr/>
          <p:nvPr/>
        </p:nvSpPr>
        <p:spPr>
          <a:xfrm>
            <a:off x="2587752" y="413308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83" name="Text 81">
            <a:extLst>
              <a:ext uri="{FF2B5EF4-FFF2-40B4-BE49-F238E27FC236}">
                <a16:creationId xmlns:a16="http://schemas.microsoft.com/office/drawing/2014/main" id="{F72313FD-0D77-03F3-81DE-C49476EF08D7}"/>
              </a:ext>
            </a:extLst>
          </p:cNvPr>
          <p:cNvSpPr/>
          <p:nvPr/>
        </p:nvSpPr>
        <p:spPr>
          <a:xfrm>
            <a:off x="2660904" y="4151376"/>
            <a:ext cx="320040" cy="137160"/>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#25</a:t>
            </a:r>
            <a:endParaRPr lang="en-US" sz="800">
              <a:latin typeface="IBM Plex Sans" panose="020B0503050203000203" pitchFamily="34" charset="0"/>
            </a:endParaRPr>
          </a:p>
        </p:txBody>
      </p:sp>
      <p:sp>
        <p:nvSpPr>
          <p:cNvPr id="86" name="Text 84">
            <a:extLst>
              <a:ext uri="{FF2B5EF4-FFF2-40B4-BE49-F238E27FC236}">
                <a16:creationId xmlns:a16="http://schemas.microsoft.com/office/drawing/2014/main" id="{07EDF531-D85E-3462-06B7-5ADD951CFA33}"/>
              </a:ext>
            </a:extLst>
          </p:cNvPr>
          <p:cNvSpPr/>
          <p:nvPr/>
        </p:nvSpPr>
        <p:spPr>
          <a:xfrm>
            <a:off x="2660904" y="42885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Growth Cohort &amp; Buying-Group</a:t>
            </a:r>
            <a:endParaRPr lang="en-US" sz="800">
              <a:latin typeface="IBM Plex Sans" panose="020B0503050203000203" pitchFamily="34" charset="0"/>
            </a:endParaRPr>
          </a:p>
        </p:txBody>
      </p:sp>
      <p:sp>
        <p:nvSpPr>
          <p:cNvPr id="87" name="Shape 85">
            <a:extLst>
              <a:ext uri="{FF2B5EF4-FFF2-40B4-BE49-F238E27FC236}">
                <a16:creationId xmlns:a16="http://schemas.microsoft.com/office/drawing/2014/main" id="{CC6C6397-AFFD-7650-A813-E788ACD43A97}"/>
              </a:ext>
            </a:extLst>
          </p:cNvPr>
          <p:cNvSpPr/>
          <p:nvPr/>
        </p:nvSpPr>
        <p:spPr>
          <a:xfrm>
            <a:off x="4718304" y="1115568"/>
            <a:ext cx="1965960" cy="457200"/>
          </a:xfrm>
          <a:prstGeom prst="rect">
            <a:avLst/>
          </a:prstGeom>
          <a:solidFill>
            <a:srgbClr val="D02670"/>
          </a:solidFill>
          <a:ln/>
        </p:spPr>
        <p:txBody>
          <a:bodyPr/>
          <a:lstStyle/>
          <a:p>
            <a:endParaRPr lang="en-US">
              <a:latin typeface="IBM Plex Sans" panose="020B0503050203000203" pitchFamily="34" charset="0"/>
            </a:endParaRPr>
          </a:p>
        </p:txBody>
      </p:sp>
      <p:sp>
        <p:nvSpPr>
          <p:cNvPr id="88" name="Text 86">
            <a:extLst>
              <a:ext uri="{FF2B5EF4-FFF2-40B4-BE49-F238E27FC236}">
                <a16:creationId xmlns:a16="http://schemas.microsoft.com/office/drawing/2014/main" id="{450FFB67-1A84-4655-6A94-A5FC98B9BFEE}"/>
              </a:ext>
            </a:extLst>
          </p:cNvPr>
          <p:cNvSpPr/>
          <p:nvPr/>
        </p:nvSpPr>
        <p:spPr>
          <a:xfrm>
            <a:off x="4718304" y="1115568"/>
            <a:ext cx="1965960" cy="457200"/>
          </a:xfrm>
          <a:prstGeom prst="rect">
            <a:avLst/>
          </a:prstGeom>
          <a:noFill/>
          <a:ln/>
        </p:spPr>
        <p:txBody>
          <a:bodyPr wrap="square" lIns="0" tIns="0" rIns="0" bIns="0" rtlCol="0" anchor="ctr"/>
          <a:lstStyle/>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Content</a:t>
            </a:r>
            <a:endParaRPr lang="en-US" sz="1100">
              <a:latin typeface="IBM Plex Sans" panose="020B0503050203000203" pitchFamily="34" charset="0"/>
            </a:endParaRPr>
          </a:p>
        </p:txBody>
      </p:sp>
      <p:sp>
        <p:nvSpPr>
          <p:cNvPr id="89" name="Shape 87">
            <a:extLst>
              <a:ext uri="{FF2B5EF4-FFF2-40B4-BE49-F238E27FC236}">
                <a16:creationId xmlns:a16="http://schemas.microsoft.com/office/drawing/2014/main" id="{E88B48F7-9C41-1B97-E3D0-444839E72DEA}"/>
              </a:ext>
            </a:extLst>
          </p:cNvPr>
          <p:cNvSpPr/>
          <p:nvPr/>
        </p:nvSpPr>
        <p:spPr>
          <a:xfrm>
            <a:off x="4718304" y="166420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90" name="Shape 88">
            <a:extLst>
              <a:ext uri="{FF2B5EF4-FFF2-40B4-BE49-F238E27FC236}">
                <a16:creationId xmlns:a16="http://schemas.microsoft.com/office/drawing/2014/main" id="{E9C1F5BC-0B28-C573-492D-45883A311BEE}"/>
              </a:ext>
            </a:extLst>
          </p:cNvPr>
          <p:cNvSpPr/>
          <p:nvPr/>
        </p:nvSpPr>
        <p:spPr>
          <a:xfrm>
            <a:off x="4718304" y="166420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91" name="Text 89">
            <a:extLst>
              <a:ext uri="{FF2B5EF4-FFF2-40B4-BE49-F238E27FC236}">
                <a16:creationId xmlns:a16="http://schemas.microsoft.com/office/drawing/2014/main" id="{C1521344-17D9-6CC6-EAFD-9751F2FFBC53}"/>
              </a:ext>
            </a:extLst>
          </p:cNvPr>
          <p:cNvSpPr/>
          <p:nvPr/>
        </p:nvSpPr>
        <p:spPr>
          <a:xfrm>
            <a:off x="4791456" y="168249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#9</a:t>
            </a:r>
            <a:endParaRPr lang="en-US" sz="800">
              <a:latin typeface="IBM Plex Sans" panose="020B0503050203000203" pitchFamily="34" charset="0"/>
            </a:endParaRPr>
          </a:p>
        </p:txBody>
      </p:sp>
      <p:sp>
        <p:nvSpPr>
          <p:cNvPr id="92" name="Shape 90">
            <a:extLst>
              <a:ext uri="{FF2B5EF4-FFF2-40B4-BE49-F238E27FC236}">
                <a16:creationId xmlns:a16="http://schemas.microsoft.com/office/drawing/2014/main" id="{B80213BD-6C80-67F3-680C-936975B34F1F}"/>
              </a:ext>
            </a:extLst>
          </p:cNvPr>
          <p:cNvSpPr/>
          <p:nvPr/>
        </p:nvSpPr>
        <p:spPr>
          <a:xfrm>
            <a:off x="6336792" y="168249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93" name="Text 91">
            <a:extLst>
              <a:ext uri="{FF2B5EF4-FFF2-40B4-BE49-F238E27FC236}">
                <a16:creationId xmlns:a16="http://schemas.microsoft.com/office/drawing/2014/main" id="{A99B19DD-C810-B729-CA0A-D95428885257}"/>
              </a:ext>
            </a:extLst>
          </p:cNvPr>
          <p:cNvSpPr/>
          <p:nvPr/>
        </p:nvSpPr>
        <p:spPr>
          <a:xfrm>
            <a:off x="6336792" y="16824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94" name="Text 92">
            <a:extLst>
              <a:ext uri="{FF2B5EF4-FFF2-40B4-BE49-F238E27FC236}">
                <a16:creationId xmlns:a16="http://schemas.microsoft.com/office/drawing/2014/main" id="{6D9D5760-F245-CC2F-2BA7-1A76815D3BEF}"/>
              </a:ext>
            </a:extLst>
          </p:cNvPr>
          <p:cNvSpPr/>
          <p:nvPr/>
        </p:nvSpPr>
        <p:spPr>
          <a:xfrm>
            <a:off x="4791456" y="18196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GenStudio Content &amp; Creative</a:t>
            </a:r>
            <a:endParaRPr lang="en-US" sz="800">
              <a:latin typeface="IBM Plex Sans" panose="020B0503050203000203" pitchFamily="34" charset="0"/>
            </a:endParaRPr>
          </a:p>
        </p:txBody>
      </p:sp>
      <p:sp>
        <p:nvSpPr>
          <p:cNvPr id="95" name="Shape 93">
            <a:extLst>
              <a:ext uri="{FF2B5EF4-FFF2-40B4-BE49-F238E27FC236}">
                <a16:creationId xmlns:a16="http://schemas.microsoft.com/office/drawing/2014/main" id="{B1CC291E-BBE8-98DD-F35B-53D9ED8089D1}"/>
              </a:ext>
            </a:extLst>
          </p:cNvPr>
          <p:cNvSpPr/>
          <p:nvPr/>
        </p:nvSpPr>
        <p:spPr>
          <a:xfrm>
            <a:off x="4718304" y="207568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96" name="Shape 94">
            <a:extLst>
              <a:ext uri="{FF2B5EF4-FFF2-40B4-BE49-F238E27FC236}">
                <a16:creationId xmlns:a16="http://schemas.microsoft.com/office/drawing/2014/main" id="{C4204049-7BE6-B4C0-EF24-57F258B7F949}"/>
              </a:ext>
            </a:extLst>
          </p:cNvPr>
          <p:cNvSpPr/>
          <p:nvPr/>
        </p:nvSpPr>
        <p:spPr>
          <a:xfrm>
            <a:off x="4718304" y="207568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97" name="Text 95">
            <a:extLst>
              <a:ext uri="{FF2B5EF4-FFF2-40B4-BE49-F238E27FC236}">
                <a16:creationId xmlns:a16="http://schemas.microsoft.com/office/drawing/2014/main" id="{FC4B3D70-7992-2FF9-4B7A-C6E363781223}"/>
              </a:ext>
            </a:extLst>
          </p:cNvPr>
          <p:cNvSpPr/>
          <p:nvPr/>
        </p:nvSpPr>
        <p:spPr>
          <a:xfrm>
            <a:off x="4791456" y="209397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#7</a:t>
            </a:r>
            <a:endParaRPr lang="en-US" sz="800">
              <a:latin typeface="IBM Plex Sans" panose="020B0503050203000203" pitchFamily="34" charset="0"/>
            </a:endParaRPr>
          </a:p>
        </p:txBody>
      </p:sp>
      <p:sp>
        <p:nvSpPr>
          <p:cNvPr id="98" name="Shape 96">
            <a:extLst>
              <a:ext uri="{FF2B5EF4-FFF2-40B4-BE49-F238E27FC236}">
                <a16:creationId xmlns:a16="http://schemas.microsoft.com/office/drawing/2014/main" id="{138FC67E-7017-9D72-8C48-DDC31E7D0FB0}"/>
              </a:ext>
            </a:extLst>
          </p:cNvPr>
          <p:cNvSpPr/>
          <p:nvPr/>
        </p:nvSpPr>
        <p:spPr>
          <a:xfrm>
            <a:off x="6336792" y="209397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99" name="Text 97">
            <a:extLst>
              <a:ext uri="{FF2B5EF4-FFF2-40B4-BE49-F238E27FC236}">
                <a16:creationId xmlns:a16="http://schemas.microsoft.com/office/drawing/2014/main" id="{90DFE597-B372-1AC1-12B9-42A5AC211C90}"/>
              </a:ext>
            </a:extLst>
          </p:cNvPr>
          <p:cNvSpPr/>
          <p:nvPr/>
        </p:nvSpPr>
        <p:spPr>
          <a:xfrm>
            <a:off x="6336792" y="209397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100" name="Text 98">
            <a:extLst>
              <a:ext uri="{FF2B5EF4-FFF2-40B4-BE49-F238E27FC236}">
                <a16:creationId xmlns:a16="http://schemas.microsoft.com/office/drawing/2014/main" id="{366FF9EB-A938-5183-A461-743EE8FE9049}"/>
              </a:ext>
            </a:extLst>
          </p:cNvPr>
          <p:cNvSpPr/>
          <p:nvPr/>
        </p:nvSpPr>
        <p:spPr>
          <a:xfrm>
            <a:off x="4791456" y="22311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Strategic Planning &amp; SoT</a:t>
            </a:r>
            <a:endParaRPr lang="en-US" sz="800">
              <a:latin typeface="IBM Plex Sans" panose="020B0503050203000203" pitchFamily="34" charset="0"/>
            </a:endParaRPr>
          </a:p>
        </p:txBody>
      </p:sp>
      <p:sp>
        <p:nvSpPr>
          <p:cNvPr id="101" name="Shape 99">
            <a:extLst>
              <a:ext uri="{FF2B5EF4-FFF2-40B4-BE49-F238E27FC236}">
                <a16:creationId xmlns:a16="http://schemas.microsoft.com/office/drawing/2014/main" id="{2CE4A00E-3B43-5DBF-8024-43B85B8B77BD}"/>
              </a:ext>
            </a:extLst>
          </p:cNvPr>
          <p:cNvSpPr/>
          <p:nvPr/>
        </p:nvSpPr>
        <p:spPr>
          <a:xfrm>
            <a:off x="4718304" y="248716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102" name="Shape 100">
            <a:extLst>
              <a:ext uri="{FF2B5EF4-FFF2-40B4-BE49-F238E27FC236}">
                <a16:creationId xmlns:a16="http://schemas.microsoft.com/office/drawing/2014/main" id="{4531CD41-4C68-E5CE-BB05-7075A1F3D5CB}"/>
              </a:ext>
            </a:extLst>
          </p:cNvPr>
          <p:cNvSpPr/>
          <p:nvPr/>
        </p:nvSpPr>
        <p:spPr>
          <a:xfrm>
            <a:off x="4718304" y="248716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103" name="Text 101">
            <a:extLst>
              <a:ext uri="{FF2B5EF4-FFF2-40B4-BE49-F238E27FC236}">
                <a16:creationId xmlns:a16="http://schemas.microsoft.com/office/drawing/2014/main" id="{7B462175-CE88-35BA-5F53-0EC174AA24E6}"/>
              </a:ext>
            </a:extLst>
          </p:cNvPr>
          <p:cNvSpPr/>
          <p:nvPr/>
        </p:nvSpPr>
        <p:spPr>
          <a:xfrm>
            <a:off x="4791456" y="250545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#3</a:t>
            </a:r>
            <a:endParaRPr lang="en-US" sz="800">
              <a:latin typeface="IBM Plex Sans" panose="020B0503050203000203" pitchFamily="34" charset="0"/>
            </a:endParaRPr>
          </a:p>
        </p:txBody>
      </p:sp>
      <p:sp>
        <p:nvSpPr>
          <p:cNvPr id="104" name="Shape 102">
            <a:extLst>
              <a:ext uri="{FF2B5EF4-FFF2-40B4-BE49-F238E27FC236}">
                <a16:creationId xmlns:a16="http://schemas.microsoft.com/office/drawing/2014/main" id="{C6DB6B5B-E3CE-EC92-3923-6A3EBF2CAA7F}"/>
              </a:ext>
            </a:extLst>
          </p:cNvPr>
          <p:cNvSpPr/>
          <p:nvPr/>
        </p:nvSpPr>
        <p:spPr>
          <a:xfrm>
            <a:off x="6336792" y="250545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105" name="Text 103">
            <a:extLst>
              <a:ext uri="{FF2B5EF4-FFF2-40B4-BE49-F238E27FC236}">
                <a16:creationId xmlns:a16="http://schemas.microsoft.com/office/drawing/2014/main" id="{964784FF-CCCC-E284-212D-884580D9AAD1}"/>
              </a:ext>
            </a:extLst>
          </p:cNvPr>
          <p:cNvSpPr/>
          <p:nvPr/>
        </p:nvSpPr>
        <p:spPr>
          <a:xfrm>
            <a:off x="6336792" y="250545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106" name="Text 104">
            <a:extLst>
              <a:ext uri="{FF2B5EF4-FFF2-40B4-BE49-F238E27FC236}">
                <a16:creationId xmlns:a16="http://schemas.microsoft.com/office/drawing/2014/main" id="{5FC0C948-7CC2-D756-09D7-B29EAE0F12FD}"/>
              </a:ext>
            </a:extLst>
          </p:cNvPr>
          <p:cNvSpPr/>
          <p:nvPr/>
        </p:nvSpPr>
        <p:spPr>
          <a:xfrm>
            <a:off x="4791456" y="264261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Ad Ops / Adobe POC Scaling</a:t>
            </a:r>
            <a:endParaRPr lang="en-US" sz="800">
              <a:latin typeface="IBM Plex Sans" panose="020B0503050203000203" pitchFamily="34" charset="0"/>
            </a:endParaRPr>
          </a:p>
        </p:txBody>
      </p:sp>
      <p:sp>
        <p:nvSpPr>
          <p:cNvPr id="107" name="Shape 105">
            <a:extLst>
              <a:ext uri="{FF2B5EF4-FFF2-40B4-BE49-F238E27FC236}">
                <a16:creationId xmlns:a16="http://schemas.microsoft.com/office/drawing/2014/main" id="{24D54AAB-AC74-34A7-3B6A-16565FE4AEA9}"/>
              </a:ext>
            </a:extLst>
          </p:cNvPr>
          <p:cNvSpPr/>
          <p:nvPr/>
        </p:nvSpPr>
        <p:spPr>
          <a:xfrm>
            <a:off x="4718304" y="289864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08" name="Shape 106">
            <a:extLst>
              <a:ext uri="{FF2B5EF4-FFF2-40B4-BE49-F238E27FC236}">
                <a16:creationId xmlns:a16="http://schemas.microsoft.com/office/drawing/2014/main" id="{6A190E76-E438-F728-C395-8D1BEB8AC7DB}"/>
              </a:ext>
            </a:extLst>
          </p:cNvPr>
          <p:cNvSpPr/>
          <p:nvPr/>
        </p:nvSpPr>
        <p:spPr>
          <a:xfrm>
            <a:off x="4718304" y="289864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109" name="Text 107">
            <a:extLst>
              <a:ext uri="{FF2B5EF4-FFF2-40B4-BE49-F238E27FC236}">
                <a16:creationId xmlns:a16="http://schemas.microsoft.com/office/drawing/2014/main" id="{2693EA50-38A2-90AD-75D2-50E7BC2799BB}"/>
              </a:ext>
            </a:extLst>
          </p:cNvPr>
          <p:cNvSpPr/>
          <p:nvPr/>
        </p:nvSpPr>
        <p:spPr>
          <a:xfrm>
            <a:off x="4791456" y="291693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#6</a:t>
            </a:r>
            <a:endParaRPr lang="en-US" sz="800">
              <a:latin typeface="IBM Plex Sans" panose="020B0503050203000203" pitchFamily="34" charset="0"/>
            </a:endParaRPr>
          </a:p>
        </p:txBody>
      </p:sp>
      <p:sp>
        <p:nvSpPr>
          <p:cNvPr id="112" name="Text 110">
            <a:extLst>
              <a:ext uri="{FF2B5EF4-FFF2-40B4-BE49-F238E27FC236}">
                <a16:creationId xmlns:a16="http://schemas.microsoft.com/office/drawing/2014/main" id="{0FFD0A98-8EA7-999B-6DEE-764A968704D3}"/>
              </a:ext>
            </a:extLst>
          </p:cNvPr>
          <p:cNvSpPr/>
          <p:nvPr/>
        </p:nvSpPr>
        <p:spPr>
          <a:xfrm>
            <a:off x="4791456" y="305409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Content Creation incl Localisation</a:t>
            </a:r>
            <a:endParaRPr lang="en-US" sz="800">
              <a:latin typeface="IBM Plex Sans" panose="020B0503050203000203" pitchFamily="34" charset="0"/>
            </a:endParaRPr>
          </a:p>
        </p:txBody>
      </p:sp>
      <p:sp>
        <p:nvSpPr>
          <p:cNvPr id="113" name="Shape 111">
            <a:extLst>
              <a:ext uri="{FF2B5EF4-FFF2-40B4-BE49-F238E27FC236}">
                <a16:creationId xmlns:a16="http://schemas.microsoft.com/office/drawing/2014/main" id="{FF5769D9-95CD-10DE-48DB-6700156617FC}"/>
              </a:ext>
            </a:extLst>
          </p:cNvPr>
          <p:cNvSpPr/>
          <p:nvPr/>
        </p:nvSpPr>
        <p:spPr>
          <a:xfrm>
            <a:off x="4718304" y="331012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14" name="Shape 112">
            <a:extLst>
              <a:ext uri="{FF2B5EF4-FFF2-40B4-BE49-F238E27FC236}">
                <a16:creationId xmlns:a16="http://schemas.microsoft.com/office/drawing/2014/main" id="{79A9A916-A530-6E23-CBF4-1DAFBEE4E917}"/>
              </a:ext>
            </a:extLst>
          </p:cNvPr>
          <p:cNvSpPr/>
          <p:nvPr/>
        </p:nvSpPr>
        <p:spPr>
          <a:xfrm>
            <a:off x="4718304" y="331012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115" name="Text 113">
            <a:extLst>
              <a:ext uri="{FF2B5EF4-FFF2-40B4-BE49-F238E27FC236}">
                <a16:creationId xmlns:a16="http://schemas.microsoft.com/office/drawing/2014/main" id="{34012ABF-897A-0901-0F50-3E4E0ECE84A3}"/>
              </a:ext>
            </a:extLst>
          </p:cNvPr>
          <p:cNvSpPr/>
          <p:nvPr/>
        </p:nvSpPr>
        <p:spPr>
          <a:xfrm>
            <a:off x="4791456" y="332841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#11</a:t>
            </a:r>
            <a:endParaRPr lang="en-US" sz="800">
              <a:latin typeface="IBM Plex Sans" panose="020B0503050203000203" pitchFamily="34" charset="0"/>
            </a:endParaRPr>
          </a:p>
        </p:txBody>
      </p:sp>
      <p:sp>
        <p:nvSpPr>
          <p:cNvPr id="118" name="Text 116">
            <a:extLst>
              <a:ext uri="{FF2B5EF4-FFF2-40B4-BE49-F238E27FC236}">
                <a16:creationId xmlns:a16="http://schemas.microsoft.com/office/drawing/2014/main" id="{1DDCDB5E-5C6F-120B-11A2-613B5BB90264}"/>
              </a:ext>
            </a:extLst>
          </p:cNvPr>
          <p:cNvSpPr/>
          <p:nvPr/>
        </p:nvSpPr>
        <p:spPr>
          <a:xfrm>
            <a:off x="4791456" y="346557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Content &amp; Speaker Narrative v2</a:t>
            </a:r>
            <a:endParaRPr lang="en-US" sz="800">
              <a:latin typeface="IBM Plex Sans" panose="020B0503050203000203" pitchFamily="34" charset="0"/>
            </a:endParaRPr>
          </a:p>
        </p:txBody>
      </p:sp>
      <p:sp>
        <p:nvSpPr>
          <p:cNvPr id="119" name="Shape 117">
            <a:extLst>
              <a:ext uri="{FF2B5EF4-FFF2-40B4-BE49-F238E27FC236}">
                <a16:creationId xmlns:a16="http://schemas.microsoft.com/office/drawing/2014/main" id="{6E45F9DE-7B87-813B-E4B0-A2BA93199E7F}"/>
              </a:ext>
            </a:extLst>
          </p:cNvPr>
          <p:cNvSpPr/>
          <p:nvPr/>
        </p:nvSpPr>
        <p:spPr>
          <a:xfrm>
            <a:off x="4718304" y="372160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120" name="Shape 118">
            <a:extLst>
              <a:ext uri="{FF2B5EF4-FFF2-40B4-BE49-F238E27FC236}">
                <a16:creationId xmlns:a16="http://schemas.microsoft.com/office/drawing/2014/main" id="{10C57E3F-B8DE-9EE5-32CD-E9E1D5D90E71}"/>
              </a:ext>
            </a:extLst>
          </p:cNvPr>
          <p:cNvSpPr/>
          <p:nvPr/>
        </p:nvSpPr>
        <p:spPr>
          <a:xfrm>
            <a:off x="4718304" y="372160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121" name="Text 119">
            <a:extLst>
              <a:ext uri="{FF2B5EF4-FFF2-40B4-BE49-F238E27FC236}">
                <a16:creationId xmlns:a16="http://schemas.microsoft.com/office/drawing/2014/main" id="{E4515CAD-B284-E1D8-4F74-B5E00EABD348}"/>
              </a:ext>
            </a:extLst>
          </p:cNvPr>
          <p:cNvSpPr/>
          <p:nvPr/>
        </p:nvSpPr>
        <p:spPr>
          <a:xfrm>
            <a:off x="4791456" y="373989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#29</a:t>
            </a:r>
            <a:endParaRPr lang="en-US" sz="800">
              <a:latin typeface="IBM Plex Sans" panose="020B0503050203000203" pitchFamily="34" charset="0"/>
            </a:endParaRPr>
          </a:p>
        </p:txBody>
      </p:sp>
      <p:sp>
        <p:nvSpPr>
          <p:cNvPr id="123" name="Text 121">
            <a:extLst>
              <a:ext uri="{FF2B5EF4-FFF2-40B4-BE49-F238E27FC236}">
                <a16:creationId xmlns:a16="http://schemas.microsoft.com/office/drawing/2014/main" id="{77A6DAFF-02A3-FD31-2962-8DD1D138AD33}"/>
              </a:ext>
            </a:extLst>
          </p:cNvPr>
          <p:cNvSpPr/>
          <p:nvPr/>
        </p:nvSpPr>
        <p:spPr>
          <a:xfrm>
            <a:off x="6336792" y="37398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W5</a:t>
            </a:r>
            <a:endParaRPr lang="en-US" sz="700">
              <a:latin typeface="IBM Plex Sans" panose="020B0503050203000203" pitchFamily="34" charset="0"/>
            </a:endParaRPr>
          </a:p>
        </p:txBody>
      </p:sp>
      <p:sp>
        <p:nvSpPr>
          <p:cNvPr id="124" name="Text 122">
            <a:extLst>
              <a:ext uri="{FF2B5EF4-FFF2-40B4-BE49-F238E27FC236}">
                <a16:creationId xmlns:a16="http://schemas.microsoft.com/office/drawing/2014/main" id="{DD561EC4-25A4-FB51-52F9-9B65C6390AD1}"/>
              </a:ext>
            </a:extLst>
          </p:cNvPr>
          <p:cNvSpPr/>
          <p:nvPr/>
        </p:nvSpPr>
        <p:spPr>
          <a:xfrm>
            <a:off x="4791456" y="38770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Content Expansion (NEW)</a:t>
            </a:r>
            <a:endParaRPr lang="en-US" sz="800">
              <a:latin typeface="IBM Plex Sans" panose="020B0503050203000203" pitchFamily="34" charset="0"/>
            </a:endParaRPr>
          </a:p>
        </p:txBody>
      </p:sp>
      <p:sp>
        <p:nvSpPr>
          <p:cNvPr id="125" name="Shape 123">
            <a:extLst>
              <a:ext uri="{FF2B5EF4-FFF2-40B4-BE49-F238E27FC236}">
                <a16:creationId xmlns:a16="http://schemas.microsoft.com/office/drawing/2014/main" id="{CD8AA930-432E-44FF-E8BB-7E2194D54F0D}"/>
              </a:ext>
            </a:extLst>
          </p:cNvPr>
          <p:cNvSpPr/>
          <p:nvPr/>
        </p:nvSpPr>
        <p:spPr>
          <a:xfrm>
            <a:off x="4718304" y="413308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126" name="Shape 124">
            <a:extLst>
              <a:ext uri="{FF2B5EF4-FFF2-40B4-BE49-F238E27FC236}">
                <a16:creationId xmlns:a16="http://schemas.microsoft.com/office/drawing/2014/main" id="{69722ECC-CE11-4708-0ADC-43385BF8CF77}"/>
              </a:ext>
            </a:extLst>
          </p:cNvPr>
          <p:cNvSpPr/>
          <p:nvPr/>
        </p:nvSpPr>
        <p:spPr>
          <a:xfrm>
            <a:off x="4718304" y="413308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127" name="Text 125">
            <a:extLst>
              <a:ext uri="{FF2B5EF4-FFF2-40B4-BE49-F238E27FC236}">
                <a16:creationId xmlns:a16="http://schemas.microsoft.com/office/drawing/2014/main" id="{0AC1AAC0-CAF5-5594-EF52-3E608EAA23A7}"/>
              </a:ext>
            </a:extLst>
          </p:cNvPr>
          <p:cNvSpPr/>
          <p:nvPr/>
        </p:nvSpPr>
        <p:spPr>
          <a:xfrm>
            <a:off x="4791456" y="415137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#30</a:t>
            </a:r>
            <a:endParaRPr lang="en-US" sz="800">
              <a:latin typeface="IBM Plex Sans" panose="020B0503050203000203" pitchFamily="34" charset="0"/>
            </a:endParaRPr>
          </a:p>
        </p:txBody>
      </p:sp>
      <p:sp>
        <p:nvSpPr>
          <p:cNvPr id="130" name="Text 128">
            <a:extLst>
              <a:ext uri="{FF2B5EF4-FFF2-40B4-BE49-F238E27FC236}">
                <a16:creationId xmlns:a16="http://schemas.microsoft.com/office/drawing/2014/main" id="{70A85241-1012-4E2E-8D27-6FEAE5E02AB5}"/>
              </a:ext>
            </a:extLst>
          </p:cNvPr>
          <p:cNvSpPr/>
          <p:nvPr/>
        </p:nvSpPr>
        <p:spPr>
          <a:xfrm>
            <a:off x="4791456" y="42885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TL Creation Engine</a:t>
            </a:r>
            <a:endParaRPr lang="en-US" sz="800">
              <a:latin typeface="IBM Plex Sans" panose="020B0503050203000203" pitchFamily="34" charset="0"/>
            </a:endParaRPr>
          </a:p>
        </p:txBody>
      </p:sp>
      <p:sp>
        <p:nvSpPr>
          <p:cNvPr id="131" name="Shape 129">
            <a:extLst>
              <a:ext uri="{FF2B5EF4-FFF2-40B4-BE49-F238E27FC236}">
                <a16:creationId xmlns:a16="http://schemas.microsoft.com/office/drawing/2014/main" id="{A0656FD9-23E0-D720-0266-C9BC4418DB08}"/>
              </a:ext>
            </a:extLst>
          </p:cNvPr>
          <p:cNvSpPr/>
          <p:nvPr/>
        </p:nvSpPr>
        <p:spPr>
          <a:xfrm>
            <a:off x="4718304" y="4544568"/>
            <a:ext cx="1965960"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132" name="Shape 130">
            <a:extLst>
              <a:ext uri="{FF2B5EF4-FFF2-40B4-BE49-F238E27FC236}">
                <a16:creationId xmlns:a16="http://schemas.microsoft.com/office/drawing/2014/main" id="{EC8368F2-14C4-40E9-8E26-6B7C22798256}"/>
              </a:ext>
            </a:extLst>
          </p:cNvPr>
          <p:cNvSpPr/>
          <p:nvPr/>
        </p:nvSpPr>
        <p:spPr>
          <a:xfrm>
            <a:off x="4718304" y="4544568"/>
            <a:ext cx="45720" cy="365760"/>
          </a:xfrm>
          <a:prstGeom prst="rect">
            <a:avLst/>
          </a:prstGeom>
          <a:solidFill>
            <a:srgbClr val="0F62FE"/>
          </a:solidFill>
          <a:ln/>
        </p:spPr>
        <p:txBody>
          <a:bodyPr/>
          <a:lstStyle/>
          <a:p>
            <a:endParaRPr lang="en-US">
              <a:latin typeface="IBM Plex Sans" panose="020B0503050203000203" pitchFamily="34" charset="0"/>
            </a:endParaRPr>
          </a:p>
        </p:txBody>
      </p:sp>
      <p:sp>
        <p:nvSpPr>
          <p:cNvPr id="133" name="Text 131">
            <a:extLst>
              <a:ext uri="{FF2B5EF4-FFF2-40B4-BE49-F238E27FC236}">
                <a16:creationId xmlns:a16="http://schemas.microsoft.com/office/drawing/2014/main" id="{F5E6DFD0-A13D-B1CE-23F6-C6C4C7A0FBE8}"/>
              </a:ext>
            </a:extLst>
          </p:cNvPr>
          <p:cNvSpPr/>
          <p:nvPr/>
        </p:nvSpPr>
        <p:spPr>
          <a:xfrm>
            <a:off x="4791456" y="4562856"/>
            <a:ext cx="320040" cy="137160"/>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#31</a:t>
            </a:r>
            <a:endParaRPr lang="en-US" sz="800">
              <a:latin typeface="IBM Plex Sans" panose="020B0503050203000203" pitchFamily="34" charset="0"/>
            </a:endParaRPr>
          </a:p>
        </p:txBody>
      </p:sp>
      <p:sp>
        <p:nvSpPr>
          <p:cNvPr id="136" name="Text 134">
            <a:extLst>
              <a:ext uri="{FF2B5EF4-FFF2-40B4-BE49-F238E27FC236}">
                <a16:creationId xmlns:a16="http://schemas.microsoft.com/office/drawing/2014/main" id="{410947A3-39A7-CE7C-C1D9-6CC1C1F983EC}"/>
              </a:ext>
            </a:extLst>
          </p:cNvPr>
          <p:cNvSpPr/>
          <p:nvPr/>
        </p:nvSpPr>
        <p:spPr>
          <a:xfrm>
            <a:off x="4791456" y="470001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Content &amp; Forms Creation QA</a:t>
            </a:r>
            <a:endParaRPr lang="en-US" sz="800">
              <a:latin typeface="IBM Plex Sans" panose="020B0503050203000203" pitchFamily="34" charset="0"/>
            </a:endParaRPr>
          </a:p>
        </p:txBody>
      </p:sp>
      <p:sp>
        <p:nvSpPr>
          <p:cNvPr id="137" name="Shape 135">
            <a:extLst>
              <a:ext uri="{FF2B5EF4-FFF2-40B4-BE49-F238E27FC236}">
                <a16:creationId xmlns:a16="http://schemas.microsoft.com/office/drawing/2014/main" id="{64EAE9C5-FDDC-F3D0-E6B2-5E2865332242}"/>
              </a:ext>
            </a:extLst>
          </p:cNvPr>
          <p:cNvSpPr/>
          <p:nvPr/>
        </p:nvSpPr>
        <p:spPr>
          <a:xfrm>
            <a:off x="6848856" y="1115568"/>
            <a:ext cx="1965960" cy="457200"/>
          </a:xfrm>
          <a:prstGeom prst="rect">
            <a:avLst/>
          </a:prstGeom>
          <a:solidFill>
            <a:srgbClr val="007D79"/>
          </a:solidFill>
          <a:ln/>
        </p:spPr>
        <p:txBody>
          <a:bodyPr/>
          <a:lstStyle/>
          <a:p>
            <a:endParaRPr lang="en-US">
              <a:latin typeface="IBM Plex Sans" panose="020B0503050203000203" pitchFamily="34" charset="0"/>
            </a:endParaRPr>
          </a:p>
        </p:txBody>
      </p:sp>
      <p:sp>
        <p:nvSpPr>
          <p:cNvPr id="138" name="Text 136">
            <a:extLst>
              <a:ext uri="{FF2B5EF4-FFF2-40B4-BE49-F238E27FC236}">
                <a16:creationId xmlns:a16="http://schemas.microsoft.com/office/drawing/2014/main" id="{42DF1A4A-3EA2-C19D-26F9-A933F47FE18D}"/>
              </a:ext>
            </a:extLst>
          </p:cNvPr>
          <p:cNvSpPr/>
          <p:nvPr/>
        </p:nvSpPr>
        <p:spPr>
          <a:xfrm>
            <a:off x="6848856" y="1115568"/>
            <a:ext cx="1965960" cy="457200"/>
          </a:xfrm>
          <a:prstGeom prst="rect">
            <a:avLst/>
          </a:prstGeom>
          <a:noFill/>
          <a:ln/>
        </p:spPr>
        <p:txBody>
          <a:bodyPr wrap="square" lIns="0" tIns="0" rIns="0" bIns="0" rtlCol="0" anchor="ctr"/>
          <a:lstStyle/>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Activation</a:t>
            </a:r>
            <a:endParaRPr lang="en-US" sz="1100">
              <a:latin typeface="IBM Plex Sans" panose="020B0503050203000203" pitchFamily="34" charset="0"/>
            </a:endParaRPr>
          </a:p>
        </p:txBody>
      </p:sp>
      <p:sp>
        <p:nvSpPr>
          <p:cNvPr id="139" name="Shape 137">
            <a:extLst>
              <a:ext uri="{FF2B5EF4-FFF2-40B4-BE49-F238E27FC236}">
                <a16:creationId xmlns:a16="http://schemas.microsoft.com/office/drawing/2014/main" id="{B798C14E-5E9C-5D07-0593-90212C8CEBC7}"/>
              </a:ext>
            </a:extLst>
          </p:cNvPr>
          <p:cNvSpPr/>
          <p:nvPr/>
        </p:nvSpPr>
        <p:spPr>
          <a:xfrm>
            <a:off x="6848856" y="1664208"/>
            <a:ext cx="1965960" cy="365760"/>
          </a:xfrm>
          <a:prstGeom prst="rect">
            <a:avLst/>
          </a:prstGeom>
          <a:solidFill>
            <a:srgbClr val="E5F6FF"/>
          </a:solidFill>
          <a:ln w="15240">
            <a:solidFill>
              <a:srgbClr val="001D6C"/>
            </a:solidFill>
            <a:prstDash val="solid"/>
          </a:ln>
        </p:spPr>
        <p:txBody>
          <a:bodyPr/>
          <a:lstStyle/>
          <a:p>
            <a:endParaRPr lang="en-US">
              <a:latin typeface="IBM Plex Sans" panose="020B0503050203000203" pitchFamily="34" charset="0"/>
            </a:endParaRPr>
          </a:p>
        </p:txBody>
      </p:sp>
      <p:sp>
        <p:nvSpPr>
          <p:cNvPr id="140" name="Shape 138">
            <a:extLst>
              <a:ext uri="{FF2B5EF4-FFF2-40B4-BE49-F238E27FC236}">
                <a16:creationId xmlns:a16="http://schemas.microsoft.com/office/drawing/2014/main" id="{3E7EFFF9-B90B-052D-0274-24BDA4B8CC38}"/>
              </a:ext>
            </a:extLst>
          </p:cNvPr>
          <p:cNvSpPr/>
          <p:nvPr/>
        </p:nvSpPr>
        <p:spPr>
          <a:xfrm>
            <a:off x="6848856" y="1664208"/>
            <a:ext cx="45720" cy="365760"/>
          </a:xfrm>
          <a:prstGeom prst="rect">
            <a:avLst/>
          </a:prstGeom>
          <a:solidFill>
            <a:srgbClr val="001D6C"/>
          </a:solidFill>
          <a:ln/>
        </p:spPr>
        <p:txBody>
          <a:bodyPr/>
          <a:lstStyle/>
          <a:p>
            <a:endParaRPr lang="en-US">
              <a:latin typeface="IBM Plex Sans" panose="020B0503050203000203" pitchFamily="34" charset="0"/>
            </a:endParaRPr>
          </a:p>
        </p:txBody>
      </p:sp>
      <p:sp>
        <p:nvSpPr>
          <p:cNvPr id="141" name="Text 139">
            <a:extLst>
              <a:ext uri="{FF2B5EF4-FFF2-40B4-BE49-F238E27FC236}">
                <a16:creationId xmlns:a16="http://schemas.microsoft.com/office/drawing/2014/main" id="{71FD6A12-4ED6-22B1-7F73-2FCF95346C4B}"/>
              </a:ext>
            </a:extLst>
          </p:cNvPr>
          <p:cNvSpPr/>
          <p:nvPr/>
        </p:nvSpPr>
        <p:spPr>
          <a:xfrm>
            <a:off x="6922008" y="168249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#8</a:t>
            </a:r>
            <a:endParaRPr lang="en-US" sz="800">
              <a:latin typeface="IBM Plex Sans" panose="020B0503050203000203" pitchFamily="34" charset="0"/>
            </a:endParaRPr>
          </a:p>
        </p:txBody>
      </p:sp>
      <p:sp>
        <p:nvSpPr>
          <p:cNvPr id="142" name="Shape 140">
            <a:extLst>
              <a:ext uri="{FF2B5EF4-FFF2-40B4-BE49-F238E27FC236}">
                <a16:creationId xmlns:a16="http://schemas.microsoft.com/office/drawing/2014/main" id="{A36AAE0D-C683-62D5-F004-789B8B9EFB35}"/>
              </a:ext>
            </a:extLst>
          </p:cNvPr>
          <p:cNvSpPr/>
          <p:nvPr/>
        </p:nvSpPr>
        <p:spPr>
          <a:xfrm>
            <a:off x="8467344" y="1682496"/>
            <a:ext cx="274320" cy="137160"/>
          </a:xfrm>
          <a:prstGeom prst="rect">
            <a:avLst/>
          </a:prstGeom>
          <a:solidFill>
            <a:srgbClr val="001D6C"/>
          </a:solidFill>
          <a:ln/>
        </p:spPr>
        <p:txBody>
          <a:bodyPr/>
          <a:lstStyle/>
          <a:p>
            <a:endParaRPr lang="en-US">
              <a:latin typeface="IBM Plex Sans" panose="020B0503050203000203" pitchFamily="34" charset="0"/>
            </a:endParaRPr>
          </a:p>
        </p:txBody>
      </p:sp>
      <p:sp>
        <p:nvSpPr>
          <p:cNvPr id="143" name="Text 141">
            <a:extLst>
              <a:ext uri="{FF2B5EF4-FFF2-40B4-BE49-F238E27FC236}">
                <a16:creationId xmlns:a16="http://schemas.microsoft.com/office/drawing/2014/main" id="{2D9B312C-B89D-D964-8D6F-35B6568A4B45}"/>
              </a:ext>
            </a:extLst>
          </p:cNvPr>
          <p:cNvSpPr/>
          <p:nvPr/>
        </p:nvSpPr>
        <p:spPr>
          <a:xfrm>
            <a:off x="8467344" y="16824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W3</a:t>
            </a:r>
            <a:endParaRPr lang="en-US" sz="700">
              <a:latin typeface="IBM Plex Sans" panose="020B0503050203000203" pitchFamily="34" charset="0"/>
            </a:endParaRPr>
          </a:p>
        </p:txBody>
      </p:sp>
      <p:sp>
        <p:nvSpPr>
          <p:cNvPr id="144" name="Text 142">
            <a:extLst>
              <a:ext uri="{FF2B5EF4-FFF2-40B4-BE49-F238E27FC236}">
                <a16:creationId xmlns:a16="http://schemas.microsoft.com/office/drawing/2014/main" id="{EB210A41-D978-F6D5-45C5-2DE1B999B686}"/>
              </a:ext>
            </a:extLst>
          </p:cNvPr>
          <p:cNvSpPr/>
          <p:nvPr/>
        </p:nvSpPr>
        <p:spPr>
          <a:xfrm>
            <a:off x="6922008" y="18196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Audience, Content &amp; Journey Orch</a:t>
            </a:r>
            <a:endParaRPr lang="en-US" sz="800">
              <a:latin typeface="IBM Plex Sans" panose="020B0503050203000203" pitchFamily="34" charset="0"/>
            </a:endParaRPr>
          </a:p>
        </p:txBody>
      </p:sp>
      <p:sp>
        <p:nvSpPr>
          <p:cNvPr id="145" name="Shape 143">
            <a:extLst>
              <a:ext uri="{FF2B5EF4-FFF2-40B4-BE49-F238E27FC236}">
                <a16:creationId xmlns:a16="http://schemas.microsoft.com/office/drawing/2014/main" id="{053777C4-78BB-4AAF-038D-FCE5C034872A}"/>
              </a:ext>
            </a:extLst>
          </p:cNvPr>
          <p:cNvSpPr/>
          <p:nvPr/>
        </p:nvSpPr>
        <p:spPr>
          <a:xfrm>
            <a:off x="6848856" y="207568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46" name="Shape 144">
            <a:extLst>
              <a:ext uri="{FF2B5EF4-FFF2-40B4-BE49-F238E27FC236}">
                <a16:creationId xmlns:a16="http://schemas.microsoft.com/office/drawing/2014/main" id="{452A95DE-6084-B0A7-81DA-560B0E6FC7CE}"/>
              </a:ext>
            </a:extLst>
          </p:cNvPr>
          <p:cNvSpPr/>
          <p:nvPr/>
        </p:nvSpPr>
        <p:spPr>
          <a:xfrm>
            <a:off x="6848856" y="207568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147" name="Text 145">
            <a:extLst>
              <a:ext uri="{FF2B5EF4-FFF2-40B4-BE49-F238E27FC236}">
                <a16:creationId xmlns:a16="http://schemas.microsoft.com/office/drawing/2014/main" id="{E35BDD17-9653-3008-8170-1C329B444482}"/>
              </a:ext>
            </a:extLst>
          </p:cNvPr>
          <p:cNvSpPr/>
          <p:nvPr/>
        </p:nvSpPr>
        <p:spPr>
          <a:xfrm>
            <a:off x="6922008" y="209397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#13</a:t>
            </a:r>
            <a:endParaRPr lang="en-US" sz="800">
              <a:latin typeface="IBM Plex Sans" panose="020B0503050203000203" pitchFamily="34" charset="0"/>
            </a:endParaRPr>
          </a:p>
        </p:txBody>
      </p:sp>
      <p:sp>
        <p:nvSpPr>
          <p:cNvPr id="150" name="Text 148">
            <a:extLst>
              <a:ext uri="{FF2B5EF4-FFF2-40B4-BE49-F238E27FC236}">
                <a16:creationId xmlns:a16="http://schemas.microsoft.com/office/drawing/2014/main" id="{D61751A5-0D87-C799-0321-00F2168729A7}"/>
              </a:ext>
            </a:extLst>
          </p:cNvPr>
          <p:cNvSpPr/>
          <p:nvPr/>
        </p:nvSpPr>
        <p:spPr>
          <a:xfrm>
            <a:off x="6922008" y="223113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Event Strategy &amp; Workflow Orch</a:t>
            </a:r>
            <a:endParaRPr lang="en-US" sz="800">
              <a:latin typeface="IBM Plex Sans" panose="020B0503050203000203" pitchFamily="34" charset="0"/>
            </a:endParaRPr>
          </a:p>
        </p:txBody>
      </p:sp>
      <p:sp>
        <p:nvSpPr>
          <p:cNvPr id="151" name="Shape 149">
            <a:extLst>
              <a:ext uri="{FF2B5EF4-FFF2-40B4-BE49-F238E27FC236}">
                <a16:creationId xmlns:a16="http://schemas.microsoft.com/office/drawing/2014/main" id="{53538AAA-D5C0-3F39-422B-34259FD6B370}"/>
              </a:ext>
            </a:extLst>
          </p:cNvPr>
          <p:cNvSpPr/>
          <p:nvPr/>
        </p:nvSpPr>
        <p:spPr>
          <a:xfrm>
            <a:off x="6848856" y="248716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52" name="Shape 150">
            <a:extLst>
              <a:ext uri="{FF2B5EF4-FFF2-40B4-BE49-F238E27FC236}">
                <a16:creationId xmlns:a16="http://schemas.microsoft.com/office/drawing/2014/main" id="{4258A7A7-A46A-8807-D54C-EE3E4A6530B6}"/>
              </a:ext>
            </a:extLst>
          </p:cNvPr>
          <p:cNvSpPr/>
          <p:nvPr/>
        </p:nvSpPr>
        <p:spPr>
          <a:xfrm>
            <a:off x="6848856" y="248716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153" name="Text 151">
            <a:extLst>
              <a:ext uri="{FF2B5EF4-FFF2-40B4-BE49-F238E27FC236}">
                <a16:creationId xmlns:a16="http://schemas.microsoft.com/office/drawing/2014/main" id="{DCBE30FC-D936-EDEE-E282-5812E5F18684}"/>
              </a:ext>
            </a:extLst>
          </p:cNvPr>
          <p:cNvSpPr/>
          <p:nvPr/>
        </p:nvSpPr>
        <p:spPr>
          <a:xfrm>
            <a:off x="6922008" y="250545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#22</a:t>
            </a:r>
            <a:endParaRPr lang="en-US" sz="800">
              <a:latin typeface="IBM Plex Sans" panose="020B0503050203000203" pitchFamily="34" charset="0"/>
            </a:endParaRPr>
          </a:p>
        </p:txBody>
      </p:sp>
      <p:sp>
        <p:nvSpPr>
          <p:cNvPr id="156" name="Text 154">
            <a:extLst>
              <a:ext uri="{FF2B5EF4-FFF2-40B4-BE49-F238E27FC236}">
                <a16:creationId xmlns:a16="http://schemas.microsoft.com/office/drawing/2014/main" id="{D60EEF27-6751-9EF5-23C8-DAC1D0504B25}"/>
              </a:ext>
            </a:extLst>
          </p:cNvPr>
          <p:cNvSpPr/>
          <p:nvPr/>
        </p:nvSpPr>
        <p:spPr>
          <a:xfrm>
            <a:off x="6922008" y="264261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Trigger-Based Activation</a:t>
            </a:r>
            <a:endParaRPr lang="en-US" sz="800">
              <a:latin typeface="IBM Plex Sans" panose="020B0503050203000203" pitchFamily="34" charset="0"/>
            </a:endParaRPr>
          </a:p>
        </p:txBody>
      </p:sp>
      <p:sp>
        <p:nvSpPr>
          <p:cNvPr id="157" name="Shape 155">
            <a:extLst>
              <a:ext uri="{FF2B5EF4-FFF2-40B4-BE49-F238E27FC236}">
                <a16:creationId xmlns:a16="http://schemas.microsoft.com/office/drawing/2014/main" id="{421DECBD-D60C-365C-6A50-8980F435B21A}"/>
              </a:ext>
            </a:extLst>
          </p:cNvPr>
          <p:cNvSpPr/>
          <p:nvPr/>
        </p:nvSpPr>
        <p:spPr>
          <a:xfrm>
            <a:off x="6848856" y="2898648"/>
            <a:ext cx="1965960"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158" name="Shape 156">
            <a:extLst>
              <a:ext uri="{FF2B5EF4-FFF2-40B4-BE49-F238E27FC236}">
                <a16:creationId xmlns:a16="http://schemas.microsoft.com/office/drawing/2014/main" id="{7264C8EF-1562-6E99-9BD8-37C02FDFDF34}"/>
              </a:ext>
            </a:extLst>
          </p:cNvPr>
          <p:cNvSpPr/>
          <p:nvPr/>
        </p:nvSpPr>
        <p:spPr>
          <a:xfrm>
            <a:off x="6848856" y="2898648"/>
            <a:ext cx="45720" cy="365760"/>
          </a:xfrm>
          <a:prstGeom prst="rect">
            <a:avLst/>
          </a:prstGeom>
          <a:solidFill>
            <a:srgbClr val="4589FF"/>
          </a:solidFill>
          <a:ln/>
        </p:spPr>
        <p:txBody>
          <a:bodyPr/>
          <a:lstStyle/>
          <a:p>
            <a:endParaRPr lang="en-US">
              <a:latin typeface="IBM Plex Sans" panose="020B0503050203000203" pitchFamily="34" charset="0"/>
            </a:endParaRPr>
          </a:p>
        </p:txBody>
      </p:sp>
      <p:sp>
        <p:nvSpPr>
          <p:cNvPr id="159" name="Text 157">
            <a:extLst>
              <a:ext uri="{FF2B5EF4-FFF2-40B4-BE49-F238E27FC236}">
                <a16:creationId xmlns:a16="http://schemas.microsoft.com/office/drawing/2014/main" id="{906323AE-DCA7-4D5E-A923-17644788A5F7}"/>
              </a:ext>
            </a:extLst>
          </p:cNvPr>
          <p:cNvSpPr/>
          <p:nvPr/>
        </p:nvSpPr>
        <p:spPr>
          <a:xfrm>
            <a:off x="6922008" y="291693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#32</a:t>
            </a:r>
            <a:endParaRPr lang="en-US" sz="800">
              <a:latin typeface="IBM Plex Sans" panose="020B0503050203000203" pitchFamily="34" charset="0"/>
            </a:endParaRPr>
          </a:p>
        </p:txBody>
      </p:sp>
      <p:sp>
        <p:nvSpPr>
          <p:cNvPr id="162" name="Text 160">
            <a:extLst>
              <a:ext uri="{FF2B5EF4-FFF2-40B4-BE49-F238E27FC236}">
                <a16:creationId xmlns:a16="http://schemas.microsoft.com/office/drawing/2014/main" id="{B5669A7D-1DC0-A423-04B0-599AD7AFD09B}"/>
              </a:ext>
            </a:extLst>
          </p:cNvPr>
          <p:cNvSpPr/>
          <p:nvPr/>
        </p:nvSpPr>
        <p:spPr>
          <a:xfrm>
            <a:off x="6922008" y="305409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Workflow Auto: TL to Marketo</a:t>
            </a:r>
            <a:endParaRPr lang="en-US" sz="800">
              <a:latin typeface="IBM Plex Sans" panose="020B0503050203000203" pitchFamily="34" charset="0"/>
            </a:endParaRPr>
          </a:p>
        </p:txBody>
      </p:sp>
      <p:sp>
        <p:nvSpPr>
          <p:cNvPr id="163" name="Shape 161">
            <a:extLst>
              <a:ext uri="{FF2B5EF4-FFF2-40B4-BE49-F238E27FC236}">
                <a16:creationId xmlns:a16="http://schemas.microsoft.com/office/drawing/2014/main" id="{D7A666F9-3398-13D9-477A-763D89D449CC}"/>
              </a:ext>
            </a:extLst>
          </p:cNvPr>
          <p:cNvSpPr/>
          <p:nvPr/>
        </p:nvSpPr>
        <p:spPr>
          <a:xfrm>
            <a:off x="6848856" y="3310128"/>
            <a:ext cx="1965960" cy="365760"/>
          </a:xfrm>
          <a:prstGeom prst="rect">
            <a:avLst/>
          </a:prstGeom>
          <a:solidFill>
            <a:srgbClr val="FFFFFF"/>
          </a:solidFill>
          <a:ln w="15240">
            <a:solidFill>
              <a:srgbClr val="78A9FF"/>
            </a:solidFill>
            <a:prstDash val="solid"/>
          </a:ln>
        </p:spPr>
        <p:txBody>
          <a:bodyPr/>
          <a:lstStyle/>
          <a:p>
            <a:endParaRPr lang="en-US">
              <a:latin typeface="IBM Plex Sans" panose="020B0503050203000203" pitchFamily="34" charset="0"/>
            </a:endParaRPr>
          </a:p>
        </p:txBody>
      </p:sp>
      <p:sp>
        <p:nvSpPr>
          <p:cNvPr id="164" name="Shape 162">
            <a:extLst>
              <a:ext uri="{FF2B5EF4-FFF2-40B4-BE49-F238E27FC236}">
                <a16:creationId xmlns:a16="http://schemas.microsoft.com/office/drawing/2014/main" id="{5C0C88E7-43FE-1BDE-97A0-BDFA71A5C8FC}"/>
              </a:ext>
            </a:extLst>
          </p:cNvPr>
          <p:cNvSpPr/>
          <p:nvPr/>
        </p:nvSpPr>
        <p:spPr>
          <a:xfrm>
            <a:off x="6848856" y="3310128"/>
            <a:ext cx="45720" cy="365760"/>
          </a:xfrm>
          <a:prstGeom prst="rect">
            <a:avLst/>
          </a:prstGeom>
          <a:solidFill>
            <a:srgbClr val="78A9FF"/>
          </a:solidFill>
          <a:ln/>
        </p:spPr>
        <p:txBody>
          <a:bodyPr/>
          <a:lstStyle/>
          <a:p>
            <a:endParaRPr lang="en-US">
              <a:latin typeface="IBM Plex Sans" panose="020B0503050203000203" pitchFamily="34" charset="0"/>
            </a:endParaRPr>
          </a:p>
        </p:txBody>
      </p:sp>
      <p:sp>
        <p:nvSpPr>
          <p:cNvPr id="165" name="Text 163">
            <a:extLst>
              <a:ext uri="{FF2B5EF4-FFF2-40B4-BE49-F238E27FC236}">
                <a16:creationId xmlns:a16="http://schemas.microsoft.com/office/drawing/2014/main" id="{E7FA84F1-A51D-5561-6F24-B20476702E44}"/>
              </a:ext>
            </a:extLst>
          </p:cNvPr>
          <p:cNvSpPr/>
          <p:nvPr/>
        </p:nvSpPr>
        <p:spPr>
          <a:xfrm>
            <a:off x="6922008" y="332841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#38</a:t>
            </a:r>
            <a:endParaRPr lang="en-US" sz="800">
              <a:latin typeface="IBM Plex Sans" panose="020B0503050203000203" pitchFamily="34" charset="0"/>
            </a:endParaRPr>
          </a:p>
        </p:txBody>
      </p:sp>
      <p:sp>
        <p:nvSpPr>
          <p:cNvPr id="167" name="Text 165">
            <a:extLst>
              <a:ext uri="{FF2B5EF4-FFF2-40B4-BE49-F238E27FC236}">
                <a16:creationId xmlns:a16="http://schemas.microsoft.com/office/drawing/2014/main" id="{6C201EB4-681C-C046-81FD-34DA9812ED11}"/>
              </a:ext>
            </a:extLst>
          </p:cNvPr>
          <p:cNvSpPr/>
          <p:nvPr/>
        </p:nvSpPr>
        <p:spPr>
          <a:xfrm>
            <a:off x="8467344" y="332841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W7</a:t>
            </a:r>
            <a:endParaRPr lang="en-US" sz="700">
              <a:latin typeface="IBM Plex Sans" panose="020B0503050203000203" pitchFamily="34" charset="0"/>
            </a:endParaRPr>
          </a:p>
        </p:txBody>
      </p:sp>
      <p:sp>
        <p:nvSpPr>
          <p:cNvPr id="168" name="Text 166">
            <a:extLst>
              <a:ext uri="{FF2B5EF4-FFF2-40B4-BE49-F238E27FC236}">
                <a16:creationId xmlns:a16="http://schemas.microsoft.com/office/drawing/2014/main" id="{66A26B1F-0884-AC96-F998-7128FD762139}"/>
              </a:ext>
            </a:extLst>
          </p:cNvPr>
          <p:cNvSpPr/>
          <p:nvPr/>
        </p:nvSpPr>
        <p:spPr>
          <a:xfrm>
            <a:off x="6922008" y="346557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Response Optimization</a:t>
            </a:r>
            <a:endParaRPr lang="en-US" sz="800">
              <a:latin typeface="IBM Plex Sans" panose="020B0503050203000203" pitchFamily="34" charset="0"/>
            </a:endParaRPr>
          </a:p>
        </p:txBody>
      </p:sp>
      <p:sp>
        <p:nvSpPr>
          <p:cNvPr id="169" name="Shape 167">
            <a:extLst>
              <a:ext uri="{FF2B5EF4-FFF2-40B4-BE49-F238E27FC236}">
                <a16:creationId xmlns:a16="http://schemas.microsoft.com/office/drawing/2014/main" id="{0668706E-C059-4F80-A59A-FB368C1CA21B}"/>
              </a:ext>
            </a:extLst>
          </p:cNvPr>
          <p:cNvSpPr/>
          <p:nvPr/>
        </p:nvSpPr>
        <p:spPr>
          <a:xfrm>
            <a:off x="6848856" y="3721608"/>
            <a:ext cx="1965960"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70" name="Shape 168">
            <a:extLst>
              <a:ext uri="{FF2B5EF4-FFF2-40B4-BE49-F238E27FC236}">
                <a16:creationId xmlns:a16="http://schemas.microsoft.com/office/drawing/2014/main" id="{8EB7FB5E-02F4-D3E0-81B2-1AB3DFCCA548}"/>
              </a:ext>
            </a:extLst>
          </p:cNvPr>
          <p:cNvSpPr/>
          <p:nvPr/>
        </p:nvSpPr>
        <p:spPr>
          <a:xfrm>
            <a:off x="6848856" y="3721608"/>
            <a:ext cx="45720" cy="365760"/>
          </a:xfrm>
          <a:prstGeom prst="rect">
            <a:avLst/>
          </a:prstGeom>
          <a:solidFill>
            <a:srgbClr val="0043CE"/>
          </a:solidFill>
          <a:ln/>
        </p:spPr>
        <p:txBody>
          <a:bodyPr/>
          <a:lstStyle/>
          <a:p>
            <a:endParaRPr lang="en-US">
              <a:latin typeface="IBM Plex Sans" panose="020B0503050203000203" pitchFamily="34" charset="0"/>
            </a:endParaRPr>
          </a:p>
        </p:txBody>
      </p:sp>
      <p:sp>
        <p:nvSpPr>
          <p:cNvPr id="171" name="Text 169">
            <a:extLst>
              <a:ext uri="{FF2B5EF4-FFF2-40B4-BE49-F238E27FC236}">
                <a16:creationId xmlns:a16="http://schemas.microsoft.com/office/drawing/2014/main" id="{93572276-FEFB-5087-A28A-F9605DE1118C}"/>
              </a:ext>
            </a:extLst>
          </p:cNvPr>
          <p:cNvSpPr/>
          <p:nvPr/>
        </p:nvSpPr>
        <p:spPr>
          <a:xfrm>
            <a:off x="6922008" y="3739896"/>
            <a:ext cx="320040" cy="137160"/>
          </a:xfrm>
          <a:prstGeom prst="rect">
            <a:avLst/>
          </a:prstGeom>
          <a:noFill/>
          <a:ln/>
        </p:spPr>
        <p:txBody>
          <a:bodyPr wrap="square" lIns="0" tIns="0" rIns="0" bIns="0" rtlCol="0" anchor="ctr"/>
          <a:lstStyle/>
          <a:p>
            <a:pPr marL="0" indent="0">
              <a:buNone/>
            </a:pPr>
            <a:r>
              <a:rPr lang="en-US" sz="800" b="1">
                <a:solidFill>
                  <a:srgbClr val="007D79"/>
                </a:solidFill>
                <a:latin typeface="IBM Plex Sans" panose="020B0503050203000203" pitchFamily="34" charset="0"/>
                <a:ea typeface="Arial" pitchFamily="34" charset="-122"/>
                <a:cs typeface="Arial" pitchFamily="34" charset="-120"/>
              </a:rPr>
              <a:t>#26</a:t>
            </a:r>
            <a:endParaRPr lang="en-US" sz="800">
              <a:latin typeface="IBM Plex Sans" panose="020B0503050203000203" pitchFamily="34" charset="0"/>
            </a:endParaRPr>
          </a:p>
        </p:txBody>
      </p:sp>
      <p:sp>
        <p:nvSpPr>
          <p:cNvPr id="173" name="Text 171">
            <a:extLst>
              <a:ext uri="{FF2B5EF4-FFF2-40B4-BE49-F238E27FC236}">
                <a16:creationId xmlns:a16="http://schemas.microsoft.com/office/drawing/2014/main" id="{6D14BE14-99E7-7CED-D4EB-99A5FB4BEE17}"/>
              </a:ext>
            </a:extLst>
          </p:cNvPr>
          <p:cNvSpPr/>
          <p:nvPr/>
        </p:nvSpPr>
        <p:spPr>
          <a:xfrm>
            <a:off x="8467344" y="3739896"/>
            <a:ext cx="274320" cy="137160"/>
          </a:xfrm>
          <a:prstGeom prst="rect">
            <a:avLst/>
          </a:prstGeom>
          <a:noFill/>
          <a:ln/>
        </p:spPr>
        <p:txBody>
          <a:bodyPr wrap="square" lIns="0" tIns="0" rIns="0" bIns="0" rtlCol="0" anchor="ctr"/>
          <a:lstStyle/>
          <a:p>
            <a:pPr marL="0" indent="0" algn="ctr">
              <a:buNone/>
            </a:pPr>
            <a:r>
              <a:rPr lang="en-US" sz="700" b="1">
                <a:solidFill>
                  <a:srgbClr val="FFFFFF"/>
                </a:solidFill>
                <a:latin typeface="IBM Plex Sans" panose="020B0503050203000203" pitchFamily="34" charset="0"/>
                <a:ea typeface="Arial" pitchFamily="34" charset="-122"/>
                <a:cs typeface="Arial" pitchFamily="34" charset="-120"/>
              </a:rPr>
              <a:t>W4</a:t>
            </a:r>
            <a:endParaRPr lang="en-US" sz="700">
              <a:latin typeface="IBM Plex Sans" panose="020B0503050203000203" pitchFamily="34" charset="0"/>
            </a:endParaRPr>
          </a:p>
        </p:txBody>
      </p:sp>
      <p:sp>
        <p:nvSpPr>
          <p:cNvPr id="174" name="Text 172">
            <a:extLst>
              <a:ext uri="{FF2B5EF4-FFF2-40B4-BE49-F238E27FC236}">
                <a16:creationId xmlns:a16="http://schemas.microsoft.com/office/drawing/2014/main" id="{9630B835-0F2E-5ED7-08C9-BD98BD5DA344}"/>
              </a:ext>
            </a:extLst>
          </p:cNvPr>
          <p:cNvSpPr/>
          <p:nvPr/>
        </p:nvSpPr>
        <p:spPr>
          <a:xfrm>
            <a:off x="6922008" y="3877056"/>
            <a:ext cx="1819656" cy="182880"/>
          </a:xfrm>
          <a:prstGeom prst="rect">
            <a:avLst/>
          </a:prstGeom>
          <a:noFill/>
          <a:ln/>
        </p:spPr>
        <p:txBody>
          <a:bodyPr wrap="square" lIns="0" tIns="0" rIns="0" bIns="0" rtlCol="0" anchor="t"/>
          <a:lstStyle/>
          <a:p>
            <a:pPr marL="0" indent="0">
              <a:buNone/>
            </a:pPr>
            <a:r>
              <a:rPr lang="en-US" sz="800">
                <a:solidFill>
                  <a:srgbClr val="001D6C"/>
                </a:solidFill>
                <a:latin typeface="IBM Plex Sans" panose="020B0503050203000203" pitchFamily="34" charset="0"/>
                <a:ea typeface="Arial" pitchFamily="34" charset="-122"/>
                <a:cs typeface="Arial" pitchFamily="34" charset="-120"/>
              </a:rPr>
              <a:t>Co-Marketing Process Auto</a:t>
            </a:r>
            <a:endParaRPr lang="en-US" sz="800">
              <a:latin typeface="IBM Plex Sans" panose="020B0503050203000203" pitchFamily="34" charset="0"/>
            </a:endParaRPr>
          </a:p>
        </p:txBody>
      </p:sp>
      <p:sp>
        <p:nvSpPr>
          <p:cNvPr id="175" name="Shape 173">
            <a:extLst>
              <a:ext uri="{FF2B5EF4-FFF2-40B4-BE49-F238E27FC236}">
                <a16:creationId xmlns:a16="http://schemas.microsoft.com/office/drawing/2014/main" id="{5034C8E6-0E13-6831-5BDD-BF81F484EC77}"/>
              </a:ext>
            </a:extLst>
          </p:cNvPr>
          <p:cNvSpPr/>
          <p:nvPr/>
        </p:nvSpPr>
        <p:spPr>
          <a:xfrm>
            <a:off x="8979408" y="1115568"/>
            <a:ext cx="2331720" cy="457200"/>
          </a:xfrm>
          <a:prstGeom prst="rect">
            <a:avLst/>
          </a:prstGeom>
          <a:solidFill>
            <a:srgbClr val="002D9C"/>
          </a:solidFill>
          <a:ln/>
        </p:spPr>
        <p:txBody>
          <a:bodyPr/>
          <a:lstStyle/>
          <a:p>
            <a:endParaRPr lang="en-US">
              <a:latin typeface="IBM Plex Sans" panose="020B0503050203000203" pitchFamily="34" charset="0"/>
            </a:endParaRPr>
          </a:p>
        </p:txBody>
      </p:sp>
      <p:sp>
        <p:nvSpPr>
          <p:cNvPr id="176" name="Text 174">
            <a:extLst>
              <a:ext uri="{FF2B5EF4-FFF2-40B4-BE49-F238E27FC236}">
                <a16:creationId xmlns:a16="http://schemas.microsoft.com/office/drawing/2014/main" id="{BD422BC4-85EA-BD4A-4B19-BA9284F2D028}"/>
              </a:ext>
            </a:extLst>
          </p:cNvPr>
          <p:cNvSpPr/>
          <p:nvPr/>
        </p:nvSpPr>
        <p:spPr>
          <a:xfrm>
            <a:off x="8979408" y="1115568"/>
            <a:ext cx="2331720" cy="457200"/>
          </a:xfrm>
          <a:prstGeom prst="rect">
            <a:avLst/>
          </a:prstGeom>
          <a:noFill/>
          <a:ln/>
        </p:spPr>
        <p:txBody>
          <a:bodyPr wrap="square" lIns="0" tIns="0" rIns="0" bIns="0" rtlCol="0" anchor="ctr"/>
          <a:lstStyle/>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Individual</a:t>
            </a:r>
            <a:endParaRPr lang="en-US" sz="1100">
              <a:latin typeface="IBM Plex Sans" panose="020B0503050203000203" pitchFamily="34" charset="0"/>
            </a:endParaRPr>
          </a:p>
          <a:p>
            <a:pPr marL="0" indent="0" algn="ctr">
              <a:buNone/>
            </a:pPr>
            <a:r>
              <a:rPr lang="en-US" sz="1100" b="1">
                <a:solidFill>
                  <a:srgbClr val="FFFFFF"/>
                </a:solidFill>
                <a:latin typeface="IBM Plex Sans" panose="020B0503050203000203" pitchFamily="34" charset="0"/>
                <a:ea typeface="Arial" pitchFamily="34" charset="-122"/>
                <a:cs typeface="Arial" pitchFamily="34" charset="-120"/>
              </a:rPr>
              <a:t>Contributors</a:t>
            </a:r>
            <a:endParaRPr lang="en-US" sz="1100">
              <a:latin typeface="IBM Plex Sans" panose="020B0503050203000203" pitchFamily="34" charset="0"/>
            </a:endParaRPr>
          </a:p>
        </p:txBody>
      </p:sp>
      <p:sp>
        <p:nvSpPr>
          <p:cNvPr id="177" name="Shape 175">
            <a:extLst>
              <a:ext uri="{FF2B5EF4-FFF2-40B4-BE49-F238E27FC236}">
                <a16:creationId xmlns:a16="http://schemas.microsoft.com/office/drawing/2014/main" id="{2EF961BF-32CF-3DD5-88EC-DDFB6D7F908F}"/>
              </a:ext>
            </a:extLst>
          </p:cNvPr>
          <p:cNvSpPr/>
          <p:nvPr/>
        </p:nvSpPr>
        <p:spPr>
          <a:xfrm>
            <a:off x="8979408" y="1664208"/>
            <a:ext cx="1129284"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78" name="Text 176">
            <a:extLst>
              <a:ext uri="{FF2B5EF4-FFF2-40B4-BE49-F238E27FC236}">
                <a16:creationId xmlns:a16="http://schemas.microsoft.com/office/drawing/2014/main" id="{5FBA5F49-50F2-3627-B449-1AF8D2C1854C}"/>
              </a:ext>
            </a:extLst>
          </p:cNvPr>
          <p:cNvSpPr/>
          <p:nvPr/>
        </p:nvSpPr>
        <p:spPr>
          <a:xfrm>
            <a:off x="9015984" y="168249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#14</a:t>
            </a:r>
            <a:endParaRPr lang="en-US" sz="700">
              <a:latin typeface="IBM Plex Sans" panose="020B0503050203000203" pitchFamily="34" charset="0"/>
            </a:endParaRPr>
          </a:p>
        </p:txBody>
      </p:sp>
      <p:sp>
        <p:nvSpPr>
          <p:cNvPr id="181" name="Text 179">
            <a:extLst>
              <a:ext uri="{FF2B5EF4-FFF2-40B4-BE49-F238E27FC236}">
                <a16:creationId xmlns:a16="http://schemas.microsoft.com/office/drawing/2014/main" id="{0AE6D423-509A-1F87-57B1-E5D2A9C8B6A0}"/>
              </a:ext>
            </a:extLst>
          </p:cNvPr>
          <p:cNvSpPr/>
          <p:nvPr/>
        </p:nvSpPr>
        <p:spPr>
          <a:xfrm>
            <a:off x="9015984" y="181051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Resource &amp; Capacity Planning</a:t>
            </a:r>
            <a:endParaRPr lang="en-US" sz="700">
              <a:latin typeface="IBM Plex Sans" panose="020B0503050203000203" pitchFamily="34" charset="0"/>
            </a:endParaRPr>
          </a:p>
        </p:txBody>
      </p:sp>
      <p:sp>
        <p:nvSpPr>
          <p:cNvPr id="182" name="Shape 180">
            <a:extLst>
              <a:ext uri="{FF2B5EF4-FFF2-40B4-BE49-F238E27FC236}">
                <a16:creationId xmlns:a16="http://schemas.microsoft.com/office/drawing/2014/main" id="{52EA5C20-C774-3426-15FE-04F6A24D2E36}"/>
              </a:ext>
            </a:extLst>
          </p:cNvPr>
          <p:cNvSpPr/>
          <p:nvPr/>
        </p:nvSpPr>
        <p:spPr>
          <a:xfrm>
            <a:off x="8979408" y="2075688"/>
            <a:ext cx="1129284"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83" name="Text 181">
            <a:extLst>
              <a:ext uri="{FF2B5EF4-FFF2-40B4-BE49-F238E27FC236}">
                <a16:creationId xmlns:a16="http://schemas.microsoft.com/office/drawing/2014/main" id="{7B2BD1B6-D642-70CF-E8F0-A530FF4A9D68}"/>
              </a:ext>
            </a:extLst>
          </p:cNvPr>
          <p:cNvSpPr/>
          <p:nvPr/>
        </p:nvSpPr>
        <p:spPr>
          <a:xfrm>
            <a:off x="9015984" y="209397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#21</a:t>
            </a:r>
            <a:endParaRPr lang="en-US" sz="700">
              <a:latin typeface="IBM Plex Sans" panose="020B0503050203000203" pitchFamily="34" charset="0"/>
            </a:endParaRPr>
          </a:p>
        </p:txBody>
      </p:sp>
      <p:sp>
        <p:nvSpPr>
          <p:cNvPr id="186" name="Text 184">
            <a:extLst>
              <a:ext uri="{FF2B5EF4-FFF2-40B4-BE49-F238E27FC236}">
                <a16:creationId xmlns:a16="http://schemas.microsoft.com/office/drawing/2014/main" id="{E6DE91ED-6226-EA80-4782-97E8B0AAE107}"/>
              </a:ext>
            </a:extLst>
          </p:cNvPr>
          <p:cNvSpPr/>
          <p:nvPr/>
        </p:nvSpPr>
        <p:spPr>
          <a:xfrm>
            <a:off x="9015984" y="222199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Event Briefer (v2+)</a:t>
            </a:r>
            <a:endParaRPr lang="en-US" sz="700">
              <a:latin typeface="IBM Plex Sans" panose="020B0503050203000203" pitchFamily="34" charset="0"/>
            </a:endParaRPr>
          </a:p>
        </p:txBody>
      </p:sp>
      <p:sp>
        <p:nvSpPr>
          <p:cNvPr id="187" name="Shape 185">
            <a:extLst>
              <a:ext uri="{FF2B5EF4-FFF2-40B4-BE49-F238E27FC236}">
                <a16:creationId xmlns:a16="http://schemas.microsoft.com/office/drawing/2014/main" id="{5B10C2FE-5C75-08F9-1457-DA94B35A1E47}"/>
              </a:ext>
            </a:extLst>
          </p:cNvPr>
          <p:cNvSpPr/>
          <p:nvPr/>
        </p:nvSpPr>
        <p:spPr>
          <a:xfrm>
            <a:off x="8979408" y="2487168"/>
            <a:ext cx="1129284"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88" name="Text 186">
            <a:extLst>
              <a:ext uri="{FF2B5EF4-FFF2-40B4-BE49-F238E27FC236}">
                <a16:creationId xmlns:a16="http://schemas.microsoft.com/office/drawing/2014/main" id="{85955655-401D-88B8-5A38-C7B5BC792871}"/>
              </a:ext>
            </a:extLst>
          </p:cNvPr>
          <p:cNvSpPr/>
          <p:nvPr/>
        </p:nvSpPr>
        <p:spPr>
          <a:xfrm>
            <a:off x="9015984" y="250545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#24</a:t>
            </a:r>
            <a:endParaRPr lang="en-US" sz="700">
              <a:latin typeface="IBM Plex Sans" panose="020B0503050203000203" pitchFamily="34" charset="0"/>
            </a:endParaRPr>
          </a:p>
        </p:txBody>
      </p:sp>
      <p:sp>
        <p:nvSpPr>
          <p:cNvPr id="191" name="Text 189">
            <a:extLst>
              <a:ext uri="{FF2B5EF4-FFF2-40B4-BE49-F238E27FC236}">
                <a16:creationId xmlns:a16="http://schemas.microsoft.com/office/drawing/2014/main" id="{4AE25BAB-9384-7F06-151D-AB031314D8E0}"/>
              </a:ext>
            </a:extLst>
          </p:cNvPr>
          <p:cNvSpPr/>
          <p:nvPr/>
        </p:nvSpPr>
        <p:spPr>
          <a:xfrm>
            <a:off x="9015984" y="263347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Budgeting and Planning</a:t>
            </a:r>
            <a:endParaRPr lang="en-US" sz="700">
              <a:latin typeface="IBM Plex Sans" panose="020B0503050203000203" pitchFamily="34" charset="0"/>
            </a:endParaRPr>
          </a:p>
        </p:txBody>
      </p:sp>
      <p:sp>
        <p:nvSpPr>
          <p:cNvPr id="192" name="Shape 190">
            <a:extLst>
              <a:ext uri="{FF2B5EF4-FFF2-40B4-BE49-F238E27FC236}">
                <a16:creationId xmlns:a16="http://schemas.microsoft.com/office/drawing/2014/main" id="{670737F7-AD83-972B-18B0-96A6486B6C9E}"/>
              </a:ext>
            </a:extLst>
          </p:cNvPr>
          <p:cNvSpPr/>
          <p:nvPr/>
        </p:nvSpPr>
        <p:spPr>
          <a:xfrm>
            <a:off x="8979408" y="2898648"/>
            <a:ext cx="1129284" cy="365760"/>
          </a:xfrm>
          <a:prstGeom prst="rect">
            <a:avLst/>
          </a:prstGeom>
          <a:solidFill>
            <a:srgbClr val="FFFFFF"/>
          </a:solidFill>
          <a:ln w="15240">
            <a:solidFill>
              <a:srgbClr val="0043CE"/>
            </a:solidFill>
            <a:prstDash val="solid"/>
          </a:ln>
        </p:spPr>
        <p:txBody>
          <a:bodyPr/>
          <a:lstStyle/>
          <a:p>
            <a:endParaRPr lang="en-US">
              <a:latin typeface="IBM Plex Sans" panose="020B0503050203000203" pitchFamily="34" charset="0"/>
            </a:endParaRPr>
          </a:p>
        </p:txBody>
      </p:sp>
      <p:sp>
        <p:nvSpPr>
          <p:cNvPr id="193" name="Text 191">
            <a:extLst>
              <a:ext uri="{FF2B5EF4-FFF2-40B4-BE49-F238E27FC236}">
                <a16:creationId xmlns:a16="http://schemas.microsoft.com/office/drawing/2014/main" id="{9F7188DB-3B4E-717D-8E62-CA58AD2797AC}"/>
              </a:ext>
            </a:extLst>
          </p:cNvPr>
          <p:cNvSpPr/>
          <p:nvPr/>
        </p:nvSpPr>
        <p:spPr>
          <a:xfrm>
            <a:off x="9015984" y="291693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#19</a:t>
            </a:r>
            <a:endParaRPr lang="en-US" sz="700">
              <a:latin typeface="IBM Plex Sans" panose="020B0503050203000203" pitchFamily="34" charset="0"/>
            </a:endParaRPr>
          </a:p>
        </p:txBody>
      </p:sp>
      <p:sp>
        <p:nvSpPr>
          <p:cNvPr id="196" name="Text 194">
            <a:extLst>
              <a:ext uri="{FF2B5EF4-FFF2-40B4-BE49-F238E27FC236}">
                <a16:creationId xmlns:a16="http://schemas.microsoft.com/office/drawing/2014/main" id="{C67815C1-9690-DCD9-812C-971930C51948}"/>
              </a:ext>
            </a:extLst>
          </p:cNvPr>
          <p:cNvSpPr/>
          <p:nvPr/>
        </p:nvSpPr>
        <p:spPr>
          <a:xfrm>
            <a:off x="9015984" y="304495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RFI Ninja</a:t>
            </a:r>
            <a:endParaRPr lang="en-US" sz="700">
              <a:latin typeface="IBM Plex Sans" panose="020B0503050203000203" pitchFamily="34" charset="0"/>
            </a:endParaRPr>
          </a:p>
        </p:txBody>
      </p:sp>
      <p:sp>
        <p:nvSpPr>
          <p:cNvPr id="197" name="Shape 195">
            <a:extLst>
              <a:ext uri="{FF2B5EF4-FFF2-40B4-BE49-F238E27FC236}">
                <a16:creationId xmlns:a16="http://schemas.microsoft.com/office/drawing/2014/main" id="{21A5364A-C6C3-C3E0-81E3-0DA12F93D127}"/>
              </a:ext>
            </a:extLst>
          </p:cNvPr>
          <p:cNvSpPr/>
          <p:nvPr/>
        </p:nvSpPr>
        <p:spPr>
          <a:xfrm>
            <a:off x="8979408" y="3310128"/>
            <a:ext cx="1129284" cy="365760"/>
          </a:xfrm>
          <a:prstGeom prst="rect">
            <a:avLst/>
          </a:prstGeom>
          <a:solidFill>
            <a:srgbClr val="FFFFFF"/>
          </a:solidFill>
          <a:ln w="15240">
            <a:solidFill>
              <a:srgbClr val="0F62FE"/>
            </a:solidFill>
            <a:prstDash val="solid"/>
          </a:ln>
        </p:spPr>
        <p:txBody>
          <a:bodyPr/>
          <a:lstStyle/>
          <a:p>
            <a:endParaRPr lang="en-US">
              <a:latin typeface="IBM Plex Sans" panose="020B0503050203000203" pitchFamily="34" charset="0"/>
            </a:endParaRPr>
          </a:p>
        </p:txBody>
      </p:sp>
      <p:sp>
        <p:nvSpPr>
          <p:cNvPr id="198" name="Text 196">
            <a:extLst>
              <a:ext uri="{FF2B5EF4-FFF2-40B4-BE49-F238E27FC236}">
                <a16:creationId xmlns:a16="http://schemas.microsoft.com/office/drawing/2014/main" id="{B8EBBE7D-86FC-051E-F85F-AC0D55001D30}"/>
              </a:ext>
            </a:extLst>
          </p:cNvPr>
          <p:cNvSpPr/>
          <p:nvPr/>
        </p:nvSpPr>
        <p:spPr>
          <a:xfrm>
            <a:off x="9015984" y="332841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#23</a:t>
            </a:r>
            <a:endParaRPr lang="en-US" sz="700">
              <a:latin typeface="IBM Plex Sans" panose="020B0503050203000203" pitchFamily="34" charset="0"/>
            </a:endParaRPr>
          </a:p>
        </p:txBody>
      </p:sp>
      <p:sp>
        <p:nvSpPr>
          <p:cNvPr id="201" name="Text 199">
            <a:extLst>
              <a:ext uri="{FF2B5EF4-FFF2-40B4-BE49-F238E27FC236}">
                <a16:creationId xmlns:a16="http://schemas.microsoft.com/office/drawing/2014/main" id="{B39B1F72-00AD-BBC0-1CBB-EC6D98CFD317}"/>
              </a:ext>
            </a:extLst>
          </p:cNvPr>
          <p:cNvSpPr/>
          <p:nvPr/>
        </p:nvSpPr>
        <p:spPr>
          <a:xfrm>
            <a:off x="9015984" y="345643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CEO Office Hours Reporting</a:t>
            </a:r>
            <a:endParaRPr lang="en-US" sz="700">
              <a:latin typeface="IBM Plex Sans" panose="020B0503050203000203" pitchFamily="34" charset="0"/>
            </a:endParaRPr>
          </a:p>
        </p:txBody>
      </p:sp>
      <p:sp>
        <p:nvSpPr>
          <p:cNvPr id="202" name="Shape 200">
            <a:extLst>
              <a:ext uri="{FF2B5EF4-FFF2-40B4-BE49-F238E27FC236}">
                <a16:creationId xmlns:a16="http://schemas.microsoft.com/office/drawing/2014/main" id="{8353C8D6-7210-F67F-FBEB-8A5A91A18F30}"/>
              </a:ext>
            </a:extLst>
          </p:cNvPr>
          <p:cNvSpPr/>
          <p:nvPr/>
        </p:nvSpPr>
        <p:spPr>
          <a:xfrm>
            <a:off x="8979408" y="372160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03" name="Text 201">
            <a:extLst>
              <a:ext uri="{FF2B5EF4-FFF2-40B4-BE49-F238E27FC236}">
                <a16:creationId xmlns:a16="http://schemas.microsoft.com/office/drawing/2014/main" id="{9F09890A-99CC-9617-E0CF-87A1A981EB4D}"/>
              </a:ext>
            </a:extLst>
          </p:cNvPr>
          <p:cNvSpPr/>
          <p:nvPr/>
        </p:nvSpPr>
        <p:spPr>
          <a:xfrm>
            <a:off x="9015984" y="373989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#20</a:t>
            </a:r>
            <a:endParaRPr lang="en-US" sz="700">
              <a:latin typeface="IBM Plex Sans" panose="020B0503050203000203" pitchFamily="34" charset="0"/>
            </a:endParaRPr>
          </a:p>
        </p:txBody>
      </p:sp>
      <p:sp>
        <p:nvSpPr>
          <p:cNvPr id="206" name="Text 204">
            <a:extLst>
              <a:ext uri="{FF2B5EF4-FFF2-40B4-BE49-F238E27FC236}">
                <a16:creationId xmlns:a16="http://schemas.microsoft.com/office/drawing/2014/main" id="{CB8FD10A-1C60-1D11-7787-EE211556A12B}"/>
              </a:ext>
            </a:extLst>
          </p:cNvPr>
          <p:cNvSpPr/>
          <p:nvPr/>
        </p:nvSpPr>
        <p:spPr>
          <a:xfrm>
            <a:off x="9015984" y="386791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Unified Agent (Inn. Stu.)</a:t>
            </a:r>
            <a:endParaRPr lang="en-US" sz="700">
              <a:latin typeface="IBM Plex Sans" panose="020B0503050203000203" pitchFamily="34" charset="0"/>
            </a:endParaRPr>
          </a:p>
        </p:txBody>
      </p:sp>
      <p:sp>
        <p:nvSpPr>
          <p:cNvPr id="207" name="Shape 205">
            <a:extLst>
              <a:ext uri="{FF2B5EF4-FFF2-40B4-BE49-F238E27FC236}">
                <a16:creationId xmlns:a16="http://schemas.microsoft.com/office/drawing/2014/main" id="{6ED5201C-7FA3-708C-9BD7-D1299B842917}"/>
              </a:ext>
            </a:extLst>
          </p:cNvPr>
          <p:cNvSpPr/>
          <p:nvPr/>
        </p:nvSpPr>
        <p:spPr>
          <a:xfrm>
            <a:off x="8979408" y="413308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08" name="Text 206">
            <a:extLst>
              <a:ext uri="{FF2B5EF4-FFF2-40B4-BE49-F238E27FC236}">
                <a16:creationId xmlns:a16="http://schemas.microsoft.com/office/drawing/2014/main" id="{198936BB-52C3-C03E-C305-0A6C5F133163}"/>
              </a:ext>
            </a:extLst>
          </p:cNvPr>
          <p:cNvSpPr/>
          <p:nvPr/>
        </p:nvSpPr>
        <p:spPr>
          <a:xfrm>
            <a:off x="9015984" y="415137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#33</a:t>
            </a:r>
            <a:endParaRPr lang="en-US" sz="700">
              <a:latin typeface="IBM Plex Sans" panose="020B0503050203000203" pitchFamily="34" charset="0"/>
            </a:endParaRPr>
          </a:p>
        </p:txBody>
      </p:sp>
      <p:sp>
        <p:nvSpPr>
          <p:cNvPr id="211" name="Text 209">
            <a:extLst>
              <a:ext uri="{FF2B5EF4-FFF2-40B4-BE49-F238E27FC236}">
                <a16:creationId xmlns:a16="http://schemas.microsoft.com/office/drawing/2014/main" id="{94E7E35F-8B5D-52B0-22BB-B16FF671046A}"/>
              </a:ext>
            </a:extLst>
          </p:cNvPr>
          <p:cNvSpPr/>
          <p:nvPr/>
        </p:nvSpPr>
        <p:spPr>
          <a:xfrm>
            <a:off x="9015984" y="427939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Exec Narrative Intel</a:t>
            </a:r>
            <a:endParaRPr lang="en-US" sz="700">
              <a:latin typeface="IBM Plex Sans" panose="020B0503050203000203" pitchFamily="34" charset="0"/>
            </a:endParaRPr>
          </a:p>
        </p:txBody>
      </p:sp>
      <p:sp>
        <p:nvSpPr>
          <p:cNvPr id="212" name="Shape 210">
            <a:extLst>
              <a:ext uri="{FF2B5EF4-FFF2-40B4-BE49-F238E27FC236}">
                <a16:creationId xmlns:a16="http://schemas.microsoft.com/office/drawing/2014/main" id="{2C56F520-E346-550E-4052-221584709B8F}"/>
              </a:ext>
            </a:extLst>
          </p:cNvPr>
          <p:cNvSpPr/>
          <p:nvPr/>
        </p:nvSpPr>
        <p:spPr>
          <a:xfrm>
            <a:off x="8979408" y="454456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13" name="Text 211">
            <a:extLst>
              <a:ext uri="{FF2B5EF4-FFF2-40B4-BE49-F238E27FC236}">
                <a16:creationId xmlns:a16="http://schemas.microsoft.com/office/drawing/2014/main" id="{25E09470-FC99-3DB8-683F-F9FDABB9C89F}"/>
              </a:ext>
            </a:extLst>
          </p:cNvPr>
          <p:cNvSpPr/>
          <p:nvPr/>
        </p:nvSpPr>
        <p:spPr>
          <a:xfrm>
            <a:off x="9015984" y="456285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#34</a:t>
            </a:r>
            <a:endParaRPr lang="en-US" sz="700">
              <a:latin typeface="IBM Plex Sans" panose="020B0503050203000203" pitchFamily="34" charset="0"/>
            </a:endParaRPr>
          </a:p>
        </p:txBody>
      </p:sp>
      <p:sp>
        <p:nvSpPr>
          <p:cNvPr id="216" name="Text 214">
            <a:extLst>
              <a:ext uri="{FF2B5EF4-FFF2-40B4-BE49-F238E27FC236}">
                <a16:creationId xmlns:a16="http://schemas.microsoft.com/office/drawing/2014/main" id="{80CD758F-385C-540D-DDE3-6C0B5AB53223}"/>
              </a:ext>
            </a:extLst>
          </p:cNvPr>
          <p:cNvSpPr/>
          <p:nvPr/>
        </p:nvSpPr>
        <p:spPr>
          <a:xfrm>
            <a:off x="9015984" y="469087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Media Monitoring</a:t>
            </a:r>
            <a:endParaRPr lang="en-US" sz="700">
              <a:latin typeface="IBM Plex Sans" panose="020B0503050203000203" pitchFamily="34" charset="0"/>
            </a:endParaRPr>
          </a:p>
        </p:txBody>
      </p:sp>
      <p:sp>
        <p:nvSpPr>
          <p:cNvPr id="217" name="Shape 215">
            <a:extLst>
              <a:ext uri="{FF2B5EF4-FFF2-40B4-BE49-F238E27FC236}">
                <a16:creationId xmlns:a16="http://schemas.microsoft.com/office/drawing/2014/main" id="{88E1BF3B-D324-CF5F-F1D1-33ACF8C2CA8E}"/>
              </a:ext>
            </a:extLst>
          </p:cNvPr>
          <p:cNvSpPr/>
          <p:nvPr/>
        </p:nvSpPr>
        <p:spPr>
          <a:xfrm>
            <a:off x="10181844" y="166420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18" name="Text 216">
            <a:extLst>
              <a:ext uri="{FF2B5EF4-FFF2-40B4-BE49-F238E27FC236}">
                <a16:creationId xmlns:a16="http://schemas.microsoft.com/office/drawing/2014/main" id="{9F0D0BDE-BCD2-DC9A-43BF-17C7EB506E39}"/>
              </a:ext>
            </a:extLst>
          </p:cNvPr>
          <p:cNvSpPr/>
          <p:nvPr/>
        </p:nvSpPr>
        <p:spPr>
          <a:xfrm>
            <a:off x="10218420" y="168249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#35</a:t>
            </a:r>
            <a:endParaRPr lang="en-US" sz="700">
              <a:latin typeface="IBM Plex Sans" panose="020B0503050203000203" pitchFamily="34" charset="0"/>
            </a:endParaRPr>
          </a:p>
        </p:txBody>
      </p:sp>
      <p:sp>
        <p:nvSpPr>
          <p:cNvPr id="220" name="Text 218">
            <a:extLst>
              <a:ext uri="{FF2B5EF4-FFF2-40B4-BE49-F238E27FC236}">
                <a16:creationId xmlns:a16="http://schemas.microsoft.com/office/drawing/2014/main" id="{EC377AB2-3642-977E-3594-F565C4D75128}"/>
              </a:ext>
            </a:extLst>
          </p:cNvPr>
          <p:cNvSpPr/>
          <p:nvPr/>
        </p:nvSpPr>
        <p:spPr>
          <a:xfrm>
            <a:off x="11000232" y="1682496"/>
            <a:ext cx="256032" cy="128016"/>
          </a:xfrm>
          <a:prstGeom prst="rect">
            <a:avLst/>
          </a:prstGeom>
          <a:noFill/>
          <a:ln/>
        </p:spPr>
        <p:txBody>
          <a:bodyPr wrap="square" lIns="0" tIns="0" rIns="0" bIns="0" rtlCol="0" anchor="ctr"/>
          <a:lstStyle/>
          <a:p>
            <a:pPr marL="0" indent="0" algn="ctr">
              <a:buNone/>
            </a:pPr>
            <a:r>
              <a:rPr lang="en-US" sz="650" b="1">
                <a:solidFill>
                  <a:srgbClr val="FFFFFF"/>
                </a:solidFill>
                <a:latin typeface="IBM Plex Sans" panose="020B0503050203000203" pitchFamily="34" charset="0"/>
                <a:ea typeface="Arial" pitchFamily="34" charset="-122"/>
                <a:cs typeface="Arial" pitchFamily="34" charset="-120"/>
              </a:rPr>
              <a:t>W6</a:t>
            </a:r>
            <a:endParaRPr lang="en-US" sz="650">
              <a:latin typeface="IBM Plex Sans" panose="020B0503050203000203" pitchFamily="34" charset="0"/>
            </a:endParaRPr>
          </a:p>
        </p:txBody>
      </p:sp>
      <p:sp>
        <p:nvSpPr>
          <p:cNvPr id="221" name="Text 219">
            <a:extLst>
              <a:ext uri="{FF2B5EF4-FFF2-40B4-BE49-F238E27FC236}">
                <a16:creationId xmlns:a16="http://schemas.microsoft.com/office/drawing/2014/main" id="{3742072B-01E7-00C4-D871-D017C4D95226}"/>
              </a:ext>
            </a:extLst>
          </p:cNvPr>
          <p:cNvSpPr/>
          <p:nvPr/>
        </p:nvSpPr>
        <p:spPr>
          <a:xfrm>
            <a:off x="10218420" y="181051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Social Media Advocacy</a:t>
            </a:r>
            <a:endParaRPr lang="en-US" sz="700">
              <a:latin typeface="IBM Plex Sans" panose="020B0503050203000203" pitchFamily="34" charset="0"/>
            </a:endParaRPr>
          </a:p>
        </p:txBody>
      </p:sp>
      <p:sp>
        <p:nvSpPr>
          <p:cNvPr id="222" name="Shape 220">
            <a:extLst>
              <a:ext uri="{FF2B5EF4-FFF2-40B4-BE49-F238E27FC236}">
                <a16:creationId xmlns:a16="http://schemas.microsoft.com/office/drawing/2014/main" id="{2DDCD156-A723-CD2F-B722-3E466C381687}"/>
              </a:ext>
            </a:extLst>
          </p:cNvPr>
          <p:cNvSpPr/>
          <p:nvPr/>
        </p:nvSpPr>
        <p:spPr>
          <a:xfrm>
            <a:off x="10181844" y="207568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23" name="Text 221">
            <a:extLst>
              <a:ext uri="{FF2B5EF4-FFF2-40B4-BE49-F238E27FC236}">
                <a16:creationId xmlns:a16="http://schemas.microsoft.com/office/drawing/2014/main" id="{3D617903-9857-465D-6617-A6D81D1598D2}"/>
              </a:ext>
            </a:extLst>
          </p:cNvPr>
          <p:cNvSpPr/>
          <p:nvPr/>
        </p:nvSpPr>
        <p:spPr>
          <a:xfrm>
            <a:off x="10218420" y="209397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#36</a:t>
            </a:r>
            <a:endParaRPr lang="en-US" sz="700">
              <a:latin typeface="IBM Plex Sans" panose="020B0503050203000203" pitchFamily="34" charset="0"/>
            </a:endParaRPr>
          </a:p>
        </p:txBody>
      </p:sp>
      <p:sp>
        <p:nvSpPr>
          <p:cNvPr id="226" name="Text 224">
            <a:extLst>
              <a:ext uri="{FF2B5EF4-FFF2-40B4-BE49-F238E27FC236}">
                <a16:creationId xmlns:a16="http://schemas.microsoft.com/office/drawing/2014/main" id="{0DEA1565-BD69-4575-F684-705EE8945F4A}"/>
              </a:ext>
            </a:extLst>
          </p:cNvPr>
          <p:cNvSpPr/>
          <p:nvPr/>
        </p:nvSpPr>
        <p:spPr>
          <a:xfrm>
            <a:off x="10218420" y="222199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Scenario Planning</a:t>
            </a:r>
            <a:endParaRPr lang="en-US" sz="700">
              <a:latin typeface="IBM Plex Sans" panose="020B0503050203000203" pitchFamily="34" charset="0"/>
            </a:endParaRPr>
          </a:p>
        </p:txBody>
      </p:sp>
      <p:sp>
        <p:nvSpPr>
          <p:cNvPr id="227" name="Shape 225">
            <a:extLst>
              <a:ext uri="{FF2B5EF4-FFF2-40B4-BE49-F238E27FC236}">
                <a16:creationId xmlns:a16="http://schemas.microsoft.com/office/drawing/2014/main" id="{CFC0169F-EBD8-B295-6B0E-959485519891}"/>
              </a:ext>
            </a:extLst>
          </p:cNvPr>
          <p:cNvSpPr/>
          <p:nvPr/>
        </p:nvSpPr>
        <p:spPr>
          <a:xfrm>
            <a:off x="10181844" y="2487168"/>
            <a:ext cx="1129284" cy="365760"/>
          </a:xfrm>
          <a:prstGeom prst="rect">
            <a:avLst/>
          </a:prstGeom>
          <a:solidFill>
            <a:srgbClr val="FFFFFF"/>
          </a:solidFill>
          <a:ln w="15240">
            <a:solidFill>
              <a:srgbClr val="78A9FF"/>
            </a:solidFill>
            <a:prstDash val="solid"/>
          </a:ln>
        </p:spPr>
        <p:txBody>
          <a:bodyPr/>
          <a:lstStyle/>
          <a:p>
            <a:endParaRPr lang="en-US">
              <a:latin typeface="IBM Plex Sans" panose="020B0503050203000203" pitchFamily="34" charset="0"/>
            </a:endParaRPr>
          </a:p>
        </p:txBody>
      </p:sp>
      <p:sp>
        <p:nvSpPr>
          <p:cNvPr id="228" name="Text 226">
            <a:extLst>
              <a:ext uri="{FF2B5EF4-FFF2-40B4-BE49-F238E27FC236}">
                <a16:creationId xmlns:a16="http://schemas.microsoft.com/office/drawing/2014/main" id="{169ACF9E-F1CF-40C1-03A2-BB94EBC16B21}"/>
              </a:ext>
            </a:extLst>
          </p:cNvPr>
          <p:cNvSpPr/>
          <p:nvPr/>
        </p:nvSpPr>
        <p:spPr>
          <a:xfrm>
            <a:off x="10218420" y="250545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#28</a:t>
            </a:r>
            <a:endParaRPr lang="en-US" sz="700">
              <a:latin typeface="IBM Plex Sans" panose="020B0503050203000203" pitchFamily="34" charset="0"/>
            </a:endParaRPr>
          </a:p>
        </p:txBody>
      </p:sp>
      <p:sp>
        <p:nvSpPr>
          <p:cNvPr id="231" name="Text 229">
            <a:extLst>
              <a:ext uri="{FF2B5EF4-FFF2-40B4-BE49-F238E27FC236}">
                <a16:creationId xmlns:a16="http://schemas.microsoft.com/office/drawing/2014/main" id="{43EC9CA4-2E5F-2682-89D3-FAD8DD594EC7}"/>
              </a:ext>
            </a:extLst>
          </p:cNvPr>
          <p:cNvSpPr/>
          <p:nvPr/>
        </p:nvSpPr>
        <p:spPr>
          <a:xfrm>
            <a:off x="10218420" y="263347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Exec &amp; Account Leader Briefer</a:t>
            </a:r>
            <a:endParaRPr lang="en-US" sz="700">
              <a:latin typeface="IBM Plex Sans" panose="020B0503050203000203" pitchFamily="34" charset="0"/>
            </a:endParaRPr>
          </a:p>
        </p:txBody>
      </p:sp>
      <p:sp>
        <p:nvSpPr>
          <p:cNvPr id="232" name="Shape 230">
            <a:extLst>
              <a:ext uri="{FF2B5EF4-FFF2-40B4-BE49-F238E27FC236}">
                <a16:creationId xmlns:a16="http://schemas.microsoft.com/office/drawing/2014/main" id="{28B390CD-A8A8-9F4D-D901-9C5815E85127}"/>
              </a:ext>
            </a:extLst>
          </p:cNvPr>
          <p:cNvSpPr/>
          <p:nvPr/>
        </p:nvSpPr>
        <p:spPr>
          <a:xfrm>
            <a:off x="10181844" y="2898648"/>
            <a:ext cx="1129284" cy="365760"/>
          </a:xfrm>
          <a:prstGeom prst="rect">
            <a:avLst/>
          </a:prstGeom>
          <a:solidFill>
            <a:srgbClr val="FFFFFF"/>
          </a:solidFill>
          <a:ln w="15240">
            <a:solidFill>
              <a:srgbClr val="4589FF"/>
            </a:solidFill>
            <a:prstDash val="solid"/>
          </a:ln>
        </p:spPr>
        <p:txBody>
          <a:bodyPr/>
          <a:lstStyle/>
          <a:p>
            <a:endParaRPr lang="en-US">
              <a:latin typeface="IBM Plex Sans" panose="020B0503050203000203" pitchFamily="34" charset="0"/>
            </a:endParaRPr>
          </a:p>
        </p:txBody>
      </p:sp>
      <p:sp>
        <p:nvSpPr>
          <p:cNvPr id="233" name="Text 231">
            <a:extLst>
              <a:ext uri="{FF2B5EF4-FFF2-40B4-BE49-F238E27FC236}">
                <a16:creationId xmlns:a16="http://schemas.microsoft.com/office/drawing/2014/main" id="{6F017166-C75C-DF82-D324-43C39B081972}"/>
              </a:ext>
            </a:extLst>
          </p:cNvPr>
          <p:cNvSpPr/>
          <p:nvPr/>
        </p:nvSpPr>
        <p:spPr>
          <a:xfrm>
            <a:off x="10218420" y="291693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#37</a:t>
            </a:r>
            <a:endParaRPr lang="en-US" sz="700">
              <a:latin typeface="IBM Plex Sans" panose="020B0503050203000203" pitchFamily="34" charset="0"/>
            </a:endParaRPr>
          </a:p>
        </p:txBody>
      </p:sp>
      <p:sp>
        <p:nvSpPr>
          <p:cNvPr id="236" name="Text 234">
            <a:extLst>
              <a:ext uri="{FF2B5EF4-FFF2-40B4-BE49-F238E27FC236}">
                <a16:creationId xmlns:a16="http://schemas.microsoft.com/office/drawing/2014/main" id="{451D64BD-1D58-41FA-A944-AB84A39C5EFB}"/>
              </a:ext>
            </a:extLst>
          </p:cNvPr>
          <p:cNvSpPr/>
          <p:nvPr/>
        </p:nvSpPr>
        <p:spPr>
          <a:xfrm>
            <a:off x="10218420" y="304495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Tech Capability Intake</a:t>
            </a:r>
            <a:endParaRPr lang="en-US" sz="700">
              <a:latin typeface="IBM Plex Sans" panose="020B0503050203000203" pitchFamily="34" charset="0"/>
            </a:endParaRPr>
          </a:p>
        </p:txBody>
      </p:sp>
      <p:sp>
        <p:nvSpPr>
          <p:cNvPr id="237" name="Shape 235">
            <a:extLst>
              <a:ext uri="{FF2B5EF4-FFF2-40B4-BE49-F238E27FC236}">
                <a16:creationId xmlns:a16="http://schemas.microsoft.com/office/drawing/2014/main" id="{7CE74B02-B3DE-5A13-983D-2C29DCB69D9C}"/>
              </a:ext>
            </a:extLst>
          </p:cNvPr>
          <p:cNvSpPr/>
          <p:nvPr/>
        </p:nvSpPr>
        <p:spPr>
          <a:xfrm>
            <a:off x="10181844" y="3310128"/>
            <a:ext cx="1129284" cy="365760"/>
          </a:xfrm>
          <a:prstGeom prst="rect">
            <a:avLst/>
          </a:prstGeom>
          <a:solidFill>
            <a:srgbClr val="FFFFFF"/>
          </a:solidFill>
          <a:ln w="15240">
            <a:solidFill>
              <a:srgbClr val="78A9FF"/>
            </a:solidFill>
            <a:prstDash val="solid"/>
          </a:ln>
        </p:spPr>
        <p:txBody>
          <a:bodyPr/>
          <a:lstStyle/>
          <a:p>
            <a:endParaRPr lang="en-US">
              <a:latin typeface="IBM Plex Sans" panose="020B0503050203000203" pitchFamily="34" charset="0"/>
            </a:endParaRPr>
          </a:p>
        </p:txBody>
      </p:sp>
      <p:sp>
        <p:nvSpPr>
          <p:cNvPr id="238" name="Text 236">
            <a:extLst>
              <a:ext uri="{FF2B5EF4-FFF2-40B4-BE49-F238E27FC236}">
                <a16:creationId xmlns:a16="http://schemas.microsoft.com/office/drawing/2014/main" id="{68E91436-CF74-E82B-277E-2D4FFE231BC1}"/>
              </a:ext>
            </a:extLst>
          </p:cNvPr>
          <p:cNvSpPr/>
          <p:nvPr/>
        </p:nvSpPr>
        <p:spPr>
          <a:xfrm>
            <a:off x="10218420" y="332841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#39</a:t>
            </a:r>
            <a:endParaRPr lang="en-US" sz="700">
              <a:latin typeface="IBM Plex Sans" panose="020B0503050203000203" pitchFamily="34" charset="0"/>
            </a:endParaRPr>
          </a:p>
        </p:txBody>
      </p:sp>
      <p:sp>
        <p:nvSpPr>
          <p:cNvPr id="241" name="Text 239">
            <a:extLst>
              <a:ext uri="{FF2B5EF4-FFF2-40B4-BE49-F238E27FC236}">
                <a16:creationId xmlns:a16="http://schemas.microsoft.com/office/drawing/2014/main" id="{2FBDC9A0-13FE-6C1C-BE5B-0F9528406188}"/>
              </a:ext>
            </a:extLst>
          </p:cNvPr>
          <p:cNvSpPr/>
          <p:nvPr/>
        </p:nvSpPr>
        <p:spPr>
          <a:xfrm>
            <a:off x="10218420" y="345643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Press Release Orch</a:t>
            </a:r>
            <a:endParaRPr lang="en-US" sz="700">
              <a:latin typeface="IBM Plex Sans" panose="020B0503050203000203" pitchFamily="34" charset="0"/>
            </a:endParaRPr>
          </a:p>
        </p:txBody>
      </p:sp>
      <p:sp>
        <p:nvSpPr>
          <p:cNvPr id="242" name="Shape 240">
            <a:extLst>
              <a:ext uri="{FF2B5EF4-FFF2-40B4-BE49-F238E27FC236}">
                <a16:creationId xmlns:a16="http://schemas.microsoft.com/office/drawing/2014/main" id="{1CF72339-18A6-0BBB-C092-DA681B195187}"/>
              </a:ext>
            </a:extLst>
          </p:cNvPr>
          <p:cNvSpPr/>
          <p:nvPr/>
        </p:nvSpPr>
        <p:spPr>
          <a:xfrm>
            <a:off x="10181844" y="3721608"/>
            <a:ext cx="1129284" cy="365760"/>
          </a:xfrm>
          <a:prstGeom prst="rect">
            <a:avLst/>
          </a:prstGeom>
          <a:solidFill>
            <a:srgbClr val="FFFFFF"/>
          </a:solidFill>
          <a:ln w="15240">
            <a:solidFill>
              <a:srgbClr val="78A9FF"/>
            </a:solidFill>
            <a:prstDash val="solid"/>
          </a:ln>
        </p:spPr>
        <p:txBody>
          <a:bodyPr/>
          <a:lstStyle/>
          <a:p>
            <a:endParaRPr lang="en-US">
              <a:latin typeface="IBM Plex Sans" panose="020B0503050203000203" pitchFamily="34" charset="0"/>
            </a:endParaRPr>
          </a:p>
        </p:txBody>
      </p:sp>
      <p:sp>
        <p:nvSpPr>
          <p:cNvPr id="243" name="Text 241">
            <a:extLst>
              <a:ext uri="{FF2B5EF4-FFF2-40B4-BE49-F238E27FC236}">
                <a16:creationId xmlns:a16="http://schemas.microsoft.com/office/drawing/2014/main" id="{35D5783F-AC81-4C0E-2809-6D380D26A137}"/>
              </a:ext>
            </a:extLst>
          </p:cNvPr>
          <p:cNvSpPr/>
          <p:nvPr/>
        </p:nvSpPr>
        <p:spPr>
          <a:xfrm>
            <a:off x="10218420" y="373989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#40</a:t>
            </a:r>
            <a:endParaRPr lang="en-US" sz="700">
              <a:latin typeface="IBM Plex Sans" panose="020B0503050203000203" pitchFamily="34" charset="0"/>
            </a:endParaRPr>
          </a:p>
        </p:txBody>
      </p:sp>
      <p:sp>
        <p:nvSpPr>
          <p:cNvPr id="246" name="Text 244">
            <a:extLst>
              <a:ext uri="{FF2B5EF4-FFF2-40B4-BE49-F238E27FC236}">
                <a16:creationId xmlns:a16="http://schemas.microsoft.com/office/drawing/2014/main" id="{815BECD7-8E07-A6C1-B5F3-84552F1B4B1E}"/>
              </a:ext>
            </a:extLst>
          </p:cNvPr>
          <p:cNvSpPr/>
          <p:nvPr/>
        </p:nvSpPr>
        <p:spPr>
          <a:xfrm>
            <a:off x="10218420" y="386791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Chatbot Expansion</a:t>
            </a:r>
            <a:endParaRPr lang="en-US" sz="700">
              <a:latin typeface="IBM Plex Sans" panose="020B0503050203000203" pitchFamily="34" charset="0"/>
            </a:endParaRPr>
          </a:p>
        </p:txBody>
      </p:sp>
      <p:sp>
        <p:nvSpPr>
          <p:cNvPr id="247" name="Shape 245">
            <a:extLst>
              <a:ext uri="{FF2B5EF4-FFF2-40B4-BE49-F238E27FC236}">
                <a16:creationId xmlns:a16="http://schemas.microsoft.com/office/drawing/2014/main" id="{74611DE7-5EB9-3854-8423-C154FF773255}"/>
              </a:ext>
            </a:extLst>
          </p:cNvPr>
          <p:cNvSpPr/>
          <p:nvPr/>
        </p:nvSpPr>
        <p:spPr>
          <a:xfrm>
            <a:off x="10181844" y="4133088"/>
            <a:ext cx="1129284" cy="365760"/>
          </a:xfrm>
          <a:prstGeom prst="rect">
            <a:avLst/>
          </a:prstGeom>
          <a:solidFill>
            <a:srgbClr val="FFFFFF"/>
          </a:solidFill>
          <a:ln w="15240">
            <a:solidFill>
              <a:srgbClr val="78A9FF"/>
            </a:solidFill>
            <a:prstDash val="solid"/>
          </a:ln>
        </p:spPr>
        <p:txBody>
          <a:bodyPr/>
          <a:lstStyle/>
          <a:p>
            <a:endParaRPr lang="en-US">
              <a:latin typeface="IBM Plex Sans" panose="020B0503050203000203" pitchFamily="34" charset="0"/>
            </a:endParaRPr>
          </a:p>
        </p:txBody>
      </p:sp>
      <p:sp>
        <p:nvSpPr>
          <p:cNvPr id="248" name="Text 246">
            <a:extLst>
              <a:ext uri="{FF2B5EF4-FFF2-40B4-BE49-F238E27FC236}">
                <a16:creationId xmlns:a16="http://schemas.microsoft.com/office/drawing/2014/main" id="{D8DA919F-30D9-C11E-3ABB-AF68ABECE51B}"/>
              </a:ext>
            </a:extLst>
          </p:cNvPr>
          <p:cNvSpPr/>
          <p:nvPr/>
        </p:nvSpPr>
        <p:spPr>
          <a:xfrm>
            <a:off x="10218420" y="4151376"/>
            <a:ext cx="274320" cy="128016"/>
          </a:xfrm>
          <a:prstGeom prst="rect">
            <a:avLst/>
          </a:prstGeom>
          <a:noFill/>
          <a:ln/>
        </p:spPr>
        <p:txBody>
          <a:bodyPr wrap="square" lIns="0" tIns="0" rIns="0" bIns="0" rtlCol="0" anchor="ctr"/>
          <a:lstStyle/>
          <a:p>
            <a:pPr marL="0" indent="0">
              <a:buNone/>
            </a:pPr>
            <a:r>
              <a:rPr lang="en-US" sz="700" b="1">
                <a:solidFill>
                  <a:srgbClr val="002D9C"/>
                </a:solidFill>
                <a:latin typeface="IBM Plex Sans" panose="020B0503050203000203" pitchFamily="34" charset="0"/>
                <a:ea typeface="Arial" pitchFamily="34" charset="-122"/>
                <a:cs typeface="Arial" pitchFamily="34" charset="-120"/>
              </a:rPr>
              <a:t>#41</a:t>
            </a:r>
            <a:endParaRPr lang="en-US" sz="700">
              <a:latin typeface="IBM Plex Sans" panose="020B0503050203000203" pitchFamily="34" charset="0"/>
            </a:endParaRPr>
          </a:p>
        </p:txBody>
      </p:sp>
      <p:sp>
        <p:nvSpPr>
          <p:cNvPr id="251" name="Text 249">
            <a:extLst>
              <a:ext uri="{FF2B5EF4-FFF2-40B4-BE49-F238E27FC236}">
                <a16:creationId xmlns:a16="http://schemas.microsoft.com/office/drawing/2014/main" id="{5A39825A-70A8-DDB8-3DB3-2638F5F2337A}"/>
              </a:ext>
            </a:extLst>
          </p:cNvPr>
          <p:cNvSpPr/>
          <p:nvPr/>
        </p:nvSpPr>
        <p:spPr>
          <a:xfrm>
            <a:off x="10218420" y="4279392"/>
            <a:ext cx="1056132" cy="201168"/>
          </a:xfrm>
          <a:prstGeom prst="rect">
            <a:avLst/>
          </a:prstGeom>
          <a:noFill/>
          <a:ln/>
        </p:spPr>
        <p:txBody>
          <a:bodyPr wrap="square" lIns="0" tIns="0" rIns="0" bIns="0" rtlCol="0" anchor="t"/>
          <a:lstStyle/>
          <a:p>
            <a:pPr marL="0" indent="0">
              <a:buNone/>
            </a:pPr>
            <a:r>
              <a:rPr lang="en-US" sz="700">
                <a:solidFill>
                  <a:srgbClr val="001D6C"/>
                </a:solidFill>
                <a:latin typeface="IBM Plex Sans" panose="020B0503050203000203" pitchFamily="34" charset="0"/>
                <a:ea typeface="Arial" pitchFamily="34" charset="-122"/>
                <a:cs typeface="Arial" pitchFamily="34" charset="-120"/>
              </a:rPr>
              <a:t>HC Optimization &amp; Workforce</a:t>
            </a:r>
            <a:endParaRPr lang="en-US" sz="700">
              <a:latin typeface="IBM Plex Sans" panose="020B0503050203000203" pitchFamily="34" charset="0"/>
            </a:endParaRPr>
          </a:p>
        </p:txBody>
      </p:sp>
      <p:sp>
        <p:nvSpPr>
          <p:cNvPr id="267" name="Text 265">
            <a:extLst>
              <a:ext uri="{FF2B5EF4-FFF2-40B4-BE49-F238E27FC236}">
                <a16:creationId xmlns:a16="http://schemas.microsoft.com/office/drawing/2014/main" id="{BA245EB6-EE0D-3650-81CE-4C91879F6BC2}"/>
              </a:ext>
            </a:extLst>
          </p:cNvPr>
          <p:cNvSpPr/>
          <p:nvPr/>
        </p:nvSpPr>
        <p:spPr>
          <a:xfrm>
            <a:off x="457200" y="6172200"/>
            <a:ext cx="10058400" cy="274320"/>
          </a:xfrm>
          <a:prstGeom prst="rect">
            <a:avLst/>
          </a:prstGeom>
          <a:noFill/>
          <a:ln/>
        </p:spPr>
        <p:txBody>
          <a:bodyPr wrap="square" lIns="0" tIns="0" rIns="0" bIns="0" rtlCol="0" anchor="ctr"/>
          <a:lstStyle/>
          <a:p>
            <a:pPr marL="0" indent="0">
              <a:buNone/>
            </a:pPr>
            <a:r>
              <a:rPr lang="en-US" sz="1000" b="1" i="1">
                <a:solidFill>
                  <a:srgbClr val="001D6C"/>
                </a:solidFill>
                <a:latin typeface="IBM Plex Sans" panose="020B0503050203000203" pitchFamily="34" charset="0"/>
                <a:ea typeface="Georgia" pitchFamily="34" charset="-122"/>
                <a:cs typeface="Georgia" pitchFamily="34" charset="-120"/>
              </a:rPr>
              <a:t>Living roadmap with quarterly reassessment. Backlog items may be team-driven, self-service, or deferred per governance review.</a:t>
            </a:r>
            <a:endParaRPr lang="en-US" sz="1000">
              <a:latin typeface="IBM Plex Sans" panose="020B0503050203000203" pitchFamily="34" charset="0"/>
            </a:endParaRPr>
          </a:p>
        </p:txBody>
      </p:sp>
      <p:sp>
        <p:nvSpPr>
          <p:cNvPr id="268" name="Text 266">
            <a:extLst>
              <a:ext uri="{FF2B5EF4-FFF2-40B4-BE49-F238E27FC236}">
                <a16:creationId xmlns:a16="http://schemas.microsoft.com/office/drawing/2014/main" id="{F23207D7-7023-A60E-DD60-2C5156E503F1}"/>
              </a:ext>
            </a:extLst>
          </p:cNvPr>
          <p:cNvSpPr/>
          <p:nvPr/>
        </p:nvSpPr>
        <p:spPr>
          <a:xfrm>
            <a:off x="457200" y="6492240"/>
            <a:ext cx="2743200" cy="182880"/>
          </a:xfrm>
          <a:prstGeom prst="rect">
            <a:avLst/>
          </a:prstGeom>
          <a:noFill/>
          <a:ln/>
        </p:spPr>
        <p:txBody>
          <a:bodyPr wrap="square" lIns="0" tIns="0" rIns="0" bIns="0" rtlCol="0" anchor="ctr"/>
          <a:lstStyle/>
          <a:p>
            <a:pPr marL="0" indent="0">
              <a:buNone/>
            </a:pPr>
            <a:r>
              <a:rPr lang="en-US" sz="700">
                <a:solidFill>
                  <a:srgbClr val="A8A8A8"/>
                </a:solidFill>
                <a:latin typeface="IBM Plex Sans" panose="020B0503050203000203" pitchFamily="34" charset="0"/>
                <a:ea typeface="Arial" pitchFamily="34" charset="-122"/>
                <a:cs typeface="Arial" pitchFamily="34" charset="-120"/>
              </a:rPr>
              <a:t>IBM Confidential</a:t>
            </a:r>
            <a:endParaRPr lang="en-US" sz="700">
              <a:latin typeface="IBM Plex Sans" panose="020B0503050203000203" pitchFamily="34" charset="0"/>
            </a:endParaRPr>
          </a:p>
        </p:txBody>
      </p:sp>
      <p:sp>
        <p:nvSpPr>
          <p:cNvPr id="269" name="Text 267">
            <a:extLst>
              <a:ext uri="{FF2B5EF4-FFF2-40B4-BE49-F238E27FC236}">
                <a16:creationId xmlns:a16="http://schemas.microsoft.com/office/drawing/2014/main" id="{4C59CA0A-3DF2-ABCB-8734-60C95DC67D27}"/>
              </a:ext>
            </a:extLst>
          </p:cNvPr>
          <p:cNvSpPr/>
          <p:nvPr/>
        </p:nvSpPr>
        <p:spPr>
          <a:xfrm>
            <a:off x="10058400" y="6492240"/>
            <a:ext cx="1828800" cy="182880"/>
          </a:xfrm>
          <a:prstGeom prst="rect">
            <a:avLst/>
          </a:prstGeom>
          <a:noFill/>
          <a:ln/>
        </p:spPr>
        <p:txBody>
          <a:bodyPr wrap="square" lIns="0" tIns="0" rIns="0" bIns="0" rtlCol="0" anchor="ctr"/>
          <a:lstStyle/>
          <a:p>
            <a:pPr marL="0" indent="0" algn="r">
              <a:buNone/>
            </a:pPr>
            <a:r>
              <a:rPr lang="en-US" sz="700" dirty="0">
                <a:solidFill>
                  <a:srgbClr val="A8A8A8"/>
                </a:solidFill>
                <a:latin typeface="IBM Plex Sans" panose="020B0503050203000203" pitchFamily="34" charset="0"/>
                <a:ea typeface="Arial" pitchFamily="34" charset="-122"/>
                <a:cs typeface="Arial" pitchFamily="34" charset="-120"/>
              </a:rPr>
              <a:t>DRAFT</a:t>
            </a:r>
            <a:endParaRPr lang="en-US" sz="700" dirty="0">
              <a:latin typeface="IBM Plex Sans" panose="020B0503050203000203" pitchFamily="34" charset="0"/>
            </a:endParaRPr>
          </a:p>
        </p:txBody>
      </p:sp>
      <p:sp>
        <p:nvSpPr>
          <p:cNvPr id="275" name="Text 255">
            <a:extLst>
              <a:ext uri="{FF2B5EF4-FFF2-40B4-BE49-F238E27FC236}">
                <a16:creationId xmlns:a16="http://schemas.microsoft.com/office/drawing/2014/main" id="{64F03D6F-45D4-8AE6-1994-FE05B2A4B1F1}"/>
              </a:ext>
            </a:extLst>
          </p:cNvPr>
          <p:cNvSpPr/>
          <p:nvPr/>
        </p:nvSpPr>
        <p:spPr>
          <a:xfrm>
            <a:off x="2206029" y="5914725"/>
            <a:ext cx="1005840" cy="164592"/>
          </a:xfrm>
          <a:prstGeom prst="rect">
            <a:avLst/>
          </a:prstGeom>
          <a:noFill/>
          <a:ln/>
        </p:spPr>
        <p:txBody>
          <a:bodyPr wrap="square" lIns="0" tIns="0" rIns="0" bIns="0" rtlCol="0" anchor="ctr"/>
          <a:lstStyle/>
          <a:p>
            <a:pPr marL="0" indent="0">
              <a:buNone/>
            </a:pPr>
            <a:endParaRPr lang="en-US" sz="2000">
              <a:latin typeface="IBM Plex Sans" panose="020B0503050203000203" pitchFamily="34" charset="0"/>
            </a:endParaRPr>
          </a:p>
        </p:txBody>
      </p:sp>
      <p:sp>
        <p:nvSpPr>
          <p:cNvPr id="278" name="Text 258">
            <a:extLst>
              <a:ext uri="{FF2B5EF4-FFF2-40B4-BE49-F238E27FC236}">
                <a16:creationId xmlns:a16="http://schemas.microsoft.com/office/drawing/2014/main" id="{66039270-FAD2-16D6-A580-C14B08374282}"/>
              </a:ext>
            </a:extLst>
          </p:cNvPr>
          <p:cNvSpPr/>
          <p:nvPr/>
        </p:nvSpPr>
        <p:spPr>
          <a:xfrm>
            <a:off x="3577629" y="5914725"/>
            <a:ext cx="1005840" cy="164592"/>
          </a:xfrm>
          <a:prstGeom prst="rect">
            <a:avLst/>
          </a:prstGeom>
          <a:noFill/>
          <a:ln/>
        </p:spPr>
        <p:txBody>
          <a:bodyPr wrap="square" lIns="0" tIns="0" rIns="0" bIns="0" rtlCol="0" anchor="ctr"/>
          <a:lstStyle/>
          <a:p>
            <a:pPr marL="0" indent="0">
              <a:buNone/>
            </a:pPr>
            <a:endParaRPr lang="en-US" sz="2000">
              <a:latin typeface="IBM Plex Sans" panose="020B0503050203000203" pitchFamily="34" charset="0"/>
            </a:endParaRPr>
          </a:p>
        </p:txBody>
      </p:sp>
      <p:sp>
        <p:nvSpPr>
          <p:cNvPr id="281" name="Text 261">
            <a:extLst>
              <a:ext uri="{FF2B5EF4-FFF2-40B4-BE49-F238E27FC236}">
                <a16:creationId xmlns:a16="http://schemas.microsoft.com/office/drawing/2014/main" id="{39DC0C68-C5BC-D4CB-2206-89A30F1977BF}"/>
              </a:ext>
            </a:extLst>
          </p:cNvPr>
          <p:cNvSpPr/>
          <p:nvPr/>
        </p:nvSpPr>
        <p:spPr>
          <a:xfrm>
            <a:off x="4949229" y="5914725"/>
            <a:ext cx="1005840" cy="164592"/>
          </a:xfrm>
          <a:prstGeom prst="rect">
            <a:avLst/>
          </a:prstGeom>
          <a:noFill/>
          <a:ln/>
        </p:spPr>
        <p:txBody>
          <a:bodyPr wrap="square" lIns="0" tIns="0" rIns="0" bIns="0" rtlCol="0" anchor="ctr"/>
          <a:lstStyle/>
          <a:p>
            <a:pPr marL="0" indent="0">
              <a:buNone/>
            </a:pPr>
            <a:endParaRPr lang="en-US" sz="2000">
              <a:latin typeface="IBM Plex Sans" panose="020B0503050203000203" pitchFamily="34" charset="0"/>
            </a:endParaRPr>
          </a:p>
        </p:txBody>
      </p:sp>
      <p:sp>
        <p:nvSpPr>
          <p:cNvPr id="284" name="Text 264">
            <a:extLst>
              <a:ext uri="{FF2B5EF4-FFF2-40B4-BE49-F238E27FC236}">
                <a16:creationId xmlns:a16="http://schemas.microsoft.com/office/drawing/2014/main" id="{FEA734AA-6174-B0F4-4EA5-67222A94024F}"/>
              </a:ext>
            </a:extLst>
          </p:cNvPr>
          <p:cNvSpPr/>
          <p:nvPr/>
        </p:nvSpPr>
        <p:spPr>
          <a:xfrm>
            <a:off x="6320829" y="5914725"/>
            <a:ext cx="1005840" cy="164592"/>
          </a:xfrm>
          <a:prstGeom prst="rect">
            <a:avLst/>
          </a:prstGeom>
          <a:noFill/>
          <a:ln/>
        </p:spPr>
        <p:txBody>
          <a:bodyPr wrap="square" lIns="0" tIns="0" rIns="0" bIns="0" rtlCol="0" anchor="ctr"/>
          <a:lstStyle/>
          <a:p>
            <a:pPr marL="0" indent="0">
              <a:buNone/>
            </a:pPr>
            <a:endParaRPr lang="en-US" sz="2000">
              <a:latin typeface="IBM Plex Sans" panose="020B0503050203000203" pitchFamily="34" charset="0"/>
            </a:endParaRPr>
          </a:p>
        </p:txBody>
      </p:sp>
      <p:grpSp>
        <p:nvGrpSpPr>
          <p:cNvPr id="285" name="Group 284">
            <a:extLst>
              <a:ext uri="{FF2B5EF4-FFF2-40B4-BE49-F238E27FC236}">
                <a16:creationId xmlns:a16="http://schemas.microsoft.com/office/drawing/2014/main" id="{1B8E3298-C8DB-F9FE-C2AE-9866AE1B806F}"/>
              </a:ext>
            </a:extLst>
          </p:cNvPr>
          <p:cNvGrpSpPr/>
          <p:nvPr/>
        </p:nvGrpSpPr>
        <p:grpSpPr>
          <a:xfrm>
            <a:off x="457200" y="5852160"/>
            <a:ext cx="6812280" cy="164592"/>
            <a:chOff x="514389" y="5687568"/>
            <a:chExt cx="6812280" cy="164592"/>
          </a:xfrm>
        </p:grpSpPr>
        <p:sp>
          <p:nvSpPr>
            <p:cNvPr id="40" name="Shape 250">
              <a:extLst>
                <a:ext uri="{FF2B5EF4-FFF2-40B4-BE49-F238E27FC236}">
                  <a16:creationId xmlns:a16="http://schemas.microsoft.com/office/drawing/2014/main" id="{843ABC45-26CD-B801-F5DB-072F479A0D0A}"/>
                </a:ext>
              </a:extLst>
            </p:cNvPr>
            <p:cNvSpPr/>
            <p:nvPr/>
          </p:nvSpPr>
          <p:spPr>
            <a:xfrm>
              <a:off x="514389" y="5687568"/>
              <a:ext cx="274320" cy="164592"/>
            </a:xfrm>
            <a:prstGeom prst="rect">
              <a:avLst/>
            </a:prstGeom>
            <a:solidFill>
              <a:srgbClr val="001D6C"/>
            </a:solidFill>
            <a:ln/>
          </p:spPr>
          <p:txBody>
            <a:bodyPr/>
            <a:lstStyle/>
            <a:p>
              <a:endParaRPr lang="en-US" sz="3200">
                <a:latin typeface="IBM Plex Sans" panose="020B0503050203000203" pitchFamily="34" charset="0"/>
              </a:endParaRPr>
            </a:p>
          </p:txBody>
        </p:sp>
        <p:sp>
          <p:nvSpPr>
            <p:cNvPr id="41" name="Text 251">
              <a:extLst>
                <a:ext uri="{FF2B5EF4-FFF2-40B4-BE49-F238E27FC236}">
                  <a16:creationId xmlns:a16="http://schemas.microsoft.com/office/drawing/2014/main" id="{7B982C47-F544-008A-3E9F-987A4512A443}"/>
                </a:ext>
              </a:extLst>
            </p:cNvPr>
            <p:cNvSpPr/>
            <p:nvPr/>
          </p:nvSpPr>
          <p:spPr>
            <a:xfrm>
              <a:off x="514389" y="5687568"/>
              <a:ext cx="274320" cy="164592"/>
            </a:xfrm>
            <a:prstGeom prst="rect">
              <a:avLst/>
            </a:prstGeom>
            <a:noFill/>
            <a:ln/>
          </p:spPr>
          <p:txBody>
            <a:bodyPr wrap="square" lIns="0" tIns="0" rIns="0" bIns="0" rtlCol="0" anchor="ctr"/>
            <a:lstStyle/>
            <a:p>
              <a:pPr marL="0" indent="0" algn="ctr">
                <a:buNone/>
              </a:pPr>
              <a:r>
                <a:rPr lang="en-US" sz="1050" b="1">
                  <a:solidFill>
                    <a:srgbClr val="FFFFFF"/>
                  </a:solidFill>
                  <a:latin typeface="IBM Plex Sans" panose="020B0503050203000203" pitchFamily="34" charset="0"/>
                  <a:ea typeface="Arial" pitchFamily="34" charset="-122"/>
                  <a:cs typeface="Arial" pitchFamily="34" charset="-120"/>
                </a:rPr>
                <a:t>W3</a:t>
              </a:r>
              <a:endParaRPr lang="en-US" sz="1050">
                <a:latin typeface="IBM Plex Sans" panose="020B0503050203000203" pitchFamily="34" charset="0"/>
              </a:endParaRPr>
            </a:p>
          </p:txBody>
        </p:sp>
        <p:sp>
          <p:nvSpPr>
            <p:cNvPr id="60" name="Text 252">
              <a:extLst>
                <a:ext uri="{FF2B5EF4-FFF2-40B4-BE49-F238E27FC236}">
                  <a16:creationId xmlns:a16="http://schemas.microsoft.com/office/drawing/2014/main" id="{22700715-04FB-1E7A-7B60-D367AA79916F}"/>
                </a:ext>
              </a:extLst>
            </p:cNvPr>
            <p:cNvSpPr/>
            <p:nvPr/>
          </p:nvSpPr>
          <p:spPr>
            <a:xfrm>
              <a:off x="834429" y="5687568"/>
              <a:ext cx="1005840" cy="164592"/>
            </a:xfrm>
            <a:prstGeom prst="rect">
              <a:avLst/>
            </a:prstGeom>
            <a:noFill/>
            <a:ln/>
          </p:spPr>
          <p:txBody>
            <a:bodyPr wrap="square" lIns="0" tIns="0" rIns="0" bIns="0" rtlCol="0" anchor="ctr"/>
            <a:lstStyle/>
            <a:p>
              <a:pPr marL="0" indent="0">
                <a:buNone/>
              </a:pPr>
              <a:r>
                <a:rPr lang="en-US" sz="1050">
                  <a:solidFill>
                    <a:srgbClr val="525252"/>
                  </a:solidFill>
                  <a:latin typeface="IBM Plex Sans" panose="020B0503050203000203" pitchFamily="34" charset="0"/>
                  <a:ea typeface="Arial" pitchFamily="34" charset="-122"/>
                  <a:cs typeface="Arial" pitchFamily="34" charset="-120"/>
                </a:rPr>
                <a:t>Sept 1 '26</a:t>
              </a:r>
              <a:endParaRPr lang="en-US" sz="1050">
                <a:latin typeface="IBM Plex Sans" panose="020B0503050203000203" pitchFamily="34" charset="0"/>
              </a:endParaRPr>
            </a:p>
          </p:txBody>
        </p:sp>
        <p:sp>
          <p:nvSpPr>
            <p:cNvPr id="66" name="Shape 253">
              <a:extLst>
                <a:ext uri="{FF2B5EF4-FFF2-40B4-BE49-F238E27FC236}">
                  <a16:creationId xmlns:a16="http://schemas.microsoft.com/office/drawing/2014/main" id="{2E9CD77C-37B4-EF99-784B-BBA4182EEAE4}"/>
                </a:ext>
              </a:extLst>
            </p:cNvPr>
            <p:cNvSpPr/>
            <p:nvPr/>
          </p:nvSpPr>
          <p:spPr>
            <a:xfrm>
              <a:off x="1885989" y="5687568"/>
              <a:ext cx="274320" cy="164592"/>
            </a:xfrm>
            <a:prstGeom prst="rect">
              <a:avLst/>
            </a:prstGeom>
            <a:solidFill>
              <a:srgbClr val="0043CE"/>
            </a:solidFill>
            <a:ln/>
          </p:spPr>
          <p:txBody>
            <a:bodyPr/>
            <a:lstStyle/>
            <a:p>
              <a:endParaRPr lang="en-US" sz="3200">
                <a:latin typeface="IBM Plex Sans" panose="020B0503050203000203" pitchFamily="34" charset="0"/>
              </a:endParaRPr>
            </a:p>
          </p:txBody>
        </p:sp>
        <p:sp>
          <p:nvSpPr>
            <p:cNvPr id="67" name="Text 254">
              <a:extLst>
                <a:ext uri="{FF2B5EF4-FFF2-40B4-BE49-F238E27FC236}">
                  <a16:creationId xmlns:a16="http://schemas.microsoft.com/office/drawing/2014/main" id="{6E6100FF-5A6C-90CE-1A4D-D0BAF5C9B22C}"/>
                </a:ext>
              </a:extLst>
            </p:cNvPr>
            <p:cNvSpPr/>
            <p:nvPr/>
          </p:nvSpPr>
          <p:spPr>
            <a:xfrm>
              <a:off x="1885989" y="5687568"/>
              <a:ext cx="274320" cy="164592"/>
            </a:xfrm>
            <a:prstGeom prst="rect">
              <a:avLst/>
            </a:prstGeom>
            <a:noFill/>
            <a:ln/>
          </p:spPr>
          <p:txBody>
            <a:bodyPr wrap="square" lIns="0" tIns="0" rIns="0" bIns="0" rtlCol="0" anchor="ctr"/>
            <a:lstStyle/>
            <a:p>
              <a:pPr marL="0" indent="0" algn="ctr">
                <a:buNone/>
              </a:pPr>
              <a:r>
                <a:rPr lang="en-US" sz="1050" b="1">
                  <a:solidFill>
                    <a:srgbClr val="FFFFFF"/>
                  </a:solidFill>
                  <a:latin typeface="IBM Plex Sans" panose="020B0503050203000203" pitchFamily="34" charset="0"/>
                  <a:ea typeface="Arial" pitchFamily="34" charset="-122"/>
                  <a:cs typeface="Arial" pitchFamily="34" charset="-120"/>
                </a:rPr>
                <a:t>W4</a:t>
              </a:r>
              <a:endParaRPr lang="en-US" sz="1050">
                <a:latin typeface="IBM Plex Sans" panose="020B0503050203000203" pitchFamily="34" charset="0"/>
              </a:endParaRPr>
            </a:p>
          </p:txBody>
        </p:sp>
        <p:sp>
          <p:nvSpPr>
            <p:cNvPr id="72" name="Text 255">
              <a:extLst>
                <a:ext uri="{FF2B5EF4-FFF2-40B4-BE49-F238E27FC236}">
                  <a16:creationId xmlns:a16="http://schemas.microsoft.com/office/drawing/2014/main" id="{64F03D6F-45D4-8AE6-1994-FE05B2A4B1F1}"/>
                </a:ext>
              </a:extLst>
            </p:cNvPr>
            <p:cNvSpPr/>
            <p:nvPr/>
          </p:nvSpPr>
          <p:spPr>
            <a:xfrm>
              <a:off x="2206029" y="5687568"/>
              <a:ext cx="1005840" cy="164592"/>
            </a:xfrm>
            <a:prstGeom prst="rect">
              <a:avLst/>
            </a:prstGeom>
            <a:noFill/>
            <a:ln/>
          </p:spPr>
          <p:txBody>
            <a:bodyPr wrap="square" lIns="0" tIns="0" rIns="0" bIns="0" rtlCol="0" anchor="ctr"/>
            <a:lstStyle/>
            <a:p>
              <a:pPr marL="0" indent="0">
                <a:buNone/>
              </a:pPr>
              <a:r>
                <a:rPr lang="en-US" sz="1050">
                  <a:solidFill>
                    <a:srgbClr val="525252"/>
                  </a:solidFill>
                  <a:latin typeface="IBM Plex Sans" panose="020B0503050203000203" pitchFamily="34" charset="0"/>
                  <a:ea typeface="Arial" pitchFamily="34" charset="-122"/>
                  <a:cs typeface="Arial" pitchFamily="34" charset="-120"/>
                </a:rPr>
                <a:t>Jan 1 ‘27</a:t>
              </a:r>
              <a:endParaRPr lang="en-US" sz="1050">
                <a:latin typeface="IBM Plex Sans" panose="020B0503050203000203" pitchFamily="34" charset="0"/>
              </a:endParaRPr>
            </a:p>
          </p:txBody>
        </p:sp>
        <p:sp>
          <p:nvSpPr>
            <p:cNvPr id="78" name="Shape 256">
              <a:extLst>
                <a:ext uri="{FF2B5EF4-FFF2-40B4-BE49-F238E27FC236}">
                  <a16:creationId xmlns:a16="http://schemas.microsoft.com/office/drawing/2014/main" id="{11119AB4-3AA9-BB84-B1BE-4F960D1FD119}"/>
                </a:ext>
              </a:extLst>
            </p:cNvPr>
            <p:cNvSpPr/>
            <p:nvPr/>
          </p:nvSpPr>
          <p:spPr>
            <a:xfrm>
              <a:off x="3257589" y="5687568"/>
              <a:ext cx="274320" cy="164592"/>
            </a:xfrm>
            <a:prstGeom prst="rect">
              <a:avLst/>
            </a:prstGeom>
            <a:solidFill>
              <a:srgbClr val="0F62FE"/>
            </a:solidFill>
            <a:ln/>
          </p:spPr>
          <p:txBody>
            <a:bodyPr/>
            <a:lstStyle/>
            <a:p>
              <a:endParaRPr lang="en-US" sz="3200">
                <a:latin typeface="IBM Plex Sans" panose="020B0503050203000203" pitchFamily="34" charset="0"/>
              </a:endParaRPr>
            </a:p>
          </p:txBody>
        </p:sp>
        <p:sp>
          <p:nvSpPr>
            <p:cNvPr id="79" name="Text 257">
              <a:extLst>
                <a:ext uri="{FF2B5EF4-FFF2-40B4-BE49-F238E27FC236}">
                  <a16:creationId xmlns:a16="http://schemas.microsoft.com/office/drawing/2014/main" id="{E53F0F06-E548-C293-D7D0-EC5D8D96C223}"/>
                </a:ext>
              </a:extLst>
            </p:cNvPr>
            <p:cNvSpPr/>
            <p:nvPr/>
          </p:nvSpPr>
          <p:spPr>
            <a:xfrm>
              <a:off x="3257589" y="5687568"/>
              <a:ext cx="274320" cy="164592"/>
            </a:xfrm>
            <a:prstGeom prst="rect">
              <a:avLst/>
            </a:prstGeom>
            <a:noFill/>
            <a:ln/>
          </p:spPr>
          <p:txBody>
            <a:bodyPr wrap="square" lIns="0" tIns="0" rIns="0" bIns="0" rtlCol="0" anchor="ctr"/>
            <a:lstStyle/>
            <a:p>
              <a:pPr marL="0" indent="0" algn="ctr">
                <a:buNone/>
              </a:pPr>
              <a:r>
                <a:rPr lang="en-US" sz="1050" b="1">
                  <a:solidFill>
                    <a:srgbClr val="FFFFFF"/>
                  </a:solidFill>
                  <a:latin typeface="IBM Plex Sans" panose="020B0503050203000203" pitchFamily="34" charset="0"/>
                  <a:ea typeface="Arial" pitchFamily="34" charset="-122"/>
                  <a:cs typeface="Arial" pitchFamily="34" charset="-120"/>
                </a:rPr>
                <a:t>W5</a:t>
              </a:r>
              <a:endParaRPr lang="en-US" sz="1050">
                <a:latin typeface="IBM Plex Sans" panose="020B0503050203000203" pitchFamily="34" charset="0"/>
              </a:endParaRPr>
            </a:p>
          </p:txBody>
        </p:sp>
        <p:sp>
          <p:nvSpPr>
            <p:cNvPr id="84" name="Text 258">
              <a:extLst>
                <a:ext uri="{FF2B5EF4-FFF2-40B4-BE49-F238E27FC236}">
                  <a16:creationId xmlns:a16="http://schemas.microsoft.com/office/drawing/2014/main" id="{66039270-FAD2-16D6-A580-C14B08374282}"/>
                </a:ext>
              </a:extLst>
            </p:cNvPr>
            <p:cNvSpPr/>
            <p:nvPr/>
          </p:nvSpPr>
          <p:spPr>
            <a:xfrm>
              <a:off x="3577629" y="5687568"/>
              <a:ext cx="1005840" cy="164592"/>
            </a:xfrm>
            <a:prstGeom prst="rect">
              <a:avLst/>
            </a:prstGeom>
            <a:noFill/>
            <a:ln/>
          </p:spPr>
          <p:txBody>
            <a:bodyPr wrap="square" lIns="0" tIns="0" rIns="0" bIns="0" rtlCol="0" anchor="ctr"/>
            <a:lstStyle/>
            <a:p>
              <a:pPr marL="0" indent="0">
                <a:buNone/>
              </a:pPr>
              <a:r>
                <a:rPr lang="en-US" sz="1050">
                  <a:solidFill>
                    <a:srgbClr val="525252"/>
                  </a:solidFill>
                  <a:latin typeface="IBM Plex Sans" panose="020B0503050203000203" pitchFamily="34" charset="0"/>
                  <a:ea typeface="Arial" pitchFamily="34" charset="-122"/>
                  <a:cs typeface="Arial" pitchFamily="34" charset="-120"/>
                </a:rPr>
                <a:t>April 1 '27</a:t>
              </a:r>
              <a:endParaRPr lang="en-US" sz="1050">
                <a:latin typeface="IBM Plex Sans" panose="020B0503050203000203" pitchFamily="34" charset="0"/>
              </a:endParaRPr>
            </a:p>
          </p:txBody>
        </p:sp>
        <p:sp>
          <p:nvSpPr>
            <p:cNvPr id="85" name="Shape 259">
              <a:extLst>
                <a:ext uri="{FF2B5EF4-FFF2-40B4-BE49-F238E27FC236}">
                  <a16:creationId xmlns:a16="http://schemas.microsoft.com/office/drawing/2014/main" id="{03FADA5D-AE72-217E-3BB5-3A1424EDFAF4}"/>
                </a:ext>
              </a:extLst>
            </p:cNvPr>
            <p:cNvSpPr/>
            <p:nvPr/>
          </p:nvSpPr>
          <p:spPr>
            <a:xfrm>
              <a:off x="4629189" y="5687568"/>
              <a:ext cx="274320" cy="164592"/>
            </a:xfrm>
            <a:prstGeom prst="rect">
              <a:avLst/>
            </a:prstGeom>
            <a:solidFill>
              <a:srgbClr val="4589FF"/>
            </a:solidFill>
            <a:ln/>
          </p:spPr>
          <p:txBody>
            <a:bodyPr/>
            <a:lstStyle/>
            <a:p>
              <a:endParaRPr lang="en-US" sz="3200">
                <a:latin typeface="IBM Plex Sans" panose="020B0503050203000203" pitchFamily="34" charset="0"/>
              </a:endParaRPr>
            </a:p>
          </p:txBody>
        </p:sp>
        <p:sp>
          <p:nvSpPr>
            <p:cNvPr id="110" name="Text 260">
              <a:extLst>
                <a:ext uri="{FF2B5EF4-FFF2-40B4-BE49-F238E27FC236}">
                  <a16:creationId xmlns:a16="http://schemas.microsoft.com/office/drawing/2014/main" id="{CEEE3FDF-B122-D3DB-D455-995AB370366D}"/>
                </a:ext>
              </a:extLst>
            </p:cNvPr>
            <p:cNvSpPr/>
            <p:nvPr/>
          </p:nvSpPr>
          <p:spPr>
            <a:xfrm>
              <a:off x="4629189" y="5687568"/>
              <a:ext cx="274320" cy="164592"/>
            </a:xfrm>
            <a:prstGeom prst="rect">
              <a:avLst/>
            </a:prstGeom>
            <a:noFill/>
            <a:ln/>
          </p:spPr>
          <p:txBody>
            <a:bodyPr wrap="square" lIns="0" tIns="0" rIns="0" bIns="0" rtlCol="0" anchor="ctr"/>
            <a:lstStyle/>
            <a:p>
              <a:pPr marL="0" indent="0" algn="ctr">
                <a:buNone/>
              </a:pPr>
              <a:r>
                <a:rPr lang="en-US" sz="1050" b="1">
                  <a:solidFill>
                    <a:srgbClr val="FFFFFF"/>
                  </a:solidFill>
                  <a:latin typeface="IBM Plex Sans" panose="020B0503050203000203" pitchFamily="34" charset="0"/>
                  <a:ea typeface="Arial" pitchFamily="34" charset="-122"/>
                  <a:cs typeface="Arial" pitchFamily="34" charset="-120"/>
                </a:rPr>
                <a:t>W6</a:t>
              </a:r>
              <a:endParaRPr lang="en-US" sz="1050">
                <a:latin typeface="IBM Plex Sans" panose="020B0503050203000203" pitchFamily="34" charset="0"/>
              </a:endParaRPr>
            </a:p>
          </p:txBody>
        </p:sp>
        <p:sp>
          <p:nvSpPr>
            <p:cNvPr id="111" name="Text 261">
              <a:extLst>
                <a:ext uri="{FF2B5EF4-FFF2-40B4-BE49-F238E27FC236}">
                  <a16:creationId xmlns:a16="http://schemas.microsoft.com/office/drawing/2014/main" id="{39DC0C68-C5BC-D4CB-2206-89A30F1977BF}"/>
                </a:ext>
              </a:extLst>
            </p:cNvPr>
            <p:cNvSpPr/>
            <p:nvPr/>
          </p:nvSpPr>
          <p:spPr>
            <a:xfrm>
              <a:off x="4949229" y="5687568"/>
              <a:ext cx="1005840" cy="164592"/>
            </a:xfrm>
            <a:prstGeom prst="rect">
              <a:avLst/>
            </a:prstGeom>
            <a:noFill/>
            <a:ln/>
          </p:spPr>
          <p:txBody>
            <a:bodyPr wrap="square" lIns="0" tIns="0" rIns="0" bIns="0" rtlCol="0" anchor="ctr"/>
            <a:lstStyle/>
            <a:p>
              <a:pPr marL="0" indent="0">
                <a:buNone/>
              </a:pPr>
              <a:r>
                <a:rPr lang="en-US" sz="1050">
                  <a:solidFill>
                    <a:srgbClr val="525252"/>
                  </a:solidFill>
                  <a:latin typeface="IBM Plex Sans" panose="020B0503050203000203" pitchFamily="34" charset="0"/>
                  <a:ea typeface="Arial" pitchFamily="34" charset="-122"/>
                  <a:cs typeface="Arial" pitchFamily="34" charset="-120"/>
                </a:rPr>
                <a:t>July 1 '27</a:t>
              </a:r>
              <a:endParaRPr lang="en-US" sz="1050">
                <a:latin typeface="IBM Plex Sans" panose="020B0503050203000203" pitchFamily="34" charset="0"/>
              </a:endParaRPr>
            </a:p>
          </p:txBody>
        </p:sp>
        <p:sp>
          <p:nvSpPr>
            <p:cNvPr id="116" name="Shape 262">
              <a:extLst>
                <a:ext uri="{FF2B5EF4-FFF2-40B4-BE49-F238E27FC236}">
                  <a16:creationId xmlns:a16="http://schemas.microsoft.com/office/drawing/2014/main" id="{7B006B9B-61FE-E61E-4589-965602F1912A}"/>
                </a:ext>
              </a:extLst>
            </p:cNvPr>
            <p:cNvSpPr/>
            <p:nvPr/>
          </p:nvSpPr>
          <p:spPr>
            <a:xfrm>
              <a:off x="6000789" y="5687568"/>
              <a:ext cx="274320" cy="164592"/>
            </a:xfrm>
            <a:prstGeom prst="rect">
              <a:avLst/>
            </a:prstGeom>
            <a:solidFill>
              <a:srgbClr val="78A9FF"/>
            </a:solidFill>
            <a:ln/>
          </p:spPr>
          <p:txBody>
            <a:bodyPr/>
            <a:lstStyle/>
            <a:p>
              <a:endParaRPr lang="en-US" sz="3200">
                <a:latin typeface="IBM Plex Sans" panose="020B0503050203000203" pitchFamily="34" charset="0"/>
              </a:endParaRPr>
            </a:p>
          </p:txBody>
        </p:sp>
        <p:sp>
          <p:nvSpPr>
            <p:cNvPr id="117" name="Text 263">
              <a:extLst>
                <a:ext uri="{FF2B5EF4-FFF2-40B4-BE49-F238E27FC236}">
                  <a16:creationId xmlns:a16="http://schemas.microsoft.com/office/drawing/2014/main" id="{CCA632E4-9406-EB3B-E327-2071188E4374}"/>
                </a:ext>
              </a:extLst>
            </p:cNvPr>
            <p:cNvSpPr/>
            <p:nvPr/>
          </p:nvSpPr>
          <p:spPr>
            <a:xfrm>
              <a:off x="6000789" y="5687568"/>
              <a:ext cx="274320" cy="164592"/>
            </a:xfrm>
            <a:prstGeom prst="rect">
              <a:avLst/>
            </a:prstGeom>
            <a:noFill/>
            <a:ln/>
          </p:spPr>
          <p:txBody>
            <a:bodyPr wrap="square" lIns="0" tIns="0" rIns="0" bIns="0" rtlCol="0" anchor="ctr"/>
            <a:lstStyle/>
            <a:p>
              <a:pPr marL="0" indent="0" algn="ctr">
                <a:buNone/>
              </a:pPr>
              <a:r>
                <a:rPr lang="en-US" sz="1050" b="1">
                  <a:solidFill>
                    <a:srgbClr val="FFFFFF"/>
                  </a:solidFill>
                  <a:latin typeface="IBM Plex Sans" panose="020B0503050203000203" pitchFamily="34" charset="0"/>
                  <a:ea typeface="Arial" pitchFamily="34" charset="-122"/>
                  <a:cs typeface="Arial" pitchFamily="34" charset="-120"/>
                </a:rPr>
                <a:t>W7</a:t>
              </a:r>
              <a:endParaRPr lang="en-US" sz="1050">
                <a:latin typeface="IBM Plex Sans" panose="020B0503050203000203" pitchFamily="34" charset="0"/>
              </a:endParaRPr>
            </a:p>
          </p:txBody>
        </p:sp>
        <p:sp>
          <p:nvSpPr>
            <p:cNvPr id="122" name="Text 264">
              <a:extLst>
                <a:ext uri="{FF2B5EF4-FFF2-40B4-BE49-F238E27FC236}">
                  <a16:creationId xmlns:a16="http://schemas.microsoft.com/office/drawing/2014/main" id="{FEA734AA-6174-B0F4-4EA5-67222A94024F}"/>
                </a:ext>
              </a:extLst>
            </p:cNvPr>
            <p:cNvSpPr/>
            <p:nvPr/>
          </p:nvSpPr>
          <p:spPr>
            <a:xfrm>
              <a:off x="6320829" y="5687568"/>
              <a:ext cx="1005840" cy="164592"/>
            </a:xfrm>
            <a:prstGeom prst="rect">
              <a:avLst/>
            </a:prstGeom>
            <a:noFill/>
            <a:ln/>
          </p:spPr>
          <p:txBody>
            <a:bodyPr wrap="square" lIns="0" tIns="0" rIns="0" bIns="0" rtlCol="0" anchor="ctr"/>
            <a:lstStyle/>
            <a:p>
              <a:pPr marL="0" indent="0">
                <a:buNone/>
              </a:pPr>
              <a:r>
                <a:rPr lang="en-US" sz="1050">
                  <a:solidFill>
                    <a:srgbClr val="525252"/>
                  </a:solidFill>
                  <a:latin typeface="IBM Plex Sans" panose="020B0503050203000203" pitchFamily="34" charset="0"/>
                  <a:ea typeface="Arial" pitchFamily="34" charset="-122"/>
                  <a:cs typeface="Arial" pitchFamily="34" charset="-120"/>
                </a:rPr>
                <a:t>Aug 1 '27</a:t>
              </a:r>
              <a:endParaRPr lang="en-US" sz="1050">
                <a:latin typeface="IBM Plex Sans" panose="020B0503050203000203" pitchFamily="34" charset="0"/>
              </a:endParaRPr>
            </a:p>
          </p:txBody>
        </p:sp>
      </p:grpSp>
      <p:sp>
        <p:nvSpPr>
          <p:cNvPr id="286" name="TextBox 285">
            <a:extLst>
              <a:ext uri="{FF2B5EF4-FFF2-40B4-BE49-F238E27FC236}">
                <a16:creationId xmlns:a16="http://schemas.microsoft.com/office/drawing/2014/main" id="{D86D0B68-1B98-D647-8BC7-42FAFCCA4541}"/>
              </a:ext>
            </a:extLst>
          </p:cNvPr>
          <p:cNvSpPr txBox="1"/>
          <p:nvPr/>
        </p:nvSpPr>
        <p:spPr>
          <a:xfrm>
            <a:off x="457200" y="5424679"/>
            <a:ext cx="4096512" cy="317753"/>
          </a:xfrm>
          <a:prstGeom prst="rect">
            <a:avLst/>
          </a:prstGeom>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rtlCol="0" anchor="ctr"/>
          <a:lstStyle>
            <a:lvl1pPr indent="0">
              <a:buNone/>
              <a:defRPr sz="2100" b="1">
                <a:solidFill>
                  <a:srgbClr val="0F62FE"/>
                </a:solidFill>
                <a:latin typeface="IBM Plex Sans" panose="020B0503050203000203" pitchFamily="34" charset="0"/>
                <a:ea typeface="Georgia" pitchFamily="34" charset="-122"/>
                <a:cs typeface="Georgia" pitchFamily="34" charset="-120"/>
              </a:defRPr>
            </a:lvl1pPr>
          </a:lstStyle>
          <a:p>
            <a:r>
              <a:rPr lang="en-US" sz="1600">
                <a:sym typeface="IBM Plex Sans Light"/>
              </a:rPr>
              <a:t>Phasing of initiative drops </a:t>
            </a:r>
          </a:p>
        </p:txBody>
      </p:sp>
      <p:sp>
        <p:nvSpPr>
          <p:cNvPr id="287" name="TextBox 286">
            <a:extLst>
              <a:ext uri="{FF2B5EF4-FFF2-40B4-BE49-F238E27FC236}">
                <a16:creationId xmlns:a16="http://schemas.microsoft.com/office/drawing/2014/main" id="{7633D403-1712-D7D3-06E0-E19494C67EE3}"/>
              </a:ext>
            </a:extLst>
          </p:cNvPr>
          <p:cNvSpPr txBox="1"/>
          <p:nvPr/>
        </p:nvSpPr>
        <p:spPr>
          <a:xfrm>
            <a:off x="6557211" y="6039853"/>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latin typeface="IBM Plex Sans" panose="020B0503050203000203" pitchFamily="34" charset="0"/>
              <a:ea typeface="+mj-ea"/>
              <a:cs typeface="+mj-cs"/>
              <a:sym typeface="IBM Plex Sans Light"/>
            </a:endParaRPr>
          </a:p>
        </p:txBody>
      </p:sp>
    </p:spTree>
    <p:extLst>
      <p:ext uri="{BB962C8B-B14F-4D97-AF65-F5344CB8AC3E}">
        <p14:creationId xmlns:p14="http://schemas.microsoft.com/office/powerpoint/2010/main" val="2382365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55097" cy="261610"/>
          </a:xfrm>
          <a:prstGeom prst="rect">
            <a:avLst/>
          </a:prstGeom>
          <a:noFill/>
        </p:spPr>
        <p:txBody>
          <a:bodyPr wrap="none">
            <a:spAutoFit/>
          </a:bodyPr>
          <a:lstStyle/>
          <a:p>
            <a:r>
              <a:rPr sz="1100" b="1" i="0">
                <a:solidFill>
                  <a:srgbClr val="0F62FE"/>
                </a:solidFill>
                <a:latin typeface="IBM Plex Sans" panose="020B0503050203000203" pitchFamily="34" charset="0"/>
              </a:rPr>
              <a:t>TAKEAWAYS</a:t>
            </a:r>
          </a:p>
        </p:txBody>
      </p:sp>
      <p:sp>
        <p:nvSpPr>
          <p:cNvPr id="3" name="TextBox 2"/>
          <p:cNvSpPr txBox="1"/>
          <p:nvPr/>
        </p:nvSpPr>
        <p:spPr>
          <a:xfrm>
            <a:off x="548640" y="640080"/>
            <a:ext cx="11064240" cy="461665"/>
          </a:xfrm>
          <a:prstGeom prst="rect">
            <a:avLst/>
          </a:prstGeom>
          <a:noFill/>
        </p:spPr>
        <p:txBody>
          <a:bodyPr wrap="square">
            <a:spAutoFit/>
          </a:bodyPr>
          <a:lstStyle/>
          <a:p>
            <a:r>
              <a:rPr sz="2400" b="1" i="0">
                <a:solidFill>
                  <a:srgbClr val="161616"/>
                </a:solidFill>
                <a:latin typeface="IBM Plex Sans" panose="020B0503050203000203" pitchFamily="34" charset="0"/>
              </a:rPr>
              <a:t>What carries over to any prioritization</a:t>
            </a:r>
          </a:p>
        </p:txBody>
      </p:sp>
      <p:cxnSp>
        <p:nvCxnSpPr>
          <p:cNvPr id="4" name="Connector 3"/>
          <p:cNvCxnSpPr/>
          <p:nvPr/>
        </p:nvCxnSpPr>
        <p:spPr>
          <a:xfrm>
            <a:off x="548640" y="1371600"/>
            <a:ext cx="11064240" cy="0"/>
          </a:xfrm>
          <a:prstGeom prst="line">
            <a:avLst/>
          </a:prstGeom>
          <a:ln w="12700">
            <a:solidFill>
              <a:srgbClr val="C6C6C6"/>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48640" y="1691640"/>
            <a:ext cx="5486400" cy="1783080"/>
          </a:xfrm>
          <a:prstGeom prst="rect">
            <a:avLst/>
          </a:prstGeom>
          <a:solidFill>
            <a:srgbClr val="FFFFFF"/>
          </a:solidFill>
          <a:ln w="9525">
            <a:solidFill>
              <a:srgbClr val="C6C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6" name="Rectangle 5"/>
          <p:cNvSpPr/>
          <p:nvPr/>
        </p:nvSpPr>
        <p:spPr>
          <a:xfrm>
            <a:off x="548640" y="1691640"/>
            <a:ext cx="73152" cy="178308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7" name="TextBox 6"/>
          <p:cNvSpPr txBox="1"/>
          <p:nvPr/>
        </p:nvSpPr>
        <p:spPr>
          <a:xfrm>
            <a:off x="804672" y="1837944"/>
            <a:ext cx="5029200" cy="307777"/>
          </a:xfrm>
          <a:prstGeom prst="rect">
            <a:avLst/>
          </a:prstGeom>
          <a:noFill/>
        </p:spPr>
        <p:txBody>
          <a:bodyPr wrap="square">
            <a:spAutoFit/>
          </a:bodyPr>
          <a:lstStyle/>
          <a:p>
            <a:r>
              <a:rPr sz="1400" b="1" i="0">
                <a:solidFill>
                  <a:srgbClr val="161616"/>
                </a:solidFill>
                <a:latin typeface="IBM Plex Sans" panose="020B0503050203000203" pitchFamily="34" charset="0"/>
              </a:rPr>
              <a:t>Standardize the input</a:t>
            </a:r>
          </a:p>
        </p:txBody>
      </p:sp>
      <p:sp>
        <p:nvSpPr>
          <p:cNvPr id="8" name="TextBox 7"/>
          <p:cNvSpPr txBox="1"/>
          <p:nvPr/>
        </p:nvSpPr>
        <p:spPr>
          <a:xfrm>
            <a:off x="804672" y="2258568"/>
            <a:ext cx="5029200" cy="261610"/>
          </a:xfrm>
          <a:prstGeom prst="rect">
            <a:avLst/>
          </a:prstGeom>
          <a:noFill/>
        </p:spPr>
        <p:txBody>
          <a:bodyPr wrap="square">
            <a:spAutoFit/>
          </a:bodyPr>
          <a:lstStyle/>
          <a:p>
            <a:r>
              <a:rPr sz="1100" b="0" i="0">
                <a:solidFill>
                  <a:srgbClr val="525252"/>
                </a:solidFill>
                <a:latin typeface="IBM Plex Sans" panose="020B0503050203000203" pitchFamily="34" charset="0"/>
              </a:rPr>
              <a:t>One blueprint per initiative, so every option is compared on the same basis.</a:t>
            </a:r>
          </a:p>
        </p:txBody>
      </p:sp>
      <p:sp>
        <p:nvSpPr>
          <p:cNvPr id="9" name="Rectangle 8"/>
          <p:cNvSpPr/>
          <p:nvPr/>
        </p:nvSpPr>
        <p:spPr>
          <a:xfrm>
            <a:off x="6153912" y="1691640"/>
            <a:ext cx="5458968" cy="1783080"/>
          </a:xfrm>
          <a:prstGeom prst="rect">
            <a:avLst/>
          </a:prstGeom>
          <a:solidFill>
            <a:srgbClr val="FFFFFF"/>
          </a:solidFill>
          <a:ln w="9525">
            <a:solidFill>
              <a:srgbClr val="C6C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0" name="Rectangle 9"/>
          <p:cNvSpPr/>
          <p:nvPr/>
        </p:nvSpPr>
        <p:spPr>
          <a:xfrm>
            <a:off x="6153912" y="1691640"/>
            <a:ext cx="73152" cy="178308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1" name="TextBox 10"/>
          <p:cNvSpPr txBox="1"/>
          <p:nvPr/>
        </p:nvSpPr>
        <p:spPr>
          <a:xfrm>
            <a:off x="6409944" y="1837944"/>
            <a:ext cx="5001768" cy="307777"/>
          </a:xfrm>
          <a:prstGeom prst="rect">
            <a:avLst/>
          </a:prstGeom>
          <a:noFill/>
        </p:spPr>
        <p:txBody>
          <a:bodyPr wrap="square">
            <a:spAutoFit/>
          </a:bodyPr>
          <a:lstStyle/>
          <a:p>
            <a:r>
              <a:rPr sz="1400" b="1" i="0">
                <a:solidFill>
                  <a:srgbClr val="161616"/>
                </a:solidFill>
                <a:latin typeface="IBM Plex Sans" panose="020B0503050203000203" pitchFamily="34" charset="0"/>
              </a:rPr>
              <a:t>Be honest about precision</a:t>
            </a:r>
          </a:p>
        </p:txBody>
      </p:sp>
      <p:sp>
        <p:nvSpPr>
          <p:cNvPr id="12" name="TextBox 11"/>
          <p:cNvSpPr txBox="1"/>
          <p:nvPr/>
        </p:nvSpPr>
        <p:spPr>
          <a:xfrm>
            <a:off x="6409944" y="2258568"/>
            <a:ext cx="5001768" cy="430887"/>
          </a:xfrm>
          <a:prstGeom prst="rect">
            <a:avLst/>
          </a:prstGeom>
          <a:noFill/>
        </p:spPr>
        <p:txBody>
          <a:bodyPr wrap="square">
            <a:spAutoFit/>
          </a:bodyPr>
          <a:lstStyle/>
          <a:p>
            <a:r>
              <a:rPr sz="1100" b="0" i="0" dirty="0">
                <a:solidFill>
                  <a:srgbClr val="525252"/>
                </a:solidFill>
                <a:latin typeface="IBM Plex Sans" panose="020B0503050203000203" pitchFamily="34" charset="0"/>
              </a:rPr>
              <a:t>Score on two simple dimensions. Quantify what you can (</a:t>
            </a:r>
            <a:r>
              <a:rPr lang="en-US" sz="1100" b="0" i="0" dirty="0">
                <a:solidFill>
                  <a:srgbClr val="525252"/>
                </a:solidFill>
                <a:latin typeface="IBM Plex Sans" panose="020B0503050203000203" pitchFamily="34" charset="0"/>
              </a:rPr>
              <a:t>efficiency</a:t>
            </a:r>
            <a:r>
              <a:rPr sz="1100" b="0" i="0" dirty="0">
                <a:solidFill>
                  <a:srgbClr val="525252"/>
                </a:solidFill>
                <a:latin typeface="IBM Plex Sans" panose="020B0503050203000203" pitchFamily="34" charset="0"/>
              </a:rPr>
              <a:t>); keep top-line directional to avoid false precision.</a:t>
            </a:r>
          </a:p>
        </p:txBody>
      </p:sp>
      <p:sp>
        <p:nvSpPr>
          <p:cNvPr id="13" name="Rectangle 12"/>
          <p:cNvSpPr/>
          <p:nvPr/>
        </p:nvSpPr>
        <p:spPr>
          <a:xfrm>
            <a:off x="548640" y="3611880"/>
            <a:ext cx="5486400" cy="1783080"/>
          </a:xfrm>
          <a:prstGeom prst="rect">
            <a:avLst/>
          </a:prstGeom>
          <a:solidFill>
            <a:srgbClr val="FFFFFF"/>
          </a:solidFill>
          <a:ln w="9525">
            <a:solidFill>
              <a:srgbClr val="C6C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4" name="Rectangle 13"/>
          <p:cNvSpPr/>
          <p:nvPr/>
        </p:nvSpPr>
        <p:spPr>
          <a:xfrm>
            <a:off x="548640" y="3611880"/>
            <a:ext cx="73152" cy="178308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5" name="TextBox 14"/>
          <p:cNvSpPr txBox="1"/>
          <p:nvPr/>
        </p:nvSpPr>
        <p:spPr>
          <a:xfrm>
            <a:off x="804672" y="3758184"/>
            <a:ext cx="5029200" cy="307777"/>
          </a:xfrm>
          <a:prstGeom prst="rect">
            <a:avLst/>
          </a:prstGeom>
          <a:noFill/>
        </p:spPr>
        <p:txBody>
          <a:bodyPr wrap="square">
            <a:spAutoFit/>
          </a:bodyPr>
          <a:lstStyle/>
          <a:p>
            <a:r>
              <a:rPr sz="1400" b="1" i="0">
                <a:solidFill>
                  <a:srgbClr val="161616"/>
                </a:solidFill>
                <a:latin typeface="IBM Plex Sans" panose="020B0503050203000203" pitchFamily="34" charset="0"/>
              </a:rPr>
              <a:t>The matrix is a tool, not gospel</a:t>
            </a:r>
          </a:p>
        </p:txBody>
      </p:sp>
      <p:sp>
        <p:nvSpPr>
          <p:cNvPr id="16" name="TextBox 15"/>
          <p:cNvSpPr txBox="1"/>
          <p:nvPr/>
        </p:nvSpPr>
        <p:spPr>
          <a:xfrm>
            <a:off x="804672" y="4178808"/>
            <a:ext cx="5029200" cy="430887"/>
          </a:xfrm>
          <a:prstGeom prst="rect">
            <a:avLst/>
          </a:prstGeom>
          <a:noFill/>
        </p:spPr>
        <p:txBody>
          <a:bodyPr wrap="square">
            <a:spAutoFit/>
          </a:bodyPr>
          <a:lstStyle/>
          <a:p>
            <a:r>
              <a:rPr sz="1100" b="0" i="0">
                <a:solidFill>
                  <a:srgbClr val="525252"/>
                </a:solidFill>
                <a:latin typeface="IBM Plex Sans" panose="020B0503050203000203" pitchFamily="34" charset="0"/>
              </a:rPr>
              <a:t>Layer judgment for sequencing: foundations first, quick wins, and cross-domain end-to-end combinations.</a:t>
            </a:r>
          </a:p>
        </p:txBody>
      </p:sp>
      <p:sp>
        <p:nvSpPr>
          <p:cNvPr id="17" name="Rectangle 16"/>
          <p:cNvSpPr/>
          <p:nvPr/>
        </p:nvSpPr>
        <p:spPr>
          <a:xfrm>
            <a:off x="6153912" y="3611880"/>
            <a:ext cx="5458968" cy="1783080"/>
          </a:xfrm>
          <a:prstGeom prst="rect">
            <a:avLst/>
          </a:prstGeom>
          <a:solidFill>
            <a:srgbClr val="FFFFFF"/>
          </a:solidFill>
          <a:ln w="9525">
            <a:solidFill>
              <a:srgbClr val="C6C6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8" name="Rectangle 17"/>
          <p:cNvSpPr/>
          <p:nvPr/>
        </p:nvSpPr>
        <p:spPr>
          <a:xfrm>
            <a:off x="6153912" y="3611880"/>
            <a:ext cx="73152" cy="1783080"/>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19" name="TextBox 18"/>
          <p:cNvSpPr txBox="1"/>
          <p:nvPr/>
        </p:nvSpPr>
        <p:spPr>
          <a:xfrm>
            <a:off x="6409944" y="3758184"/>
            <a:ext cx="5001768" cy="307777"/>
          </a:xfrm>
          <a:prstGeom prst="rect">
            <a:avLst/>
          </a:prstGeom>
          <a:noFill/>
        </p:spPr>
        <p:txBody>
          <a:bodyPr wrap="square">
            <a:spAutoFit/>
          </a:bodyPr>
          <a:lstStyle/>
          <a:p>
            <a:r>
              <a:rPr sz="1400" b="1" i="0">
                <a:solidFill>
                  <a:srgbClr val="161616"/>
                </a:solidFill>
                <a:latin typeface="IBM Plex Sans" panose="020B0503050203000203" pitchFamily="34" charset="0"/>
              </a:rPr>
              <a:t>Treat it as a living backlog</a:t>
            </a:r>
          </a:p>
        </p:txBody>
      </p:sp>
      <p:sp>
        <p:nvSpPr>
          <p:cNvPr id="20" name="TextBox 19"/>
          <p:cNvSpPr txBox="1"/>
          <p:nvPr/>
        </p:nvSpPr>
        <p:spPr>
          <a:xfrm>
            <a:off x="6409944" y="4178808"/>
            <a:ext cx="5001768" cy="430887"/>
          </a:xfrm>
          <a:prstGeom prst="rect">
            <a:avLst/>
          </a:prstGeom>
          <a:noFill/>
        </p:spPr>
        <p:txBody>
          <a:bodyPr wrap="square">
            <a:spAutoFit/>
          </a:bodyPr>
          <a:lstStyle/>
          <a:p>
            <a:r>
              <a:rPr sz="1100" b="0" i="0">
                <a:solidFill>
                  <a:srgbClr val="525252"/>
                </a:solidFill>
                <a:latin typeface="IBM Plex Sans" panose="020B0503050203000203" pitchFamily="34" charset="0"/>
              </a:rPr>
              <a:t>Re-score each wave through governance, rather than locking a one-time rank.</a:t>
            </a:r>
          </a:p>
        </p:txBody>
      </p:sp>
      <p:sp>
        <p:nvSpPr>
          <p:cNvPr id="21" name="TextBox 20"/>
          <p:cNvSpPr txBox="1"/>
          <p:nvPr/>
        </p:nvSpPr>
        <p:spPr>
          <a:xfrm>
            <a:off x="548640" y="5577840"/>
            <a:ext cx="7269939" cy="276999"/>
          </a:xfrm>
          <a:prstGeom prst="rect">
            <a:avLst/>
          </a:prstGeom>
          <a:noFill/>
        </p:spPr>
        <p:txBody>
          <a:bodyPr wrap="none">
            <a:spAutoFit/>
          </a:bodyPr>
          <a:lstStyle/>
          <a:p>
            <a:r>
              <a:rPr sz="1200" b="0" i="1">
                <a:solidFill>
                  <a:srgbClr val="525252"/>
                </a:solidFill>
                <a:latin typeface="IBM Plex Sans" panose="020B0503050203000203" pitchFamily="34" charset="0"/>
              </a:rPr>
              <a:t>The method is portable: the same five steps and two dimensions work on any AI transformation backlog.</a:t>
            </a:r>
          </a:p>
        </p:txBody>
      </p:sp>
      <p:sp>
        <p:nvSpPr>
          <p:cNvPr id="22" name="TextBox 21"/>
          <p:cNvSpPr txBox="1"/>
          <p:nvPr/>
        </p:nvSpPr>
        <p:spPr>
          <a:xfrm>
            <a:off x="548640" y="6473952"/>
            <a:ext cx="2520242" cy="230832"/>
          </a:xfrm>
          <a:prstGeom prst="rect">
            <a:avLst/>
          </a:prstGeom>
          <a:noFill/>
        </p:spPr>
        <p:txBody>
          <a:bodyPr wrap="none">
            <a:spAutoFit/>
          </a:bodyPr>
          <a:lstStyle/>
          <a:p>
            <a:r>
              <a:rPr sz="900" b="0" i="0">
                <a:solidFill>
                  <a:srgbClr val="525252"/>
                </a:solidFill>
                <a:latin typeface="IBM Plex Sans" panose="020B0503050203000203" pitchFamily="34" charset="0"/>
              </a:rPr>
              <a:t>How We Prioritized  |  MCC AI Transformation</a:t>
            </a:r>
          </a:p>
        </p:txBody>
      </p:sp>
      <p:sp>
        <p:nvSpPr>
          <p:cNvPr id="23" name="TextBox 22"/>
          <p:cNvSpPr txBox="1"/>
          <p:nvPr/>
        </p:nvSpPr>
        <p:spPr>
          <a:xfrm>
            <a:off x="11381796" y="6473952"/>
            <a:ext cx="322524" cy="230832"/>
          </a:xfrm>
          <a:prstGeom prst="rect">
            <a:avLst/>
          </a:prstGeom>
          <a:noFill/>
        </p:spPr>
        <p:txBody>
          <a:bodyPr wrap="none">
            <a:spAutoFit/>
          </a:bodyPr>
          <a:lstStyle/>
          <a:p>
            <a:pPr algn="r"/>
            <a:r>
              <a:rPr sz="900" b="0" i="0">
                <a:solidFill>
                  <a:srgbClr val="525252"/>
                </a:solidFill>
                <a:latin typeface="IBM Plex Sans" panose="020B0503050203000203" pitchFamily="34" charset="0"/>
              </a:rP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0">
            <a:extLst>
              <a:ext uri="{FF2B5EF4-FFF2-40B4-BE49-F238E27FC236}">
                <a16:creationId xmlns:a16="http://schemas.microsoft.com/office/drawing/2014/main" id="{FCF7A2AE-E9E8-7E57-8573-D0FDE7D49822}"/>
              </a:ext>
            </a:extLst>
          </p:cNvPr>
          <p:cNvSpPr/>
          <p:nvPr/>
        </p:nvSpPr>
        <p:spPr>
          <a:xfrm>
            <a:off x="1588" y="0"/>
            <a:ext cx="12188952" cy="1005840"/>
          </a:xfrm>
          <a:prstGeom prst="rect">
            <a:avLst/>
          </a:prstGeom>
          <a:solidFill>
            <a:schemeClr val="bg1">
              <a:lumMod val="95000"/>
            </a:schemeClr>
          </a:solidFill>
          <a:ln/>
        </p:spPr>
        <p:txBody>
          <a:bodyPr/>
          <a:lstStyle/>
          <a:p>
            <a:endParaRPr lang="en-US">
              <a:latin typeface="IBM Plex Sans" panose="020B0503050203000203" pitchFamily="34" charset="0"/>
            </a:endParaRPr>
          </a:p>
        </p:txBody>
      </p:sp>
      <p:sp>
        <p:nvSpPr>
          <p:cNvPr id="2" name="Text 0"/>
          <p:cNvSpPr txBox="1"/>
          <p:nvPr/>
        </p:nvSpPr>
        <p:spPr>
          <a:xfrm>
            <a:off x="407737" y="791598"/>
            <a:ext cx="4519727" cy="221210"/>
          </a:xfrm>
          <a:prstGeom prst="rect">
            <a:avLst/>
          </a:prstGeom>
          <a:noFill/>
          <a:ln/>
        </p:spPr>
        <p:txBody>
          <a:bodyPr wrap="square" lIns="0" tIns="0" rIns="0" bIns="0" rtlCol="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indent="0" algn="l">
              <a:lnSpc>
                <a:spcPts val="850"/>
              </a:lnSpc>
              <a:buNone/>
            </a:pPr>
            <a:r>
              <a:rPr lang="en-US" sz="900">
                <a:solidFill>
                  <a:srgbClr val="8D8D8D"/>
                </a:solidFill>
                <a:latin typeface="IBM Plex Sans" panose="020B0503050203000203" pitchFamily="34" charset="0"/>
                <a:ea typeface="IBM Plex Sans Regular" pitchFamily="34" charset="-122"/>
                <a:cs typeface="IBM Plex Sans Regular" pitchFamily="34" charset="-120"/>
              </a:rPr>
              <a:t>★ = prioritized  </a:t>
            </a:r>
            <a:endParaRPr lang="en-US" sz="900">
              <a:latin typeface="IBM Plex Sans" panose="020B0503050203000203" pitchFamily="34" charset="0"/>
            </a:endParaRPr>
          </a:p>
        </p:txBody>
      </p:sp>
      <p:sp>
        <p:nvSpPr>
          <p:cNvPr id="3" name="Text 1"/>
          <p:cNvSpPr txBox="1"/>
          <p:nvPr/>
        </p:nvSpPr>
        <p:spPr>
          <a:xfrm rot="16200000">
            <a:off x="-1678563" y="3611297"/>
            <a:ext cx="3985904" cy="202327"/>
          </a:xfrm>
          <a:prstGeom prst="rect">
            <a:avLst/>
          </a:prstGeom>
          <a:noFill/>
          <a:ln/>
        </p:spPr>
        <p:txBody>
          <a:bodyPr wrap="square" lIns="0" tIns="0" rIns="0" bIns="0" rtlCol="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indent="0" algn="ctr">
              <a:lnSpc>
                <a:spcPts val="1350"/>
              </a:lnSpc>
              <a:buNone/>
            </a:pPr>
            <a:r>
              <a:rPr lang="en-US" sz="1400" kern="0" spc="840">
                <a:solidFill>
                  <a:srgbClr val="0043CE"/>
                </a:solidFill>
                <a:latin typeface="IBM Plex Sans" panose="020B0503050203000203" pitchFamily="34" charset="0"/>
                <a:ea typeface="IBM Plex Sans SmBld" pitchFamily="34" charset="-122"/>
                <a:cs typeface="IBM Plex Sans SmBld" pitchFamily="34" charset="-120"/>
              </a:rPr>
              <a:t>BUSINESS IMPACT</a:t>
            </a:r>
            <a:endParaRPr lang="en-US" sz="1400">
              <a:latin typeface="IBM Plex Sans" panose="020B0503050203000203" pitchFamily="34" charset="0"/>
              <a:ea typeface="Calibri"/>
              <a:cs typeface="Calibri"/>
            </a:endParaRPr>
          </a:p>
        </p:txBody>
      </p:sp>
      <p:sp>
        <p:nvSpPr>
          <p:cNvPr id="4" name="Text 2"/>
          <p:cNvSpPr txBox="1"/>
          <p:nvPr/>
        </p:nvSpPr>
        <p:spPr>
          <a:xfrm>
            <a:off x="4555976" y="6602072"/>
            <a:ext cx="3070543" cy="216573"/>
          </a:xfrm>
          <a:prstGeom prst="rect">
            <a:avLst/>
          </a:prstGeom>
          <a:noFill/>
          <a:ln/>
        </p:spPr>
        <p:txBody>
          <a:bodyPr wrap="square" lIns="0" tIns="0" rIns="0" bIns="0" rtlCol="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0" indent="0" algn="ctr">
              <a:lnSpc>
                <a:spcPts val="1300"/>
              </a:lnSpc>
              <a:buNone/>
            </a:pPr>
            <a:r>
              <a:rPr lang="en-US" sz="1200" kern="0" spc="800">
                <a:solidFill>
                  <a:srgbClr val="0043CE"/>
                </a:solidFill>
                <a:latin typeface="IBM Plex Sans" panose="020B0503050203000203" pitchFamily="34" charset="0"/>
                <a:ea typeface="IBM Plex Sans SmBld"/>
                <a:cs typeface="IBM Plex Sans SmBld" pitchFamily="34" charset="-120"/>
              </a:rPr>
              <a:t>FEASIBILITY </a:t>
            </a:r>
            <a:r>
              <a:rPr lang="en-US" sz="1600" kern="0" spc="800">
                <a:solidFill>
                  <a:srgbClr val="0043CE"/>
                </a:solidFill>
                <a:latin typeface="IBM Plex Sans" panose="020B0503050203000203" pitchFamily="34" charset="0"/>
                <a:ea typeface="IBM Plex Sans SmBld"/>
                <a:cs typeface="IBM Plex Sans SmBld" pitchFamily="34" charset="-120"/>
              </a:rPr>
              <a:t>→</a:t>
            </a:r>
            <a:endParaRPr lang="en-US" sz="1600">
              <a:latin typeface="IBM Plex Sans" panose="020B0503050203000203" pitchFamily="34" charset="0"/>
              <a:ea typeface="IBM Plex Sans SmBld"/>
              <a:cs typeface="Calibri" panose="020F0502020204030204"/>
            </a:endParaRPr>
          </a:p>
        </p:txBody>
      </p:sp>
      <p:sp>
        <p:nvSpPr>
          <p:cNvPr id="16" name="Text 1">
            <a:extLst>
              <a:ext uri="{FF2B5EF4-FFF2-40B4-BE49-F238E27FC236}">
                <a16:creationId xmlns:a16="http://schemas.microsoft.com/office/drawing/2014/main" id="{8C8CD083-2D77-E8DA-82FA-646679305FA5}"/>
              </a:ext>
            </a:extLst>
          </p:cNvPr>
          <p:cNvSpPr/>
          <p:nvPr/>
        </p:nvSpPr>
        <p:spPr>
          <a:xfrm>
            <a:off x="407302" y="271025"/>
            <a:ext cx="9597082" cy="446903"/>
          </a:xfrm>
          <a:prstGeom prst="rect">
            <a:avLst/>
          </a:prstGeom>
          <a:noFill/>
          <a:ln/>
        </p:spPr>
        <p:txBody>
          <a:bodyPr wrap="square" lIns="0" tIns="0" rIns="0" bIns="0" rtlCol="0" anchor="ctr"/>
          <a:lstStyle/>
          <a:p>
            <a:r>
              <a:rPr lang="en-US" sz="2800" b="1">
                <a:solidFill>
                  <a:srgbClr val="0F62FE"/>
                </a:solidFill>
                <a:latin typeface="IBM Plex Sans" panose="020B0503050203000203" pitchFamily="34" charset="0"/>
              </a:rPr>
              <a:t>Prioritization Approach Across Workflows</a:t>
            </a:r>
            <a:endParaRPr lang="en-US">
              <a:latin typeface="IBM Plex Sans" panose="020B0503050203000203" pitchFamily="34" charset="0"/>
            </a:endParaRPr>
          </a:p>
        </p:txBody>
      </p:sp>
      <p:sp>
        <p:nvSpPr>
          <p:cNvPr id="102" name="Shape 3">
            <a:extLst>
              <a:ext uri="{FF2B5EF4-FFF2-40B4-BE49-F238E27FC236}">
                <a16:creationId xmlns:a16="http://schemas.microsoft.com/office/drawing/2014/main" id="{CD212796-38A9-9202-C3F7-8E8B495DA533}"/>
              </a:ext>
            </a:extLst>
          </p:cNvPr>
          <p:cNvSpPr/>
          <p:nvPr/>
        </p:nvSpPr>
        <p:spPr>
          <a:xfrm>
            <a:off x="836905" y="1193827"/>
            <a:ext cx="3611880" cy="1737360"/>
          </a:xfrm>
          <a:prstGeom prst="rect">
            <a:avLst/>
          </a:prstGeom>
          <a:solidFill>
            <a:srgbClr val="DCEDC8">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04" name="Text 5">
            <a:extLst>
              <a:ext uri="{FF2B5EF4-FFF2-40B4-BE49-F238E27FC236}">
                <a16:creationId xmlns:a16="http://schemas.microsoft.com/office/drawing/2014/main" id="{213F437F-879C-E6FB-E11A-830BC8BC4A3E}"/>
              </a:ext>
            </a:extLst>
          </p:cNvPr>
          <p:cNvSpPr/>
          <p:nvPr/>
        </p:nvSpPr>
        <p:spPr>
          <a:xfrm>
            <a:off x="3168625" y="1221259"/>
            <a:ext cx="1207008" cy="237744"/>
          </a:xfrm>
          <a:prstGeom prst="rect">
            <a:avLst/>
          </a:prstGeom>
          <a:noFill/>
          <a:ln/>
        </p:spPr>
        <p:txBody>
          <a:bodyPr wrap="square" lIns="0" tIns="0" rIns="0" bIns="0" rtlCol="0" anchor="t"/>
          <a:lstStyle/>
          <a:p>
            <a:pPr algn="r"/>
            <a:r>
              <a:rPr lang="en-US" sz="600" b="1">
                <a:solidFill>
                  <a:srgbClr val="003B9A"/>
                </a:solidFill>
                <a:latin typeface="IBM Plex Sans" panose="020B0503050203000203" pitchFamily="34" charset="0"/>
                <a:ea typeface="Arial" pitchFamily="34" charset="-122"/>
                <a:cs typeface="Arial" pitchFamily="34" charset="-120"/>
              </a:rPr>
              <a:t>Aspirational Bets</a:t>
            </a:r>
            <a:endParaRPr lang="en-US" sz="600">
              <a:latin typeface="IBM Plex Sans" panose="020B0503050203000203" pitchFamily="34" charset="0"/>
            </a:endParaRPr>
          </a:p>
        </p:txBody>
      </p:sp>
      <p:sp>
        <p:nvSpPr>
          <p:cNvPr id="106" name="Text 6">
            <a:extLst>
              <a:ext uri="{FF2B5EF4-FFF2-40B4-BE49-F238E27FC236}">
                <a16:creationId xmlns:a16="http://schemas.microsoft.com/office/drawing/2014/main" id="{913F444B-E1DC-A81E-62CC-F9DDEA94B4C6}"/>
              </a:ext>
            </a:extLst>
          </p:cNvPr>
          <p:cNvSpPr/>
          <p:nvPr/>
        </p:nvSpPr>
        <p:spPr>
          <a:xfrm>
            <a:off x="868337" y="1188889"/>
            <a:ext cx="182880" cy="164592"/>
          </a:xfrm>
          <a:prstGeom prst="rect">
            <a:avLst/>
          </a:prstGeom>
          <a:noFill/>
          <a:ln/>
        </p:spPr>
        <p:txBody>
          <a:bodyPr wrap="square" lIns="0" tIns="0" rIns="0" bIns="0" rtlCol="0" anchor="ctr"/>
          <a:lstStyle/>
          <a:p>
            <a:r>
              <a:rPr lang="en-US" sz="750" b="1">
                <a:solidFill>
                  <a:srgbClr val="003B9A"/>
                </a:solidFill>
                <a:latin typeface="IBM Plex Sans" panose="020B0503050203000203" pitchFamily="34" charset="0"/>
                <a:cs typeface="Arial" pitchFamily="34" charset="-120"/>
              </a:rPr>
              <a:t>9</a:t>
            </a:r>
            <a:endParaRPr lang="en-US" sz="750">
              <a:latin typeface="IBM Plex Sans" panose="020B0503050203000203" pitchFamily="34" charset="0"/>
            </a:endParaRPr>
          </a:p>
        </p:txBody>
      </p:sp>
      <p:sp>
        <p:nvSpPr>
          <p:cNvPr id="108" name="Text 7">
            <a:extLst>
              <a:ext uri="{FF2B5EF4-FFF2-40B4-BE49-F238E27FC236}">
                <a16:creationId xmlns:a16="http://schemas.microsoft.com/office/drawing/2014/main" id="{DC9F7832-3E56-0D1A-1C96-FE4CA80B3481}"/>
              </a:ext>
            </a:extLst>
          </p:cNvPr>
          <p:cNvSpPr/>
          <p:nvPr/>
        </p:nvSpPr>
        <p:spPr>
          <a:xfrm>
            <a:off x="891769" y="1413283"/>
            <a:ext cx="3502152" cy="1463040"/>
          </a:xfrm>
          <a:prstGeom prst="rect">
            <a:avLst/>
          </a:prstGeom>
          <a:noFill/>
          <a:ln/>
        </p:spPr>
        <p:txBody>
          <a:bodyPr wrap="square" lIns="0" tIns="0" rIns="0" bIns="0" numCol="2" rtlCol="0" anchor="t"/>
          <a:lstStyle/>
          <a:p>
            <a:pPr>
              <a:spcAft>
                <a:spcPts val="100"/>
              </a:spcAft>
            </a:pPr>
            <a:r>
              <a:rPr lang="en-US" sz="800" b="1">
                <a:solidFill>
                  <a:srgbClr val="1B5E20"/>
                </a:solidFill>
                <a:latin typeface="IBM Plex Sans" panose="020B0503050203000203" pitchFamily="34" charset="0"/>
                <a:ea typeface="Arial" pitchFamily="34" charset="-122"/>
                <a:cs typeface="Arial"/>
              </a:rPr>
              <a:t>★ Strategic Planning &amp; </a:t>
            </a:r>
            <a:r>
              <a:rPr lang="en-US" sz="800" b="1" err="1">
                <a:solidFill>
                  <a:srgbClr val="1B5E20"/>
                </a:solidFill>
                <a:latin typeface="IBM Plex Sans" panose="020B0503050203000203" pitchFamily="34" charset="0"/>
                <a:ea typeface="Arial" pitchFamily="34" charset="-122"/>
                <a:cs typeface="Arial"/>
              </a:rPr>
              <a:t>SoT</a:t>
            </a:r>
            <a:r>
              <a:rPr lang="en-US" sz="800" b="1">
                <a:solidFill>
                  <a:srgbClr val="1B5E20"/>
                </a:solidFill>
                <a:latin typeface="IBM Plex Sans" panose="020B0503050203000203" pitchFamily="34" charset="0"/>
                <a:ea typeface="Arial" pitchFamily="34" charset="-122"/>
                <a:cs typeface="Arial"/>
              </a:rPr>
              <a:t>
</a:t>
            </a:r>
            <a:endParaRPr lang="en-US" sz="800">
              <a:latin typeface="IBM Plex Sans" panose="020B0503050203000203" pitchFamily="34" charset="0"/>
              <a:cs typeface="Arial"/>
            </a:endParaRPr>
          </a:p>
          <a:p>
            <a:pPr>
              <a:spcAft>
                <a:spcPts val="100"/>
              </a:spcAft>
            </a:pPr>
            <a:r>
              <a:rPr lang="en-US" sz="800" b="1">
                <a:solidFill>
                  <a:srgbClr val="7B1FA2"/>
                </a:solidFill>
                <a:latin typeface="IBM Plex Sans" panose="020B0503050203000203" pitchFamily="34" charset="0"/>
                <a:ea typeface="Arial" pitchFamily="34" charset="-122"/>
                <a:cs typeface="Arial"/>
              </a:rPr>
              <a:t>★ Content &amp; Forms Creation QA
</a:t>
            </a:r>
            <a:endParaRPr lang="en-US" sz="800">
              <a:latin typeface="IBM Plex Sans" panose="020B0503050203000203" pitchFamily="34" charset="0"/>
              <a:cs typeface="Arial"/>
            </a:endParaRPr>
          </a:p>
          <a:p>
            <a:pPr>
              <a:spcAft>
                <a:spcPts val="100"/>
              </a:spcAft>
            </a:pPr>
            <a:r>
              <a:rPr lang="en-US" sz="800" b="1">
                <a:solidFill>
                  <a:srgbClr val="0D47A1"/>
                </a:solidFill>
                <a:latin typeface="IBM Plex Sans" panose="020B0503050203000203" pitchFamily="34" charset="0"/>
                <a:ea typeface="Arial" pitchFamily="34" charset="-122"/>
                <a:cs typeface="Arial"/>
              </a:rPr>
              <a:t>★ Audience Content &amp; Journey Orch
</a:t>
            </a:r>
            <a:endParaRPr lang="en-US" sz="800">
              <a:latin typeface="IBM Plex Sans" panose="020B0503050203000203" pitchFamily="34" charset="0"/>
              <a:cs typeface="Arial"/>
            </a:endParaRPr>
          </a:p>
          <a:p>
            <a:pPr>
              <a:spcAft>
                <a:spcPts val="100"/>
              </a:spcAft>
            </a:pPr>
            <a:r>
              <a:rPr lang="en-US" sz="800" b="1">
                <a:solidFill>
                  <a:srgbClr val="7B1FA2"/>
                </a:solidFill>
                <a:latin typeface="IBM Plex Sans" panose="020B0503050203000203" pitchFamily="34" charset="0"/>
                <a:ea typeface="Arial" pitchFamily="34" charset="-122"/>
                <a:cs typeface="Arial"/>
              </a:rPr>
              <a:t>★ </a:t>
            </a:r>
            <a:r>
              <a:rPr lang="en-US" sz="800" b="1" err="1">
                <a:solidFill>
                  <a:srgbClr val="7B1FA2"/>
                </a:solidFill>
                <a:latin typeface="IBM Plex Sans" panose="020B0503050203000203" pitchFamily="34" charset="0"/>
                <a:ea typeface="Arial" pitchFamily="34" charset="-122"/>
                <a:cs typeface="Arial"/>
              </a:rPr>
              <a:t>AdHoc</a:t>
            </a:r>
            <a:r>
              <a:rPr lang="en-US" sz="800" b="1">
                <a:solidFill>
                  <a:srgbClr val="7B1FA2"/>
                </a:solidFill>
                <a:latin typeface="IBM Plex Sans" panose="020B0503050203000203" pitchFamily="34" charset="0"/>
                <a:ea typeface="Arial" pitchFamily="34" charset="-122"/>
                <a:cs typeface="Arial"/>
              </a:rPr>
              <a:t> Reporting &amp; Data Interrogation
</a:t>
            </a:r>
            <a:endParaRPr lang="en-US" sz="800">
              <a:latin typeface="IBM Plex Sans" panose="020B0503050203000203" pitchFamily="34" charset="0"/>
              <a:cs typeface="Arial"/>
            </a:endParaRPr>
          </a:p>
          <a:p>
            <a:pPr>
              <a:spcAft>
                <a:spcPts val="100"/>
              </a:spcAft>
            </a:pPr>
            <a:r>
              <a:rPr lang="en-US" sz="800" b="1">
                <a:solidFill>
                  <a:srgbClr val="7B1FA2"/>
                </a:solidFill>
                <a:latin typeface="IBM Plex Sans" panose="020B0503050203000203" pitchFamily="34" charset="0"/>
                <a:ea typeface="Arial" pitchFamily="34" charset="-122"/>
                <a:cs typeface="Arial" pitchFamily="34" charset="-120"/>
              </a:rPr>
              <a:t>★ Workflow Auto: TL to Marketo</a:t>
            </a:r>
          </a:p>
          <a:p>
            <a:pPr>
              <a:spcAft>
                <a:spcPts val="100"/>
              </a:spcAft>
            </a:pPr>
            <a:endParaRPr lang="en-US" sz="800" b="1">
              <a:solidFill>
                <a:srgbClr val="7B1FA2"/>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7B1FA2"/>
                </a:solidFill>
                <a:latin typeface="IBM Plex Sans" panose="020B0503050203000203" pitchFamily="34" charset="0"/>
                <a:ea typeface="Arial" pitchFamily="34" charset="-122"/>
                <a:cs typeface="Arial"/>
              </a:rPr>
              <a:t>
</a:t>
            </a:r>
            <a:endParaRPr lang="en-US" sz="800">
              <a:latin typeface="IBM Plex Sans" panose="020B0503050203000203" pitchFamily="34" charset="0"/>
              <a:cs typeface="Arial"/>
            </a:endParaRPr>
          </a:p>
          <a:p>
            <a:pPr>
              <a:spcAft>
                <a:spcPts val="100"/>
              </a:spcAft>
            </a:pPr>
            <a:r>
              <a:rPr lang="en-US" sz="800" b="1">
                <a:solidFill>
                  <a:srgbClr val="283593"/>
                </a:solidFill>
                <a:latin typeface="IBM Plex Sans" panose="020B0503050203000203" pitchFamily="34" charset="0"/>
                <a:ea typeface="Arial" pitchFamily="34" charset="-122"/>
                <a:cs typeface="Arial"/>
              </a:rPr>
              <a:t>★ Client Engagement Insights
</a:t>
            </a:r>
            <a:endParaRPr lang="en-US" sz="800">
              <a:solidFill>
                <a:srgbClr val="7B1FA2"/>
              </a:solidFill>
              <a:latin typeface="IBM Plex Sans" panose="020B0503050203000203" pitchFamily="34" charset="0"/>
              <a:ea typeface="Arial" pitchFamily="34" charset="-122"/>
              <a:cs typeface="Arial"/>
            </a:endParaRPr>
          </a:p>
          <a:p>
            <a:pPr>
              <a:spcAft>
                <a:spcPts val="100"/>
              </a:spcAft>
            </a:pPr>
            <a:r>
              <a:rPr lang="en-US" sz="800">
                <a:solidFill>
                  <a:srgbClr val="283593"/>
                </a:solidFill>
                <a:latin typeface="IBM Plex Sans" panose="020B0503050203000203" pitchFamily="34" charset="0"/>
                <a:ea typeface="Arial" pitchFamily="34" charset="-122"/>
                <a:cs typeface="Arial"/>
              </a:rPr>
              <a:t> </a:t>
            </a:r>
            <a:r>
              <a:rPr lang="en-US" sz="800" b="1">
                <a:solidFill>
                  <a:srgbClr val="283593"/>
                </a:solidFill>
                <a:latin typeface="IBM Plex Sans" panose="020B0503050203000203" pitchFamily="34" charset="0"/>
                <a:cs typeface="Arial"/>
              </a:rPr>
              <a:t>★ Trigger-Based </a:t>
            </a:r>
            <a:r>
              <a:rPr lang="en-US" sz="800" b="1">
                <a:solidFill>
                  <a:srgbClr val="283593"/>
                </a:solidFill>
                <a:latin typeface="IBM Plex Sans" panose="020B0503050203000203" pitchFamily="34" charset="0"/>
                <a:ea typeface="Arial" pitchFamily="34" charset="-122"/>
                <a:cs typeface="Arial"/>
              </a:rPr>
              <a:t>Activation</a:t>
            </a:r>
          </a:p>
          <a:p>
            <a:pPr>
              <a:spcAft>
                <a:spcPts val="100"/>
              </a:spcAft>
            </a:pPr>
            <a:endParaRPr lang="en-US" sz="800" b="1">
              <a:solidFill>
                <a:srgbClr val="283593"/>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Client Engagement Playbook</a:t>
            </a:r>
          </a:p>
          <a:p>
            <a:pPr>
              <a:spcAft>
                <a:spcPts val="100"/>
              </a:spcAft>
            </a:pPr>
            <a:endParaRPr lang="en-US" sz="800" b="1">
              <a:solidFill>
                <a:srgbClr val="2E7D32"/>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7B1FA2"/>
                </a:solidFill>
                <a:latin typeface="IBM Plex Sans" panose="020B0503050203000203" pitchFamily="34" charset="0"/>
                <a:ea typeface="Arial" pitchFamily="34" charset="-122"/>
                <a:cs typeface="Arial"/>
              </a:rPr>
              <a:t> Response Optimization across Channels</a:t>
            </a:r>
            <a:r>
              <a:rPr lang="en-US" sz="800">
                <a:solidFill>
                  <a:srgbClr val="283593"/>
                </a:solidFill>
                <a:latin typeface="IBM Plex Sans" panose="020B0503050203000203" pitchFamily="34" charset="0"/>
                <a:ea typeface="Arial" pitchFamily="34" charset="-122"/>
                <a:cs typeface="Arial"/>
              </a:rPr>
              <a:t>
</a:t>
            </a:r>
            <a:r>
              <a:rPr lang="en-US" sz="800" b="1">
                <a:solidFill>
                  <a:srgbClr val="546E7A"/>
                </a:solidFill>
                <a:latin typeface="IBM Plex Sans" panose="020B0503050203000203" pitchFamily="34" charset="0"/>
                <a:ea typeface="Arial" pitchFamily="34" charset="-122"/>
                <a:cs typeface="Arial"/>
              </a:rPr>
              <a:t>
</a:t>
            </a:r>
            <a:endParaRPr lang="en-US" sz="800">
              <a:latin typeface="IBM Plex Sans" panose="020B0503050203000203" pitchFamily="34" charset="0"/>
              <a:cs typeface="Arial"/>
            </a:endParaRPr>
          </a:p>
          <a:p>
            <a:pPr>
              <a:spcAft>
                <a:spcPts val="100"/>
              </a:spcAft>
            </a:pPr>
            <a:r>
              <a:rPr lang="en-US" sz="800">
                <a:solidFill>
                  <a:srgbClr val="7B1FA2"/>
                </a:solidFill>
                <a:latin typeface="IBM Plex Sans" panose="020B0503050203000203" pitchFamily="34" charset="0"/>
                <a:ea typeface="Arial" pitchFamily="34" charset="-122"/>
                <a:cs typeface="Arial"/>
              </a:rPr>
              <a:t>
</a:t>
            </a:r>
            <a:endParaRPr lang="en-US" sz="800">
              <a:latin typeface="IBM Plex Sans" panose="020B0503050203000203" pitchFamily="34" charset="0"/>
              <a:cs typeface="Arial"/>
            </a:endParaRPr>
          </a:p>
        </p:txBody>
      </p:sp>
      <p:sp>
        <p:nvSpPr>
          <p:cNvPr id="110" name="Shape 8">
            <a:extLst>
              <a:ext uri="{FF2B5EF4-FFF2-40B4-BE49-F238E27FC236}">
                <a16:creationId xmlns:a16="http://schemas.microsoft.com/office/drawing/2014/main" id="{95DBB09B-9309-7393-6CB4-66F7BDA936D0}"/>
              </a:ext>
            </a:extLst>
          </p:cNvPr>
          <p:cNvSpPr/>
          <p:nvPr/>
        </p:nvSpPr>
        <p:spPr>
          <a:xfrm>
            <a:off x="4448785" y="1193827"/>
            <a:ext cx="3611880" cy="1737360"/>
          </a:xfrm>
          <a:prstGeom prst="rect">
            <a:avLst/>
          </a:prstGeom>
          <a:solidFill>
            <a:srgbClr val="C5E1A5">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12" name="Text 11">
            <a:extLst>
              <a:ext uri="{FF2B5EF4-FFF2-40B4-BE49-F238E27FC236}">
                <a16:creationId xmlns:a16="http://schemas.microsoft.com/office/drawing/2014/main" id="{F5A30D83-B517-8611-3121-0DFC8C38FB12}"/>
              </a:ext>
            </a:extLst>
          </p:cNvPr>
          <p:cNvSpPr/>
          <p:nvPr/>
        </p:nvSpPr>
        <p:spPr>
          <a:xfrm>
            <a:off x="4494505" y="1196033"/>
            <a:ext cx="182880" cy="164592"/>
          </a:xfrm>
          <a:prstGeom prst="rect">
            <a:avLst/>
          </a:prstGeom>
          <a:noFill/>
          <a:ln/>
        </p:spPr>
        <p:txBody>
          <a:bodyPr wrap="square" lIns="0" tIns="0" rIns="0" bIns="0" rtlCol="0" anchor="ctr"/>
          <a:lstStyle/>
          <a:p>
            <a:r>
              <a:rPr lang="en-US" sz="750" b="1">
                <a:solidFill>
                  <a:srgbClr val="0F62FE"/>
                </a:solidFill>
                <a:latin typeface="IBM Plex Sans" panose="020B0503050203000203" pitchFamily="34" charset="0"/>
                <a:ea typeface="Arial" pitchFamily="34" charset="-122"/>
                <a:cs typeface="Arial" pitchFamily="34" charset="-120"/>
              </a:rPr>
              <a:t>6</a:t>
            </a:r>
            <a:endParaRPr lang="en-US" sz="750">
              <a:latin typeface="IBM Plex Sans" panose="020B0503050203000203" pitchFamily="34" charset="0"/>
            </a:endParaRPr>
          </a:p>
        </p:txBody>
      </p:sp>
      <p:sp>
        <p:nvSpPr>
          <p:cNvPr id="114" name="Text 12">
            <a:extLst>
              <a:ext uri="{FF2B5EF4-FFF2-40B4-BE49-F238E27FC236}">
                <a16:creationId xmlns:a16="http://schemas.microsoft.com/office/drawing/2014/main" id="{531D3BF3-9D00-832E-7DCA-D428144D5A0B}"/>
              </a:ext>
            </a:extLst>
          </p:cNvPr>
          <p:cNvSpPr/>
          <p:nvPr/>
        </p:nvSpPr>
        <p:spPr>
          <a:xfrm>
            <a:off x="4503649" y="1413283"/>
            <a:ext cx="3502152" cy="1463040"/>
          </a:xfrm>
          <a:prstGeom prst="rect">
            <a:avLst/>
          </a:prstGeom>
          <a:noFill/>
          <a:ln/>
        </p:spPr>
        <p:txBody>
          <a:bodyPr wrap="square" lIns="0" tIns="0" rIns="0" bIns="0" numCol="2" rtlCol="0" anchor="t"/>
          <a:lstStyle/>
          <a:p>
            <a:pPr>
              <a:spcAft>
                <a:spcPts val="100"/>
              </a:spcAft>
            </a:pPr>
            <a:r>
              <a:rPr lang="en-US" sz="800" b="1">
                <a:solidFill>
                  <a:srgbClr val="1B5E20"/>
                </a:solidFill>
                <a:latin typeface="IBM Plex Sans" panose="020B0503050203000203" pitchFamily="34" charset="0"/>
                <a:ea typeface="Arial" pitchFamily="34" charset="-122"/>
                <a:cs typeface="Arial" pitchFamily="34" charset="-120"/>
              </a:rPr>
              <a:t>★ Content Creation (incl Localization)
</a:t>
            </a:r>
            <a:endParaRPr lang="en-US" sz="800">
              <a:latin typeface="IBM Plex Sans" panose="020B0503050203000203" pitchFamily="34" charset="0"/>
            </a:endParaRPr>
          </a:p>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End-to-End Gap ID &amp; NBA
</a:t>
            </a:r>
            <a:endParaRPr lang="en-US" sz="800">
              <a:latin typeface="IBM Plex Sans" panose="020B0503050203000203" pitchFamily="34" charset="0"/>
            </a:endParaRPr>
          </a:p>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Growth Cohort &amp; Buying-Group
</a:t>
            </a:r>
            <a:endParaRPr lang="en-US" sz="800">
              <a:latin typeface="IBM Plex Sans" panose="020B0503050203000203" pitchFamily="34" charset="0"/>
            </a:endParaRPr>
          </a:p>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Event Strategy &amp; Workflow Orch
</a:t>
            </a:r>
            <a:endParaRPr lang="en-US" sz="800">
              <a:latin typeface="IBM Plex Sans" panose="020B0503050203000203" pitchFamily="34" charset="0"/>
            </a:endParaRPr>
          </a:p>
          <a:p>
            <a:pPr>
              <a:spcAft>
                <a:spcPts val="100"/>
              </a:spcAft>
            </a:pPr>
            <a:r>
              <a:rPr lang="en-US" sz="800" b="1">
                <a:solidFill>
                  <a:srgbClr val="0D47A1"/>
                </a:solidFill>
                <a:latin typeface="IBM Plex Sans" panose="020B0503050203000203" pitchFamily="34" charset="0"/>
                <a:ea typeface="Arial" pitchFamily="34" charset="-122"/>
                <a:cs typeface="Arial" pitchFamily="34" charset="-120"/>
              </a:rPr>
              <a:t>★ Demand Intelligence &amp; Planning
</a:t>
            </a:r>
            <a:endParaRPr lang="en-US" sz="800">
              <a:latin typeface="IBM Plex Sans" panose="020B0503050203000203" pitchFamily="34" charset="0"/>
            </a:endParaRPr>
          </a:p>
          <a:p>
            <a:pPr>
              <a:spcAft>
                <a:spcPts val="100"/>
              </a:spcAft>
            </a:pPr>
            <a:r>
              <a:rPr lang="en-US" sz="800" b="1">
                <a:solidFill>
                  <a:srgbClr val="546E7A"/>
                </a:solidFill>
                <a:latin typeface="IBM Plex Sans" panose="020B0503050203000203" pitchFamily="34" charset="0"/>
                <a:ea typeface="Arial" pitchFamily="34" charset="-122"/>
                <a:cs typeface="Arial" pitchFamily="34" charset="-120"/>
              </a:rPr>
              <a:t>★ Spend &amp; Performance Data Foundation</a:t>
            </a:r>
          </a:p>
          <a:p>
            <a:pPr>
              <a:spcAft>
                <a:spcPts val="100"/>
              </a:spcAft>
            </a:pPr>
            <a:endParaRPr lang="en-US" sz="800" b="1">
              <a:solidFill>
                <a:srgbClr val="546E7A"/>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546E7A"/>
                </a:solidFill>
                <a:latin typeface="IBM Plex Sans" panose="020B0503050203000203" pitchFamily="34" charset="0"/>
                <a:ea typeface="Arial" pitchFamily="34" charset="-122"/>
                <a:cs typeface="Arial" pitchFamily="34" charset="-120"/>
              </a:rPr>
              <a:t>Content Expansion - NEW</a:t>
            </a:r>
          </a:p>
          <a:p>
            <a:pPr>
              <a:spcAft>
                <a:spcPts val="100"/>
              </a:spcAft>
            </a:pPr>
            <a:endParaRPr lang="en-US" sz="800" b="1">
              <a:solidFill>
                <a:srgbClr val="546E7A"/>
              </a:solidFill>
              <a:latin typeface="IBM Plex Sans" panose="020B0503050203000203" pitchFamily="34" charset="0"/>
              <a:ea typeface="Arial" pitchFamily="34" charset="-122"/>
              <a:cs typeface="Arial" pitchFamily="34" charset="-120"/>
            </a:endParaRPr>
          </a:p>
        </p:txBody>
      </p:sp>
      <p:sp>
        <p:nvSpPr>
          <p:cNvPr id="116" name="Shape 13">
            <a:extLst>
              <a:ext uri="{FF2B5EF4-FFF2-40B4-BE49-F238E27FC236}">
                <a16:creationId xmlns:a16="http://schemas.microsoft.com/office/drawing/2014/main" id="{600CFBFD-82BD-5397-CE18-26FEBE41870A}"/>
              </a:ext>
            </a:extLst>
          </p:cNvPr>
          <p:cNvSpPr/>
          <p:nvPr/>
        </p:nvSpPr>
        <p:spPr>
          <a:xfrm>
            <a:off x="8060665" y="1193827"/>
            <a:ext cx="3611880" cy="1737360"/>
          </a:xfrm>
          <a:prstGeom prst="rect">
            <a:avLst/>
          </a:prstGeom>
          <a:solidFill>
            <a:srgbClr val="AED581">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18" name="Text 16">
            <a:extLst>
              <a:ext uri="{FF2B5EF4-FFF2-40B4-BE49-F238E27FC236}">
                <a16:creationId xmlns:a16="http://schemas.microsoft.com/office/drawing/2014/main" id="{57E042DB-680A-2DBC-E401-03BFDB1C7F79}"/>
              </a:ext>
            </a:extLst>
          </p:cNvPr>
          <p:cNvSpPr/>
          <p:nvPr/>
        </p:nvSpPr>
        <p:spPr>
          <a:xfrm>
            <a:off x="8106385" y="1203429"/>
            <a:ext cx="182880" cy="164592"/>
          </a:xfrm>
          <a:prstGeom prst="rect">
            <a:avLst/>
          </a:prstGeom>
          <a:noFill/>
          <a:ln/>
        </p:spPr>
        <p:txBody>
          <a:bodyPr wrap="square" lIns="0" tIns="0" rIns="0" bIns="0" rtlCol="0" anchor="ctr"/>
          <a:lstStyle/>
          <a:p>
            <a:r>
              <a:rPr lang="en-US" sz="750" b="1">
                <a:solidFill>
                  <a:srgbClr val="388E3C"/>
                </a:solidFill>
                <a:latin typeface="IBM Plex Sans" panose="020B0503050203000203" pitchFamily="34" charset="0"/>
                <a:cs typeface="Arial" pitchFamily="34" charset="-120"/>
              </a:rPr>
              <a:t>3</a:t>
            </a:r>
            <a:endParaRPr lang="en-US" sz="750">
              <a:latin typeface="IBM Plex Sans" panose="020B0503050203000203" pitchFamily="34" charset="0"/>
            </a:endParaRPr>
          </a:p>
        </p:txBody>
      </p:sp>
      <p:sp>
        <p:nvSpPr>
          <p:cNvPr id="120" name="Text 17">
            <a:extLst>
              <a:ext uri="{FF2B5EF4-FFF2-40B4-BE49-F238E27FC236}">
                <a16:creationId xmlns:a16="http://schemas.microsoft.com/office/drawing/2014/main" id="{598D7CBB-BD1B-DC76-2507-9A80AD6F5AE8}"/>
              </a:ext>
            </a:extLst>
          </p:cNvPr>
          <p:cNvSpPr/>
          <p:nvPr/>
        </p:nvSpPr>
        <p:spPr>
          <a:xfrm>
            <a:off x="8115529" y="1413283"/>
            <a:ext cx="3502152" cy="1463040"/>
          </a:xfrm>
          <a:prstGeom prst="rect">
            <a:avLst/>
          </a:prstGeom>
          <a:noFill/>
          <a:ln/>
        </p:spPr>
        <p:txBody>
          <a:bodyPr wrap="square" lIns="0" tIns="0" rIns="0" bIns="0" rtlCol="0" anchor="t"/>
          <a:lstStyle/>
          <a:p>
            <a:pPr>
              <a:spcAft>
                <a:spcPts val="100"/>
              </a:spcAft>
            </a:pPr>
            <a:r>
              <a:rPr lang="en-US" sz="800" b="1">
                <a:solidFill>
                  <a:srgbClr val="1B5E20"/>
                </a:solidFill>
                <a:latin typeface="IBM Plex Sans" panose="020B0503050203000203" pitchFamily="34" charset="0"/>
                <a:ea typeface="Arial" pitchFamily="34" charset="-122"/>
                <a:cs typeface="Arial" pitchFamily="34" charset="-120"/>
              </a:rPr>
              <a:t>★ </a:t>
            </a:r>
            <a:r>
              <a:rPr lang="en-US" sz="800" b="1" err="1">
                <a:solidFill>
                  <a:srgbClr val="1B5E20"/>
                </a:solidFill>
                <a:latin typeface="IBM Plex Sans" panose="020B0503050203000203" pitchFamily="34" charset="0"/>
                <a:ea typeface="Arial" pitchFamily="34" charset="-122"/>
                <a:cs typeface="Arial" pitchFamily="34" charset="-120"/>
              </a:rPr>
              <a:t>GenStudio</a:t>
            </a:r>
            <a:r>
              <a:rPr lang="en-US" sz="800" b="1">
                <a:solidFill>
                  <a:srgbClr val="1B5E20"/>
                </a:solidFill>
                <a:latin typeface="IBM Plex Sans" panose="020B0503050203000203" pitchFamily="34" charset="0"/>
                <a:ea typeface="Arial" pitchFamily="34" charset="-122"/>
                <a:cs typeface="Arial" pitchFamily="34" charset="-120"/>
              </a:rPr>
              <a:t> Creative Expansion
</a:t>
            </a:r>
            <a:endParaRPr lang="en-US" sz="800">
              <a:latin typeface="IBM Plex Sans" panose="020B0503050203000203" pitchFamily="34" charset="0"/>
            </a:endParaRPr>
          </a:p>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Content &amp; Speaker Narrative</a:t>
            </a:r>
          </a:p>
          <a:p>
            <a:pPr>
              <a:spcAft>
                <a:spcPts val="100"/>
              </a:spcAft>
            </a:pPr>
            <a:endParaRPr lang="en-US" sz="800" b="1">
              <a:solidFill>
                <a:srgbClr val="2E7D32"/>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0D47A1"/>
                </a:solidFill>
                <a:latin typeface="IBM Plex Sans" panose="020B0503050203000203" pitchFamily="34" charset="0"/>
                <a:ea typeface="Arial" pitchFamily="34" charset="-122"/>
                <a:cs typeface="Arial" pitchFamily="34" charset="-120"/>
              </a:rPr>
              <a:t>★ AI Taxonomy Tagging &amp; Meta Gen </a:t>
            </a:r>
            <a:r>
              <a:rPr lang="en-US" sz="800" b="1">
                <a:solidFill>
                  <a:srgbClr val="2E7D32"/>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p:txBody>
      </p:sp>
      <p:sp>
        <p:nvSpPr>
          <p:cNvPr id="122" name="Shape 18">
            <a:extLst>
              <a:ext uri="{FF2B5EF4-FFF2-40B4-BE49-F238E27FC236}">
                <a16:creationId xmlns:a16="http://schemas.microsoft.com/office/drawing/2014/main" id="{4D28DE2E-8FB7-0FFA-ADD7-5D816CA958E2}"/>
              </a:ext>
            </a:extLst>
          </p:cNvPr>
          <p:cNvSpPr/>
          <p:nvPr/>
        </p:nvSpPr>
        <p:spPr>
          <a:xfrm>
            <a:off x="836905" y="2931187"/>
            <a:ext cx="3611880" cy="1737360"/>
          </a:xfrm>
          <a:prstGeom prst="rect">
            <a:avLst/>
          </a:prstGeom>
          <a:solidFill>
            <a:srgbClr val="FFF9C4">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24" name="Text 20">
            <a:extLst>
              <a:ext uri="{FF2B5EF4-FFF2-40B4-BE49-F238E27FC236}">
                <a16:creationId xmlns:a16="http://schemas.microsoft.com/office/drawing/2014/main" id="{E12B5FD6-1A73-4DC8-D159-8175D4C956F9}"/>
              </a:ext>
            </a:extLst>
          </p:cNvPr>
          <p:cNvSpPr/>
          <p:nvPr/>
        </p:nvSpPr>
        <p:spPr>
          <a:xfrm>
            <a:off x="882625" y="2958619"/>
            <a:ext cx="182880" cy="164592"/>
          </a:xfrm>
          <a:prstGeom prst="rect">
            <a:avLst/>
          </a:prstGeom>
          <a:noFill/>
          <a:ln/>
        </p:spPr>
        <p:txBody>
          <a:bodyPr wrap="square" lIns="0" tIns="0" rIns="0" bIns="0" rtlCol="0" anchor="ctr"/>
          <a:lstStyle/>
          <a:p>
            <a:r>
              <a:rPr lang="en-US" sz="750" b="1">
                <a:solidFill>
                  <a:srgbClr val="F57F17"/>
                </a:solidFill>
                <a:latin typeface="IBM Plex Sans" panose="020B0503050203000203" pitchFamily="34" charset="0"/>
                <a:ea typeface="Arial" pitchFamily="34" charset="-122"/>
                <a:cs typeface="Arial" pitchFamily="34" charset="-120"/>
              </a:rPr>
              <a:t>1</a:t>
            </a:r>
            <a:endParaRPr lang="en-US" sz="750">
              <a:latin typeface="IBM Plex Sans" panose="020B0503050203000203" pitchFamily="34" charset="0"/>
            </a:endParaRPr>
          </a:p>
        </p:txBody>
      </p:sp>
      <p:sp>
        <p:nvSpPr>
          <p:cNvPr id="126" name="Text 21">
            <a:extLst>
              <a:ext uri="{FF2B5EF4-FFF2-40B4-BE49-F238E27FC236}">
                <a16:creationId xmlns:a16="http://schemas.microsoft.com/office/drawing/2014/main" id="{50C09BC2-E27E-8B3E-8ACB-3EC1F7E4DA23}"/>
              </a:ext>
            </a:extLst>
          </p:cNvPr>
          <p:cNvSpPr/>
          <p:nvPr/>
        </p:nvSpPr>
        <p:spPr>
          <a:xfrm>
            <a:off x="891769" y="3146069"/>
            <a:ext cx="3502152" cy="1467613"/>
          </a:xfrm>
          <a:prstGeom prst="rect">
            <a:avLst/>
          </a:prstGeom>
          <a:noFill/>
          <a:ln/>
        </p:spPr>
        <p:txBody>
          <a:bodyPr wrap="square" lIns="0" tIns="0" rIns="0" bIns="0" rtlCol="0" anchor="t"/>
          <a:lstStyle/>
          <a:p>
            <a:pPr>
              <a:spcAft>
                <a:spcPts val="100"/>
              </a:spcAft>
            </a:pPr>
            <a:r>
              <a:rPr lang="en-US" sz="800">
                <a:solidFill>
                  <a:srgbClr val="7B1FA2"/>
                </a:solidFill>
                <a:latin typeface="IBM Plex Sans" panose="020B0503050203000203" pitchFamily="34" charset="0"/>
                <a:ea typeface="Arial" pitchFamily="34" charset="-122"/>
                <a:cs typeface="Arial" pitchFamily="34" charset="-120"/>
              </a:rPr>
              <a:t>   Anomaly Investigation &amp; DQ
</a:t>
            </a:r>
            <a:endParaRPr lang="en-US" sz="800">
              <a:latin typeface="IBM Plex Sans" panose="020B0503050203000203" pitchFamily="34" charset="0"/>
            </a:endParaRPr>
          </a:p>
        </p:txBody>
      </p:sp>
      <p:sp>
        <p:nvSpPr>
          <p:cNvPr id="128" name="Shape 22">
            <a:extLst>
              <a:ext uri="{FF2B5EF4-FFF2-40B4-BE49-F238E27FC236}">
                <a16:creationId xmlns:a16="http://schemas.microsoft.com/office/drawing/2014/main" id="{3BA07DC9-E88A-415E-FD15-5CD43BAFD3C2}"/>
              </a:ext>
            </a:extLst>
          </p:cNvPr>
          <p:cNvSpPr/>
          <p:nvPr/>
        </p:nvSpPr>
        <p:spPr>
          <a:xfrm>
            <a:off x="4448785" y="2931187"/>
            <a:ext cx="3611880" cy="1737360"/>
          </a:xfrm>
          <a:prstGeom prst="rect">
            <a:avLst/>
          </a:prstGeom>
          <a:solidFill>
            <a:srgbClr val="FFF59D">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30" name="Text 24">
            <a:extLst>
              <a:ext uri="{FF2B5EF4-FFF2-40B4-BE49-F238E27FC236}">
                <a16:creationId xmlns:a16="http://schemas.microsoft.com/office/drawing/2014/main" id="{71FF7476-0F62-2BCC-4C1B-3BEFCFDC2114}"/>
              </a:ext>
            </a:extLst>
          </p:cNvPr>
          <p:cNvSpPr/>
          <p:nvPr/>
        </p:nvSpPr>
        <p:spPr>
          <a:xfrm>
            <a:off x="4494505" y="2958619"/>
            <a:ext cx="182880" cy="164592"/>
          </a:xfrm>
          <a:prstGeom prst="rect">
            <a:avLst/>
          </a:prstGeom>
          <a:noFill/>
          <a:ln/>
        </p:spPr>
        <p:txBody>
          <a:bodyPr wrap="square" lIns="0" tIns="0" rIns="0" bIns="0" rtlCol="0" anchor="ctr"/>
          <a:lstStyle/>
          <a:p>
            <a:r>
              <a:rPr lang="en-US" sz="750" b="1">
                <a:solidFill>
                  <a:srgbClr val="F9A825"/>
                </a:solidFill>
                <a:latin typeface="IBM Plex Sans" panose="020B0503050203000203" pitchFamily="34" charset="0"/>
                <a:cs typeface="Arial" pitchFamily="34" charset="-120"/>
              </a:rPr>
              <a:t>9</a:t>
            </a:r>
            <a:endParaRPr lang="en-US" sz="750">
              <a:latin typeface="IBM Plex Sans" panose="020B0503050203000203" pitchFamily="34" charset="0"/>
            </a:endParaRPr>
          </a:p>
        </p:txBody>
      </p:sp>
      <p:sp>
        <p:nvSpPr>
          <p:cNvPr id="132" name="Text 25">
            <a:extLst>
              <a:ext uri="{FF2B5EF4-FFF2-40B4-BE49-F238E27FC236}">
                <a16:creationId xmlns:a16="http://schemas.microsoft.com/office/drawing/2014/main" id="{34D451BE-444F-19F5-47E5-1960745F93FB}"/>
              </a:ext>
            </a:extLst>
          </p:cNvPr>
          <p:cNvSpPr/>
          <p:nvPr/>
        </p:nvSpPr>
        <p:spPr>
          <a:xfrm>
            <a:off x="4503649" y="3150643"/>
            <a:ext cx="3502152" cy="1463040"/>
          </a:xfrm>
          <a:prstGeom prst="rect">
            <a:avLst/>
          </a:prstGeom>
          <a:noFill/>
          <a:ln/>
        </p:spPr>
        <p:txBody>
          <a:bodyPr wrap="square" lIns="0" tIns="0" rIns="0" bIns="0" numCol="2" rtlCol="0" anchor="t"/>
          <a:lstStyle/>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Unified Agent (Innovation Studio)</a:t>
            </a:r>
          </a:p>
          <a:p>
            <a:pPr>
              <a:spcAft>
                <a:spcPts val="100"/>
              </a:spcAft>
            </a:pPr>
            <a:r>
              <a:rPr lang="en-US" sz="800">
                <a:solidFill>
                  <a:srgbClr val="E65100"/>
                </a:solidFill>
                <a:latin typeface="IBM Plex Sans" panose="020B0503050203000203" pitchFamily="34" charset="0"/>
                <a:ea typeface="Arial" pitchFamily="34" charset="-122"/>
                <a:cs typeface="Arial" pitchFamily="34" charset="-120"/>
              </a:rPr>
              <a:t>  </a:t>
            </a:r>
          </a:p>
          <a:p>
            <a:pPr>
              <a:spcAft>
                <a:spcPts val="100"/>
              </a:spcAft>
            </a:pPr>
            <a:r>
              <a:rPr lang="en-US" sz="800">
                <a:solidFill>
                  <a:srgbClr val="2E7D32"/>
                </a:solidFill>
                <a:latin typeface="IBM Plex Sans" panose="020B0503050203000203" pitchFamily="34" charset="0"/>
                <a:ea typeface="Arial" pitchFamily="34" charset="-122"/>
                <a:cs typeface="Arial" pitchFamily="34" charset="-120"/>
              </a:rPr>
              <a:t> </a:t>
            </a:r>
            <a:r>
              <a:rPr lang="en-US" sz="800" b="1">
                <a:solidFill>
                  <a:srgbClr val="2E7D32"/>
                </a:solidFill>
                <a:latin typeface="IBM Plex Sans" panose="020B0503050203000203" pitchFamily="34" charset="0"/>
                <a:ea typeface="Arial" pitchFamily="34" charset="-122"/>
                <a:cs typeface="Arial" pitchFamily="34" charset="-120"/>
              </a:rPr>
              <a:t>★ Event Briefer (v2+)</a:t>
            </a:r>
            <a:endParaRPr lang="en-US" sz="800">
              <a:solidFill>
                <a:srgbClr val="E65100"/>
              </a:solidFill>
              <a:latin typeface="IBM Plex Sans" panose="020B0503050203000203" pitchFamily="34" charset="0"/>
              <a:ea typeface="Arial" pitchFamily="34" charset="-122"/>
              <a:cs typeface="Arial" pitchFamily="34" charset="-120"/>
            </a:endParaRPr>
          </a:p>
          <a:p>
            <a:pPr>
              <a:spcAft>
                <a:spcPts val="100"/>
              </a:spcAft>
            </a:pPr>
            <a:endParaRPr lang="en-US" sz="800">
              <a:solidFill>
                <a:srgbClr val="E65100"/>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E65100"/>
                </a:solidFill>
                <a:latin typeface="IBM Plex Sans" panose="020B0503050203000203" pitchFamily="34" charset="0"/>
                <a:ea typeface="Arial" pitchFamily="34" charset="-122"/>
                <a:cs typeface="Arial" pitchFamily="34" charset="-120"/>
              </a:rPr>
              <a:t> Grant Lifecycle Orchestrator
</a:t>
            </a:r>
            <a:endParaRPr lang="en-US" sz="800">
              <a:latin typeface="IBM Plex Sans" panose="020B0503050203000203" pitchFamily="34" charset="0"/>
            </a:endParaRPr>
          </a:p>
          <a:p>
            <a:pPr>
              <a:spcAft>
                <a:spcPts val="100"/>
              </a:spcAft>
            </a:pPr>
            <a:r>
              <a:rPr lang="en-US" sz="800">
                <a:solidFill>
                  <a:srgbClr val="7B1FA2"/>
                </a:solidFill>
                <a:latin typeface="IBM Plex Sans" panose="020B0503050203000203" pitchFamily="34" charset="0"/>
                <a:ea typeface="Arial" pitchFamily="34" charset="-122"/>
                <a:cs typeface="Arial" pitchFamily="34" charset="-120"/>
              </a:rPr>
              <a:t>  Ad Ops &amp; Creative/Content   Trafficking</a:t>
            </a:r>
            <a:r>
              <a:rPr lang="en-US" sz="800">
                <a:solidFill>
                  <a:srgbClr val="283593"/>
                </a:solidFill>
                <a:latin typeface="IBM Plex Sans" panose="020B0503050203000203" pitchFamily="34" charset="0"/>
                <a:ea typeface="Arial" pitchFamily="34" charset="-122"/>
                <a:cs typeface="Arial" pitchFamily="34" charset="-120"/>
              </a:rPr>
              <a:t>   </a:t>
            </a:r>
          </a:p>
          <a:p>
            <a:pPr>
              <a:spcAft>
                <a:spcPts val="100"/>
              </a:spcAft>
            </a:pPr>
            <a:endParaRPr lang="en-US" sz="800">
              <a:solidFill>
                <a:srgbClr val="283593"/>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283593"/>
                </a:solidFill>
                <a:latin typeface="IBM Plex Sans" panose="020B0503050203000203" pitchFamily="34" charset="0"/>
                <a:ea typeface="Arial" pitchFamily="34" charset="-122"/>
                <a:cs typeface="Arial" pitchFamily="34" charset="-120"/>
              </a:rPr>
              <a:t>Thought Leadership Creation Engine
</a:t>
            </a:r>
            <a:endParaRPr lang="en-US" sz="800">
              <a:latin typeface="IBM Plex Sans" panose="020B0503050203000203" pitchFamily="34" charset="0"/>
            </a:endParaRPr>
          </a:p>
          <a:p>
            <a:pPr>
              <a:spcAft>
                <a:spcPts val="100"/>
              </a:spcAft>
            </a:pPr>
            <a:r>
              <a:rPr lang="en-US" sz="800">
                <a:solidFill>
                  <a:srgbClr val="0D47A1"/>
                </a:solidFill>
                <a:latin typeface="IBM Plex Sans" panose="020B0503050203000203" pitchFamily="34" charset="0"/>
                <a:ea typeface="Arial" pitchFamily="34" charset="-122"/>
                <a:cs typeface="Arial" pitchFamily="34" charset="-120"/>
              </a:rPr>
              <a:t>   Partner Performance Intelligence
</a:t>
            </a:r>
            <a:endParaRPr lang="en-US" sz="800">
              <a:latin typeface="IBM Plex Sans" panose="020B0503050203000203" pitchFamily="34" charset="0"/>
            </a:endParaRPr>
          </a:p>
          <a:p>
            <a:pPr>
              <a:spcAft>
                <a:spcPts val="100"/>
              </a:spcAft>
            </a:pPr>
            <a:r>
              <a:rPr lang="en-US" sz="800">
                <a:solidFill>
                  <a:srgbClr val="0D47A1"/>
                </a:solidFill>
                <a:latin typeface="IBM Plex Sans" panose="020B0503050203000203" pitchFamily="34" charset="0"/>
                <a:ea typeface="Arial" pitchFamily="34" charset="-122"/>
                <a:cs typeface="Arial" pitchFamily="34" charset="-120"/>
              </a:rPr>
              <a:t>   Co-Marketing Process Automation</a:t>
            </a:r>
          </a:p>
          <a:p>
            <a:pPr>
              <a:spcAft>
                <a:spcPts val="100"/>
              </a:spcAft>
            </a:pPr>
            <a:endParaRPr lang="en-US" sz="800">
              <a:solidFill>
                <a:srgbClr val="0D47A1"/>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546E7A"/>
                </a:solidFill>
                <a:latin typeface="IBM Plex Sans" panose="020B0503050203000203" pitchFamily="34" charset="0"/>
                <a:ea typeface="Arial" pitchFamily="34" charset="-122"/>
                <a:cs typeface="Arial" pitchFamily="34" charset="-120"/>
              </a:rPr>
              <a:t>   Tech Capability Intake</a:t>
            </a:r>
          </a:p>
          <a:p>
            <a:pPr>
              <a:spcAft>
                <a:spcPts val="100"/>
              </a:spcAft>
            </a:pPr>
            <a:endParaRPr lang="en-US" sz="800">
              <a:solidFill>
                <a:srgbClr val="546E7A"/>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00838F"/>
                </a:solidFill>
                <a:latin typeface="IBM Plex Sans" panose="020B0503050203000203" pitchFamily="34" charset="0"/>
                <a:ea typeface="Arial" pitchFamily="34" charset="-122"/>
                <a:cs typeface="Arial" pitchFamily="34" charset="-120"/>
              </a:rPr>
              <a:t>   RFI Ninja</a:t>
            </a:r>
            <a:r>
              <a:rPr lang="en-US" sz="800">
                <a:solidFill>
                  <a:srgbClr val="546E7A"/>
                </a:solidFill>
                <a:latin typeface="IBM Plex Sans" panose="020B0503050203000203" pitchFamily="34" charset="0"/>
                <a:ea typeface="Arial" pitchFamily="34" charset="-122"/>
                <a:cs typeface="Arial" pitchFamily="34" charset="-120"/>
              </a:rPr>
              <a:t> </a:t>
            </a:r>
            <a:r>
              <a:rPr lang="en-US" sz="800">
                <a:solidFill>
                  <a:srgbClr val="0D47A1"/>
                </a:solidFill>
                <a:latin typeface="IBM Plex Sans" panose="020B0503050203000203" pitchFamily="34" charset="0"/>
                <a:ea typeface="Arial" pitchFamily="34" charset="-122"/>
                <a:cs typeface="Arial" pitchFamily="34" charset="-120"/>
              </a:rPr>
              <a:t>
</a:t>
            </a:r>
          </a:p>
          <a:p>
            <a:pPr>
              <a:spcAft>
                <a:spcPts val="100"/>
              </a:spcAft>
            </a:pPr>
            <a:r>
              <a:rPr lang="en-US" sz="800">
                <a:solidFill>
                  <a:srgbClr val="546E7A"/>
                </a:solidFill>
                <a:latin typeface="IBM Plex Sans" panose="020B0503050203000203" pitchFamily="34" charset="0"/>
                <a:ea typeface="Arial" pitchFamily="34" charset="-122"/>
                <a:cs typeface="Arial" pitchFamily="34" charset="-120"/>
              </a:rPr>
              <a:t>  Scenario Planning</a:t>
            </a:r>
          </a:p>
          <a:p>
            <a:pPr>
              <a:spcAft>
                <a:spcPts val="100"/>
              </a:spcAft>
            </a:pPr>
            <a:endParaRPr lang="en-US" sz="800">
              <a:solidFill>
                <a:srgbClr val="546E7A"/>
              </a:solidFill>
              <a:latin typeface="IBM Plex Sans" panose="020B0503050203000203" pitchFamily="34" charset="0"/>
              <a:cs typeface="Arial" pitchFamily="34" charset="-120"/>
            </a:endParaRPr>
          </a:p>
        </p:txBody>
      </p:sp>
      <p:sp>
        <p:nvSpPr>
          <p:cNvPr id="134" name="Shape 26">
            <a:extLst>
              <a:ext uri="{FF2B5EF4-FFF2-40B4-BE49-F238E27FC236}">
                <a16:creationId xmlns:a16="http://schemas.microsoft.com/office/drawing/2014/main" id="{80A9F73A-B58D-9A39-9BB8-53CFE196ACBB}"/>
              </a:ext>
            </a:extLst>
          </p:cNvPr>
          <p:cNvSpPr/>
          <p:nvPr/>
        </p:nvSpPr>
        <p:spPr>
          <a:xfrm>
            <a:off x="8060665" y="2931187"/>
            <a:ext cx="3611880" cy="1737360"/>
          </a:xfrm>
          <a:prstGeom prst="rect">
            <a:avLst/>
          </a:prstGeom>
          <a:solidFill>
            <a:srgbClr val="FFF176">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38" name="Text 29">
            <a:extLst>
              <a:ext uri="{FF2B5EF4-FFF2-40B4-BE49-F238E27FC236}">
                <a16:creationId xmlns:a16="http://schemas.microsoft.com/office/drawing/2014/main" id="{D69CB169-1005-108E-4335-60D0E26C4510}"/>
              </a:ext>
            </a:extLst>
          </p:cNvPr>
          <p:cNvSpPr/>
          <p:nvPr/>
        </p:nvSpPr>
        <p:spPr>
          <a:xfrm>
            <a:off x="8106385" y="2958619"/>
            <a:ext cx="182880" cy="164592"/>
          </a:xfrm>
          <a:prstGeom prst="rect">
            <a:avLst/>
          </a:prstGeom>
          <a:noFill/>
          <a:ln/>
        </p:spPr>
        <p:txBody>
          <a:bodyPr wrap="square" lIns="0" tIns="0" rIns="0" bIns="0" rtlCol="0" anchor="ctr"/>
          <a:lstStyle/>
          <a:p>
            <a:r>
              <a:rPr lang="en-US" sz="750" b="1">
                <a:solidFill>
                  <a:srgbClr val="F9A825"/>
                </a:solidFill>
                <a:latin typeface="IBM Plex Sans" panose="020B0503050203000203" pitchFamily="34" charset="0"/>
                <a:cs typeface="Arial" pitchFamily="34" charset="-120"/>
              </a:rPr>
              <a:t>3</a:t>
            </a:r>
            <a:endParaRPr lang="en-US" sz="750">
              <a:latin typeface="IBM Plex Sans" panose="020B0503050203000203" pitchFamily="34" charset="0"/>
            </a:endParaRPr>
          </a:p>
        </p:txBody>
      </p:sp>
      <p:sp>
        <p:nvSpPr>
          <p:cNvPr id="140" name="Text 30">
            <a:extLst>
              <a:ext uri="{FF2B5EF4-FFF2-40B4-BE49-F238E27FC236}">
                <a16:creationId xmlns:a16="http://schemas.microsoft.com/office/drawing/2014/main" id="{996C01DE-4D24-56DA-81AC-FE04F5F0151A}"/>
              </a:ext>
            </a:extLst>
          </p:cNvPr>
          <p:cNvSpPr/>
          <p:nvPr/>
        </p:nvSpPr>
        <p:spPr>
          <a:xfrm>
            <a:off x="8115529" y="3150643"/>
            <a:ext cx="3502152" cy="1463040"/>
          </a:xfrm>
          <a:prstGeom prst="rect">
            <a:avLst/>
          </a:prstGeom>
          <a:noFill/>
          <a:ln/>
        </p:spPr>
        <p:txBody>
          <a:bodyPr wrap="square" lIns="0" tIns="0" rIns="0" bIns="0" rtlCol="0" anchor="t"/>
          <a:lstStyle/>
          <a:p>
            <a:pPr>
              <a:spcAft>
                <a:spcPts val="100"/>
              </a:spcAft>
            </a:pPr>
            <a:r>
              <a:rPr lang="en-US" sz="800" b="1">
                <a:solidFill>
                  <a:srgbClr val="1B5E20"/>
                </a:solidFill>
                <a:latin typeface="IBM Plex Sans" panose="020B0503050203000203" pitchFamily="34" charset="0"/>
                <a:ea typeface="Arial" pitchFamily="34" charset="-122"/>
                <a:cs typeface="Arial" pitchFamily="34" charset="-120"/>
              </a:rPr>
              <a:t>★ Resource &amp; Capacity Planning
</a:t>
            </a:r>
            <a:endParaRPr lang="en-US" sz="800">
              <a:latin typeface="IBM Plex Sans" panose="020B0503050203000203" pitchFamily="34" charset="0"/>
            </a:endParaRPr>
          </a:p>
          <a:p>
            <a:pPr>
              <a:spcAft>
                <a:spcPts val="100"/>
              </a:spcAft>
            </a:pPr>
            <a:r>
              <a:rPr lang="en-US" sz="800" b="1">
                <a:solidFill>
                  <a:srgbClr val="546E7A"/>
                </a:solidFill>
                <a:latin typeface="IBM Plex Sans" panose="020B0503050203000203" pitchFamily="34" charset="0"/>
                <a:ea typeface="Arial" pitchFamily="34" charset="-122"/>
                <a:cs typeface="Arial" pitchFamily="34" charset="-120"/>
              </a:rPr>
              <a:t>★ Budgeting and Planning</a:t>
            </a:r>
          </a:p>
          <a:p>
            <a:pPr>
              <a:spcAft>
                <a:spcPts val="100"/>
              </a:spcAft>
            </a:pPr>
            <a:endParaRPr lang="en-US" sz="800" b="1">
              <a:solidFill>
                <a:srgbClr val="546E7A"/>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283593"/>
                </a:solidFill>
                <a:latin typeface="IBM Plex Sans" panose="020B0503050203000203" pitchFamily="34" charset="0"/>
                <a:ea typeface="Arial" pitchFamily="34" charset="-122"/>
                <a:cs typeface="Arial" pitchFamily="34" charset="-120"/>
              </a:rPr>
              <a:t> </a:t>
            </a:r>
            <a:r>
              <a:rPr lang="en-US" sz="800" b="1">
                <a:solidFill>
                  <a:srgbClr val="546E7A"/>
                </a:solidFill>
                <a:latin typeface="IBM Plex Sans" panose="020B0503050203000203" pitchFamily="34" charset="0"/>
                <a:ea typeface="Arial" pitchFamily="34" charset="-122"/>
                <a:cs typeface="Arial" pitchFamily="34" charset="-120"/>
              </a:rPr>
              <a:t>★ </a:t>
            </a:r>
            <a:r>
              <a:rPr lang="en-US" sz="800" b="1">
                <a:solidFill>
                  <a:srgbClr val="283593"/>
                </a:solidFill>
                <a:latin typeface="IBM Plex Sans" panose="020B0503050203000203" pitchFamily="34" charset="0"/>
                <a:ea typeface="Arial" pitchFamily="34" charset="-122"/>
                <a:cs typeface="Arial" pitchFamily="34" charset="-120"/>
              </a:rPr>
              <a:t>Foundation for PMM Research</a:t>
            </a:r>
            <a:endParaRPr lang="en-US" sz="800" b="1">
              <a:solidFill>
                <a:srgbClr val="546E7A"/>
              </a:solidFill>
              <a:latin typeface="IBM Plex Sans" panose="020B0503050203000203" pitchFamily="34" charset="0"/>
              <a:ea typeface="Arial" pitchFamily="34" charset="-122"/>
              <a:cs typeface="Arial" pitchFamily="34" charset="-120"/>
            </a:endParaRPr>
          </a:p>
          <a:p>
            <a:pPr>
              <a:spcAft>
                <a:spcPts val="100"/>
              </a:spcAft>
            </a:pPr>
            <a:endParaRPr lang="en-US" sz="800" b="1">
              <a:solidFill>
                <a:srgbClr val="546E7A"/>
              </a:solidFill>
              <a:latin typeface="IBM Plex Sans" panose="020B0503050203000203" pitchFamily="34" charset="0"/>
              <a:ea typeface="Arial" pitchFamily="34" charset="-122"/>
              <a:cs typeface="Arial" pitchFamily="34" charset="-120"/>
            </a:endParaRPr>
          </a:p>
          <a:p>
            <a:pPr>
              <a:spcAft>
                <a:spcPts val="100"/>
              </a:spcAft>
            </a:pPr>
            <a:endParaRPr lang="en-US" sz="800" b="1">
              <a:solidFill>
                <a:srgbClr val="546E7A"/>
              </a:solidFill>
              <a:latin typeface="IBM Plex Sans" panose="020B0503050203000203" pitchFamily="34" charset="0"/>
              <a:ea typeface="Arial" pitchFamily="34" charset="-122"/>
              <a:cs typeface="Arial" pitchFamily="34" charset="-120"/>
            </a:endParaRPr>
          </a:p>
          <a:p>
            <a:pPr>
              <a:spcAft>
                <a:spcPts val="100"/>
              </a:spcAft>
            </a:pPr>
            <a:r>
              <a:rPr lang="en-US" sz="800" b="1">
                <a:solidFill>
                  <a:srgbClr val="546E7A"/>
                </a:solidFill>
                <a:latin typeface="IBM Plex Sans" panose="020B0503050203000203" pitchFamily="34" charset="0"/>
                <a:ea typeface="Arial" pitchFamily="34" charset="-122"/>
                <a:cs typeface="Arial" pitchFamily="34" charset="-120"/>
              </a:rPr>
              <a:t>
</a:t>
            </a:r>
            <a:endParaRPr lang="en-US" sz="800" b="1">
              <a:latin typeface="IBM Plex Sans" panose="020B0503050203000203" pitchFamily="34" charset="0"/>
            </a:endParaRPr>
          </a:p>
        </p:txBody>
      </p:sp>
      <p:sp>
        <p:nvSpPr>
          <p:cNvPr id="142" name="Shape 31">
            <a:extLst>
              <a:ext uri="{FF2B5EF4-FFF2-40B4-BE49-F238E27FC236}">
                <a16:creationId xmlns:a16="http://schemas.microsoft.com/office/drawing/2014/main" id="{6872EF33-CF06-D6F7-E1E5-5E7AF092BF66}"/>
              </a:ext>
            </a:extLst>
          </p:cNvPr>
          <p:cNvSpPr/>
          <p:nvPr/>
        </p:nvSpPr>
        <p:spPr>
          <a:xfrm>
            <a:off x="836905" y="4668547"/>
            <a:ext cx="3611880" cy="1737360"/>
          </a:xfrm>
          <a:prstGeom prst="rect">
            <a:avLst/>
          </a:prstGeom>
          <a:solidFill>
            <a:srgbClr val="FFCDD2">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44" name="Text 32">
            <a:extLst>
              <a:ext uri="{FF2B5EF4-FFF2-40B4-BE49-F238E27FC236}">
                <a16:creationId xmlns:a16="http://schemas.microsoft.com/office/drawing/2014/main" id="{276FF164-0082-12D3-50D9-210035C8A352}"/>
              </a:ext>
            </a:extLst>
          </p:cNvPr>
          <p:cNvSpPr/>
          <p:nvPr/>
        </p:nvSpPr>
        <p:spPr>
          <a:xfrm>
            <a:off x="3168625" y="4695979"/>
            <a:ext cx="1207008" cy="237744"/>
          </a:xfrm>
          <a:prstGeom prst="rect">
            <a:avLst/>
          </a:prstGeom>
          <a:noFill/>
          <a:ln/>
        </p:spPr>
        <p:txBody>
          <a:bodyPr wrap="square" lIns="0" tIns="0" rIns="0" bIns="0" rtlCol="0" anchor="t"/>
          <a:lstStyle/>
          <a:p>
            <a:pPr algn="r"/>
            <a:r>
              <a:rPr lang="en-US" sz="600" b="1">
                <a:solidFill>
                  <a:srgbClr val="C62828"/>
                </a:solidFill>
                <a:latin typeface="IBM Plex Sans" panose="020B0503050203000203" pitchFamily="34" charset="0"/>
                <a:ea typeface="Arial" pitchFamily="34" charset="-122"/>
                <a:cs typeface="Arial" pitchFamily="34" charset="-120"/>
              </a:rPr>
              <a:t>Reconsider</a:t>
            </a:r>
            <a:endParaRPr lang="en-US" sz="600">
              <a:latin typeface="IBM Plex Sans" panose="020B0503050203000203" pitchFamily="34" charset="0"/>
            </a:endParaRPr>
          </a:p>
        </p:txBody>
      </p:sp>
      <p:sp>
        <p:nvSpPr>
          <p:cNvPr id="146" name="Text 33">
            <a:extLst>
              <a:ext uri="{FF2B5EF4-FFF2-40B4-BE49-F238E27FC236}">
                <a16:creationId xmlns:a16="http://schemas.microsoft.com/office/drawing/2014/main" id="{3B166C99-B332-52C9-CBB2-5EC486AF004D}"/>
              </a:ext>
            </a:extLst>
          </p:cNvPr>
          <p:cNvSpPr/>
          <p:nvPr/>
        </p:nvSpPr>
        <p:spPr>
          <a:xfrm>
            <a:off x="882625" y="4695979"/>
            <a:ext cx="182880" cy="164592"/>
          </a:xfrm>
          <a:prstGeom prst="rect">
            <a:avLst/>
          </a:prstGeom>
          <a:noFill/>
          <a:ln/>
        </p:spPr>
        <p:txBody>
          <a:bodyPr wrap="square" lIns="0" tIns="0" rIns="0" bIns="0" rtlCol="0" anchor="ctr"/>
          <a:lstStyle/>
          <a:p>
            <a:r>
              <a:rPr lang="en-US" sz="750" b="1">
                <a:solidFill>
                  <a:srgbClr val="C62828"/>
                </a:solidFill>
                <a:latin typeface="IBM Plex Sans" panose="020B0503050203000203" pitchFamily="34" charset="0"/>
                <a:cs typeface="Arial" pitchFamily="34" charset="-120"/>
              </a:rPr>
              <a:t>3</a:t>
            </a:r>
            <a:endParaRPr lang="en-US" sz="750">
              <a:latin typeface="IBM Plex Sans" panose="020B0503050203000203" pitchFamily="34" charset="0"/>
            </a:endParaRPr>
          </a:p>
        </p:txBody>
      </p:sp>
      <p:sp>
        <p:nvSpPr>
          <p:cNvPr id="148" name="Text 34">
            <a:extLst>
              <a:ext uri="{FF2B5EF4-FFF2-40B4-BE49-F238E27FC236}">
                <a16:creationId xmlns:a16="http://schemas.microsoft.com/office/drawing/2014/main" id="{A1E61B95-182D-4802-71C5-0AAD4D52B69C}"/>
              </a:ext>
            </a:extLst>
          </p:cNvPr>
          <p:cNvSpPr/>
          <p:nvPr/>
        </p:nvSpPr>
        <p:spPr>
          <a:xfrm>
            <a:off x="891769" y="4888003"/>
            <a:ext cx="3502152" cy="1463040"/>
          </a:xfrm>
          <a:prstGeom prst="rect">
            <a:avLst/>
          </a:prstGeom>
          <a:noFill/>
          <a:ln/>
        </p:spPr>
        <p:txBody>
          <a:bodyPr wrap="square" lIns="0" tIns="0" rIns="0" bIns="0" rtlCol="0" anchor="t"/>
          <a:lstStyle/>
          <a:p>
            <a:pPr>
              <a:spcAft>
                <a:spcPts val="100"/>
              </a:spcAft>
            </a:pPr>
            <a:r>
              <a:rPr lang="en-US" sz="800">
                <a:solidFill>
                  <a:srgbClr val="00838F"/>
                </a:solidFill>
                <a:latin typeface="IBM Plex Sans" panose="020B0503050203000203" pitchFamily="34" charset="0"/>
                <a:ea typeface="Arial" pitchFamily="34" charset="-122"/>
                <a:cs typeface="Arial" pitchFamily="34" charset="-120"/>
              </a:rPr>
              <a:t>   Press Release Orchestration</a:t>
            </a:r>
            <a:r>
              <a:rPr lang="en-US" sz="800">
                <a:solidFill>
                  <a:srgbClr val="0D47A1"/>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a:p>
            <a:pPr>
              <a:spcAft>
                <a:spcPts val="100"/>
              </a:spcAft>
            </a:pPr>
            <a:r>
              <a:rPr lang="en-US" sz="800">
                <a:solidFill>
                  <a:srgbClr val="546E7A"/>
                </a:solidFill>
                <a:latin typeface="IBM Plex Sans" panose="020B0503050203000203" pitchFamily="34" charset="0"/>
                <a:ea typeface="Arial" pitchFamily="34" charset="-122"/>
                <a:cs typeface="Arial" pitchFamily="34" charset="-120"/>
              </a:rPr>
              <a:t>   HC Optimization &amp; Workforce Planning
</a:t>
            </a:r>
            <a:endParaRPr lang="en-US" sz="800">
              <a:latin typeface="IBM Plex Sans" panose="020B0503050203000203" pitchFamily="34" charset="0"/>
            </a:endParaRPr>
          </a:p>
          <a:p>
            <a:pPr>
              <a:spcAft>
                <a:spcPts val="100"/>
              </a:spcAft>
            </a:pPr>
            <a:r>
              <a:rPr lang="en-US" sz="800">
                <a:solidFill>
                  <a:srgbClr val="546E7A"/>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p:txBody>
      </p:sp>
      <p:sp>
        <p:nvSpPr>
          <p:cNvPr id="150" name="Shape 35">
            <a:extLst>
              <a:ext uri="{FF2B5EF4-FFF2-40B4-BE49-F238E27FC236}">
                <a16:creationId xmlns:a16="http://schemas.microsoft.com/office/drawing/2014/main" id="{0FD58074-5E5B-AC9B-9FA1-C396CC5E73E2}"/>
              </a:ext>
            </a:extLst>
          </p:cNvPr>
          <p:cNvSpPr/>
          <p:nvPr/>
        </p:nvSpPr>
        <p:spPr>
          <a:xfrm>
            <a:off x="4448785" y="4668547"/>
            <a:ext cx="3611880" cy="1737360"/>
          </a:xfrm>
          <a:prstGeom prst="rect">
            <a:avLst/>
          </a:prstGeom>
          <a:solidFill>
            <a:srgbClr val="EF9A9A">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54" name="Text 38">
            <a:extLst>
              <a:ext uri="{FF2B5EF4-FFF2-40B4-BE49-F238E27FC236}">
                <a16:creationId xmlns:a16="http://schemas.microsoft.com/office/drawing/2014/main" id="{B82DFF91-5C5D-1AE5-CA19-1A6A6C4B6977}"/>
              </a:ext>
            </a:extLst>
          </p:cNvPr>
          <p:cNvSpPr/>
          <p:nvPr/>
        </p:nvSpPr>
        <p:spPr>
          <a:xfrm>
            <a:off x="4494505" y="4695979"/>
            <a:ext cx="182880" cy="164592"/>
          </a:xfrm>
          <a:prstGeom prst="rect">
            <a:avLst/>
          </a:prstGeom>
          <a:noFill/>
          <a:ln/>
        </p:spPr>
        <p:txBody>
          <a:bodyPr wrap="square" lIns="0" tIns="0" rIns="0" bIns="0" rtlCol="0" anchor="ctr"/>
          <a:lstStyle/>
          <a:p>
            <a:r>
              <a:rPr lang="en-US" sz="750" b="1">
                <a:solidFill>
                  <a:srgbClr val="D32F2F"/>
                </a:solidFill>
                <a:latin typeface="IBM Plex Sans" panose="020B0503050203000203" pitchFamily="34" charset="0"/>
                <a:cs typeface="Arial" pitchFamily="34" charset="-120"/>
              </a:rPr>
              <a:t>3</a:t>
            </a:r>
            <a:endParaRPr lang="en-US" sz="750">
              <a:latin typeface="IBM Plex Sans" panose="020B0503050203000203" pitchFamily="34" charset="0"/>
            </a:endParaRPr>
          </a:p>
        </p:txBody>
      </p:sp>
      <p:sp>
        <p:nvSpPr>
          <p:cNvPr id="156" name="Text 39">
            <a:extLst>
              <a:ext uri="{FF2B5EF4-FFF2-40B4-BE49-F238E27FC236}">
                <a16:creationId xmlns:a16="http://schemas.microsoft.com/office/drawing/2014/main" id="{AC0B7907-9E2E-0154-8D6B-BD7CD6B81F35}"/>
              </a:ext>
            </a:extLst>
          </p:cNvPr>
          <p:cNvSpPr/>
          <p:nvPr/>
        </p:nvSpPr>
        <p:spPr>
          <a:xfrm>
            <a:off x="4503649" y="4888003"/>
            <a:ext cx="3502152" cy="1463040"/>
          </a:xfrm>
          <a:prstGeom prst="rect">
            <a:avLst/>
          </a:prstGeom>
          <a:noFill/>
          <a:ln/>
        </p:spPr>
        <p:txBody>
          <a:bodyPr wrap="square" lIns="0" tIns="0" rIns="0" bIns="0" numCol="2" rtlCol="0" anchor="t"/>
          <a:lstStyle/>
          <a:p>
            <a:pPr>
              <a:spcAft>
                <a:spcPts val="100"/>
              </a:spcAft>
            </a:pPr>
            <a:r>
              <a:rPr lang="en-US" sz="800" b="1">
                <a:solidFill>
                  <a:srgbClr val="2E7D32"/>
                </a:solidFill>
                <a:latin typeface="IBM Plex Sans" panose="020B0503050203000203" pitchFamily="34" charset="0"/>
                <a:ea typeface="Arial" pitchFamily="34" charset="-122"/>
                <a:cs typeface="Arial" pitchFamily="34" charset="-120"/>
              </a:rPr>
              <a:t>★ Buying Group Contact Accuracy</a:t>
            </a:r>
            <a:r>
              <a:rPr lang="en-US" sz="800">
                <a:solidFill>
                  <a:srgbClr val="00838F"/>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a:p>
            <a:pPr>
              <a:spcAft>
                <a:spcPts val="100"/>
              </a:spcAft>
            </a:pPr>
            <a:r>
              <a:rPr lang="en-US" sz="800">
                <a:solidFill>
                  <a:srgbClr val="00838F"/>
                </a:solidFill>
                <a:latin typeface="IBM Plex Sans" panose="020B0503050203000203" pitchFamily="34" charset="0"/>
                <a:ea typeface="Arial" pitchFamily="34" charset="-122"/>
                <a:cs typeface="Arial" pitchFamily="34" charset="-120"/>
              </a:rPr>
              <a:t>   Media Monitoring &amp; Activation</a:t>
            </a:r>
            <a:r>
              <a:rPr lang="en-US" sz="800">
                <a:solidFill>
                  <a:srgbClr val="2E7D32"/>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a:p>
            <a:pPr>
              <a:spcAft>
                <a:spcPts val="100"/>
              </a:spcAft>
            </a:pPr>
            <a:r>
              <a:rPr lang="en-US" sz="800">
                <a:solidFill>
                  <a:srgbClr val="2E7D32"/>
                </a:solidFill>
                <a:latin typeface="IBM Plex Sans" panose="020B0503050203000203" pitchFamily="34" charset="0"/>
                <a:ea typeface="Arial" pitchFamily="34" charset="-122"/>
                <a:cs typeface="Arial" pitchFamily="34" charset="-120"/>
              </a:rPr>
              <a:t>   Executive &amp; Account Leader Briefer
</a:t>
            </a:r>
            <a:endParaRPr lang="en-US" sz="800">
              <a:latin typeface="IBM Plex Sans" panose="020B0503050203000203" pitchFamily="34" charset="0"/>
            </a:endParaRPr>
          </a:p>
          <a:p>
            <a:pPr>
              <a:spcAft>
                <a:spcPts val="100"/>
              </a:spcAft>
            </a:pPr>
            <a:r>
              <a:rPr lang="en-US" sz="800">
                <a:solidFill>
                  <a:srgbClr val="2E7D32"/>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a:p>
            <a:pPr>
              <a:spcAft>
                <a:spcPts val="100"/>
              </a:spcAft>
            </a:pPr>
            <a:r>
              <a:rPr lang="en-US" sz="800">
                <a:solidFill>
                  <a:srgbClr val="546E7A"/>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p:txBody>
      </p:sp>
      <p:sp>
        <p:nvSpPr>
          <p:cNvPr id="158" name="Shape 40">
            <a:extLst>
              <a:ext uri="{FF2B5EF4-FFF2-40B4-BE49-F238E27FC236}">
                <a16:creationId xmlns:a16="http://schemas.microsoft.com/office/drawing/2014/main" id="{2BEF28C3-FD0B-1483-E816-A99123044017}"/>
              </a:ext>
            </a:extLst>
          </p:cNvPr>
          <p:cNvSpPr/>
          <p:nvPr/>
        </p:nvSpPr>
        <p:spPr>
          <a:xfrm>
            <a:off x="8060665" y="4668547"/>
            <a:ext cx="3611880" cy="1737360"/>
          </a:xfrm>
          <a:prstGeom prst="rect">
            <a:avLst/>
          </a:prstGeom>
          <a:solidFill>
            <a:srgbClr val="E57373">
              <a:alpha val="45000"/>
            </a:srgbClr>
          </a:solidFill>
          <a:ln w="9525">
            <a:solidFill>
              <a:srgbClr val="BDBDBD"/>
            </a:solidFill>
            <a:prstDash val="solid"/>
          </a:ln>
        </p:spPr>
        <p:txBody>
          <a:bodyPr/>
          <a:lstStyle/>
          <a:p>
            <a:endParaRPr lang="en-US">
              <a:latin typeface="IBM Plex Sans" panose="020B0503050203000203" pitchFamily="34" charset="0"/>
            </a:endParaRPr>
          </a:p>
        </p:txBody>
      </p:sp>
      <p:sp>
        <p:nvSpPr>
          <p:cNvPr id="162" name="Text 43">
            <a:extLst>
              <a:ext uri="{FF2B5EF4-FFF2-40B4-BE49-F238E27FC236}">
                <a16:creationId xmlns:a16="http://schemas.microsoft.com/office/drawing/2014/main" id="{7A2F66D0-BCC9-8CC1-DF5E-9DB4539D866C}"/>
              </a:ext>
            </a:extLst>
          </p:cNvPr>
          <p:cNvSpPr/>
          <p:nvPr/>
        </p:nvSpPr>
        <p:spPr>
          <a:xfrm>
            <a:off x="8106385" y="4695979"/>
            <a:ext cx="182880" cy="164592"/>
          </a:xfrm>
          <a:prstGeom prst="rect">
            <a:avLst/>
          </a:prstGeom>
          <a:noFill/>
          <a:ln/>
        </p:spPr>
        <p:txBody>
          <a:bodyPr wrap="square" lIns="0" tIns="0" rIns="0" bIns="0" rtlCol="0" anchor="ctr"/>
          <a:lstStyle/>
          <a:p>
            <a:r>
              <a:rPr lang="en-US" sz="750" b="1">
                <a:solidFill>
                  <a:srgbClr val="E53935"/>
                </a:solidFill>
                <a:latin typeface="IBM Plex Sans" panose="020B0503050203000203" pitchFamily="34" charset="0"/>
                <a:cs typeface="Arial" pitchFamily="34" charset="-120"/>
              </a:rPr>
              <a:t>3</a:t>
            </a:r>
            <a:endParaRPr lang="en-US" sz="750">
              <a:latin typeface="IBM Plex Sans" panose="020B0503050203000203" pitchFamily="34" charset="0"/>
            </a:endParaRPr>
          </a:p>
        </p:txBody>
      </p:sp>
      <p:sp>
        <p:nvSpPr>
          <p:cNvPr id="164" name="Text 44">
            <a:extLst>
              <a:ext uri="{FF2B5EF4-FFF2-40B4-BE49-F238E27FC236}">
                <a16:creationId xmlns:a16="http://schemas.microsoft.com/office/drawing/2014/main" id="{820B260D-D22E-BF87-27C9-9A46400E9FBD}"/>
              </a:ext>
            </a:extLst>
          </p:cNvPr>
          <p:cNvSpPr/>
          <p:nvPr/>
        </p:nvSpPr>
        <p:spPr>
          <a:xfrm>
            <a:off x="8115529" y="4888003"/>
            <a:ext cx="3502152" cy="1463040"/>
          </a:xfrm>
          <a:prstGeom prst="rect">
            <a:avLst/>
          </a:prstGeom>
          <a:noFill/>
          <a:ln/>
        </p:spPr>
        <p:txBody>
          <a:bodyPr wrap="square" lIns="0" tIns="0" rIns="0" bIns="0" rtlCol="0" anchor="t"/>
          <a:lstStyle/>
          <a:p>
            <a:pPr>
              <a:spcAft>
                <a:spcPts val="100"/>
              </a:spcAft>
            </a:pPr>
            <a:r>
              <a:rPr lang="en-US" sz="800" b="1">
                <a:solidFill>
                  <a:srgbClr val="0D47A1"/>
                </a:solidFill>
                <a:latin typeface="IBM Plex Sans" panose="020B0503050203000203" pitchFamily="34" charset="0"/>
                <a:ea typeface="Arial" pitchFamily="34" charset="-122"/>
                <a:cs typeface="Arial" pitchFamily="34" charset="-120"/>
              </a:rPr>
              <a:t>  </a:t>
            </a:r>
            <a:r>
              <a:rPr lang="en-US" sz="800">
                <a:solidFill>
                  <a:srgbClr val="00838F"/>
                </a:solidFill>
                <a:latin typeface="IBM Plex Sans" panose="020B0503050203000203" pitchFamily="34" charset="0"/>
                <a:ea typeface="Arial" pitchFamily="34" charset="-122"/>
                <a:cs typeface="Arial" pitchFamily="34" charset="-120"/>
              </a:rPr>
              <a:t>Exec Narrative Intelligence
</a:t>
            </a:r>
            <a:endParaRPr lang="en-US" sz="800">
              <a:latin typeface="IBM Plex Sans" panose="020B0503050203000203" pitchFamily="34" charset="0"/>
            </a:endParaRPr>
          </a:p>
          <a:p>
            <a:pPr>
              <a:spcAft>
                <a:spcPts val="100"/>
              </a:spcAft>
            </a:pPr>
            <a:r>
              <a:rPr lang="en-US" sz="800">
                <a:solidFill>
                  <a:srgbClr val="00838F"/>
                </a:solidFill>
                <a:latin typeface="IBM Plex Sans" panose="020B0503050203000203" pitchFamily="34" charset="0"/>
                <a:ea typeface="Arial" pitchFamily="34" charset="-122"/>
                <a:cs typeface="Arial" pitchFamily="34" charset="-120"/>
              </a:rPr>
              <a:t>   Social Media Advocacy
</a:t>
            </a:r>
            <a:endParaRPr lang="en-US" sz="800">
              <a:latin typeface="IBM Plex Sans" panose="020B0503050203000203" pitchFamily="34" charset="0"/>
            </a:endParaRPr>
          </a:p>
          <a:p>
            <a:pPr>
              <a:spcAft>
                <a:spcPts val="100"/>
              </a:spcAft>
            </a:pPr>
            <a:r>
              <a:rPr lang="en-US" sz="800">
                <a:solidFill>
                  <a:srgbClr val="00838F"/>
                </a:solidFill>
                <a:latin typeface="IBM Plex Sans" panose="020B0503050203000203" pitchFamily="34" charset="0"/>
                <a:ea typeface="Arial" pitchFamily="34" charset="-122"/>
                <a:cs typeface="Arial" pitchFamily="34" charset="-120"/>
              </a:rPr>
              <a:t>   CEO Office Hours Reporting</a:t>
            </a:r>
          </a:p>
          <a:p>
            <a:pPr>
              <a:spcAft>
                <a:spcPts val="100"/>
              </a:spcAft>
            </a:pPr>
            <a:endParaRPr lang="en-US" sz="800">
              <a:solidFill>
                <a:srgbClr val="00838F"/>
              </a:solidFill>
              <a:latin typeface="IBM Plex Sans" panose="020B0503050203000203" pitchFamily="34" charset="0"/>
              <a:ea typeface="Arial" pitchFamily="34" charset="-122"/>
              <a:cs typeface="Arial" pitchFamily="34" charset="-120"/>
            </a:endParaRPr>
          </a:p>
          <a:p>
            <a:pPr>
              <a:spcAft>
                <a:spcPts val="100"/>
              </a:spcAft>
            </a:pPr>
            <a:r>
              <a:rPr lang="en-US" sz="800">
                <a:solidFill>
                  <a:srgbClr val="0D47A1"/>
                </a:solidFill>
                <a:latin typeface="IBM Plex Sans" panose="020B0503050203000203" pitchFamily="34" charset="0"/>
                <a:ea typeface="Arial" pitchFamily="34" charset="-122"/>
                <a:cs typeface="Arial" pitchFamily="34" charset="-120"/>
              </a:rPr>
              <a:t> Chatbot Expansion</a:t>
            </a:r>
            <a:r>
              <a:rPr lang="en-US" sz="800">
                <a:solidFill>
                  <a:srgbClr val="00838F"/>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a:p>
            <a:pPr>
              <a:spcAft>
                <a:spcPts val="100"/>
              </a:spcAft>
            </a:pPr>
            <a:r>
              <a:rPr lang="en-US" sz="800">
                <a:solidFill>
                  <a:srgbClr val="283593"/>
                </a:solidFill>
                <a:latin typeface="IBM Plex Sans" panose="020B0503050203000203" pitchFamily="34" charset="0"/>
                <a:ea typeface="Arial" pitchFamily="34" charset="-122"/>
                <a:cs typeface="Arial" pitchFamily="34" charset="-120"/>
              </a:rPr>
              <a:t>
</a:t>
            </a:r>
            <a:endParaRPr lang="en-US" sz="800">
              <a:latin typeface="IBM Plex Sans" panose="020B0503050203000203" pitchFamily="34" charset="0"/>
            </a:endParaRPr>
          </a:p>
        </p:txBody>
      </p:sp>
      <p:sp>
        <p:nvSpPr>
          <p:cNvPr id="168" name="Text 47">
            <a:extLst>
              <a:ext uri="{FF2B5EF4-FFF2-40B4-BE49-F238E27FC236}">
                <a16:creationId xmlns:a16="http://schemas.microsoft.com/office/drawing/2014/main" id="{BF232F05-9467-6958-05D3-657703397341}"/>
              </a:ext>
            </a:extLst>
          </p:cNvPr>
          <p:cNvSpPr/>
          <p:nvPr/>
        </p:nvSpPr>
        <p:spPr>
          <a:xfrm>
            <a:off x="836905" y="6468844"/>
            <a:ext cx="3611880" cy="109728"/>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Low</a:t>
            </a:r>
            <a:endParaRPr lang="en-US" sz="1000">
              <a:latin typeface="IBM Plex Sans" panose="020B0503050203000203" pitchFamily="34" charset="0"/>
              <a:cs typeface="Arial"/>
            </a:endParaRPr>
          </a:p>
        </p:txBody>
      </p:sp>
      <p:sp>
        <p:nvSpPr>
          <p:cNvPr id="170" name="Text 48">
            <a:extLst>
              <a:ext uri="{FF2B5EF4-FFF2-40B4-BE49-F238E27FC236}">
                <a16:creationId xmlns:a16="http://schemas.microsoft.com/office/drawing/2014/main" id="{2061C74F-E604-B6E0-5E72-A375BEC0357E}"/>
              </a:ext>
            </a:extLst>
          </p:cNvPr>
          <p:cNvSpPr/>
          <p:nvPr/>
        </p:nvSpPr>
        <p:spPr>
          <a:xfrm rot="-5400000">
            <a:off x="382559" y="1919787"/>
            <a:ext cx="640080" cy="285442"/>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High</a:t>
            </a:r>
            <a:endParaRPr lang="en-US" sz="1000">
              <a:latin typeface="IBM Plex Sans" panose="020B0503050203000203" pitchFamily="34" charset="0"/>
              <a:cs typeface="Arial"/>
            </a:endParaRPr>
          </a:p>
        </p:txBody>
      </p:sp>
      <p:sp>
        <p:nvSpPr>
          <p:cNvPr id="172" name="Text 49">
            <a:extLst>
              <a:ext uri="{FF2B5EF4-FFF2-40B4-BE49-F238E27FC236}">
                <a16:creationId xmlns:a16="http://schemas.microsoft.com/office/drawing/2014/main" id="{0CE71121-0334-B41D-6914-979C41ABD3E9}"/>
              </a:ext>
            </a:extLst>
          </p:cNvPr>
          <p:cNvSpPr/>
          <p:nvPr/>
        </p:nvSpPr>
        <p:spPr>
          <a:xfrm>
            <a:off x="4448785" y="6468844"/>
            <a:ext cx="3611880" cy="109728"/>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Medium</a:t>
            </a:r>
            <a:endParaRPr lang="en-US" sz="1000">
              <a:latin typeface="IBM Plex Sans" panose="020B0503050203000203" pitchFamily="34" charset="0"/>
            </a:endParaRPr>
          </a:p>
        </p:txBody>
      </p:sp>
      <p:sp>
        <p:nvSpPr>
          <p:cNvPr id="174" name="Text 50">
            <a:extLst>
              <a:ext uri="{FF2B5EF4-FFF2-40B4-BE49-F238E27FC236}">
                <a16:creationId xmlns:a16="http://schemas.microsoft.com/office/drawing/2014/main" id="{D9341A95-9B3C-C985-D1B1-48D6BE42ECC4}"/>
              </a:ext>
            </a:extLst>
          </p:cNvPr>
          <p:cNvSpPr/>
          <p:nvPr/>
        </p:nvSpPr>
        <p:spPr>
          <a:xfrm rot="16200000">
            <a:off x="140272" y="3672815"/>
            <a:ext cx="1144647" cy="244253"/>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Medium</a:t>
            </a:r>
            <a:endParaRPr lang="en-US" sz="1000">
              <a:latin typeface="IBM Plex Sans" panose="020B0503050203000203" pitchFamily="34" charset="0"/>
              <a:cs typeface="Arial"/>
            </a:endParaRPr>
          </a:p>
        </p:txBody>
      </p:sp>
      <p:sp>
        <p:nvSpPr>
          <p:cNvPr id="176" name="Text 51">
            <a:extLst>
              <a:ext uri="{FF2B5EF4-FFF2-40B4-BE49-F238E27FC236}">
                <a16:creationId xmlns:a16="http://schemas.microsoft.com/office/drawing/2014/main" id="{08D4AD36-F32F-28B2-2D09-BDDD52FF77BA}"/>
              </a:ext>
            </a:extLst>
          </p:cNvPr>
          <p:cNvSpPr/>
          <p:nvPr/>
        </p:nvSpPr>
        <p:spPr>
          <a:xfrm>
            <a:off x="8060665" y="6468844"/>
            <a:ext cx="3611880" cy="109728"/>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High</a:t>
            </a:r>
            <a:endParaRPr lang="en-US" sz="1000">
              <a:latin typeface="IBM Plex Sans" panose="020B0503050203000203" pitchFamily="34" charset="0"/>
            </a:endParaRPr>
          </a:p>
        </p:txBody>
      </p:sp>
      <p:sp>
        <p:nvSpPr>
          <p:cNvPr id="178" name="Text 52">
            <a:extLst>
              <a:ext uri="{FF2B5EF4-FFF2-40B4-BE49-F238E27FC236}">
                <a16:creationId xmlns:a16="http://schemas.microsoft.com/office/drawing/2014/main" id="{A3DB167E-3DE6-6D8F-EE01-B707E44C8EE3}"/>
              </a:ext>
            </a:extLst>
          </p:cNvPr>
          <p:cNvSpPr/>
          <p:nvPr/>
        </p:nvSpPr>
        <p:spPr>
          <a:xfrm rot="16200000">
            <a:off x="353403" y="5270358"/>
            <a:ext cx="712161" cy="295739"/>
          </a:xfrm>
          <a:prstGeom prst="rect">
            <a:avLst/>
          </a:prstGeom>
          <a:noFill/>
          <a:ln/>
        </p:spPr>
        <p:txBody>
          <a:bodyPr wrap="square" lIns="0" tIns="0" rIns="0" bIns="0" rtlCol="0" anchor="ctr"/>
          <a:lstStyle/>
          <a:p>
            <a:pPr algn="ctr"/>
            <a:r>
              <a:rPr lang="en-US" sz="1000">
                <a:solidFill>
                  <a:srgbClr val="999999"/>
                </a:solidFill>
                <a:latin typeface="IBM Plex Sans" panose="020B0503050203000203" pitchFamily="34" charset="0"/>
                <a:ea typeface="Arial" pitchFamily="34" charset="-122"/>
                <a:cs typeface="Arial"/>
              </a:rPr>
              <a:t>Low</a:t>
            </a:r>
            <a:endParaRPr lang="en-US" sz="1000">
              <a:latin typeface="IBM Plex Sans" panose="020B0503050203000203" pitchFamily="34" charset="0"/>
              <a:cs typeface="Arial"/>
            </a:endParaRPr>
          </a:p>
        </p:txBody>
      </p:sp>
      <p:sp>
        <p:nvSpPr>
          <p:cNvPr id="5" name="Text 9">
            <a:extLst>
              <a:ext uri="{FF2B5EF4-FFF2-40B4-BE49-F238E27FC236}">
                <a16:creationId xmlns:a16="http://schemas.microsoft.com/office/drawing/2014/main" id="{9A428CB8-0222-DBCB-D031-D7C182398CAD}"/>
              </a:ext>
            </a:extLst>
          </p:cNvPr>
          <p:cNvSpPr/>
          <p:nvPr/>
        </p:nvSpPr>
        <p:spPr>
          <a:xfrm>
            <a:off x="9496542" y="1236994"/>
            <a:ext cx="2121139" cy="164592"/>
          </a:xfrm>
          <a:prstGeom prst="rect">
            <a:avLst/>
          </a:prstGeom>
          <a:noFill/>
          <a:ln/>
        </p:spPr>
        <p:txBody>
          <a:bodyPr wrap="square" lIns="0" tIns="0" rIns="0" bIns="0" rtlCol="0" anchor="t"/>
          <a:lstStyle/>
          <a:p>
            <a:pPr algn="r"/>
            <a:r>
              <a:rPr lang="en-US" sz="600" b="1">
                <a:solidFill>
                  <a:srgbClr val="003B9A"/>
                </a:solidFill>
                <a:latin typeface="IBM Plex Sans" panose="020B0503050203000203" pitchFamily="34" charset="0"/>
                <a:cs typeface="Arial" pitchFamily="34" charset="-120"/>
              </a:rPr>
              <a:t>High Impact / High Feasibility / Aspirational</a:t>
            </a:r>
          </a:p>
        </p:txBody>
      </p:sp>
      <p:sp>
        <p:nvSpPr>
          <p:cNvPr id="6" name="Text 27">
            <a:extLst>
              <a:ext uri="{FF2B5EF4-FFF2-40B4-BE49-F238E27FC236}">
                <a16:creationId xmlns:a16="http://schemas.microsoft.com/office/drawing/2014/main" id="{CFE2580B-6A69-A2B9-BEE8-F668761759E2}"/>
              </a:ext>
            </a:extLst>
          </p:cNvPr>
          <p:cNvSpPr/>
          <p:nvPr/>
        </p:nvSpPr>
        <p:spPr>
          <a:xfrm>
            <a:off x="8161249" y="4709695"/>
            <a:ext cx="3456432" cy="164592"/>
          </a:xfrm>
          <a:prstGeom prst="rect">
            <a:avLst/>
          </a:prstGeom>
          <a:noFill/>
          <a:ln/>
        </p:spPr>
        <p:txBody>
          <a:bodyPr wrap="square" lIns="0" tIns="0" rIns="0" bIns="0" rtlCol="0" anchor="t"/>
          <a:lstStyle/>
          <a:p>
            <a:pPr algn="r"/>
            <a:r>
              <a:rPr lang="en-US" sz="600" b="1">
                <a:solidFill>
                  <a:srgbClr val="003B9A"/>
                </a:solidFill>
                <a:latin typeface="IBM Plex Sans" panose="020B0503050203000203" pitchFamily="34" charset="0"/>
                <a:cs typeface="Arial" pitchFamily="34" charset="-120"/>
              </a:rPr>
              <a:t>Low Impact / High Feasibility</a:t>
            </a:r>
          </a:p>
        </p:txBody>
      </p:sp>
    </p:spTree>
    <p:extLst>
      <p:ext uri="{BB962C8B-B14F-4D97-AF65-F5344CB8AC3E}">
        <p14:creationId xmlns:p14="http://schemas.microsoft.com/office/powerpoint/2010/main" val="504907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0972800" cy="261610"/>
          </a:xfrm>
          <a:prstGeom prst="rect">
            <a:avLst/>
          </a:prstGeom>
          <a:noFill/>
        </p:spPr>
        <p:txBody>
          <a:bodyPr wrap="square">
            <a:spAutoFit/>
          </a:bodyPr>
          <a:lstStyle/>
          <a:p>
            <a:r>
              <a:rPr sz="1100" b="1" i="0">
                <a:solidFill>
                  <a:srgbClr val="0F62FE"/>
                </a:solidFill>
                <a:latin typeface="IBM Plex Sans" panose="020B0503050203000203" pitchFamily="34" charset="0"/>
              </a:rPr>
              <a:t>A WORKED EXAMPLE</a:t>
            </a:r>
          </a:p>
        </p:txBody>
      </p:sp>
      <p:sp>
        <p:nvSpPr>
          <p:cNvPr id="3" name="TextBox 2"/>
          <p:cNvSpPr txBox="1"/>
          <p:nvPr/>
        </p:nvSpPr>
        <p:spPr>
          <a:xfrm>
            <a:off x="548640" y="640080"/>
            <a:ext cx="11064240" cy="461665"/>
          </a:xfrm>
          <a:prstGeom prst="rect">
            <a:avLst/>
          </a:prstGeom>
          <a:noFill/>
        </p:spPr>
        <p:txBody>
          <a:bodyPr wrap="square">
            <a:spAutoFit/>
          </a:bodyPr>
          <a:lstStyle/>
          <a:p>
            <a:r>
              <a:rPr sz="2400" b="1" i="0">
                <a:solidFill>
                  <a:srgbClr val="161616"/>
                </a:solidFill>
                <a:latin typeface="IBM Plex Sans" panose="020B0503050203000203" pitchFamily="34" charset="0"/>
              </a:rPr>
              <a:t>GenStudio: the evidence behind each score</a:t>
            </a:r>
          </a:p>
        </p:txBody>
      </p:sp>
      <p:cxnSp>
        <p:nvCxnSpPr>
          <p:cNvPr id="4" name="Connector 3"/>
          <p:cNvCxnSpPr/>
          <p:nvPr/>
        </p:nvCxnSpPr>
        <p:spPr>
          <a:xfrm>
            <a:off x="548640" y="1371600"/>
            <a:ext cx="11064240" cy="0"/>
          </a:xfrm>
          <a:prstGeom prst="line">
            <a:avLst/>
          </a:prstGeom>
          <a:ln w="12700">
            <a:solidFill>
              <a:srgbClr val="C6C6C6"/>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00983687"/>
              </p:ext>
            </p:extLst>
          </p:nvPr>
        </p:nvGraphicFramePr>
        <p:xfrm>
          <a:off x="548640" y="1600200"/>
          <a:ext cx="8092440" cy="3657600"/>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22514">
                <a:tc>
                  <a:txBody>
                    <a:bodyPr/>
                    <a:lstStyle/>
                    <a:p>
                      <a:r>
                        <a:rPr sz="1000" b="1" i="0" dirty="0">
                          <a:solidFill>
                            <a:srgbClr val="FFFFFF"/>
                          </a:solidFill>
                          <a:latin typeface="IBM Plex Sans" panose="020B0503050203000203" pitchFamily="34" charset="0"/>
                        </a:rPr>
                        <a:t>Category</a:t>
                      </a:r>
                    </a:p>
                  </a:txBody>
                  <a:tcPr marL="73152" marR="73152" marT="36576" marB="36576" anchor="ctr">
                    <a:solidFill>
                      <a:srgbClr val="0F62FE"/>
                    </a:solidFill>
                  </a:tcPr>
                </a:tc>
                <a:tc>
                  <a:txBody>
                    <a:bodyPr/>
                    <a:lstStyle/>
                    <a:p>
                      <a:r>
                        <a:rPr sz="1000" b="1" i="0">
                          <a:solidFill>
                            <a:srgbClr val="FFFFFF"/>
                          </a:solidFill>
                          <a:latin typeface="IBM Plex Sans" panose="020B0503050203000203" pitchFamily="34" charset="0"/>
                        </a:rPr>
                        <a:t>Rating</a:t>
                      </a:r>
                    </a:p>
                  </a:txBody>
                  <a:tcPr marL="73152" marR="73152" marT="36576" marB="36576" anchor="ctr">
                    <a:solidFill>
                      <a:srgbClr val="0F62FE"/>
                    </a:solidFill>
                  </a:tcPr>
                </a:tc>
                <a:tc>
                  <a:txBody>
                    <a:bodyPr/>
                    <a:lstStyle/>
                    <a:p>
                      <a:r>
                        <a:rPr sz="1000" b="1" i="0">
                          <a:solidFill>
                            <a:srgbClr val="FFFFFF"/>
                          </a:solidFill>
                          <a:latin typeface="IBM Plex Sans" panose="020B0503050203000203" pitchFamily="34" charset="0"/>
                        </a:rPr>
                        <a:t>What we collected to size it</a:t>
                      </a:r>
                    </a:p>
                  </a:txBody>
                  <a:tcPr marL="73152" marR="73152" marT="36576" marB="36576" anchor="ctr">
                    <a:solidFill>
                      <a:srgbClr val="0F62FE"/>
                    </a:solidFill>
                  </a:tcPr>
                </a:tc>
                <a:extLst>
                  <a:ext uri="{0D108BD9-81ED-4DB2-BD59-A6C34878D82A}">
                    <a16:rowId xmlns:a16="http://schemas.microsoft.com/office/drawing/2014/main" val="10000"/>
                  </a:ext>
                </a:extLst>
              </a:tr>
              <a:tr h="522514">
                <a:tc>
                  <a:txBody>
                    <a:bodyPr/>
                    <a:lstStyle/>
                    <a:p>
                      <a:r>
                        <a:rPr sz="950" b="1" i="0" dirty="0">
                          <a:solidFill>
                            <a:srgbClr val="161616"/>
                          </a:solidFill>
                          <a:latin typeface="IBM Plex Sans" panose="020B0503050203000203" pitchFamily="34" charset="0"/>
                        </a:rPr>
                        <a:t>Relative </a:t>
                      </a:r>
                      <a:r>
                        <a:rPr lang="en-US" sz="950" b="1" i="0" dirty="0">
                          <a:solidFill>
                            <a:srgbClr val="161616"/>
                          </a:solidFill>
                          <a:latin typeface="IBM Plex Sans" panose="020B0503050203000203" pitchFamily="34" charset="0"/>
                        </a:rPr>
                        <a:t>efficiency</a:t>
                      </a:r>
                      <a:r>
                        <a:rPr sz="950" b="1" i="0" dirty="0">
                          <a:solidFill>
                            <a:srgbClr val="161616"/>
                          </a:solidFill>
                          <a:latin typeface="IBM Plex Sans" panose="020B0503050203000203" pitchFamily="34" charset="0"/>
                        </a:rPr>
                        <a:t> impact</a:t>
                      </a:r>
                    </a:p>
                  </a:txBody>
                  <a:tcPr marL="73152" marR="73152" marT="36576" marB="36576" anchor="ctr">
                    <a:solidFill>
                      <a:srgbClr val="FFFFFF"/>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FFFFF"/>
                    </a:solidFill>
                  </a:tcPr>
                </a:tc>
                <a:tc>
                  <a:txBody>
                    <a:bodyPr/>
                    <a:lstStyle/>
                    <a:p>
                      <a:r>
                        <a:rPr sz="900" b="0" i="0" dirty="0">
                          <a:solidFill>
                            <a:srgbClr val="525252"/>
                          </a:solidFill>
                          <a:latin typeface="IBM Plex Sans" panose="020B0503050203000203" pitchFamily="34" charset="0"/>
                        </a:rPr>
                        <a:t>Large creative and content team; about 46 </a:t>
                      </a:r>
                      <a:r>
                        <a:rPr lang="en-US" sz="900" b="0" i="0" dirty="0" err="1">
                          <a:solidFill>
                            <a:srgbClr val="525252"/>
                          </a:solidFill>
                          <a:latin typeface="IBM Plex Sans" panose="020B0503050203000203" pitchFamily="34" charset="0"/>
                        </a:rPr>
                        <a:t>efficiency</a:t>
                      </a:r>
                      <a:r>
                        <a:rPr sz="900" b="0" i="0" dirty="0" err="1">
                          <a:solidFill>
                            <a:srgbClr val="525252"/>
                          </a:solidFill>
                          <a:latin typeface="IBM Plex Sans" panose="020B0503050203000203" pitchFamily="34" charset="0"/>
                        </a:rPr>
                        <a:t>s</a:t>
                      </a:r>
                      <a:r>
                        <a:rPr sz="900" b="0" i="0" dirty="0">
                          <a:solidFill>
                            <a:srgbClr val="525252"/>
                          </a:solidFill>
                          <a:latin typeface="IBM Plex Sans" panose="020B0503050203000203" pitchFamily="34" charset="0"/>
                        </a:rPr>
                        <a:t> of time on asset production, resizing, QA and localization.</a:t>
                      </a:r>
                    </a:p>
                  </a:txBody>
                  <a:tcPr marL="73152" marR="73152" marT="36576" marB="36576" anchor="ctr">
                    <a:solidFill>
                      <a:srgbClr val="FFFFFF"/>
                    </a:solidFill>
                  </a:tcPr>
                </a:tc>
                <a:extLst>
                  <a:ext uri="{0D108BD9-81ED-4DB2-BD59-A6C34878D82A}">
                    <a16:rowId xmlns:a16="http://schemas.microsoft.com/office/drawing/2014/main" val="10001"/>
                  </a:ext>
                </a:extLst>
              </a:tr>
              <a:tr h="522514">
                <a:tc>
                  <a:txBody>
                    <a:bodyPr/>
                    <a:lstStyle/>
                    <a:p>
                      <a:r>
                        <a:rPr sz="950" b="1" i="0">
                          <a:solidFill>
                            <a:srgbClr val="161616"/>
                          </a:solidFill>
                          <a:latin typeface="IBM Plex Sans" panose="020B0503050203000203" pitchFamily="34" charset="0"/>
                        </a:rPr>
                        <a:t>Business priority</a:t>
                      </a:r>
                    </a:p>
                  </a:txBody>
                  <a:tcPr marL="73152" marR="73152" marT="36576" marB="36576" anchor="ctr">
                    <a:solidFill>
                      <a:srgbClr val="F4F4F4"/>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4F4F4"/>
                    </a:solidFill>
                  </a:tcPr>
                </a:tc>
                <a:tc>
                  <a:txBody>
                    <a:bodyPr/>
                    <a:lstStyle/>
                    <a:p>
                      <a:r>
                        <a:rPr sz="900" b="0" i="0">
                          <a:solidFill>
                            <a:srgbClr val="525252"/>
                          </a:solidFill>
                          <a:latin typeface="IBM Plex Sans" panose="020B0503050203000203" pitchFamily="34" charset="0"/>
                        </a:rPr>
                        <a:t>Creative velocity and brand and legal compliance called out as leadership priorities; moves throughput and CTR/ROAS.</a:t>
                      </a:r>
                    </a:p>
                  </a:txBody>
                  <a:tcPr marL="73152" marR="73152" marT="36576" marB="36576" anchor="ctr">
                    <a:solidFill>
                      <a:srgbClr val="F4F4F4"/>
                    </a:solidFill>
                  </a:tcPr>
                </a:tc>
                <a:extLst>
                  <a:ext uri="{0D108BD9-81ED-4DB2-BD59-A6C34878D82A}">
                    <a16:rowId xmlns:a16="http://schemas.microsoft.com/office/drawing/2014/main" val="10002"/>
                  </a:ext>
                </a:extLst>
              </a:tr>
              <a:tr h="522514">
                <a:tc>
                  <a:txBody>
                    <a:bodyPr/>
                    <a:lstStyle/>
                    <a:p>
                      <a:r>
                        <a:rPr sz="950" b="1" i="0">
                          <a:solidFill>
                            <a:srgbClr val="161616"/>
                          </a:solidFill>
                          <a:latin typeface="IBM Plex Sans" panose="020B0503050203000203" pitchFamily="34" charset="0"/>
                        </a:rPr>
                        <a:t>Productivity</a:t>
                      </a:r>
                    </a:p>
                  </a:txBody>
                  <a:tcPr marL="73152" marR="73152" marT="36576" marB="36576" anchor="ctr">
                    <a:solidFill>
                      <a:srgbClr val="FFFFFF"/>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FFFFF"/>
                    </a:solidFill>
                  </a:tcPr>
                </a:tc>
                <a:tc>
                  <a:txBody>
                    <a:bodyPr/>
                    <a:lstStyle/>
                    <a:p>
                      <a:r>
                        <a:rPr sz="900" b="0" i="0">
                          <a:solidFill>
                            <a:srgbClr val="525252"/>
                          </a:solidFill>
                          <a:latin typeface="IBM Plex Sans" panose="020B0503050203000203" pitchFamily="34" charset="0"/>
                        </a:rPr>
                        <a:t>Modeled near 65% of the in-scope time is repetitive resize, reformat, first-pass QA and translation that AI takes on.</a:t>
                      </a:r>
                    </a:p>
                  </a:txBody>
                  <a:tcPr marL="73152" marR="73152" marT="36576" marB="36576" anchor="ctr">
                    <a:solidFill>
                      <a:srgbClr val="FFFFFF"/>
                    </a:solidFill>
                  </a:tcPr>
                </a:tc>
                <a:extLst>
                  <a:ext uri="{0D108BD9-81ED-4DB2-BD59-A6C34878D82A}">
                    <a16:rowId xmlns:a16="http://schemas.microsoft.com/office/drawing/2014/main" val="10003"/>
                  </a:ext>
                </a:extLst>
              </a:tr>
              <a:tr h="522514">
                <a:tc>
                  <a:txBody>
                    <a:bodyPr/>
                    <a:lstStyle/>
                    <a:p>
                      <a:r>
                        <a:rPr sz="950" b="1" i="0">
                          <a:solidFill>
                            <a:srgbClr val="161616"/>
                          </a:solidFill>
                          <a:latin typeface="IBM Plex Sans" panose="020B0503050203000203" pitchFamily="34" charset="0"/>
                        </a:rPr>
                        <a:t>Feasibility</a:t>
                      </a:r>
                    </a:p>
                  </a:txBody>
                  <a:tcPr marL="73152" marR="73152" marT="36576" marB="36576" anchor="ctr">
                    <a:solidFill>
                      <a:srgbClr val="F4F4F4"/>
                    </a:solidFill>
                  </a:tcPr>
                </a:tc>
                <a:tc>
                  <a:txBody>
                    <a:bodyPr/>
                    <a:lstStyle/>
                    <a:p>
                      <a:r>
                        <a:rPr sz="950" b="1" i="0">
                          <a:solidFill>
                            <a:srgbClr val="0F62FE"/>
                          </a:solidFill>
                          <a:latin typeface="IBM Plex Sans" panose="020B0503050203000203" pitchFamily="34" charset="0"/>
                        </a:rPr>
                        <a:t>High</a:t>
                      </a:r>
                    </a:p>
                  </a:txBody>
                  <a:tcPr marL="73152" marR="73152" marT="36576" marB="36576" anchor="ctr">
                    <a:solidFill>
                      <a:srgbClr val="F4F4F4"/>
                    </a:solidFill>
                  </a:tcPr>
                </a:tc>
                <a:tc>
                  <a:txBody>
                    <a:bodyPr/>
                    <a:lstStyle/>
                    <a:p>
                      <a:r>
                        <a:rPr sz="900" b="0" i="0">
                          <a:solidFill>
                            <a:srgbClr val="525252"/>
                          </a:solidFill>
                          <a:latin typeface="IBM Plex Sans" panose="020B0503050203000203" pitchFamily="34" charset="0"/>
                        </a:rPr>
                        <a:t>Extends a proven GenStudio proof of concept on the Adobe stack already in place.</a:t>
                      </a:r>
                    </a:p>
                  </a:txBody>
                  <a:tcPr marL="73152" marR="73152" marT="36576" marB="36576" anchor="ctr">
                    <a:solidFill>
                      <a:srgbClr val="F4F4F4"/>
                    </a:solidFill>
                  </a:tcPr>
                </a:tc>
                <a:extLst>
                  <a:ext uri="{0D108BD9-81ED-4DB2-BD59-A6C34878D82A}">
                    <a16:rowId xmlns:a16="http://schemas.microsoft.com/office/drawing/2014/main" val="10004"/>
                  </a:ext>
                </a:extLst>
              </a:tr>
              <a:tr h="522514">
                <a:tc>
                  <a:txBody>
                    <a:bodyPr/>
                    <a:lstStyle/>
                    <a:p>
                      <a:r>
                        <a:rPr sz="950" b="1" i="0">
                          <a:solidFill>
                            <a:srgbClr val="161616"/>
                          </a:solidFill>
                          <a:latin typeface="IBM Plex Sans" panose="020B0503050203000203" pitchFamily="34" charset="0"/>
                        </a:rPr>
                        <a:t>Complexity</a:t>
                      </a:r>
                    </a:p>
                  </a:txBody>
                  <a:tcPr marL="73152" marR="73152" marT="36576" marB="36576" anchor="ctr">
                    <a:solidFill>
                      <a:srgbClr val="FFFFFF"/>
                    </a:solidFill>
                  </a:tcPr>
                </a:tc>
                <a:tc>
                  <a:txBody>
                    <a:bodyPr/>
                    <a:lstStyle/>
                    <a:p>
                      <a:r>
                        <a:rPr sz="950" b="1" i="0">
                          <a:solidFill>
                            <a:srgbClr val="525252"/>
                          </a:solidFill>
                          <a:latin typeface="IBM Plex Sans" panose="020B0503050203000203" pitchFamily="34" charset="0"/>
                        </a:rPr>
                        <a:t>Medium</a:t>
                      </a:r>
                    </a:p>
                  </a:txBody>
                  <a:tcPr marL="73152" marR="73152" marT="36576" marB="36576" anchor="ctr">
                    <a:solidFill>
                      <a:srgbClr val="FFFFFF"/>
                    </a:solidFill>
                  </a:tcPr>
                </a:tc>
                <a:tc>
                  <a:txBody>
                    <a:bodyPr/>
                    <a:lstStyle/>
                    <a:p>
                      <a:r>
                        <a:rPr sz="900" b="0" i="0">
                          <a:solidFill>
                            <a:srgbClr val="525252"/>
                          </a:solidFill>
                          <a:latin typeface="IBM Plex Sans" panose="020B0503050203000203" pitchFamily="34" charset="0"/>
                        </a:rPr>
                        <a:t>The build is straightforward; activation depends on the Adobe control-plane and agency plumbing.</a:t>
                      </a:r>
                    </a:p>
                  </a:txBody>
                  <a:tcPr marL="73152" marR="73152" marT="36576" marB="36576" anchor="ctr">
                    <a:solidFill>
                      <a:srgbClr val="FFFFFF"/>
                    </a:solidFill>
                  </a:tcPr>
                </a:tc>
                <a:extLst>
                  <a:ext uri="{0D108BD9-81ED-4DB2-BD59-A6C34878D82A}">
                    <a16:rowId xmlns:a16="http://schemas.microsoft.com/office/drawing/2014/main" val="10005"/>
                  </a:ext>
                </a:extLst>
              </a:tr>
              <a:tr h="522516">
                <a:tc>
                  <a:txBody>
                    <a:bodyPr/>
                    <a:lstStyle/>
                    <a:p>
                      <a:r>
                        <a:rPr sz="950" b="1" i="0">
                          <a:solidFill>
                            <a:srgbClr val="161616"/>
                          </a:solidFill>
                          <a:latin typeface="IBM Plex Sans" panose="020B0503050203000203" pitchFamily="34" charset="0"/>
                        </a:rPr>
                        <a:t>Data readiness</a:t>
                      </a:r>
                    </a:p>
                  </a:txBody>
                  <a:tcPr marL="73152" marR="73152" marT="36576" marB="36576" anchor="ctr">
                    <a:solidFill>
                      <a:srgbClr val="F4F4F4"/>
                    </a:solidFill>
                  </a:tcPr>
                </a:tc>
                <a:tc>
                  <a:txBody>
                    <a:bodyPr/>
                    <a:lstStyle/>
                    <a:p>
                      <a:r>
                        <a:rPr sz="950" b="1" i="0">
                          <a:solidFill>
                            <a:srgbClr val="525252"/>
                          </a:solidFill>
                          <a:latin typeface="IBM Plex Sans" panose="020B0503050203000203" pitchFamily="34" charset="0"/>
                        </a:rPr>
                        <a:t>Medium</a:t>
                      </a:r>
                    </a:p>
                  </a:txBody>
                  <a:tcPr marL="73152" marR="73152" marT="36576" marB="36576" anchor="ctr">
                    <a:solidFill>
                      <a:srgbClr val="F4F4F4"/>
                    </a:solidFill>
                  </a:tcPr>
                </a:tc>
                <a:tc>
                  <a:txBody>
                    <a:bodyPr/>
                    <a:lstStyle/>
                    <a:p>
                      <a:r>
                        <a:rPr sz="900" b="0" i="0">
                          <a:solidFill>
                            <a:srgbClr val="525252"/>
                          </a:solidFill>
                          <a:latin typeface="IBM Plex Sans" panose="020B0503050203000203" pitchFamily="34" charset="0"/>
                        </a:rPr>
                        <a:t>Needs brand guidelines, legal rules, translation memory and channel specs assembled; partly in place today.</a:t>
                      </a:r>
                    </a:p>
                  </a:txBody>
                  <a:tcPr marL="73152" marR="73152" marT="36576" marB="36576" anchor="ctr">
                    <a:solidFill>
                      <a:srgbClr val="F4F4F4"/>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8869680" y="1600200"/>
            <a:ext cx="2743200" cy="3657600"/>
          </a:xfrm>
          <a:prstGeom prst="rect">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7" name="TextBox 6"/>
          <p:cNvSpPr txBox="1"/>
          <p:nvPr/>
        </p:nvSpPr>
        <p:spPr>
          <a:xfrm>
            <a:off x="9098280" y="1783080"/>
            <a:ext cx="2377440" cy="246221"/>
          </a:xfrm>
          <a:prstGeom prst="rect">
            <a:avLst/>
          </a:prstGeom>
          <a:noFill/>
        </p:spPr>
        <p:txBody>
          <a:bodyPr wrap="square">
            <a:spAutoFit/>
          </a:bodyPr>
          <a:lstStyle/>
          <a:p>
            <a:r>
              <a:rPr sz="1000" b="1" i="0">
                <a:solidFill>
                  <a:srgbClr val="A6C8FF"/>
                </a:solidFill>
                <a:latin typeface="IBM Plex Sans" panose="020B0503050203000203" pitchFamily="34" charset="0"/>
              </a:rPr>
              <a:t>RESULT</a:t>
            </a:r>
          </a:p>
        </p:txBody>
      </p:sp>
      <p:sp>
        <p:nvSpPr>
          <p:cNvPr id="8" name="TextBox 7"/>
          <p:cNvSpPr txBox="1"/>
          <p:nvPr/>
        </p:nvSpPr>
        <p:spPr>
          <a:xfrm>
            <a:off x="9098280" y="2194560"/>
            <a:ext cx="2377440" cy="569387"/>
          </a:xfrm>
          <a:prstGeom prst="rect">
            <a:avLst/>
          </a:prstGeom>
          <a:noFill/>
        </p:spPr>
        <p:txBody>
          <a:bodyPr wrap="square">
            <a:spAutoFit/>
          </a:bodyPr>
          <a:lstStyle/>
          <a:p>
            <a:r>
              <a:rPr sz="1100" b="0" i="0">
                <a:solidFill>
                  <a:srgbClr val="A6C8FF"/>
                </a:solidFill>
                <a:latin typeface="IBM Plex Sans" panose="020B0503050203000203" pitchFamily="34" charset="0"/>
              </a:rPr>
              <a:t>Value</a:t>
            </a:r>
          </a:p>
          <a:p>
            <a:r>
              <a:rPr sz="2000" b="1" i="0">
                <a:solidFill>
                  <a:srgbClr val="FFFFFF"/>
                </a:solidFill>
                <a:latin typeface="IBM Plex Sans" panose="020B0503050203000203" pitchFamily="34" charset="0"/>
              </a:rPr>
              <a:t>4 / 5</a:t>
            </a:r>
          </a:p>
        </p:txBody>
      </p:sp>
      <p:sp>
        <p:nvSpPr>
          <p:cNvPr id="9" name="TextBox 8"/>
          <p:cNvSpPr txBox="1"/>
          <p:nvPr/>
        </p:nvSpPr>
        <p:spPr>
          <a:xfrm>
            <a:off x="9098280" y="3063240"/>
            <a:ext cx="2377440" cy="569387"/>
          </a:xfrm>
          <a:prstGeom prst="rect">
            <a:avLst/>
          </a:prstGeom>
          <a:noFill/>
        </p:spPr>
        <p:txBody>
          <a:bodyPr wrap="square">
            <a:spAutoFit/>
          </a:bodyPr>
          <a:lstStyle/>
          <a:p>
            <a:r>
              <a:rPr sz="1100" b="0" i="0">
                <a:solidFill>
                  <a:srgbClr val="A6C8FF"/>
                </a:solidFill>
                <a:latin typeface="IBM Plex Sans" panose="020B0503050203000203" pitchFamily="34" charset="0"/>
              </a:rPr>
              <a:t>Feasibility</a:t>
            </a:r>
          </a:p>
          <a:p>
            <a:r>
              <a:rPr sz="2000" b="1" i="0">
                <a:solidFill>
                  <a:srgbClr val="FFFFFF"/>
                </a:solidFill>
                <a:latin typeface="IBM Plex Sans" panose="020B0503050203000203" pitchFamily="34" charset="0"/>
              </a:rPr>
              <a:t>4 / 5</a:t>
            </a:r>
          </a:p>
        </p:txBody>
      </p:sp>
      <p:cxnSp>
        <p:nvCxnSpPr>
          <p:cNvPr id="10" name="Connector 9"/>
          <p:cNvCxnSpPr/>
          <p:nvPr/>
        </p:nvCxnSpPr>
        <p:spPr>
          <a:xfrm>
            <a:off x="9098280" y="4069080"/>
            <a:ext cx="2286000" cy="0"/>
          </a:xfrm>
          <a:prstGeom prst="line">
            <a:avLst/>
          </a:prstGeom>
          <a:ln w="9525">
            <a:solidFill>
              <a:srgbClr val="3A4D7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98280" y="4160520"/>
            <a:ext cx="2377440" cy="914400"/>
          </a:xfrm>
          <a:prstGeom prst="rect">
            <a:avLst/>
          </a:prstGeom>
          <a:noFill/>
        </p:spPr>
        <p:txBody>
          <a:bodyPr wrap="square">
            <a:spAutoFit/>
          </a:bodyPr>
          <a:lstStyle/>
          <a:p>
            <a:r>
              <a:rPr sz="1100" b="0" i="0">
                <a:solidFill>
                  <a:srgbClr val="A6C8FF"/>
                </a:solidFill>
                <a:latin typeface="IBM Plex Sans" panose="020B0503050203000203" pitchFamily="34" charset="0"/>
              </a:rPr>
              <a:t>Composite (V x F)</a:t>
            </a:r>
          </a:p>
          <a:p>
            <a:r>
              <a:rPr sz="3000" b="1" i="0">
                <a:solidFill>
                  <a:srgbClr val="FFFFFF"/>
                </a:solidFill>
                <a:latin typeface="IBM Plex Sans" panose="020B0503050203000203" pitchFamily="34" charset="0"/>
              </a:rPr>
              <a:t>16</a:t>
            </a:r>
          </a:p>
          <a:p>
            <a:r>
              <a:rPr sz="1100" b="0" i="0">
                <a:solidFill>
                  <a:srgbClr val="A6C8FF"/>
                </a:solidFill>
                <a:latin typeface="IBM Plex Sans" panose="020B0503050203000203" pitchFamily="34" charset="0"/>
              </a:rPr>
              <a:t>Build-now corner</a:t>
            </a:r>
          </a:p>
        </p:txBody>
      </p:sp>
      <p:sp>
        <p:nvSpPr>
          <p:cNvPr id="12" name="TextBox 11"/>
          <p:cNvSpPr txBox="1"/>
          <p:nvPr/>
        </p:nvSpPr>
        <p:spPr>
          <a:xfrm>
            <a:off x="548640" y="5486400"/>
            <a:ext cx="11064240" cy="276999"/>
          </a:xfrm>
          <a:prstGeom prst="rect">
            <a:avLst/>
          </a:prstGeom>
          <a:noFill/>
        </p:spPr>
        <p:txBody>
          <a:bodyPr wrap="square">
            <a:spAutoFit/>
          </a:bodyPr>
          <a:lstStyle/>
          <a:p>
            <a:r>
              <a:rPr sz="1200" b="0" i="1">
                <a:solidFill>
                  <a:srgbClr val="525252"/>
                </a:solidFill>
                <a:latin typeface="IBM Plex Sans" panose="020B0503050203000203" pitchFamily="34" charset="0"/>
              </a:rPr>
              <a:t>Each rating is a High, Medium or Low call backed by the evidence shown. Value and feasibility both land at 4, which puts GenStudio in the build-now corner.</a:t>
            </a:r>
          </a:p>
        </p:txBody>
      </p:sp>
      <p:sp>
        <p:nvSpPr>
          <p:cNvPr id="13" name="TextBox 12"/>
          <p:cNvSpPr txBox="1"/>
          <p:nvPr/>
        </p:nvSpPr>
        <p:spPr>
          <a:xfrm>
            <a:off x="548640" y="6473952"/>
            <a:ext cx="8229600" cy="230832"/>
          </a:xfrm>
          <a:prstGeom prst="rect">
            <a:avLst/>
          </a:prstGeom>
          <a:noFill/>
        </p:spPr>
        <p:txBody>
          <a:bodyPr wrap="square">
            <a:spAutoFit/>
          </a:bodyPr>
          <a:lstStyle/>
          <a:p>
            <a:r>
              <a:rPr sz="900" b="0" i="0">
                <a:solidFill>
                  <a:srgbClr val="525252"/>
                </a:solidFill>
                <a:latin typeface="IBM Plex Sans" panose="020B0503050203000203" pitchFamily="34" charset="0"/>
              </a:rPr>
              <a:t>How We Prioritized  |  MCC AI Transformation</a:t>
            </a:r>
          </a:p>
        </p:txBody>
      </p:sp>
      <p:sp>
        <p:nvSpPr>
          <p:cNvPr id="14" name="TextBox 13"/>
          <p:cNvSpPr txBox="1"/>
          <p:nvPr/>
        </p:nvSpPr>
        <p:spPr>
          <a:xfrm>
            <a:off x="11247120" y="6473952"/>
            <a:ext cx="457200" cy="230832"/>
          </a:xfrm>
          <a:prstGeom prst="rect">
            <a:avLst/>
          </a:prstGeom>
          <a:noFill/>
        </p:spPr>
        <p:txBody>
          <a:bodyPr wrap="square">
            <a:spAutoFit/>
          </a:bodyPr>
          <a:lstStyle/>
          <a:p>
            <a:pPr algn="r"/>
            <a:r>
              <a:rPr sz="900" b="0" i="0">
                <a:solidFill>
                  <a:srgbClr val="525252"/>
                </a:solidFill>
                <a:latin typeface="IBM Plex Sans" panose="020B0503050203000203" pitchFamily="34" charset="0"/>
              </a:rPr>
              <a:t>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BA98-D59B-877E-2FF5-F2B6F3C94330}"/>
            </a:ext>
          </a:extLst>
        </p:cNvPr>
        <p:cNvGrpSpPr/>
        <p:nvPr/>
      </p:nvGrpSpPr>
      <p:grpSpPr>
        <a:xfrm>
          <a:off x="0" y="0"/>
          <a:ext cx="0" cy="0"/>
          <a:chOff x="0" y="0"/>
          <a:chExt cx="0" cy="0"/>
        </a:xfrm>
      </p:grpSpPr>
      <p:sp>
        <p:nvSpPr>
          <p:cNvPr id="90" name="Shape 0">
            <a:extLst>
              <a:ext uri="{FF2B5EF4-FFF2-40B4-BE49-F238E27FC236}">
                <a16:creationId xmlns:a16="http://schemas.microsoft.com/office/drawing/2014/main" id="{566B96C0-3C5A-27DC-8578-E84A4CED68C8}"/>
              </a:ext>
            </a:extLst>
          </p:cNvPr>
          <p:cNvSpPr/>
          <p:nvPr/>
        </p:nvSpPr>
        <p:spPr>
          <a:xfrm>
            <a:off x="1588" y="0"/>
            <a:ext cx="12188952" cy="958920"/>
          </a:xfrm>
          <a:prstGeom prst="rect">
            <a:avLst/>
          </a:prstGeom>
          <a:solidFill>
            <a:schemeClr val="bg1">
              <a:lumMod val="9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endParaRPr>
          </a:p>
        </p:txBody>
      </p:sp>
      <p:sp>
        <p:nvSpPr>
          <p:cNvPr id="2" name="Text 0">
            <a:extLst>
              <a:ext uri="{FF2B5EF4-FFF2-40B4-BE49-F238E27FC236}">
                <a16:creationId xmlns:a16="http://schemas.microsoft.com/office/drawing/2014/main" id="{388AAD95-00AD-6E6A-20B8-069280A6271C}"/>
              </a:ext>
            </a:extLst>
          </p:cNvPr>
          <p:cNvSpPr/>
          <p:nvPr/>
        </p:nvSpPr>
        <p:spPr>
          <a:xfrm>
            <a:off x="365760" y="294042"/>
            <a:ext cx="9144000" cy="365760"/>
          </a:xfrm>
          <a:prstGeom prst="rect">
            <a:avLst/>
          </a:prstGeom>
          <a:noFill/>
          <a:ln/>
        </p:spPr>
        <p:txBody>
          <a:bodyPr wrap="square" lIns="0" tIns="0" rIns="0" bIns="0" rtlCol="0" anchor="ctr"/>
          <a:lstStyle/>
          <a:p>
            <a:pPr marL="0" indent="0">
              <a:buNone/>
            </a:pPr>
            <a:r>
              <a:rPr lang="en-US" sz="2200" b="1">
                <a:solidFill>
                  <a:srgbClr val="0F62FE"/>
                </a:solidFill>
                <a:latin typeface="IBM Plex Sans" panose="020B0503050203000203" pitchFamily="34" charset="0"/>
                <a:ea typeface="Georgia" pitchFamily="34" charset="-122"/>
                <a:cs typeface="Georgia" pitchFamily="34" charset="-120"/>
              </a:rPr>
              <a:t>No Regrets, Foundational Capabilities As We Start Pivoting</a:t>
            </a:r>
            <a:endParaRPr lang="en-US" sz="2200">
              <a:latin typeface="IBM Plex Sans" panose="020B0503050203000203" pitchFamily="34" charset="0"/>
            </a:endParaRPr>
          </a:p>
        </p:txBody>
      </p:sp>
      <p:sp>
        <p:nvSpPr>
          <p:cNvPr id="3" name="Text 1">
            <a:extLst>
              <a:ext uri="{FF2B5EF4-FFF2-40B4-BE49-F238E27FC236}">
                <a16:creationId xmlns:a16="http://schemas.microsoft.com/office/drawing/2014/main" id="{999D7E38-F11E-14D9-584D-F41CC9720331}"/>
              </a:ext>
            </a:extLst>
          </p:cNvPr>
          <p:cNvSpPr/>
          <p:nvPr/>
        </p:nvSpPr>
        <p:spPr>
          <a:xfrm>
            <a:off x="365760" y="659802"/>
            <a:ext cx="10972800" cy="228600"/>
          </a:xfrm>
          <a:prstGeom prst="rect">
            <a:avLst/>
          </a:prstGeom>
          <a:noFill/>
          <a:ln/>
        </p:spPr>
        <p:txBody>
          <a:bodyPr wrap="square" lIns="0" tIns="0" rIns="0" bIns="0" rtlCol="0" anchor="ctr"/>
          <a:lstStyle/>
          <a:p>
            <a:pPr marL="0" indent="0">
              <a:buNone/>
            </a:pPr>
            <a:r>
              <a:rPr lang="en-US" sz="1200">
                <a:solidFill>
                  <a:srgbClr val="697077"/>
                </a:solidFill>
                <a:latin typeface="IBM Plex Sans" panose="020B0503050203000203" pitchFamily="34" charset="0"/>
                <a:ea typeface="Arial" pitchFamily="34" charset="-122"/>
                <a:cs typeface="Arial" pitchFamily="34" charset="-120"/>
              </a:rPr>
              <a:t>The initiatives are not separate projects. They map to a logical value chain anchored on four core capabilities impacting all MCC domains</a:t>
            </a:r>
            <a:endParaRPr lang="en-US" sz="1200">
              <a:latin typeface="IBM Plex Sans" panose="020B0503050203000203" pitchFamily="34" charset="0"/>
            </a:endParaRPr>
          </a:p>
        </p:txBody>
      </p:sp>
      <p:sp>
        <p:nvSpPr>
          <p:cNvPr id="4" name="Shape 2">
            <a:extLst>
              <a:ext uri="{FF2B5EF4-FFF2-40B4-BE49-F238E27FC236}">
                <a16:creationId xmlns:a16="http://schemas.microsoft.com/office/drawing/2014/main" id="{A22EDD8B-AC13-2010-2BFD-2B7DDA1A26A1}"/>
              </a:ext>
            </a:extLst>
          </p:cNvPr>
          <p:cNvSpPr/>
          <p:nvPr/>
        </p:nvSpPr>
        <p:spPr>
          <a:xfrm>
            <a:off x="400396" y="1106710"/>
            <a:ext cx="2788920" cy="488573"/>
          </a:xfrm>
          <a:prstGeom prst="rect">
            <a:avLst/>
          </a:prstGeom>
          <a:solidFill>
            <a:srgbClr val="001D6C"/>
          </a:solidFill>
          <a:ln/>
        </p:spPr>
        <p:txBody>
          <a:bodyPr/>
          <a:lstStyle/>
          <a:p>
            <a:endParaRPr lang="en-US">
              <a:latin typeface="IBM Plex Sans" panose="020B0503050203000203" pitchFamily="34" charset="0"/>
            </a:endParaRPr>
          </a:p>
        </p:txBody>
      </p:sp>
      <p:sp>
        <p:nvSpPr>
          <p:cNvPr id="5" name="Text 3">
            <a:extLst>
              <a:ext uri="{FF2B5EF4-FFF2-40B4-BE49-F238E27FC236}">
                <a16:creationId xmlns:a16="http://schemas.microsoft.com/office/drawing/2014/main" id="{ACED20D1-57A8-DC4C-C838-2D99BE296D75}"/>
              </a:ext>
            </a:extLst>
          </p:cNvPr>
          <p:cNvSpPr/>
          <p:nvPr/>
        </p:nvSpPr>
        <p:spPr>
          <a:xfrm>
            <a:off x="400396" y="1106710"/>
            <a:ext cx="2788920" cy="488573"/>
          </a:xfrm>
          <a:prstGeom prst="rect">
            <a:avLst/>
          </a:prstGeom>
          <a:noFill/>
          <a:ln/>
        </p:spPr>
        <p:txBody>
          <a:bodyPr wrap="square" lIns="0" tIns="0" rIns="0" bIns="0" rtlCol="0" anchor="ctr"/>
          <a:lstStyle/>
          <a:p>
            <a:pPr marL="0" indent="0" algn="ctr">
              <a:buNone/>
            </a:pPr>
            <a:r>
              <a:rPr lang="en-US" sz="1200" b="1">
                <a:solidFill>
                  <a:srgbClr val="FFFFFF"/>
                </a:solidFill>
                <a:latin typeface="IBM Plex Sans" panose="020B0503050203000203" pitchFamily="34" charset="0"/>
                <a:ea typeface="Arial" pitchFamily="34" charset="-122"/>
                <a:cs typeface="Arial" pitchFamily="34" charset="-120"/>
              </a:rPr>
              <a:t>Data + Measurement</a:t>
            </a:r>
            <a:endParaRPr lang="en-US" sz="1200">
              <a:latin typeface="IBM Plex Sans" panose="020B0503050203000203" pitchFamily="34" charset="0"/>
            </a:endParaRPr>
          </a:p>
          <a:p>
            <a:pPr marL="0" indent="0" algn="ctr">
              <a:buNone/>
            </a:pPr>
            <a:r>
              <a:rPr lang="en-US" sz="1200" b="1">
                <a:solidFill>
                  <a:srgbClr val="FFFFFF"/>
                </a:solidFill>
                <a:latin typeface="IBM Plex Sans" panose="020B0503050203000203" pitchFamily="34" charset="0"/>
                <a:ea typeface="Arial" pitchFamily="34" charset="-122"/>
                <a:cs typeface="Arial" pitchFamily="34" charset="-120"/>
              </a:rPr>
              <a:t>Foundations</a:t>
            </a:r>
            <a:endParaRPr lang="en-US" sz="1200">
              <a:latin typeface="IBM Plex Sans" panose="020B0503050203000203" pitchFamily="34" charset="0"/>
            </a:endParaRPr>
          </a:p>
        </p:txBody>
      </p:sp>
      <p:sp>
        <p:nvSpPr>
          <p:cNvPr id="6" name="Shape 4">
            <a:extLst>
              <a:ext uri="{FF2B5EF4-FFF2-40B4-BE49-F238E27FC236}">
                <a16:creationId xmlns:a16="http://schemas.microsoft.com/office/drawing/2014/main" id="{4EB37202-D547-758E-51A2-D210FA80733F}"/>
              </a:ext>
            </a:extLst>
          </p:cNvPr>
          <p:cNvSpPr/>
          <p:nvPr/>
        </p:nvSpPr>
        <p:spPr>
          <a:xfrm>
            <a:off x="400396" y="1595283"/>
            <a:ext cx="2788920" cy="4104011"/>
          </a:xfrm>
          <a:prstGeom prst="rect">
            <a:avLst/>
          </a:prstGeom>
          <a:solidFill>
            <a:srgbClr val="F4F4F4"/>
          </a:solidFill>
          <a:ln/>
        </p:spPr>
        <p:txBody>
          <a:bodyPr/>
          <a:lstStyle/>
          <a:p>
            <a:endParaRPr lang="en-US">
              <a:latin typeface="IBM Plex Sans" panose="020B0503050203000203" pitchFamily="34" charset="0"/>
            </a:endParaRPr>
          </a:p>
        </p:txBody>
      </p:sp>
      <p:sp>
        <p:nvSpPr>
          <p:cNvPr id="15" name="Shape 13">
            <a:extLst>
              <a:ext uri="{FF2B5EF4-FFF2-40B4-BE49-F238E27FC236}">
                <a16:creationId xmlns:a16="http://schemas.microsoft.com/office/drawing/2014/main" id="{E0C84567-FDC2-6C0B-7B01-B8E6C4E416D6}"/>
              </a:ext>
            </a:extLst>
          </p:cNvPr>
          <p:cNvSpPr/>
          <p:nvPr/>
        </p:nvSpPr>
        <p:spPr>
          <a:xfrm>
            <a:off x="400396" y="5161864"/>
            <a:ext cx="2788920" cy="537430"/>
          </a:xfrm>
          <a:prstGeom prst="rect">
            <a:avLst/>
          </a:prstGeom>
          <a:solidFill>
            <a:srgbClr val="001D6C"/>
          </a:solidFill>
          <a:ln/>
        </p:spPr>
        <p:txBody>
          <a:bodyPr/>
          <a:lstStyle/>
          <a:p>
            <a:endParaRPr lang="en-US" sz="2800">
              <a:latin typeface="IBM Plex Sans" panose="020B0503050203000203" pitchFamily="34" charset="0"/>
            </a:endParaRPr>
          </a:p>
        </p:txBody>
      </p:sp>
      <p:sp>
        <p:nvSpPr>
          <p:cNvPr id="16" name="Text 14">
            <a:extLst>
              <a:ext uri="{FF2B5EF4-FFF2-40B4-BE49-F238E27FC236}">
                <a16:creationId xmlns:a16="http://schemas.microsoft.com/office/drawing/2014/main" id="{6D2AB2F2-26F3-D0EC-3A4C-431A35756A88}"/>
              </a:ext>
            </a:extLst>
          </p:cNvPr>
          <p:cNvSpPr/>
          <p:nvPr/>
        </p:nvSpPr>
        <p:spPr>
          <a:xfrm>
            <a:off x="510124" y="5323093"/>
            <a:ext cx="2569464" cy="214972"/>
          </a:xfrm>
          <a:prstGeom prst="rect">
            <a:avLst/>
          </a:prstGeom>
          <a:noFill/>
          <a:ln/>
        </p:spPr>
        <p:txBody>
          <a:bodyPr wrap="square" lIns="0" tIns="0" rIns="0" bIns="0" rtlCol="0" anchor="ctr"/>
          <a:lstStyle/>
          <a:p>
            <a:pPr marL="0" indent="0">
              <a:buNone/>
            </a:pPr>
            <a:r>
              <a:rPr lang="en-US" sz="1200" b="1">
                <a:solidFill>
                  <a:srgbClr val="FFFFFF"/>
                </a:solidFill>
                <a:latin typeface="IBM Plex Sans" panose="020B0503050203000203" pitchFamily="34" charset="0"/>
                <a:ea typeface="Arial" pitchFamily="34" charset="-122"/>
                <a:cs typeface="Arial" pitchFamily="34" charset="-120"/>
              </a:rPr>
              <a:t>5 initiatives</a:t>
            </a:r>
            <a:endParaRPr lang="en-US" sz="1200">
              <a:latin typeface="IBM Plex Sans" panose="020B0503050203000203" pitchFamily="34" charset="0"/>
            </a:endParaRPr>
          </a:p>
        </p:txBody>
      </p:sp>
      <p:sp>
        <p:nvSpPr>
          <p:cNvPr id="18" name="Shape 16">
            <a:extLst>
              <a:ext uri="{FF2B5EF4-FFF2-40B4-BE49-F238E27FC236}">
                <a16:creationId xmlns:a16="http://schemas.microsoft.com/office/drawing/2014/main" id="{4D438B8E-EB0F-34E5-0327-0D4279870DB2}"/>
              </a:ext>
            </a:extLst>
          </p:cNvPr>
          <p:cNvSpPr/>
          <p:nvPr/>
        </p:nvSpPr>
        <p:spPr>
          <a:xfrm>
            <a:off x="3280756" y="1106710"/>
            <a:ext cx="2788920" cy="488573"/>
          </a:xfrm>
          <a:prstGeom prst="rect">
            <a:avLst/>
          </a:prstGeom>
          <a:solidFill>
            <a:srgbClr val="8A3FFC"/>
          </a:solidFill>
          <a:ln/>
        </p:spPr>
        <p:txBody>
          <a:bodyPr/>
          <a:lstStyle/>
          <a:p>
            <a:endParaRPr lang="en-US">
              <a:latin typeface="IBM Plex Sans" panose="020B0503050203000203" pitchFamily="34" charset="0"/>
            </a:endParaRPr>
          </a:p>
        </p:txBody>
      </p:sp>
      <p:sp>
        <p:nvSpPr>
          <p:cNvPr id="19" name="Text 17">
            <a:extLst>
              <a:ext uri="{FF2B5EF4-FFF2-40B4-BE49-F238E27FC236}">
                <a16:creationId xmlns:a16="http://schemas.microsoft.com/office/drawing/2014/main" id="{BE60FFC9-DBD4-E476-8FB7-CCCD42FAC5CD}"/>
              </a:ext>
            </a:extLst>
          </p:cNvPr>
          <p:cNvSpPr/>
          <p:nvPr/>
        </p:nvSpPr>
        <p:spPr>
          <a:xfrm>
            <a:off x="3280756" y="1106710"/>
            <a:ext cx="2788920" cy="488573"/>
          </a:xfrm>
          <a:prstGeom prst="rect">
            <a:avLst/>
          </a:prstGeom>
          <a:noFill/>
          <a:ln/>
        </p:spPr>
        <p:txBody>
          <a:bodyPr wrap="square" lIns="0" tIns="0" rIns="0" bIns="0" rtlCol="0" anchor="ctr"/>
          <a:lstStyle/>
          <a:p>
            <a:pPr marL="0" indent="0" algn="ctr">
              <a:buNone/>
            </a:pPr>
            <a:r>
              <a:rPr lang="en-US" sz="1200" b="1">
                <a:solidFill>
                  <a:srgbClr val="FFFFFF"/>
                </a:solidFill>
                <a:latin typeface="IBM Plex Sans" panose="020B0503050203000203" pitchFamily="34" charset="0"/>
                <a:ea typeface="Arial" pitchFamily="34" charset="-122"/>
                <a:cs typeface="Arial" pitchFamily="34" charset="-120"/>
              </a:rPr>
              <a:t>Insights</a:t>
            </a:r>
            <a:endParaRPr lang="en-US" sz="1200">
              <a:latin typeface="IBM Plex Sans" panose="020B0503050203000203" pitchFamily="34" charset="0"/>
            </a:endParaRPr>
          </a:p>
        </p:txBody>
      </p:sp>
      <p:sp>
        <p:nvSpPr>
          <p:cNvPr id="20" name="Shape 18">
            <a:extLst>
              <a:ext uri="{FF2B5EF4-FFF2-40B4-BE49-F238E27FC236}">
                <a16:creationId xmlns:a16="http://schemas.microsoft.com/office/drawing/2014/main" id="{A41784EB-122F-D6B1-54C1-EDD96677CC49}"/>
              </a:ext>
            </a:extLst>
          </p:cNvPr>
          <p:cNvSpPr/>
          <p:nvPr/>
        </p:nvSpPr>
        <p:spPr>
          <a:xfrm>
            <a:off x="3280756" y="1595283"/>
            <a:ext cx="2788920" cy="4104011"/>
          </a:xfrm>
          <a:prstGeom prst="rect">
            <a:avLst/>
          </a:prstGeom>
          <a:solidFill>
            <a:srgbClr val="F4F4F4"/>
          </a:solidFill>
          <a:ln/>
        </p:spPr>
        <p:txBody>
          <a:bodyPr/>
          <a:lstStyle/>
          <a:p>
            <a:endParaRPr lang="en-US">
              <a:latin typeface="IBM Plex Sans" panose="020B0503050203000203" pitchFamily="34" charset="0"/>
            </a:endParaRPr>
          </a:p>
        </p:txBody>
      </p:sp>
      <p:sp>
        <p:nvSpPr>
          <p:cNvPr id="29" name="Shape 27">
            <a:extLst>
              <a:ext uri="{FF2B5EF4-FFF2-40B4-BE49-F238E27FC236}">
                <a16:creationId xmlns:a16="http://schemas.microsoft.com/office/drawing/2014/main" id="{A4860521-7B88-B72E-96E9-40206198365E}"/>
              </a:ext>
            </a:extLst>
          </p:cNvPr>
          <p:cNvSpPr/>
          <p:nvPr/>
        </p:nvSpPr>
        <p:spPr>
          <a:xfrm>
            <a:off x="3280756" y="5161864"/>
            <a:ext cx="2788920" cy="537430"/>
          </a:xfrm>
          <a:prstGeom prst="rect">
            <a:avLst/>
          </a:prstGeom>
          <a:solidFill>
            <a:srgbClr val="8A3FFC"/>
          </a:solidFill>
          <a:ln/>
        </p:spPr>
        <p:txBody>
          <a:bodyPr/>
          <a:lstStyle/>
          <a:p>
            <a:endParaRPr lang="en-US" sz="2800">
              <a:latin typeface="IBM Plex Sans" panose="020B0503050203000203" pitchFamily="34" charset="0"/>
            </a:endParaRPr>
          </a:p>
        </p:txBody>
      </p:sp>
      <p:sp>
        <p:nvSpPr>
          <p:cNvPr id="30" name="Text 28">
            <a:extLst>
              <a:ext uri="{FF2B5EF4-FFF2-40B4-BE49-F238E27FC236}">
                <a16:creationId xmlns:a16="http://schemas.microsoft.com/office/drawing/2014/main" id="{041D515C-3CF2-F82A-2AE3-FC08F695EE98}"/>
              </a:ext>
            </a:extLst>
          </p:cNvPr>
          <p:cNvSpPr/>
          <p:nvPr/>
        </p:nvSpPr>
        <p:spPr>
          <a:xfrm>
            <a:off x="3390484" y="5323093"/>
            <a:ext cx="2569464" cy="214972"/>
          </a:xfrm>
          <a:prstGeom prst="rect">
            <a:avLst/>
          </a:prstGeom>
          <a:noFill/>
          <a:ln/>
        </p:spPr>
        <p:txBody>
          <a:bodyPr wrap="square" lIns="0" tIns="0" rIns="0" bIns="0" rtlCol="0" anchor="ctr"/>
          <a:lstStyle/>
          <a:p>
            <a:pPr marL="0" indent="0">
              <a:buNone/>
            </a:pPr>
            <a:r>
              <a:rPr lang="en-US" sz="1200" b="1">
                <a:solidFill>
                  <a:srgbClr val="FFFFFF"/>
                </a:solidFill>
                <a:latin typeface="IBM Plex Sans" panose="020B0503050203000203" pitchFamily="34" charset="0"/>
                <a:ea typeface="Arial" pitchFamily="34" charset="-122"/>
                <a:cs typeface="Arial" pitchFamily="34" charset="-120"/>
              </a:rPr>
              <a:t>7 initiatives</a:t>
            </a:r>
            <a:endParaRPr lang="en-US" sz="1200">
              <a:latin typeface="IBM Plex Sans" panose="020B0503050203000203" pitchFamily="34" charset="0"/>
            </a:endParaRPr>
          </a:p>
        </p:txBody>
      </p:sp>
      <p:sp>
        <p:nvSpPr>
          <p:cNvPr id="32" name="Shape 30">
            <a:extLst>
              <a:ext uri="{FF2B5EF4-FFF2-40B4-BE49-F238E27FC236}">
                <a16:creationId xmlns:a16="http://schemas.microsoft.com/office/drawing/2014/main" id="{8097496F-A700-CF13-7513-47AC42A0A683}"/>
              </a:ext>
            </a:extLst>
          </p:cNvPr>
          <p:cNvSpPr/>
          <p:nvPr/>
        </p:nvSpPr>
        <p:spPr>
          <a:xfrm>
            <a:off x="6161116" y="1106710"/>
            <a:ext cx="2788920" cy="488573"/>
          </a:xfrm>
          <a:prstGeom prst="rect">
            <a:avLst/>
          </a:prstGeom>
          <a:solidFill>
            <a:srgbClr val="D02670"/>
          </a:solidFill>
          <a:ln/>
        </p:spPr>
        <p:txBody>
          <a:bodyPr/>
          <a:lstStyle/>
          <a:p>
            <a:endParaRPr lang="en-US">
              <a:latin typeface="IBM Plex Sans" panose="020B0503050203000203" pitchFamily="34" charset="0"/>
            </a:endParaRPr>
          </a:p>
        </p:txBody>
      </p:sp>
      <p:sp>
        <p:nvSpPr>
          <p:cNvPr id="33" name="Text 31">
            <a:extLst>
              <a:ext uri="{FF2B5EF4-FFF2-40B4-BE49-F238E27FC236}">
                <a16:creationId xmlns:a16="http://schemas.microsoft.com/office/drawing/2014/main" id="{74863B09-433A-DAAF-B6EB-2053F29F896D}"/>
              </a:ext>
            </a:extLst>
          </p:cNvPr>
          <p:cNvSpPr/>
          <p:nvPr/>
        </p:nvSpPr>
        <p:spPr>
          <a:xfrm>
            <a:off x="6161116" y="1106710"/>
            <a:ext cx="2788920" cy="488573"/>
          </a:xfrm>
          <a:prstGeom prst="rect">
            <a:avLst/>
          </a:prstGeom>
          <a:noFill/>
          <a:ln/>
        </p:spPr>
        <p:txBody>
          <a:bodyPr wrap="square" lIns="0" tIns="0" rIns="0" bIns="0" rtlCol="0" anchor="ctr"/>
          <a:lstStyle/>
          <a:p>
            <a:pPr marL="0" indent="0" algn="ctr">
              <a:buNone/>
            </a:pPr>
            <a:r>
              <a:rPr lang="en-US" sz="1200" b="1">
                <a:solidFill>
                  <a:srgbClr val="FFFFFF"/>
                </a:solidFill>
                <a:latin typeface="IBM Plex Sans" panose="020B0503050203000203" pitchFamily="34" charset="0"/>
                <a:ea typeface="Arial" pitchFamily="34" charset="-122"/>
                <a:cs typeface="Arial" pitchFamily="34" charset="-120"/>
              </a:rPr>
              <a:t>Content</a:t>
            </a:r>
            <a:endParaRPr lang="en-US" sz="1200">
              <a:latin typeface="IBM Plex Sans" panose="020B0503050203000203" pitchFamily="34" charset="0"/>
            </a:endParaRPr>
          </a:p>
        </p:txBody>
      </p:sp>
      <p:sp>
        <p:nvSpPr>
          <p:cNvPr id="34" name="Shape 32">
            <a:extLst>
              <a:ext uri="{FF2B5EF4-FFF2-40B4-BE49-F238E27FC236}">
                <a16:creationId xmlns:a16="http://schemas.microsoft.com/office/drawing/2014/main" id="{41D86034-FB71-936F-C2F4-FDBA6D2FC0AD}"/>
              </a:ext>
            </a:extLst>
          </p:cNvPr>
          <p:cNvSpPr/>
          <p:nvPr/>
        </p:nvSpPr>
        <p:spPr>
          <a:xfrm>
            <a:off x="6161116" y="1595283"/>
            <a:ext cx="2788920" cy="4104011"/>
          </a:xfrm>
          <a:prstGeom prst="rect">
            <a:avLst/>
          </a:prstGeom>
          <a:solidFill>
            <a:srgbClr val="F4F4F4"/>
          </a:solidFill>
          <a:ln/>
        </p:spPr>
        <p:txBody>
          <a:bodyPr/>
          <a:lstStyle/>
          <a:p>
            <a:endParaRPr lang="en-US">
              <a:latin typeface="IBM Plex Sans" panose="020B0503050203000203" pitchFamily="34" charset="0"/>
            </a:endParaRPr>
          </a:p>
        </p:txBody>
      </p:sp>
      <p:sp>
        <p:nvSpPr>
          <p:cNvPr id="43" name="Shape 41">
            <a:extLst>
              <a:ext uri="{FF2B5EF4-FFF2-40B4-BE49-F238E27FC236}">
                <a16:creationId xmlns:a16="http://schemas.microsoft.com/office/drawing/2014/main" id="{7F706FD8-19EA-8E3A-3FAF-B232625E06B4}"/>
              </a:ext>
            </a:extLst>
          </p:cNvPr>
          <p:cNvSpPr/>
          <p:nvPr/>
        </p:nvSpPr>
        <p:spPr>
          <a:xfrm>
            <a:off x="6161116" y="5161864"/>
            <a:ext cx="2788920" cy="537430"/>
          </a:xfrm>
          <a:prstGeom prst="rect">
            <a:avLst/>
          </a:prstGeom>
          <a:solidFill>
            <a:srgbClr val="D02670"/>
          </a:solidFill>
          <a:ln/>
        </p:spPr>
        <p:txBody>
          <a:bodyPr/>
          <a:lstStyle/>
          <a:p>
            <a:endParaRPr lang="en-US" sz="2800">
              <a:latin typeface="IBM Plex Sans" panose="020B0503050203000203" pitchFamily="34" charset="0"/>
            </a:endParaRPr>
          </a:p>
        </p:txBody>
      </p:sp>
      <p:sp>
        <p:nvSpPr>
          <p:cNvPr id="44" name="Text 42">
            <a:extLst>
              <a:ext uri="{FF2B5EF4-FFF2-40B4-BE49-F238E27FC236}">
                <a16:creationId xmlns:a16="http://schemas.microsoft.com/office/drawing/2014/main" id="{77695E86-8289-AFD4-3316-B64B1319EAB1}"/>
              </a:ext>
            </a:extLst>
          </p:cNvPr>
          <p:cNvSpPr/>
          <p:nvPr/>
        </p:nvSpPr>
        <p:spPr>
          <a:xfrm>
            <a:off x="6270844" y="5323093"/>
            <a:ext cx="2569464" cy="214972"/>
          </a:xfrm>
          <a:prstGeom prst="rect">
            <a:avLst/>
          </a:prstGeom>
          <a:noFill/>
          <a:ln/>
        </p:spPr>
        <p:txBody>
          <a:bodyPr wrap="square" lIns="0" tIns="0" rIns="0" bIns="0" rtlCol="0" anchor="ctr"/>
          <a:lstStyle/>
          <a:p>
            <a:pPr marL="0" indent="0">
              <a:buNone/>
            </a:pPr>
            <a:r>
              <a:rPr lang="en-US" sz="1200" b="1">
                <a:solidFill>
                  <a:srgbClr val="FFFFFF"/>
                </a:solidFill>
                <a:latin typeface="IBM Plex Sans" panose="020B0503050203000203" pitchFamily="34" charset="0"/>
                <a:ea typeface="Arial" pitchFamily="34" charset="-122"/>
                <a:cs typeface="Arial" pitchFamily="34" charset="-120"/>
              </a:rPr>
              <a:t>8 initiatives</a:t>
            </a:r>
            <a:endParaRPr lang="en-US" sz="1200">
              <a:latin typeface="IBM Plex Sans" panose="020B0503050203000203" pitchFamily="34" charset="0"/>
            </a:endParaRPr>
          </a:p>
        </p:txBody>
      </p:sp>
      <p:sp>
        <p:nvSpPr>
          <p:cNvPr id="46" name="Shape 44">
            <a:extLst>
              <a:ext uri="{FF2B5EF4-FFF2-40B4-BE49-F238E27FC236}">
                <a16:creationId xmlns:a16="http://schemas.microsoft.com/office/drawing/2014/main" id="{3CB7E4AB-385A-1BEB-5748-544137183E9F}"/>
              </a:ext>
            </a:extLst>
          </p:cNvPr>
          <p:cNvSpPr/>
          <p:nvPr/>
        </p:nvSpPr>
        <p:spPr>
          <a:xfrm>
            <a:off x="9041476" y="1106710"/>
            <a:ext cx="2788920" cy="488573"/>
          </a:xfrm>
          <a:prstGeom prst="rect">
            <a:avLst/>
          </a:prstGeom>
          <a:solidFill>
            <a:srgbClr val="005D5D"/>
          </a:solidFill>
          <a:ln/>
        </p:spPr>
        <p:txBody>
          <a:bodyPr/>
          <a:lstStyle/>
          <a:p>
            <a:endParaRPr lang="en-US">
              <a:latin typeface="IBM Plex Sans" panose="020B0503050203000203" pitchFamily="34" charset="0"/>
            </a:endParaRPr>
          </a:p>
        </p:txBody>
      </p:sp>
      <p:sp>
        <p:nvSpPr>
          <p:cNvPr id="47" name="Text 45">
            <a:extLst>
              <a:ext uri="{FF2B5EF4-FFF2-40B4-BE49-F238E27FC236}">
                <a16:creationId xmlns:a16="http://schemas.microsoft.com/office/drawing/2014/main" id="{08B60058-DEAB-370F-FFA0-558180B5858C}"/>
              </a:ext>
            </a:extLst>
          </p:cNvPr>
          <p:cNvSpPr/>
          <p:nvPr/>
        </p:nvSpPr>
        <p:spPr>
          <a:xfrm>
            <a:off x="9041476" y="1106710"/>
            <a:ext cx="2788920" cy="488573"/>
          </a:xfrm>
          <a:prstGeom prst="rect">
            <a:avLst/>
          </a:prstGeom>
          <a:noFill/>
          <a:ln/>
        </p:spPr>
        <p:txBody>
          <a:bodyPr wrap="square" lIns="0" tIns="0" rIns="0" bIns="0" rtlCol="0" anchor="ctr"/>
          <a:lstStyle/>
          <a:p>
            <a:pPr marL="0" indent="0" algn="ctr">
              <a:buNone/>
            </a:pPr>
            <a:r>
              <a:rPr lang="en-US" sz="1200" b="1">
                <a:solidFill>
                  <a:srgbClr val="FFFFFF"/>
                </a:solidFill>
                <a:latin typeface="IBM Plex Sans" panose="020B0503050203000203" pitchFamily="34" charset="0"/>
                <a:ea typeface="Arial" pitchFamily="34" charset="-122"/>
                <a:cs typeface="Arial" pitchFamily="34" charset="-120"/>
              </a:rPr>
              <a:t>Activation</a:t>
            </a:r>
            <a:endParaRPr lang="en-US" sz="1200">
              <a:latin typeface="IBM Plex Sans" panose="020B0503050203000203" pitchFamily="34" charset="0"/>
            </a:endParaRPr>
          </a:p>
        </p:txBody>
      </p:sp>
      <p:sp>
        <p:nvSpPr>
          <p:cNvPr id="48" name="Shape 46">
            <a:extLst>
              <a:ext uri="{FF2B5EF4-FFF2-40B4-BE49-F238E27FC236}">
                <a16:creationId xmlns:a16="http://schemas.microsoft.com/office/drawing/2014/main" id="{FC2A6399-0F03-B3AD-C10B-C68D444C1FCB}"/>
              </a:ext>
            </a:extLst>
          </p:cNvPr>
          <p:cNvSpPr/>
          <p:nvPr/>
        </p:nvSpPr>
        <p:spPr>
          <a:xfrm>
            <a:off x="9041476" y="1595283"/>
            <a:ext cx="2788920" cy="4104011"/>
          </a:xfrm>
          <a:prstGeom prst="rect">
            <a:avLst/>
          </a:prstGeom>
          <a:solidFill>
            <a:srgbClr val="F4F4F4"/>
          </a:solidFill>
          <a:ln/>
        </p:spPr>
        <p:txBody>
          <a:bodyPr/>
          <a:lstStyle/>
          <a:p>
            <a:endParaRPr lang="en-US">
              <a:latin typeface="IBM Plex Sans" panose="020B0503050203000203" pitchFamily="34" charset="0"/>
            </a:endParaRPr>
          </a:p>
        </p:txBody>
      </p:sp>
      <p:grpSp>
        <p:nvGrpSpPr>
          <p:cNvPr id="122" name="Group 121">
            <a:extLst>
              <a:ext uri="{FF2B5EF4-FFF2-40B4-BE49-F238E27FC236}">
                <a16:creationId xmlns:a16="http://schemas.microsoft.com/office/drawing/2014/main" id="{9CCB762A-C568-6AF6-C170-826EB9FA289C}"/>
              </a:ext>
            </a:extLst>
          </p:cNvPr>
          <p:cNvGrpSpPr/>
          <p:nvPr/>
        </p:nvGrpSpPr>
        <p:grpSpPr>
          <a:xfrm>
            <a:off x="510124" y="1692998"/>
            <a:ext cx="11210544" cy="3355771"/>
            <a:chOff x="510124" y="1536115"/>
            <a:chExt cx="11210544" cy="3126866"/>
          </a:xfrm>
        </p:grpSpPr>
        <p:sp>
          <p:nvSpPr>
            <p:cNvPr id="7" name="Text 5">
              <a:extLst>
                <a:ext uri="{FF2B5EF4-FFF2-40B4-BE49-F238E27FC236}">
                  <a16:creationId xmlns:a16="http://schemas.microsoft.com/office/drawing/2014/main" id="{4BF0DCFB-B75B-4773-FADC-BF74B9C3D459}"/>
                </a:ext>
              </a:extLst>
            </p:cNvPr>
            <p:cNvSpPr/>
            <p:nvPr/>
          </p:nvSpPr>
          <p:spPr>
            <a:xfrm>
              <a:off x="510124" y="1536115"/>
              <a:ext cx="2569464" cy="175886"/>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WHAT IT IS</a:t>
              </a:r>
              <a:endParaRPr lang="en-US" sz="800">
                <a:latin typeface="IBM Plex Sans" panose="020B0503050203000203" pitchFamily="34" charset="0"/>
              </a:endParaRPr>
            </a:p>
          </p:txBody>
        </p:sp>
        <p:sp>
          <p:nvSpPr>
            <p:cNvPr id="8" name="Text 6">
              <a:extLst>
                <a:ext uri="{FF2B5EF4-FFF2-40B4-BE49-F238E27FC236}">
                  <a16:creationId xmlns:a16="http://schemas.microsoft.com/office/drawing/2014/main" id="{BBB8E528-B81A-14F7-2F2A-A34B9C63991F}"/>
                </a:ext>
              </a:extLst>
            </p:cNvPr>
            <p:cNvSpPr/>
            <p:nvPr/>
          </p:nvSpPr>
          <p:spPr>
            <a:xfrm>
              <a:off x="510124" y="1712002"/>
              <a:ext cx="2569464" cy="537430"/>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Unified data layers that feed every agent, every workflow, every domain. Built once, used everywhere.</a:t>
              </a:r>
              <a:endParaRPr lang="en-US" sz="1000">
                <a:latin typeface="IBM Plex Sans" panose="020B0503050203000203" pitchFamily="34" charset="0"/>
              </a:endParaRPr>
            </a:p>
          </p:txBody>
        </p:sp>
        <p:sp>
          <p:nvSpPr>
            <p:cNvPr id="9" name="Shape 7">
              <a:extLst>
                <a:ext uri="{FF2B5EF4-FFF2-40B4-BE49-F238E27FC236}">
                  <a16:creationId xmlns:a16="http://schemas.microsoft.com/office/drawing/2014/main" id="{F8AC5821-B729-81A7-1883-289272A1B14C}"/>
                </a:ext>
              </a:extLst>
            </p:cNvPr>
            <p:cNvSpPr/>
            <p:nvPr/>
          </p:nvSpPr>
          <p:spPr>
            <a:xfrm>
              <a:off x="510124" y="2298289"/>
              <a:ext cx="2569464" cy="14657"/>
            </a:xfrm>
            <a:prstGeom prst="rect">
              <a:avLst/>
            </a:prstGeom>
            <a:solidFill>
              <a:srgbClr val="4589FF"/>
            </a:solidFill>
            <a:ln/>
          </p:spPr>
          <p:txBody>
            <a:bodyPr/>
            <a:lstStyle/>
            <a:p>
              <a:endParaRPr lang="en-US" sz="2000">
                <a:latin typeface="IBM Plex Sans" panose="020B0503050203000203" pitchFamily="34" charset="0"/>
              </a:endParaRPr>
            </a:p>
          </p:txBody>
        </p:sp>
        <p:sp>
          <p:nvSpPr>
            <p:cNvPr id="10" name="Text 8">
              <a:extLst>
                <a:ext uri="{FF2B5EF4-FFF2-40B4-BE49-F238E27FC236}">
                  <a16:creationId xmlns:a16="http://schemas.microsoft.com/office/drawing/2014/main" id="{41D16781-0359-EDC5-02D9-6CDBD339E43E}"/>
                </a:ext>
              </a:extLst>
            </p:cNvPr>
            <p:cNvSpPr/>
            <p:nvPr/>
          </p:nvSpPr>
          <p:spPr>
            <a:xfrm>
              <a:off x="510124" y="2366689"/>
              <a:ext cx="2569464" cy="175886"/>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ea typeface="Arial" pitchFamily="34" charset="-122"/>
                  <a:cs typeface="Arial" pitchFamily="34" charset="-120"/>
                </a:rPr>
                <a:t>WHY IT MATTERS</a:t>
              </a:r>
              <a:endParaRPr lang="en-US" sz="800">
                <a:latin typeface="IBM Plex Sans" panose="020B0503050203000203" pitchFamily="34" charset="0"/>
              </a:endParaRPr>
            </a:p>
          </p:txBody>
        </p:sp>
        <p:sp>
          <p:nvSpPr>
            <p:cNvPr id="11" name="Text 9">
              <a:extLst>
                <a:ext uri="{FF2B5EF4-FFF2-40B4-BE49-F238E27FC236}">
                  <a16:creationId xmlns:a16="http://schemas.microsoft.com/office/drawing/2014/main" id="{19C44E51-AEFF-81C2-8DFD-116DC2B57159}"/>
                </a:ext>
              </a:extLst>
            </p:cNvPr>
            <p:cNvSpPr/>
            <p:nvPr/>
          </p:nvSpPr>
          <p:spPr>
            <a:xfrm>
              <a:off x="510124" y="2542575"/>
              <a:ext cx="2569464" cy="1123717"/>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Every downstream initiative depends on clean, structured, accessible data. Without a unified taxonomy, reliable spend data, and accurate buying group contacts, AI agents have nothing to work with. These are the non-negotiable building blocks.</a:t>
              </a:r>
              <a:endParaRPr lang="en-US" sz="1000">
                <a:latin typeface="IBM Plex Sans" panose="020B0503050203000203" pitchFamily="34" charset="0"/>
              </a:endParaRPr>
            </a:p>
          </p:txBody>
        </p:sp>
        <p:sp>
          <p:nvSpPr>
            <p:cNvPr id="12" name="Shape 10">
              <a:extLst>
                <a:ext uri="{FF2B5EF4-FFF2-40B4-BE49-F238E27FC236}">
                  <a16:creationId xmlns:a16="http://schemas.microsoft.com/office/drawing/2014/main" id="{E6CA4E78-F35E-E6AB-AB34-4176CBAEB759}"/>
                </a:ext>
              </a:extLst>
            </p:cNvPr>
            <p:cNvSpPr/>
            <p:nvPr/>
          </p:nvSpPr>
          <p:spPr>
            <a:xfrm>
              <a:off x="510124" y="3734693"/>
              <a:ext cx="2569464" cy="14657"/>
            </a:xfrm>
            <a:prstGeom prst="rect">
              <a:avLst/>
            </a:prstGeom>
            <a:solidFill>
              <a:srgbClr val="4589FF"/>
            </a:solidFill>
            <a:ln/>
          </p:spPr>
          <p:txBody>
            <a:bodyPr/>
            <a:lstStyle/>
            <a:p>
              <a:endParaRPr lang="en-US" sz="2000">
                <a:latin typeface="IBM Plex Sans" panose="020B0503050203000203" pitchFamily="34" charset="0"/>
              </a:endParaRPr>
            </a:p>
          </p:txBody>
        </p:sp>
        <p:sp>
          <p:nvSpPr>
            <p:cNvPr id="13" name="Text 11">
              <a:extLst>
                <a:ext uri="{FF2B5EF4-FFF2-40B4-BE49-F238E27FC236}">
                  <a16:creationId xmlns:a16="http://schemas.microsoft.com/office/drawing/2014/main" id="{49942277-E304-6CCB-44EF-018AC0E540CE}"/>
                </a:ext>
              </a:extLst>
            </p:cNvPr>
            <p:cNvSpPr/>
            <p:nvPr/>
          </p:nvSpPr>
          <p:spPr>
            <a:xfrm>
              <a:off x="510124" y="3803093"/>
              <a:ext cx="2569464" cy="175886"/>
            </a:xfrm>
            <a:prstGeom prst="rect">
              <a:avLst/>
            </a:prstGeom>
            <a:noFill/>
            <a:ln/>
          </p:spPr>
          <p:txBody>
            <a:bodyPr wrap="square" lIns="0" tIns="0" rIns="0" bIns="0" rtlCol="0" anchor="ctr"/>
            <a:lstStyle/>
            <a:p>
              <a:pPr marL="0" indent="0">
                <a:buNone/>
              </a:pPr>
              <a:r>
                <a:rPr lang="en-US" sz="800" b="1">
                  <a:solidFill>
                    <a:srgbClr val="4589FF"/>
                  </a:solidFill>
                  <a:latin typeface="IBM Plex Sans" panose="020B0503050203000203" pitchFamily="34" charset="0"/>
                  <a:cs typeface="Arial" pitchFamily="34" charset="-120"/>
                </a:rPr>
                <a:t>WHO IT IMPACTS</a:t>
              </a:r>
              <a:endParaRPr lang="en-US" sz="800">
                <a:latin typeface="IBM Plex Sans" panose="020B0503050203000203" pitchFamily="34" charset="0"/>
              </a:endParaRPr>
            </a:p>
          </p:txBody>
        </p:sp>
        <p:sp>
          <p:nvSpPr>
            <p:cNvPr id="14" name="Text 12">
              <a:extLst>
                <a:ext uri="{FF2B5EF4-FFF2-40B4-BE49-F238E27FC236}">
                  <a16:creationId xmlns:a16="http://schemas.microsoft.com/office/drawing/2014/main" id="{BC55851B-A5BE-F703-7B0A-59B305C73997}"/>
                </a:ext>
              </a:extLst>
            </p:cNvPr>
            <p:cNvSpPr/>
            <p:nvPr/>
          </p:nvSpPr>
          <p:spPr>
            <a:xfrm>
              <a:off x="510124" y="3978979"/>
              <a:ext cx="2569464" cy="684002"/>
            </a:xfrm>
            <a:prstGeom prst="rect">
              <a:avLst/>
            </a:prstGeom>
            <a:noFill/>
            <a:ln/>
          </p:spPr>
          <p:txBody>
            <a:bodyPr wrap="square" lIns="0" tIns="0" rIns="0" bIns="0" rtlCol="0" anchor="ctr"/>
            <a:lstStyle/>
            <a:p>
              <a:pPr marL="0" indent="0">
                <a:buNone/>
              </a:pPr>
              <a:r>
                <a:rPr lang="en-US" sz="1050" i="1">
                  <a:solidFill>
                    <a:srgbClr val="001D6C"/>
                  </a:solidFill>
                  <a:latin typeface="IBM Plex Sans" panose="020B0503050203000203" pitchFamily="34" charset="0"/>
                  <a:ea typeface="Arial" pitchFamily="34" charset="-122"/>
                  <a:cs typeface="Arial" pitchFamily="34" charset="-120"/>
                </a:rPr>
                <a:t>Select, Named, PMM, T&amp;O, MMAPI, Events, and CSR</a:t>
              </a:r>
              <a:endParaRPr lang="en-US" sz="1050">
                <a:latin typeface="IBM Plex Sans" panose="020B0503050203000203" pitchFamily="34" charset="0"/>
              </a:endParaRPr>
            </a:p>
          </p:txBody>
        </p:sp>
        <p:sp>
          <p:nvSpPr>
            <p:cNvPr id="21" name="Text 19">
              <a:extLst>
                <a:ext uri="{FF2B5EF4-FFF2-40B4-BE49-F238E27FC236}">
                  <a16:creationId xmlns:a16="http://schemas.microsoft.com/office/drawing/2014/main" id="{00104162-C748-213C-6138-B12F77A48877}"/>
                </a:ext>
              </a:extLst>
            </p:cNvPr>
            <p:cNvSpPr/>
            <p:nvPr/>
          </p:nvSpPr>
          <p:spPr>
            <a:xfrm>
              <a:off x="3390484" y="1536115"/>
              <a:ext cx="2569464" cy="175886"/>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WHAT IT IS</a:t>
              </a:r>
              <a:endParaRPr lang="en-US" sz="800">
                <a:latin typeface="IBM Plex Sans" panose="020B0503050203000203" pitchFamily="34" charset="0"/>
              </a:endParaRPr>
            </a:p>
          </p:txBody>
        </p:sp>
        <p:sp>
          <p:nvSpPr>
            <p:cNvPr id="22" name="Text 20">
              <a:extLst>
                <a:ext uri="{FF2B5EF4-FFF2-40B4-BE49-F238E27FC236}">
                  <a16:creationId xmlns:a16="http://schemas.microsoft.com/office/drawing/2014/main" id="{52836000-FE08-AED4-7B48-60EB5650EEF4}"/>
                </a:ext>
              </a:extLst>
            </p:cNvPr>
            <p:cNvSpPr/>
            <p:nvPr/>
          </p:nvSpPr>
          <p:spPr>
            <a:xfrm>
              <a:off x="3390484" y="1712002"/>
              <a:ext cx="2569464" cy="537430"/>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Collecting, enriching, and synthesizing intelligence to know who to reach, what they need, and where the gaps are.</a:t>
              </a:r>
              <a:endParaRPr lang="en-US" sz="1000">
                <a:latin typeface="IBM Plex Sans" panose="020B0503050203000203" pitchFamily="34" charset="0"/>
              </a:endParaRPr>
            </a:p>
          </p:txBody>
        </p:sp>
        <p:sp>
          <p:nvSpPr>
            <p:cNvPr id="23" name="Shape 21">
              <a:extLst>
                <a:ext uri="{FF2B5EF4-FFF2-40B4-BE49-F238E27FC236}">
                  <a16:creationId xmlns:a16="http://schemas.microsoft.com/office/drawing/2014/main" id="{BB81EE0C-EA1A-5D90-024B-31BBA85159DC}"/>
                </a:ext>
              </a:extLst>
            </p:cNvPr>
            <p:cNvSpPr/>
            <p:nvPr/>
          </p:nvSpPr>
          <p:spPr>
            <a:xfrm>
              <a:off x="3390484" y="2298289"/>
              <a:ext cx="2569464" cy="14657"/>
            </a:xfrm>
            <a:prstGeom prst="rect">
              <a:avLst/>
            </a:prstGeom>
            <a:solidFill>
              <a:srgbClr val="8A3FFC"/>
            </a:solidFill>
            <a:ln/>
          </p:spPr>
          <p:txBody>
            <a:bodyPr/>
            <a:lstStyle/>
            <a:p>
              <a:endParaRPr lang="en-US" sz="2000">
                <a:latin typeface="IBM Plex Sans" panose="020B0503050203000203" pitchFamily="34" charset="0"/>
              </a:endParaRPr>
            </a:p>
          </p:txBody>
        </p:sp>
        <p:sp>
          <p:nvSpPr>
            <p:cNvPr id="24" name="Text 22">
              <a:extLst>
                <a:ext uri="{FF2B5EF4-FFF2-40B4-BE49-F238E27FC236}">
                  <a16:creationId xmlns:a16="http://schemas.microsoft.com/office/drawing/2014/main" id="{0F281F90-B732-2A82-CC2B-1DF001633252}"/>
                </a:ext>
              </a:extLst>
            </p:cNvPr>
            <p:cNvSpPr/>
            <p:nvPr/>
          </p:nvSpPr>
          <p:spPr>
            <a:xfrm>
              <a:off x="3390484" y="2366689"/>
              <a:ext cx="2569464" cy="175886"/>
            </a:xfrm>
            <a:prstGeom prst="rect">
              <a:avLst/>
            </a:prstGeom>
            <a:noFill/>
            <a:ln/>
          </p:spPr>
          <p:txBody>
            <a:bodyPr wrap="square" lIns="0" tIns="0" rIns="0" bIns="0" rtlCol="0" anchor="ctr"/>
            <a:lstStyle/>
            <a:p>
              <a:pPr marL="0" indent="0">
                <a:buNone/>
              </a:pPr>
              <a:r>
                <a:rPr lang="en-US" sz="800" b="1">
                  <a:solidFill>
                    <a:srgbClr val="8A3FFC"/>
                  </a:solidFill>
                  <a:latin typeface="IBM Plex Sans" panose="020B0503050203000203" pitchFamily="34" charset="0"/>
                  <a:ea typeface="Arial" pitchFamily="34" charset="-122"/>
                  <a:cs typeface="Arial" pitchFamily="34" charset="-120"/>
                </a:rPr>
                <a:t>WHY IT MATTERS</a:t>
              </a:r>
              <a:endParaRPr lang="en-US" sz="800">
                <a:latin typeface="IBM Plex Sans" panose="020B0503050203000203" pitchFamily="34" charset="0"/>
              </a:endParaRPr>
            </a:p>
          </p:txBody>
        </p:sp>
        <p:sp>
          <p:nvSpPr>
            <p:cNvPr id="25" name="Text 23">
              <a:extLst>
                <a:ext uri="{FF2B5EF4-FFF2-40B4-BE49-F238E27FC236}">
                  <a16:creationId xmlns:a16="http://schemas.microsoft.com/office/drawing/2014/main" id="{F39AC86D-2CB1-941C-94CA-7A32DA85EE83}"/>
                </a:ext>
              </a:extLst>
            </p:cNvPr>
            <p:cNvSpPr/>
            <p:nvPr/>
          </p:nvSpPr>
          <p:spPr>
            <a:xfrm>
              <a:off x="3390484" y="2542575"/>
              <a:ext cx="2569464" cy="1123717"/>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MCC teams spend enormous time manually pulling data, explaining anomalies, and building reports for stakeholders. Every domain cited this as a top time sink. AI can eliminate analyst bottlenecks and put intelligence directly in the hands of decision-makers.</a:t>
              </a:r>
              <a:endParaRPr lang="en-US" sz="1000">
                <a:latin typeface="IBM Plex Sans" panose="020B0503050203000203" pitchFamily="34" charset="0"/>
              </a:endParaRPr>
            </a:p>
          </p:txBody>
        </p:sp>
        <p:sp>
          <p:nvSpPr>
            <p:cNvPr id="26" name="Shape 24">
              <a:extLst>
                <a:ext uri="{FF2B5EF4-FFF2-40B4-BE49-F238E27FC236}">
                  <a16:creationId xmlns:a16="http://schemas.microsoft.com/office/drawing/2014/main" id="{8AE1A7EF-D654-8627-4A87-BD4951012BDA}"/>
                </a:ext>
              </a:extLst>
            </p:cNvPr>
            <p:cNvSpPr/>
            <p:nvPr/>
          </p:nvSpPr>
          <p:spPr>
            <a:xfrm>
              <a:off x="3390484" y="3734693"/>
              <a:ext cx="2569464" cy="14657"/>
            </a:xfrm>
            <a:prstGeom prst="rect">
              <a:avLst/>
            </a:prstGeom>
            <a:solidFill>
              <a:srgbClr val="8A3FFC"/>
            </a:solidFill>
            <a:ln/>
          </p:spPr>
          <p:txBody>
            <a:bodyPr/>
            <a:lstStyle/>
            <a:p>
              <a:endParaRPr lang="en-US" sz="2000">
                <a:latin typeface="IBM Plex Sans" panose="020B0503050203000203" pitchFamily="34" charset="0"/>
              </a:endParaRPr>
            </a:p>
          </p:txBody>
        </p:sp>
        <p:sp>
          <p:nvSpPr>
            <p:cNvPr id="27" name="Text 25">
              <a:extLst>
                <a:ext uri="{FF2B5EF4-FFF2-40B4-BE49-F238E27FC236}">
                  <a16:creationId xmlns:a16="http://schemas.microsoft.com/office/drawing/2014/main" id="{33792E56-EEA2-9B12-06D6-EC29EC749C6F}"/>
                </a:ext>
              </a:extLst>
            </p:cNvPr>
            <p:cNvSpPr/>
            <p:nvPr/>
          </p:nvSpPr>
          <p:spPr>
            <a:xfrm>
              <a:off x="3390484" y="3803093"/>
              <a:ext cx="2569464" cy="175886"/>
            </a:xfrm>
            <a:prstGeom prst="rect">
              <a:avLst/>
            </a:prstGeom>
            <a:noFill/>
            <a:ln/>
          </p:spPr>
          <p:txBody>
            <a:bodyPr wrap="square" lIns="0" tIns="0" rIns="0" bIns="0" rtlCol="0" anchor="ctr"/>
            <a:lstStyle/>
            <a:p>
              <a:r>
                <a:rPr lang="en-US" sz="800" b="1">
                  <a:solidFill>
                    <a:srgbClr val="4589FF"/>
                  </a:solidFill>
                  <a:latin typeface="IBM Plex Sans" panose="020B0503050203000203" pitchFamily="34" charset="0"/>
                  <a:cs typeface="Arial" pitchFamily="34" charset="-120"/>
                </a:rPr>
                <a:t>WHO IT IMPACTS</a:t>
              </a:r>
              <a:endParaRPr lang="en-US" sz="800">
                <a:latin typeface="IBM Plex Sans" panose="020B0503050203000203" pitchFamily="34" charset="0"/>
              </a:endParaRPr>
            </a:p>
          </p:txBody>
        </p:sp>
        <p:sp>
          <p:nvSpPr>
            <p:cNvPr id="28" name="Text 26">
              <a:extLst>
                <a:ext uri="{FF2B5EF4-FFF2-40B4-BE49-F238E27FC236}">
                  <a16:creationId xmlns:a16="http://schemas.microsoft.com/office/drawing/2014/main" id="{71465685-F7A3-EDA0-E25C-37B3DB4A4AA8}"/>
                </a:ext>
              </a:extLst>
            </p:cNvPr>
            <p:cNvSpPr/>
            <p:nvPr/>
          </p:nvSpPr>
          <p:spPr>
            <a:xfrm>
              <a:off x="3390484" y="3978979"/>
              <a:ext cx="2569464" cy="684002"/>
            </a:xfrm>
            <a:prstGeom prst="rect">
              <a:avLst/>
            </a:prstGeom>
            <a:noFill/>
            <a:ln/>
          </p:spPr>
          <p:txBody>
            <a:bodyPr wrap="square" lIns="0" tIns="0" rIns="0" bIns="0" rtlCol="0" anchor="ctr"/>
            <a:lstStyle/>
            <a:p>
              <a:pPr marL="0" indent="0">
                <a:buNone/>
              </a:pPr>
              <a:r>
                <a:rPr lang="en-US" sz="1050" i="1">
                  <a:solidFill>
                    <a:srgbClr val="001D6C"/>
                  </a:solidFill>
                  <a:latin typeface="IBM Plex Sans" panose="020B0503050203000203" pitchFamily="34" charset="0"/>
                  <a:ea typeface="Arial" pitchFamily="34" charset="-122"/>
                  <a:cs typeface="Arial" pitchFamily="34" charset="-120"/>
                </a:rPr>
                <a:t>Named, Select, PMM, MMAPI, and T&amp;O. Includes partner and ecosystem signal intelligence for Select.</a:t>
              </a:r>
              <a:endParaRPr lang="en-US" sz="1050">
                <a:latin typeface="IBM Plex Sans" panose="020B0503050203000203" pitchFamily="34" charset="0"/>
              </a:endParaRPr>
            </a:p>
          </p:txBody>
        </p:sp>
        <p:sp>
          <p:nvSpPr>
            <p:cNvPr id="35" name="Text 33">
              <a:extLst>
                <a:ext uri="{FF2B5EF4-FFF2-40B4-BE49-F238E27FC236}">
                  <a16:creationId xmlns:a16="http://schemas.microsoft.com/office/drawing/2014/main" id="{B4C86B6A-0B66-3AF2-2EA7-7A1FC2AACA52}"/>
                </a:ext>
              </a:extLst>
            </p:cNvPr>
            <p:cNvSpPr/>
            <p:nvPr/>
          </p:nvSpPr>
          <p:spPr>
            <a:xfrm>
              <a:off x="6270844" y="1536115"/>
              <a:ext cx="2569464" cy="175886"/>
            </a:xfrm>
            <a:prstGeom prst="rect">
              <a:avLst/>
            </a:prstGeom>
            <a:noFill/>
            <a:ln/>
          </p:spPr>
          <p:txBody>
            <a:bodyPr wrap="square" lIns="0" tIns="0" rIns="0" bIns="0" rtlCol="0" anchor="ctr"/>
            <a:lstStyle/>
            <a:p>
              <a:pPr marL="0" indent="0">
                <a:buNone/>
              </a:pPr>
              <a:r>
                <a:rPr lang="en-US" sz="800" b="1">
                  <a:solidFill>
                    <a:srgbClr val="D02670"/>
                  </a:solidFill>
                  <a:latin typeface="IBM Plex Sans" panose="020B0503050203000203" pitchFamily="34" charset="0"/>
                  <a:ea typeface="Arial" pitchFamily="34" charset="-122"/>
                  <a:cs typeface="Arial" pitchFamily="34" charset="-120"/>
                </a:rPr>
                <a:t>WHAT IT IS</a:t>
              </a:r>
              <a:endParaRPr lang="en-US" sz="800">
                <a:solidFill>
                  <a:srgbClr val="D02670"/>
                </a:solidFill>
                <a:latin typeface="IBM Plex Sans" panose="020B0503050203000203" pitchFamily="34" charset="0"/>
              </a:endParaRPr>
            </a:p>
          </p:txBody>
        </p:sp>
        <p:sp>
          <p:nvSpPr>
            <p:cNvPr id="36" name="Text 34">
              <a:extLst>
                <a:ext uri="{FF2B5EF4-FFF2-40B4-BE49-F238E27FC236}">
                  <a16:creationId xmlns:a16="http://schemas.microsoft.com/office/drawing/2014/main" id="{9C2228A3-D300-5B31-3688-CE84A5A87D6B}"/>
                </a:ext>
              </a:extLst>
            </p:cNvPr>
            <p:cNvSpPr/>
            <p:nvPr/>
          </p:nvSpPr>
          <p:spPr>
            <a:xfrm>
              <a:off x="6270844" y="1712002"/>
              <a:ext cx="2569464" cy="537430"/>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Generating, localizing, and governing text, media, and creative assets at scale across every channel and domain.</a:t>
              </a:r>
              <a:endParaRPr lang="en-US" sz="1000">
                <a:latin typeface="IBM Plex Sans" panose="020B0503050203000203" pitchFamily="34" charset="0"/>
              </a:endParaRPr>
            </a:p>
          </p:txBody>
        </p:sp>
        <p:sp>
          <p:nvSpPr>
            <p:cNvPr id="37" name="Shape 35">
              <a:extLst>
                <a:ext uri="{FF2B5EF4-FFF2-40B4-BE49-F238E27FC236}">
                  <a16:creationId xmlns:a16="http://schemas.microsoft.com/office/drawing/2014/main" id="{D5CB8D8D-3DD6-29CC-4A97-E1815C01B23F}"/>
                </a:ext>
              </a:extLst>
            </p:cNvPr>
            <p:cNvSpPr/>
            <p:nvPr/>
          </p:nvSpPr>
          <p:spPr>
            <a:xfrm>
              <a:off x="6270844" y="2298289"/>
              <a:ext cx="2569464" cy="14657"/>
            </a:xfrm>
            <a:prstGeom prst="rect">
              <a:avLst/>
            </a:prstGeom>
            <a:solidFill>
              <a:srgbClr val="0043CE"/>
            </a:solidFill>
            <a:ln/>
          </p:spPr>
          <p:txBody>
            <a:bodyPr/>
            <a:lstStyle/>
            <a:p>
              <a:endParaRPr lang="en-US" sz="2000">
                <a:latin typeface="IBM Plex Sans" panose="020B0503050203000203" pitchFamily="34" charset="0"/>
              </a:endParaRPr>
            </a:p>
          </p:txBody>
        </p:sp>
        <p:sp>
          <p:nvSpPr>
            <p:cNvPr id="38" name="Text 36">
              <a:extLst>
                <a:ext uri="{FF2B5EF4-FFF2-40B4-BE49-F238E27FC236}">
                  <a16:creationId xmlns:a16="http://schemas.microsoft.com/office/drawing/2014/main" id="{91D37E72-4C07-CD9B-361F-D810BAE3AC79}"/>
                </a:ext>
              </a:extLst>
            </p:cNvPr>
            <p:cNvSpPr/>
            <p:nvPr/>
          </p:nvSpPr>
          <p:spPr>
            <a:xfrm>
              <a:off x="6270844" y="2366689"/>
              <a:ext cx="2569464" cy="175886"/>
            </a:xfrm>
            <a:prstGeom prst="rect">
              <a:avLst/>
            </a:prstGeom>
            <a:noFill/>
            <a:ln/>
          </p:spPr>
          <p:txBody>
            <a:bodyPr wrap="square" lIns="0" tIns="0" rIns="0" bIns="0" rtlCol="0" anchor="ctr"/>
            <a:lstStyle/>
            <a:p>
              <a:pPr marL="0" indent="0">
                <a:buNone/>
              </a:pPr>
              <a:r>
                <a:rPr lang="en-US" sz="800" b="1">
                  <a:solidFill>
                    <a:srgbClr val="0043CE"/>
                  </a:solidFill>
                  <a:latin typeface="IBM Plex Sans" panose="020B0503050203000203" pitchFamily="34" charset="0"/>
                  <a:ea typeface="Arial" pitchFamily="34" charset="-122"/>
                  <a:cs typeface="Arial" pitchFamily="34" charset="-120"/>
                </a:rPr>
                <a:t>WHY IT MATTERS</a:t>
              </a:r>
              <a:endParaRPr lang="en-US" sz="800">
                <a:latin typeface="IBM Plex Sans" panose="020B0503050203000203" pitchFamily="34" charset="0"/>
              </a:endParaRPr>
            </a:p>
          </p:txBody>
        </p:sp>
        <p:sp>
          <p:nvSpPr>
            <p:cNvPr id="39" name="Text 37">
              <a:extLst>
                <a:ext uri="{FF2B5EF4-FFF2-40B4-BE49-F238E27FC236}">
                  <a16:creationId xmlns:a16="http://schemas.microsoft.com/office/drawing/2014/main" id="{0DC98982-A528-4A21-A93C-FF0FEC790066}"/>
                </a:ext>
              </a:extLst>
            </p:cNvPr>
            <p:cNvSpPr/>
            <p:nvPr/>
          </p:nvSpPr>
          <p:spPr>
            <a:xfrm>
              <a:off x="6270844" y="2542575"/>
              <a:ext cx="2569464" cy="1123717"/>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Content creation, localization, and governance is the single largest time commitment across MCC. Every domain produces content. The same creation and QA patterns repeat across Named, Select, PMM, Brand, and Corp Comms. Build the engine once, apply it everywhere.</a:t>
              </a:r>
              <a:endParaRPr lang="en-US" sz="1000">
                <a:latin typeface="IBM Plex Sans" panose="020B0503050203000203" pitchFamily="34" charset="0"/>
              </a:endParaRPr>
            </a:p>
          </p:txBody>
        </p:sp>
        <p:sp>
          <p:nvSpPr>
            <p:cNvPr id="40" name="Shape 38">
              <a:extLst>
                <a:ext uri="{FF2B5EF4-FFF2-40B4-BE49-F238E27FC236}">
                  <a16:creationId xmlns:a16="http://schemas.microsoft.com/office/drawing/2014/main" id="{8A7D24BD-73C1-1DB3-83C8-7323D91A99D3}"/>
                </a:ext>
              </a:extLst>
            </p:cNvPr>
            <p:cNvSpPr/>
            <p:nvPr/>
          </p:nvSpPr>
          <p:spPr>
            <a:xfrm>
              <a:off x="6270844" y="3734693"/>
              <a:ext cx="2569464" cy="14657"/>
            </a:xfrm>
            <a:prstGeom prst="rect">
              <a:avLst/>
            </a:prstGeom>
            <a:solidFill>
              <a:srgbClr val="0043CE"/>
            </a:solidFill>
            <a:ln/>
          </p:spPr>
          <p:txBody>
            <a:bodyPr/>
            <a:lstStyle/>
            <a:p>
              <a:endParaRPr lang="en-US" sz="2000">
                <a:latin typeface="IBM Plex Sans" panose="020B0503050203000203" pitchFamily="34" charset="0"/>
              </a:endParaRPr>
            </a:p>
          </p:txBody>
        </p:sp>
        <p:sp>
          <p:nvSpPr>
            <p:cNvPr id="41" name="Text 39">
              <a:extLst>
                <a:ext uri="{FF2B5EF4-FFF2-40B4-BE49-F238E27FC236}">
                  <a16:creationId xmlns:a16="http://schemas.microsoft.com/office/drawing/2014/main" id="{8F86BF2A-8BC6-77CB-17A5-23B799CAB866}"/>
                </a:ext>
              </a:extLst>
            </p:cNvPr>
            <p:cNvSpPr/>
            <p:nvPr/>
          </p:nvSpPr>
          <p:spPr>
            <a:xfrm>
              <a:off x="6270844" y="3803093"/>
              <a:ext cx="2569464" cy="175886"/>
            </a:xfrm>
            <a:prstGeom prst="rect">
              <a:avLst/>
            </a:prstGeom>
            <a:noFill/>
            <a:ln/>
          </p:spPr>
          <p:txBody>
            <a:bodyPr wrap="square" lIns="0" tIns="0" rIns="0" bIns="0" rtlCol="0" anchor="ctr"/>
            <a:lstStyle/>
            <a:p>
              <a:r>
                <a:rPr lang="en-US" sz="800" b="1">
                  <a:solidFill>
                    <a:srgbClr val="4589FF"/>
                  </a:solidFill>
                  <a:latin typeface="IBM Plex Sans" panose="020B0503050203000203" pitchFamily="34" charset="0"/>
                  <a:cs typeface="Arial" pitchFamily="34" charset="-120"/>
                </a:rPr>
                <a:t>WHO IT IMPACTS</a:t>
              </a:r>
              <a:endParaRPr lang="en-US" sz="800">
                <a:latin typeface="IBM Plex Sans" panose="020B0503050203000203" pitchFamily="34" charset="0"/>
              </a:endParaRPr>
            </a:p>
          </p:txBody>
        </p:sp>
        <p:sp>
          <p:nvSpPr>
            <p:cNvPr id="42" name="Text 40">
              <a:extLst>
                <a:ext uri="{FF2B5EF4-FFF2-40B4-BE49-F238E27FC236}">
                  <a16:creationId xmlns:a16="http://schemas.microsoft.com/office/drawing/2014/main" id="{08FF1FCD-5776-626F-BCBE-5BCE7B6A3B33}"/>
                </a:ext>
              </a:extLst>
            </p:cNvPr>
            <p:cNvSpPr/>
            <p:nvPr/>
          </p:nvSpPr>
          <p:spPr>
            <a:xfrm>
              <a:off x="6270844" y="3978979"/>
              <a:ext cx="2569464" cy="684002"/>
            </a:xfrm>
            <a:prstGeom prst="rect">
              <a:avLst/>
            </a:prstGeom>
            <a:noFill/>
            <a:ln/>
          </p:spPr>
          <p:txBody>
            <a:bodyPr wrap="square" lIns="0" tIns="0" rIns="0" bIns="0" rtlCol="0" anchor="ctr"/>
            <a:lstStyle/>
            <a:p>
              <a:pPr marL="0" indent="0">
                <a:buNone/>
              </a:pPr>
              <a:r>
                <a:rPr lang="en-US" sz="1050" i="1">
                  <a:solidFill>
                    <a:srgbClr val="001D6C"/>
                  </a:solidFill>
                  <a:latin typeface="IBM Plex Sans" panose="020B0503050203000203" pitchFamily="34" charset="0"/>
                  <a:ea typeface="Arial" pitchFamily="34" charset="-122"/>
                  <a:cs typeface="Arial" pitchFamily="34" charset="-120"/>
                </a:rPr>
                <a:t>Named, Select, PMM, C&amp;C, Corp Comms, Brand, and Events</a:t>
              </a:r>
              <a:endParaRPr lang="en-US" sz="1050">
                <a:latin typeface="IBM Plex Sans" panose="020B0503050203000203" pitchFamily="34" charset="0"/>
              </a:endParaRPr>
            </a:p>
          </p:txBody>
        </p:sp>
        <p:sp>
          <p:nvSpPr>
            <p:cNvPr id="49" name="Text 47">
              <a:extLst>
                <a:ext uri="{FF2B5EF4-FFF2-40B4-BE49-F238E27FC236}">
                  <a16:creationId xmlns:a16="http://schemas.microsoft.com/office/drawing/2014/main" id="{BFAB1F49-F3C1-A5DF-BCDB-5145A7E3C1DB}"/>
                </a:ext>
              </a:extLst>
            </p:cNvPr>
            <p:cNvSpPr/>
            <p:nvPr/>
          </p:nvSpPr>
          <p:spPr>
            <a:xfrm>
              <a:off x="9151204" y="1536115"/>
              <a:ext cx="2569464" cy="175886"/>
            </a:xfrm>
            <a:prstGeom prst="rect">
              <a:avLst/>
            </a:prstGeom>
            <a:noFill/>
            <a:ln/>
          </p:spPr>
          <p:txBody>
            <a:bodyPr wrap="square" lIns="0" tIns="0" rIns="0" bIns="0" rtlCol="0" anchor="ctr"/>
            <a:lstStyle/>
            <a:p>
              <a:pPr marL="0" indent="0">
                <a:buNone/>
              </a:pPr>
              <a:r>
                <a:rPr lang="en-US" sz="800" b="1">
                  <a:solidFill>
                    <a:srgbClr val="005D5D"/>
                  </a:solidFill>
                  <a:latin typeface="IBM Plex Sans" panose="020B0503050203000203" pitchFamily="34" charset="0"/>
                  <a:ea typeface="Arial" pitchFamily="34" charset="-122"/>
                  <a:cs typeface="Arial" pitchFamily="34" charset="-120"/>
                </a:rPr>
                <a:t>WHAT IT IS</a:t>
              </a:r>
              <a:endParaRPr lang="en-US" sz="800">
                <a:latin typeface="IBM Plex Sans" panose="020B0503050203000203" pitchFamily="34" charset="0"/>
              </a:endParaRPr>
            </a:p>
          </p:txBody>
        </p:sp>
        <p:sp>
          <p:nvSpPr>
            <p:cNvPr id="50" name="Text 48">
              <a:extLst>
                <a:ext uri="{FF2B5EF4-FFF2-40B4-BE49-F238E27FC236}">
                  <a16:creationId xmlns:a16="http://schemas.microsoft.com/office/drawing/2014/main" id="{17515B26-A51E-37EA-E8D0-8A61A97C2AEE}"/>
                </a:ext>
              </a:extLst>
            </p:cNvPr>
            <p:cNvSpPr/>
            <p:nvPr/>
          </p:nvSpPr>
          <p:spPr>
            <a:xfrm>
              <a:off x="9151204" y="1712002"/>
              <a:ext cx="2569464" cy="537430"/>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Orchestrating execution and activation across all types of marketing tactics and channels.</a:t>
              </a:r>
              <a:endParaRPr lang="en-US" sz="1000">
                <a:latin typeface="IBM Plex Sans" panose="020B0503050203000203" pitchFamily="34" charset="0"/>
              </a:endParaRPr>
            </a:p>
          </p:txBody>
        </p:sp>
        <p:sp>
          <p:nvSpPr>
            <p:cNvPr id="51" name="Shape 49">
              <a:extLst>
                <a:ext uri="{FF2B5EF4-FFF2-40B4-BE49-F238E27FC236}">
                  <a16:creationId xmlns:a16="http://schemas.microsoft.com/office/drawing/2014/main" id="{2078EB21-731B-62DA-5858-A07B500C5CE9}"/>
                </a:ext>
              </a:extLst>
            </p:cNvPr>
            <p:cNvSpPr/>
            <p:nvPr/>
          </p:nvSpPr>
          <p:spPr>
            <a:xfrm>
              <a:off x="9151204" y="2298289"/>
              <a:ext cx="2569464" cy="14657"/>
            </a:xfrm>
            <a:prstGeom prst="rect">
              <a:avLst/>
            </a:prstGeom>
            <a:solidFill>
              <a:srgbClr val="005D5D"/>
            </a:solidFill>
            <a:ln/>
          </p:spPr>
          <p:txBody>
            <a:bodyPr/>
            <a:lstStyle/>
            <a:p>
              <a:endParaRPr lang="en-US" sz="2000">
                <a:latin typeface="IBM Plex Sans" panose="020B0503050203000203" pitchFamily="34" charset="0"/>
              </a:endParaRPr>
            </a:p>
          </p:txBody>
        </p:sp>
        <p:sp>
          <p:nvSpPr>
            <p:cNvPr id="52" name="Text 50">
              <a:extLst>
                <a:ext uri="{FF2B5EF4-FFF2-40B4-BE49-F238E27FC236}">
                  <a16:creationId xmlns:a16="http://schemas.microsoft.com/office/drawing/2014/main" id="{E83286E9-7BDB-067F-79BA-FC9990368EA4}"/>
                </a:ext>
              </a:extLst>
            </p:cNvPr>
            <p:cNvSpPr/>
            <p:nvPr/>
          </p:nvSpPr>
          <p:spPr>
            <a:xfrm>
              <a:off x="9151204" y="2366689"/>
              <a:ext cx="2569464" cy="175886"/>
            </a:xfrm>
            <a:prstGeom prst="rect">
              <a:avLst/>
            </a:prstGeom>
            <a:noFill/>
            <a:ln/>
          </p:spPr>
          <p:txBody>
            <a:bodyPr wrap="square" lIns="0" tIns="0" rIns="0" bIns="0" rtlCol="0" anchor="ctr"/>
            <a:lstStyle/>
            <a:p>
              <a:pPr marL="0" indent="0">
                <a:buNone/>
              </a:pPr>
              <a:r>
                <a:rPr lang="en-US" sz="800" b="1">
                  <a:solidFill>
                    <a:srgbClr val="005D5D"/>
                  </a:solidFill>
                  <a:latin typeface="IBM Plex Sans" panose="020B0503050203000203" pitchFamily="34" charset="0"/>
                  <a:ea typeface="Arial" pitchFamily="34" charset="-122"/>
                  <a:cs typeface="Arial" pitchFamily="34" charset="-120"/>
                </a:rPr>
                <a:t>WHY IT MATTERS</a:t>
              </a:r>
              <a:endParaRPr lang="en-US" sz="800">
                <a:latin typeface="IBM Plex Sans" panose="020B0503050203000203" pitchFamily="34" charset="0"/>
              </a:endParaRPr>
            </a:p>
          </p:txBody>
        </p:sp>
        <p:sp>
          <p:nvSpPr>
            <p:cNvPr id="53" name="Text 51">
              <a:extLst>
                <a:ext uri="{FF2B5EF4-FFF2-40B4-BE49-F238E27FC236}">
                  <a16:creationId xmlns:a16="http://schemas.microsoft.com/office/drawing/2014/main" id="{C4803ADB-6968-D5C2-7302-1C8A672E56AD}"/>
                </a:ext>
              </a:extLst>
            </p:cNvPr>
            <p:cNvSpPr/>
            <p:nvPr/>
          </p:nvSpPr>
          <p:spPr>
            <a:xfrm>
              <a:off x="9151204" y="2542575"/>
              <a:ext cx="2569464" cy="1123717"/>
            </a:xfrm>
            <a:prstGeom prst="rect">
              <a:avLst/>
            </a:prstGeom>
            <a:noFill/>
            <a:ln/>
          </p:spPr>
          <p:txBody>
            <a:bodyPr wrap="square" lIns="0" tIns="0" rIns="0" bIns="0" rtlCol="0" anchor="ctr"/>
            <a:lstStyle/>
            <a:p>
              <a:pPr marL="0" indent="0">
                <a:buNone/>
              </a:pPr>
              <a:r>
                <a:rPr lang="en-US" sz="1000">
                  <a:solidFill>
                    <a:srgbClr val="001D6C"/>
                  </a:solidFill>
                  <a:latin typeface="IBM Plex Sans" panose="020B0503050203000203" pitchFamily="34" charset="0"/>
                  <a:ea typeface="Arial" pitchFamily="34" charset="-122"/>
                  <a:cs typeface="Arial" pitchFamily="34" charset="-120"/>
                </a:rPr>
                <a:t>Getting the right content and communications to the right audience at the right time is where marketing impact is realized. Today this is manual, slow, and reactive. Trigger-based activation and journey orchestration turn weeks into minutes and shift MCC from push to pull.</a:t>
              </a:r>
              <a:endParaRPr lang="en-US" sz="1000">
                <a:latin typeface="IBM Plex Sans" panose="020B0503050203000203" pitchFamily="34" charset="0"/>
              </a:endParaRPr>
            </a:p>
          </p:txBody>
        </p:sp>
        <p:sp>
          <p:nvSpPr>
            <p:cNvPr id="54" name="Shape 52">
              <a:extLst>
                <a:ext uri="{FF2B5EF4-FFF2-40B4-BE49-F238E27FC236}">
                  <a16:creationId xmlns:a16="http://schemas.microsoft.com/office/drawing/2014/main" id="{AF326183-03D8-3F3E-F039-7457DAF65167}"/>
                </a:ext>
              </a:extLst>
            </p:cNvPr>
            <p:cNvSpPr/>
            <p:nvPr/>
          </p:nvSpPr>
          <p:spPr>
            <a:xfrm>
              <a:off x="9151204" y="3734693"/>
              <a:ext cx="2569464" cy="14657"/>
            </a:xfrm>
            <a:prstGeom prst="rect">
              <a:avLst/>
            </a:prstGeom>
            <a:solidFill>
              <a:srgbClr val="005D5D"/>
            </a:solidFill>
            <a:ln/>
          </p:spPr>
          <p:txBody>
            <a:bodyPr/>
            <a:lstStyle/>
            <a:p>
              <a:endParaRPr lang="en-US" sz="2000">
                <a:latin typeface="IBM Plex Sans" panose="020B0503050203000203" pitchFamily="34" charset="0"/>
              </a:endParaRPr>
            </a:p>
          </p:txBody>
        </p:sp>
        <p:sp>
          <p:nvSpPr>
            <p:cNvPr id="55" name="Text 53">
              <a:extLst>
                <a:ext uri="{FF2B5EF4-FFF2-40B4-BE49-F238E27FC236}">
                  <a16:creationId xmlns:a16="http://schemas.microsoft.com/office/drawing/2014/main" id="{9B15045A-E9CB-93B2-7A29-E1A7C8C344DE}"/>
                </a:ext>
              </a:extLst>
            </p:cNvPr>
            <p:cNvSpPr/>
            <p:nvPr/>
          </p:nvSpPr>
          <p:spPr>
            <a:xfrm>
              <a:off x="9151204" y="3803093"/>
              <a:ext cx="2569464" cy="175886"/>
            </a:xfrm>
            <a:prstGeom prst="rect">
              <a:avLst/>
            </a:prstGeom>
            <a:noFill/>
            <a:ln/>
          </p:spPr>
          <p:txBody>
            <a:bodyPr wrap="square" lIns="0" tIns="0" rIns="0" bIns="0" rtlCol="0" anchor="ctr"/>
            <a:lstStyle/>
            <a:p>
              <a:r>
                <a:rPr lang="en-US" sz="800" b="1">
                  <a:solidFill>
                    <a:srgbClr val="4589FF"/>
                  </a:solidFill>
                  <a:latin typeface="IBM Plex Sans" panose="020B0503050203000203" pitchFamily="34" charset="0"/>
                  <a:cs typeface="Arial" pitchFamily="34" charset="-120"/>
                </a:rPr>
                <a:t>WHO IT IMPACTS</a:t>
              </a:r>
              <a:endParaRPr lang="en-US" sz="800">
                <a:latin typeface="IBM Plex Sans" panose="020B0503050203000203" pitchFamily="34" charset="0"/>
              </a:endParaRPr>
            </a:p>
          </p:txBody>
        </p:sp>
        <p:sp>
          <p:nvSpPr>
            <p:cNvPr id="56" name="Text 54">
              <a:extLst>
                <a:ext uri="{FF2B5EF4-FFF2-40B4-BE49-F238E27FC236}">
                  <a16:creationId xmlns:a16="http://schemas.microsoft.com/office/drawing/2014/main" id="{17F9F306-D870-FC5A-0C7A-E295C0A59FC0}"/>
                </a:ext>
              </a:extLst>
            </p:cNvPr>
            <p:cNvSpPr/>
            <p:nvPr/>
          </p:nvSpPr>
          <p:spPr>
            <a:xfrm>
              <a:off x="9151204" y="3978979"/>
              <a:ext cx="2569464" cy="684002"/>
            </a:xfrm>
            <a:prstGeom prst="rect">
              <a:avLst/>
            </a:prstGeom>
            <a:noFill/>
            <a:ln/>
          </p:spPr>
          <p:txBody>
            <a:bodyPr wrap="square" lIns="0" tIns="0" rIns="0" bIns="0" rtlCol="0" anchor="ctr"/>
            <a:lstStyle/>
            <a:p>
              <a:pPr marL="0" indent="0">
                <a:buNone/>
              </a:pPr>
              <a:r>
                <a:rPr lang="en-US" sz="1050" i="1">
                  <a:solidFill>
                    <a:srgbClr val="001D6C"/>
                  </a:solidFill>
                  <a:latin typeface="IBM Plex Sans" panose="020B0503050203000203" pitchFamily="34" charset="0"/>
                  <a:ea typeface="Arial" pitchFamily="34" charset="-122"/>
                  <a:cs typeface="Arial" pitchFamily="34" charset="-120"/>
                </a:rPr>
                <a:t>Named, Select, PMM, and Events. Includes partner ecosystem orchestration for Select</a:t>
              </a:r>
              <a:endParaRPr lang="en-US" sz="1050">
                <a:latin typeface="IBM Plex Sans" panose="020B0503050203000203" pitchFamily="34" charset="0"/>
              </a:endParaRPr>
            </a:p>
          </p:txBody>
        </p:sp>
      </p:grpSp>
      <p:sp>
        <p:nvSpPr>
          <p:cNvPr id="57" name="Shape 55">
            <a:extLst>
              <a:ext uri="{FF2B5EF4-FFF2-40B4-BE49-F238E27FC236}">
                <a16:creationId xmlns:a16="http://schemas.microsoft.com/office/drawing/2014/main" id="{6FE3E5B3-6002-35FA-C177-34E655F74C46}"/>
              </a:ext>
            </a:extLst>
          </p:cNvPr>
          <p:cNvSpPr/>
          <p:nvPr/>
        </p:nvSpPr>
        <p:spPr>
          <a:xfrm>
            <a:off x="9041476" y="5161864"/>
            <a:ext cx="2788920" cy="537430"/>
          </a:xfrm>
          <a:prstGeom prst="rect">
            <a:avLst/>
          </a:prstGeom>
          <a:solidFill>
            <a:srgbClr val="005D5D"/>
          </a:solidFill>
          <a:ln/>
        </p:spPr>
        <p:txBody>
          <a:bodyPr/>
          <a:lstStyle/>
          <a:p>
            <a:endParaRPr lang="en-US" sz="2800">
              <a:latin typeface="IBM Plex Sans" panose="020B0503050203000203" pitchFamily="34" charset="0"/>
            </a:endParaRPr>
          </a:p>
        </p:txBody>
      </p:sp>
      <p:sp>
        <p:nvSpPr>
          <p:cNvPr id="58" name="Text 56">
            <a:extLst>
              <a:ext uri="{FF2B5EF4-FFF2-40B4-BE49-F238E27FC236}">
                <a16:creationId xmlns:a16="http://schemas.microsoft.com/office/drawing/2014/main" id="{65B4D151-8E10-ABE6-DBE2-70B435E1D520}"/>
              </a:ext>
            </a:extLst>
          </p:cNvPr>
          <p:cNvSpPr/>
          <p:nvPr/>
        </p:nvSpPr>
        <p:spPr>
          <a:xfrm>
            <a:off x="9151204" y="5323093"/>
            <a:ext cx="2569464" cy="214972"/>
          </a:xfrm>
          <a:prstGeom prst="rect">
            <a:avLst/>
          </a:prstGeom>
          <a:noFill/>
          <a:ln/>
        </p:spPr>
        <p:txBody>
          <a:bodyPr wrap="square" lIns="0" tIns="0" rIns="0" bIns="0" rtlCol="0" anchor="ctr"/>
          <a:lstStyle/>
          <a:p>
            <a:pPr marL="0" indent="0">
              <a:buNone/>
            </a:pPr>
            <a:r>
              <a:rPr lang="en-US" sz="1200" b="1">
                <a:solidFill>
                  <a:srgbClr val="FFFFFF"/>
                </a:solidFill>
                <a:latin typeface="IBM Plex Sans" panose="020B0503050203000203" pitchFamily="34" charset="0"/>
                <a:ea typeface="Arial" pitchFamily="34" charset="-122"/>
                <a:cs typeface="Arial" pitchFamily="34" charset="-120"/>
              </a:rPr>
              <a:t>6 initiatives</a:t>
            </a:r>
            <a:endParaRPr lang="en-US" sz="1200">
              <a:latin typeface="IBM Plex Sans" panose="020B0503050203000203" pitchFamily="34" charset="0"/>
            </a:endParaRPr>
          </a:p>
        </p:txBody>
      </p:sp>
      <p:sp>
        <p:nvSpPr>
          <p:cNvPr id="63" name="Text 61">
            <a:extLst>
              <a:ext uri="{FF2B5EF4-FFF2-40B4-BE49-F238E27FC236}">
                <a16:creationId xmlns:a16="http://schemas.microsoft.com/office/drawing/2014/main" id="{BB6F64E5-AED2-4985-0D4B-BDC463D34887}"/>
              </a:ext>
            </a:extLst>
          </p:cNvPr>
          <p:cNvSpPr/>
          <p:nvPr/>
        </p:nvSpPr>
        <p:spPr>
          <a:xfrm>
            <a:off x="365760" y="6118045"/>
            <a:ext cx="10972800" cy="320040"/>
          </a:xfrm>
          <a:prstGeom prst="rect">
            <a:avLst/>
          </a:prstGeom>
          <a:noFill/>
          <a:ln/>
        </p:spPr>
        <p:txBody>
          <a:bodyPr wrap="square" lIns="0" tIns="0" rIns="0" bIns="0" rtlCol="0" anchor="ctr"/>
          <a:lstStyle/>
          <a:p>
            <a:pPr marL="0" indent="0">
              <a:buNone/>
            </a:pPr>
            <a:r>
              <a:rPr lang="en-US" sz="1400" i="1">
                <a:latin typeface="IBM Plex Sans" panose="020B0503050203000203" pitchFamily="34" charset="0"/>
                <a:ea typeface="Arial" pitchFamily="34" charset="-122"/>
                <a:cs typeface="Arial"/>
              </a:rPr>
              <a:t>These are not new frameworks. They are the no-regret groupings for execution, regardless of org structure or future workflow design. Remaining initiatives land on the roadmap through governance and quarterly reassessment.</a:t>
            </a:r>
            <a:endParaRPr lang="en-US" sz="1400">
              <a:latin typeface="IBM Plex Sans" panose="020B0503050203000203" pitchFamily="34" charset="0"/>
              <a:cs typeface="Arial"/>
            </a:endParaRPr>
          </a:p>
        </p:txBody>
      </p:sp>
      <p:sp>
        <p:nvSpPr>
          <p:cNvPr id="64" name="Text 62">
            <a:extLst>
              <a:ext uri="{FF2B5EF4-FFF2-40B4-BE49-F238E27FC236}">
                <a16:creationId xmlns:a16="http://schemas.microsoft.com/office/drawing/2014/main" id="{7FB9273F-D6FF-13E8-2B7B-A76FE235AE2D}"/>
              </a:ext>
            </a:extLst>
          </p:cNvPr>
          <p:cNvSpPr/>
          <p:nvPr/>
        </p:nvSpPr>
        <p:spPr>
          <a:xfrm>
            <a:off x="10515600" y="6583680"/>
            <a:ext cx="1371600" cy="182880"/>
          </a:xfrm>
          <a:prstGeom prst="rect">
            <a:avLst/>
          </a:prstGeom>
          <a:noFill/>
          <a:ln/>
        </p:spPr>
        <p:txBody>
          <a:bodyPr wrap="square" lIns="0" tIns="0" rIns="0" bIns="0" rtlCol="0" anchor="ctr"/>
          <a:lstStyle/>
          <a:p>
            <a:pPr marL="0" indent="0" algn="r">
              <a:buNone/>
            </a:pPr>
            <a:r>
              <a:rPr lang="en-US" sz="700">
                <a:solidFill>
                  <a:srgbClr val="697077"/>
                </a:solidFill>
                <a:latin typeface="IBM Plex Sans" panose="020B0503050203000203" pitchFamily="34" charset="0"/>
                <a:ea typeface="Arial" pitchFamily="34" charset="-122"/>
                <a:cs typeface="Arial" pitchFamily="34" charset="-120"/>
              </a:rPr>
              <a:t>IBM Confidential</a:t>
            </a:r>
            <a:endParaRPr lang="en-US" sz="700">
              <a:latin typeface="IBM Plex Sans" panose="020B0503050203000203" pitchFamily="34" charset="0"/>
            </a:endParaRPr>
          </a:p>
        </p:txBody>
      </p:sp>
      <p:grpSp>
        <p:nvGrpSpPr>
          <p:cNvPr id="85" name="Group 84">
            <a:extLst>
              <a:ext uri="{FF2B5EF4-FFF2-40B4-BE49-F238E27FC236}">
                <a16:creationId xmlns:a16="http://schemas.microsoft.com/office/drawing/2014/main" id="{D51A3DA9-8A74-9ABC-95D1-21B651406AB6}"/>
              </a:ext>
            </a:extLst>
          </p:cNvPr>
          <p:cNvGrpSpPr/>
          <p:nvPr/>
        </p:nvGrpSpPr>
        <p:grpSpPr>
          <a:xfrm>
            <a:off x="0" y="-2466"/>
            <a:ext cx="12191998" cy="147619"/>
            <a:chOff x="0" y="-2466"/>
            <a:chExt cx="12191998" cy="147619"/>
          </a:xfrm>
        </p:grpSpPr>
        <p:sp>
          <p:nvSpPr>
            <p:cNvPr id="79" name="Shape 4">
              <a:extLst>
                <a:ext uri="{FF2B5EF4-FFF2-40B4-BE49-F238E27FC236}">
                  <a16:creationId xmlns:a16="http://schemas.microsoft.com/office/drawing/2014/main" id="{D0E10EA7-B32E-C6E7-680B-A5A016BB5906}"/>
                </a:ext>
              </a:extLst>
            </p:cNvPr>
            <p:cNvSpPr/>
            <p:nvPr/>
          </p:nvSpPr>
          <p:spPr>
            <a:xfrm>
              <a:off x="0" y="-2465"/>
              <a:ext cx="3879272" cy="147618"/>
            </a:xfrm>
            <a:prstGeom prst="rect">
              <a:avLst/>
            </a:prstGeom>
            <a:solidFill>
              <a:srgbClr val="0F62FE"/>
            </a:solidFill>
            <a:ln w="9525">
              <a:noFill/>
              <a:prstDash val="solid"/>
            </a:ln>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IBM Plex Sans" panose="020B0503050203000203" pitchFamily="34" charset="0"/>
                <a:ea typeface="+mn-ea"/>
                <a:cs typeface="+mn-cs"/>
              </a:endParaRPr>
            </a:p>
          </p:txBody>
        </p:sp>
        <p:sp>
          <p:nvSpPr>
            <p:cNvPr id="80" name="Text 8">
              <a:extLst>
                <a:ext uri="{FF2B5EF4-FFF2-40B4-BE49-F238E27FC236}">
                  <a16:creationId xmlns:a16="http://schemas.microsoft.com/office/drawing/2014/main" id="{4CCA2B22-7697-8990-08A6-88AD5CC0FF53}"/>
                </a:ext>
              </a:extLst>
            </p:cNvPr>
            <p:cNvSpPr/>
            <p:nvPr/>
          </p:nvSpPr>
          <p:spPr>
            <a:xfrm>
              <a:off x="803564" y="66133"/>
              <a:ext cx="1939636" cy="104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0" cap="none" spc="267" normalizeH="0" baseline="0" noProof="0">
                  <a:ln>
                    <a:noFill/>
                  </a:ln>
                  <a:solidFill>
                    <a:srgbClr val="FFFFFF"/>
                  </a:solidFill>
                  <a:effectLst/>
                  <a:uLnTx/>
                  <a:uFillTx/>
                  <a:latin typeface="IBM Plex Sans" panose="020B0503050203000203" pitchFamily="34" charset="0"/>
                  <a:ea typeface="Calibri" pitchFamily="34" charset="-122"/>
                  <a:cs typeface="Calibri" pitchFamily="34" charset="-120"/>
                </a:rPr>
                <a:t>AI FOUNDATIONS</a:t>
              </a:r>
              <a:endParaRPr kumimoji="0" lang="en-US" sz="600" b="0" i="0" u="none" strike="noStrike" kern="1200" cap="none" spc="0" normalizeH="0" baseline="0" noProof="0">
                <a:ln>
                  <a:noFill/>
                </a:ln>
                <a:solidFill>
                  <a:srgbClr val="FFFFFF"/>
                </a:solidFill>
                <a:effectLst/>
                <a:uLnTx/>
                <a:uFillTx/>
                <a:latin typeface="IBM Plex Sans" panose="020B0503050203000203" pitchFamily="34" charset="0"/>
                <a:ea typeface="+mn-ea"/>
                <a:cs typeface="+mn-cs"/>
              </a:endParaRPr>
            </a:p>
          </p:txBody>
        </p:sp>
        <p:sp>
          <p:nvSpPr>
            <p:cNvPr id="81" name="Shape 26">
              <a:extLst>
                <a:ext uri="{FF2B5EF4-FFF2-40B4-BE49-F238E27FC236}">
                  <a16:creationId xmlns:a16="http://schemas.microsoft.com/office/drawing/2014/main" id="{2A8BFE97-80B2-7170-27CB-CDE76241C258}"/>
                </a:ext>
              </a:extLst>
            </p:cNvPr>
            <p:cNvSpPr/>
            <p:nvPr/>
          </p:nvSpPr>
          <p:spPr>
            <a:xfrm>
              <a:off x="8312726" y="-2465"/>
              <a:ext cx="3879272" cy="147618"/>
            </a:xfrm>
            <a:prstGeom prst="rect">
              <a:avLst/>
            </a:prstGeom>
            <a:solidFill>
              <a:schemeClr val="bg1">
                <a:lumMod val="85000"/>
              </a:schemeClr>
            </a:solidFill>
            <a:ln w="9525">
              <a:noFill/>
              <a:prstDash val="solid"/>
            </a:ln>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lumMod val="50000"/>
                  </a:schemeClr>
                </a:solidFill>
                <a:effectLst/>
                <a:uLnTx/>
                <a:uFillTx/>
                <a:latin typeface="IBM Plex Sans" panose="020B0503050203000203" pitchFamily="34" charset="0"/>
                <a:ea typeface="+mn-ea"/>
                <a:cs typeface="+mn-cs"/>
              </a:endParaRPr>
            </a:p>
          </p:txBody>
        </p:sp>
        <p:sp>
          <p:nvSpPr>
            <p:cNvPr id="82" name="Text 30">
              <a:extLst>
                <a:ext uri="{FF2B5EF4-FFF2-40B4-BE49-F238E27FC236}">
                  <a16:creationId xmlns:a16="http://schemas.microsoft.com/office/drawing/2014/main" id="{735DE24A-6478-3DD2-C76C-D191A705CB62}"/>
                </a:ext>
              </a:extLst>
            </p:cNvPr>
            <p:cNvSpPr/>
            <p:nvPr/>
          </p:nvSpPr>
          <p:spPr>
            <a:xfrm>
              <a:off x="8910943" y="65699"/>
              <a:ext cx="2682838" cy="11289"/>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0" cap="none" spc="267" normalizeH="0" baseline="0" noProof="0">
                  <a:ln>
                    <a:noFill/>
                  </a:ln>
                  <a:solidFill>
                    <a:srgbClr val="595959"/>
                  </a:solidFill>
                  <a:effectLst/>
                  <a:uLnTx/>
                  <a:uFillTx/>
                  <a:latin typeface="IBM Plex Sans" panose="020B0503050203000203" pitchFamily="34" charset="0"/>
                  <a:ea typeface="Calibri" pitchFamily="34" charset="-122"/>
                  <a:cs typeface="Calibri" pitchFamily="34" charset="-120"/>
                </a:rPr>
                <a:t>FULL TRANSFORMATION</a:t>
              </a:r>
              <a:endParaRPr kumimoji="0" lang="en-US" sz="600" b="0" i="0" u="none" strike="noStrike" kern="1200" cap="none" spc="0" normalizeH="0" baseline="0" noProof="0">
                <a:ln>
                  <a:noFill/>
                </a:ln>
                <a:solidFill>
                  <a:srgbClr val="595959"/>
                </a:solidFill>
                <a:effectLst/>
                <a:uLnTx/>
                <a:uFillTx/>
                <a:latin typeface="IBM Plex Sans" panose="020B0503050203000203" pitchFamily="34" charset="0"/>
                <a:ea typeface="+mn-ea"/>
                <a:cs typeface="+mn-cs"/>
              </a:endParaRPr>
            </a:p>
          </p:txBody>
        </p:sp>
        <p:sp>
          <p:nvSpPr>
            <p:cNvPr id="83" name="Shape 26">
              <a:extLst>
                <a:ext uri="{FF2B5EF4-FFF2-40B4-BE49-F238E27FC236}">
                  <a16:creationId xmlns:a16="http://schemas.microsoft.com/office/drawing/2014/main" id="{D5145F96-421C-506C-5E6E-A5C7E8A96929}"/>
                </a:ext>
              </a:extLst>
            </p:cNvPr>
            <p:cNvSpPr/>
            <p:nvPr/>
          </p:nvSpPr>
          <p:spPr>
            <a:xfrm>
              <a:off x="4143291" y="-2466"/>
              <a:ext cx="3879272" cy="147618"/>
            </a:xfrm>
            <a:prstGeom prst="rect">
              <a:avLst/>
            </a:prstGeom>
            <a:solidFill>
              <a:schemeClr val="bg1">
                <a:lumMod val="85000"/>
              </a:schemeClr>
            </a:solidFill>
            <a:ln w="9525">
              <a:noFill/>
              <a:prstDash val="solid"/>
            </a:ln>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lumMod val="50000"/>
                  </a:schemeClr>
                </a:solidFill>
                <a:effectLst/>
                <a:uLnTx/>
                <a:uFillTx/>
                <a:latin typeface="IBM Plex Sans" panose="020B0503050203000203" pitchFamily="34" charset="0"/>
                <a:ea typeface="+mn-ea"/>
                <a:cs typeface="+mn-cs"/>
              </a:endParaRPr>
            </a:p>
          </p:txBody>
        </p:sp>
        <p:sp>
          <p:nvSpPr>
            <p:cNvPr id="84" name="Text 30">
              <a:extLst>
                <a:ext uri="{FF2B5EF4-FFF2-40B4-BE49-F238E27FC236}">
                  <a16:creationId xmlns:a16="http://schemas.microsoft.com/office/drawing/2014/main" id="{F85B8D1E-2721-619C-FA19-A7076DF2EA2D}"/>
                </a:ext>
              </a:extLst>
            </p:cNvPr>
            <p:cNvSpPr/>
            <p:nvPr/>
          </p:nvSpPr>
          <p:spPr>
            <a:xfrm>
              <a:off x="4741508" y="65698"/>
              <a:ext cx="2682838" cy="11289"/>
            </a:xfrm>
            <a:prstGeom prst="rect">
              <a:avLst/>
            </a:prstGeom>
            <a:noFill/>
            <a:ln/>
          </p:spPr>
          <p:txBody>
            <a:bodyPr wrap="square" lIns="0" tIns="0" rIns="0" bIns="0" rtlCol="0" anchor="ctr"/>
            <a:lstStyle/>
            <a:p>
              <a:pPr algn="ctr" defTabSz="1219170">
                <a:defRPr/>
              </a:pPr>
              <a:r>
                <a:rPr lang="en-US" sz="600" b="1" kern="0" spc="267">
                  <a:solidFill>
                    <a:srgbClr val="595959"/>
                  </a:solidFill>
                  <a:latin typeface="IBM Plex Sans" panose="020B0503050203000203" pitchFamily="34" charset="0"/>
                  <a:ea typeface="Calibri"/>
                  <a:cs typeface="Calibri"/>
                </a:rPr>
                <a:t>WORKFLOW ALIGNMENT</a:t>
              </a:r>
              <a:endParaRPr lang="en-US">
                <a:solidFill>
                  <a:srgbClr val="595959"/>
                </a:solidFill>
                <a:latin typeface="IBM Plex Sans" panose="020B0503050203000203" pitchFamily="34" charset="0"/>
                <a:ea typeface="+mn-ea"/>
                <a:cs typeface="+mn-cs"/>
              </a:endParaRPr>
            </a:p>
          </p:txBody>
        </p:sp>
      </p:grpSp>
    </p:spTree>
    <p:extLst>
      <p:ext uri="{BB962C8B-B14F-4D97-AF65-F5344CB8AC3E}">
        <p14:creationId xmlns:p14="http://schemas.microsoft.com/office/powerpoint/2010/main" val="12830782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922E2066466747B06F5A2CB1EF004C" ma:contentTypeVersion="12" ma:contentTypeDescription="Create a new document." ma:contentTypeScope="" ma:versionID="031a2767ff50ac2aeb7997cb1dfed522">
  <xsd:schema xmlns:xsd="http://www.w3.org/2001/XMLSchema" xmlns:xs="http://www.w3.org/2001/XMLSchema" xmlns:p="http://schemas.microsoft.com/office/2006/metadata/properties" xmlns:ns2="e7e42320-c381-4d5c-a06d-fb941b9287c9" xmlns:ns3="e4cee1ae-901f-403b-af36-81ae1c6bd840" targetNamespace="http://schemas.microsoft.com/office/2006/metadata/properties" ma:root="true" ma:fieldsID="160ccc0bc4b8391b4323b42fe79fe202" ns2:_="" ns3:_="">
    <xsd:import namespace="e7e42320-c381-4d5c-a06d-fb941b9287c9"/>
    <xsd:import namespace="e4cee1ae-901f-403b-af36-81ae1c6bd8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e42320-c381-4d5c-a06d-fb941b9287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19edae7-b79a-4a5e-b725-af92424e056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cee1ae-901f-403b-af36-81ae1c6bd84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2537be7-019f-49ec-95ad-57224fc3b453}" ma:internalName="TaxCatchAll" ma:showField="CatchAllData" ma:web="e4cee1ae-901f-403b-af36-81ae1c6bd8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7e42320-c381-4d5c-a06d-fb941b9287c9">
      <Terms xmlns="http://schemas.microsoft.com/office/infopath/2007/PartnerControls"/>
    </lcf76f155ced4ddcb4097134ff3c332f>
    <TaxCatchAll xmlns="e4cee1ae-901f-403b-af36-81ae1c6bd840" xsi:nil="true"/>
  </documentManagement>
</p:properties>
</file>

<file path=customXml/itemProps1.xml><?xml version="1.0" encoding="utf-8"?>
<ds:datastoreItem xmlns:ds="http://schemas.openxmlformats.org/officeDocument/2006/customXml" ds:itemID="{1208846B-AC76-4D24-95CE-04F4FADE4993}"/>
</file>

<file path=customXml/itemProps2.xml><?xml version="1.0" encoding="utf-8"?>
<ds:datastoreItem xmlns:ds="http://schemas.openxmlformats.org/officeDocument/2006/customXml" ds:itemID="{C9858767-5285-46AD-91C6-A0C978685887}"/>
</file>

<file path=customXml/itemProps3.xml><?xml version="1.0" encoding="utf-8"?>
<ds:datastoreItem xmlns:ds="http://schemas.openxmlformats.org/officeDocument/2006/customXml" ds:itemID="{2C1629EC-E76D-4402-A90E-248DC05E3725}"/>
</file>

<file path=docProps/app.xml><?xml version="1.0" encoding="utf-8"?>
<Properties xmlns="http://schemas.openxmlformats.org/officeDocument/2006/extended-properties" xmlns:vt="http://schemas.openxmlformats.org/officeDocument/2006/docPropsVTypes">
  <TotalTime>224</TotalTime>
  <Words>3377</Words>
  <Application>Microsoft Office PowerPoint</Application>
  <PresentationFormat>Widescreen</PresentationFormat>
  <Paragraphs>559</Paragraphs>
  <Slides>15</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1" baseType="lpstr">
      <vt:lpstr>Arial</vt:lpstr>
      <vt:lpstr>Calibri</vt:lpstr>
      <vt:lpstr>IBM Plex Sans</vt:lpstr>
      <vt:lpstr>IBM Plex Sans Light</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SELLE</cp:lastModifiedBy>
  <cp:revision>5</cp:revision>
  <dcterms:created xsi:type="dcterms:W3CDTF">2026-06-15T19:02:04Z</dcterms:created>
  <dcterms:modified xsi:type="dcterms:W3CDTF">2026-06-26T13:09:51Z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0x010100E3922E2066466747B06F5A2CB1EF004C</vt:lpwstr>
  </property>
</Properties>
</file>