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962" r:id="rId4"/>
  </p:sldMasterIdLst>
  <p:notesMasterIdLst>
    <p:notesMasterId r:id="rId6"/>
  </p:notesMasterIdLst>
  <p:handoutMasterIdLst>
    <p:handoutMasterId r:id="rId7"/>
  </p:handoutMasterIdLst>
  <p:sldIdLst>
    <p:sldId id="526" r:id="rId5"/>
  </p:sldIdLst>
  <p:sldSz cx="24387175" cy="13716000"/>
  <p:notesSz cx="6858000" cy="9144000"/>
  <p:embeddedFontLst>
    <p:embeddedFont>
      <p:font typeface="IBM Plex Sans" panose="020B0503050203000203" pitchFamily="34" charset="0"/>
      <p:regular r:id="rId8"/>
      <p:bold r:id="rId9"/>
      <p:italic r:id="rId10"/>
      <p:boldItalic r:id="rId11"/>
    </p:embeddedFont>
    <p:embeddedFont>
      <p:font typeface="IBM Plex Sans Light" panose="020B0403050203000203" pitchFamily="34" charset="0"/>
      <p:regular r:id="rId12"/>
      <p:italic r:id="rId13"/>
    </p:embeddedFont>
  </p:embeddedFontLst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4"/>
    <p:restoredTop sz="94778"/>
  </p:normalViewPr>
  <p:slideViewPr>
    <p:cSldViewPr snapToGrid="0" snapToObjects="1">
      <p:cViewPr varScale="1">
        <p:scale>
          <a:sx n="57" d="100"/>
          <a:sy n="57" d="100"/>
        </p:scale>
        <p:origin x="1152" y="192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18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 dirty="0"/>
              <a:t>IBM Client Engineering 2025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 dirty="0"/>
              <a:t>IBM Client Engineering 2025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EC14C64-F7DC-AC9B-7D5B-8E7BA3B4F779}"/>
              </a:ext>
            </a:extLst>
          </p:cNvPr>
          <p:cNvSpPr/>
          <p:nvPr/>
        </p:nvSpPr>
        <p:spPr bwMode="auto">
          <a:xfrm>
            <a:off x="16103601" y="1"/>
            <a:ext cx="8283574" cy="13715999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graphicFrame>
        <p:nvGraphicFramePr>
          <p:cNvPr id="9" name="Table 10" descr="Graphic showing roadmap and timelines represented by black horizontal lines">
            <a:extLst>
              <a:ext uri="{FF2B5EF4-FFF2-40B4-BE49-F238E27FC236}">
                <a16:creationId xmlns:a16="http://schemas.microsoft.com/office/drawing/2014/main" id="{04472142-C3D9-2A47-9B23-B667BF83B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534718"/>
              </p:ext>
            </p:extLst>
          </p:nvPr>
        </p:nvGraphicFramePr>
        <p:xfrm>
          <a:off x="574676" y="413359"/>
          <a:ext cx="23237824" cy="1305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9220">
                  <a:extLst>
                    <a:ext uri="{9D8B030D-6E8A-4147-A177-3AD203B41FA5}">
                      <a16:colId xmlns:a16="http://schemas.microsoft.com/office/drawing/2014/main" val="3030579339"/>
                    </a:ext>
                  </a:extLst>
                </a:gridCol>
                <a:gridCol w="5722446">
                  <a:extLst>
                    <a:ext uri="{9D8B030D-6E8A-4147-A177-3AD203B41FA5}">
                      <a16:colId xmlns:a16="http://schemas.microsoft.com/office/drawing/2014/main" val="1840984390"/>
                    </a:ext>
                  </a:extLst>
                </a:gridCol>
                <a:gridCol w="6767563">
                  <a:extLst>
                    <a:ext uri="{9D8B030D-6E8A-4147-A177-3AD203B41FA5}">
                      <a16:colId xmlns:a16="http://schemas.microsoft.com/office/drawing/2014/main" val="2200160148"/>
                    </a:ext>
                  </a:extLst>
                </a:gridCol>
                <a:gridCol w="7508595">
                  <a:extLst>
                    <a:ext uri="{9D8B030D-6E8A-4147-A177-3AD203B41FA5}">
                      <a16:colId xmlns:a16="http://schemas.microsoft.com/office/drawing/2014/main" val="923403126"/>
                    </a:ext>
                  </a:extLst>
                </a:gridCol>
              </a:tblGrid>
              <a:tr h="892411"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j-lt"/>
                          <a:ea typeface="+mn-ea"/>
                          <a:cs typeface="+mn-cs"/>
                          <a:sym typeface="IBM Plex Sans"/>
                        </a:rPr>
                        <a:t>Features/Criteria</a:t>
                      </a:r>
                      <a:endParaRPr lang="en-RO" sz="2800" b="0" i="0" u="none" strike="noStrike" kern="0" cap="none" spc="0" baseline="0">
                        <a:solidFill>
                          <a:schemeClr val="lt1"/>
                        </a:solidFill>
                        <a:uFillTx/>
                        <a:latin typeface="+mj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0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j-lt"/>
                          <a:ea typeface="+mn-ea"/>
                          <a:cs typeface="+mn-cs"/>
                          <a:sym typeface="IBM Plex Sans"/>
                        </a:rPr>
                        <a:t>Robin AI</a:t>
                      </a:r>
                    </a:p>
                  </a:txBody>
                  <a:tcPr marR="288000" marT="0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8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j-lt"/>
                          <a:ea typeface="+mn-ea"/>
                          <a:cs typeface="+mn-cs"/>
                          <a:sym typeface="IBM Plex Sans"/>
                        </a:rPr>
                        <a:t>IVO AI</a:t>
                      </a:r>
                    </a:p>
                  </a:txBody>
                  <a:tcPr marR="288000" marT="0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8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j-lt"/>
                          <a:ea typeface="+mn-ea"/>
                          <a:cs typeface="+mn-cs"/>
                          <a:sym typeface="IBM Plex Sans"/>
                        </a:rPr>
                        <a:t>AI for M&amp;A Due Diligence</a:t>
                      </a:r>
                    </a:p>
                  </a:txBody>
                  <a:tcPr marR="288000" marT="0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071069"/>
                  </a:ext>
                </a:extLst>
              </a:tr>
              <a:tr h="1020725"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Primary use case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Contract review and legal document automation</a:t>
                      </a:r>
                      <a:endParaRPr lang="en-RO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Legal research, document summarization, and compliance automation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Compliance filter for HR, Supply, and Customer contracts for IBM standards for Due Diligence phase.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041238"/>
                  </a:ext>
                </a:extLst>
              </a:tr>
              <a:tr h="1256265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Underlying AI</a:t>
                      </a:r>
                      <a:endParaRPr lang="en-RO" sz="1600" b="0" i="0" u="none" strike="noStrike" kern="0" cap="none" spc="0" baseline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Fine-tuned proprietary model on legal contracts; built on top </a:t>
                      </a:r>
                      <a:r>
                        <a:rPr lang="en-GB" sz="1600" b="1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Claude</a:t>
                      </a: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LLM (Anthropic)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Built on </a:t>
                      </a:r>
                      <a:r>
                        <a:rPr lang="en-GB" sz="1600" b="1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GPT-4 </a:t>
                      </a: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or similar foundation model with legal fine-tuning Used through Microsoft's Azure OpenAI Service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All WX AI, starts with </a:t>
                      </a:r>
                      <a:r>
                        <a:rPr lang="en-GB" sz="1600" b="1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Granite</a:t>
                      </a: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and calls out to larger LLMs when confidence is low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158466"/>
                  </a:ext>
                </a:extLst>
              </a:tr>
              <a:tr h="118913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Training Data</a:t>
                      </a:r>
                      <a:endParaRPr lang="en-RO" sz="1600" b="0" i="0" u="none" strike="noStrike" kern="0" cap="none" spc="0" baseline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Trained on a large corpus of commercial contracts and legal documents</a:t>
                      </a:r>
                      <a:r>
                        <a:rPr lang="en-US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.</a:t>
                      </a: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The team</a:t>
                      </a:r>
                      <a:r>
                        <a:rPr lang="en-US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also</a:t>
                      </a: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uses the</a:t>
                      </a:r>
                      <a:r>
                        <a:rPr lang="en-RO" sz="1600" b="1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feedback </a:t>
                      </a:r>
                      <a:r>
                        <a:rPr lang="en-US" sz="1600" b="1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from </a:t>
                      </a:r>
                      <a:r>
                        <a:rPr lang="en-RO" sz="1600" b="1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lawyers</a:t>
                      </a: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</a:t>
                      </a:r>
                      <a:r>
                        <a:rPr lang="en-US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to</a:t>
                      </a: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train the model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Does not train data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No training. </a:t>
                      </a:r>
                      <a:r>
                        <a:rPr lang="en-RO" sz="1600" b="1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Re-prompted with rules </a:t>
                      </a: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adjusted by the team’s needs and feedback. Example - limited liability from legal stand point or union language from HR language.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199403"/>
                  </a:ext>
                </a:extLst>
              </a:tr>
              <a:tr h="1020725"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Strengths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Clause-level editing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Exporting AI reports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Support first and third-party paper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Lots of </a:t>
                      </a:r>
                      <a:r>
                        <a:rPr lang="en-GB" sz="1600" b="1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tool integration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Term level filter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Collaboration</a:t>
                      </a: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on compliance (future)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548911"/>
                  </a:ext>
                </a:extLst>
              </a:tr>
              <a:tr h="755652"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Weakness</a:t>
                      </a:r>
                    </a:p>
                    <a:p>
                      <a:pPr algn="l"/>
                      <a:endParaRPr lang="en-GB" sz="1600" b="0" i="0" u="none" strike="noStrike" kern="0" cap="none" spc="0" baseline="0" dirty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Limited customization for highly nuanced legal styles </a:t>
                      </a:r>
                      <a:endParaRPr lang="en-US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Focused mainly on contracts</a:t>
                      </a:r>
                      <a:endParaRPr lang="en-US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1" i="0" u="none" strike="noStrike" kern="0" cap="none" spc="0" baseline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Requires documents </a:t>
                      </a:r>
                      <a:r>
                        <a:rPr lang="en-US" sz="1600" b="1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to be .docx</a:t>
                      </a:r>
                      <a:r>
                        <a:rPr lang="en-RO" sz="1600" b="1" i="0" u="none" strike="noStrike" kern="0" cap="none" spc="0" baseline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to process</a:t>
                      </a:r>
                      <a:r>
                        <a:rPr lang="en-US" sz="1600" b="1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, no PDF</a:t>
                      </a:r>
                      <a:endParaRPr lang="en-RO" sz="1600" b="1" i="0" u="none" strike="noStrike" kern="0" cap="none" spc="0" baseline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Less specialized in contract negotiation </a:t>
                      </a:r>
                      <a:endParaRPr lang="en-US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May lack deep integration with enterprise systems</a:t>
                      </a:r>
                      <a:endParaRPr lang="en-US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Requires Word to operate</a:t>
                      </a:r>
                      <a:endParaRPr lang="en-RO" sz="1600" b="1" i="0" u="none" strike="noStrike" kern="0" cap="none" spc="0" baseline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1" i="0" u="none" strike="noStrike" kern="0" cap="none" spc="0" baseline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Lacks PDF highlighting and in-contract note taking </a:t>
                      </a:r>
                      <a:endParaRPr lang="en-US" sz="1600" b="1" i="0" u="none" strike="noStrike" kern="0" cap="none" spc="0" baseline="0" dirty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Has no integration with current tools Word, Slack, Salesforce or Monday</a:t>
                      </a:r>
                      <a:endParaRPr lang="en-US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Not using a custom model for legal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02662"/>
                  </a:ext>
                </a:extLst>
              </a:tr>
              <a:tr h="1417173"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Personalization Capabilities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Moderate; working on improving stylistic and contextual customizationa</a:t>
                      </a:r>
                      <a:r>
                        <a:rPr lang="en-US" sz="1600" b="0" i="0" u="none" strike="noStrike" kern="0" cap="none" spc="0" baseline="0" dirty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– requires </a:t>
                      </a:r>
                      <a:r>
                        <a:rPr lang="en-US" sz="1600" b="1" i="0" u="none" strike="noStrike" kern="0" cap="none" spc="0" baseline="0" dirty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white glove service</a:t>
                      </a:r>
                      <a:endParaRPr lang="en-RO" sz="1600" b="1" i="0" u="none" strike="noStrike" kern="0" cap="none" spc="0" baseline="0"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High; supports tailored compliance and jurisdictional filters</a:t>
                      </a:r>
                      <a:r>
                        <a:rPr lang="en-US" sz="1600" b="0" i="0" u="none" strike="noStrike" kern="0" cap="none" spc="0" baseline="0" dirty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 – requires </a:t>
                      </a:r>
                      <a:r>
                        <a:rPr lang="en-US" sz="1600" b="1" i="0" u="none" strike="noStrike" kern="0" cap="none" spc="0" baseline="0" dirty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white glove service</a:t>
                      </a:r>
                      <a:endParaRPr lang="en-RO" sz="1600" b="1" i="0" u="none" strike="noStrike" kern="0" cap="none" spc="0" baseline="0"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RO" sz="1600" b="1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High</a:t>
                      </a: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; supports tailored compliance and filters based on legal, procurement, and HR needs</a:t>
                      </a:r>
                      <a:r>
                        <a:rPr lang="en-US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. </a:t>
                      </a:r>
                      <a:r>
                        <a:rPr lang="en-US" sz="1600" b="1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Working directly with data scientist.</a:t>
                      </a:r>
                      <a:endParaRPr lang="en-RO" sz="1600" b="1" i="0" u="none" strike="noStrike" kern="0" cap="none" spc="0" baseline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963333"/>
                  </a:ext>
                </a:extLst>
              </a:tr>
              <a:tr h="778535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Integration Options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Integrates </a:t>
                      </a:r>
                      <a:r>
                        <a:rPr lang="en-US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with </a:t>
                      </a: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Microsoft 365</a:t>
                      </a:r>
                      <a:endParaRPr lang="en-GB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Integrates with Word, </a:t>
                      </a:r>
                      <a:r>
                        <a:rPr lang="en-US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S</a:t>
                      </a: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alesforce, Hupspot, Slack, Google Drive</a:t>
                      </a:r>
                      <a:endParaRPr lang="en-GB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No integration currently</a:t>
                      </a:r>
                      <a:endParaRPr lang="en-GB" sz="1600" b="1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856589"/>
                  </a:ext>
                </a:extLst>
              </a:tr>
              <a:tr h="1020725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User Interface</a:t>
                      </a:r>
                    </a:p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kern="0" cap="none" spc="0" baseline="0" dirty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Web-based dashboard and assistant style chat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Microsoft word add-on, </a:t>
                      </a: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assistant requires tool to integrate with</a:t>
                      </a:r>
                      <a:endParaRPr lang="en-GB" sz="1600" b="1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  <a:p>
                      <a:pPr algn="l"/>
                      <a:endParaRPr lang="en-GB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Web-based dashboard, </a:t>
                      </a:r>
                      <a:r>
                        <a:rPr lang="en-GB" sz="1600" b="1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no assistant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165782"/>
                  </a:ext>
                </a:extLst>
              </a:tr>
              <a:tr h="778535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Security &amp; Compliance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SOC 2, ISO 27001, GDPR-compliant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SOC 2, ISO 27001, GDPR-compliant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750572"/>
                  </a:ext>
                </a:extLst>
              </a:tr>
              <a:tr h="1189132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Ideal for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In-house legal teams (with custom playbook services), law firms focused on contracts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Compliance teams, legal researchers, multinational legal departments (with custom playbook services)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In-house legal teams focused on review contracts for Due Diligence and Integration (future)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Corp dev view for price adjustment (future)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403241"/>
                  </a:ext>
                </a:extLst>
              </a:tr>
              <a:tr h="961091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Pricing Model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Require a demo call with sales to get pricing. Likely subscription-based, tiered by usage and features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Require a demo call with sales to get pricing. Likely subscription-based, with enterprise licensing available.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$0.45 per contract on average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8064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6180E-146D-B06B-A77B-ECBD47FD2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143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e42320-c381-4d5c-a06d-fb941b9287c9">
      <Terms xmlns="http://schemas.microsoft.com/office/infopath/2007/PartnerControls"/>
    </lcf76f155ced4ddcb4097134ff3c332f>
    <TaxCatchAll xmlns="e4cee1ae-901f-403b-af36-81ae1c6bd84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922E2066466747B06F5A2CB1EF004C" ma:contentTypeVersion="12" ma:contentTypeDescription="Create a new document." ma:contentTypeScope="" ma:versionID="031a2767ff50ac2aeb7997cb1dfed522">
  <xsd:schema xmlns:xsd="http://www.w3.org/2001/XMLSchema" xmlns:xs="http://www.w3.org/2001/XMLSchema" xmlns:p="http://schemas.microsoft.com/office/2006/metadata/properties" xmlns:ns2="e7e42320-c381-4d5c-a06d-fb941b9287c9" xmlns:ns3="e4cee1ae-901f-403b-af36-81ae1c6bd840" targetNamespace="http://schemas.microsoft.com/office/2006/metadata/properties" ma:root="true" ma:fieldsID="160ccc0bc4b8391b4323b42fe79fe202" ns2:_="" ns3:_="">
    <xsd:import namespace="e7e42320-c381-4d5c-a06d-fb941b9287c9"/>
    <xsd:import namespace="e4cee1ae-901f-403b-af36-81ae1c6bd8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e42320-c381-4d5c-a06d-fb941b9287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19edae7-b79a-4a5e-b725-af92424e05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cee1ae-901f-403b-af36-81ae1c6bd84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537be7-019f-49ec-95ad-57224fc3b453}" ma:internalName="TaxCatchAll" ma:showField="CatchAllData" ma:web="e4cee1ae-901f-403b-af36-81ae1c6bd8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4042CD-8509-4675-A54A-A060C523C5ED}">
  <ds:schemaRefs>
    <ds:schemaRef ds:uri="http://schemas.microsoft.com/office/2006/metadata/properties"/>
    <ds:schemaRef ds:uri="http://schemas.microsoft.com/office/infopath/2007/PartnerControls"/>
    <ds:schemaRef ds:uri="e7e42320-c381-4d5c-a06d-fb941b9287c9"/>
    <ds:schemaRef ds:uri="e4cee1ae-901f-403b-af36-81ae1c6bd840"/>
  </ds:schemaRefs>
</ds:datastoreItem>
</file>

<file path=customXml/itemProps2.xml><?xml version="1.0" encoding="utf-8"?>
<ds:datastoreItem xmlns:ds="http://schemas.openxmlformats.org/officeDocument/2006/customXml" ds:itemID="{A623B503-6CAE-4C12-A99A-31DDCEAE9A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4B84BC-616F-4CEF-8692-DDEC5C9B21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e42320-c381-4d5c-a06d-fb941b9287c9"/>
    <ds:schemaRef ds:uri="e4cee1ae-901f-403b-af36-81ae1c6bd8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3417</TotalTime>
  <Words>465</Words>
  <Application>Microsoft Office PowerPoint</Application>
  <PresentationFormat>Custom</PresentationFormat>
  <Paragraphs>60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LILLIAN LI</dc:creator>
  <cp:keywords/>
  <dc:description/>
  <cp:lastModifiedBy>Jay LaPlante</cp:lastModifiedBy>
  <cp:revision>152</cp:revision>
  <cp:lastPrinted>2019-04-25T15:14:05Z</cp:lastPrinted>
  <dcterms:created xsi:type="dcterms:W3CDTF">2024-12-12T19:03:22Z</dcterms:created>
  <dcterms:modified xsi:type="dcterms:W3CDTF">2026-07-30T21:25:56Z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0x010100E3922E2066466747B06F5A2CB1EF004C</vt:lpwstr>
  </property>
</Properties>
</file>